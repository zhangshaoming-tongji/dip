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tags/tag3.xml" ContentType="application/vnd.openxmlformats-officedocument.presentationml.tags+xml"/>
  <Override PartName="/ppt/notesSlides/notesSlide32.xml" ContentType="application/vnd.openxmlformats-officedocument.presentationml.notesSlide+xml"/>
  <Override PartName="/ppt/tags/tag4.xml" ContentType="application/vnd.openxmlformats-officedocument.presentationml.tags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954" r:id="rId2"/>
  </p:sldMasterIdLst>
  <p:notesMasterIdLst>
    <p:notesMasterId r:id="rId67"/>
  </p:notesMasterIdLst>
  <p:handoutMasterIdLst>
    <p:handoutMasterId r:id="rId68"/>
  </p:handoutMasterIdLst>
  <p:sldIdLst>
    <p:sldId id="265" r:id="rId3"/>
    <p:sldId id="4552" r:id="rId4"/>
    <p:sldId id="1024" r:id="rId5"/>
    <p:sldId id="1025" r:id="rId6"/>
    <p:sldId id="1026" r:id="rId7"/>
    <p:sldId id="11090291" r:id="rId8"/>
    <p:sldId id="1027" r:id="rId9"/>
    <p:sldId id="1028" r:id="rId10"/>
    <p:sldId id="1113" r:id="rId11"/>
    <p:sldId id="1114" r:id="rId12"/>
    <p:sldId id="1192" r:id="rId13"/>
    <p:sldId id="1115" r:id="rId14"/>
    <p:sldId id="1116" r:id="rId15"/>
    <p:sldId id="1125" r:id="rId16"/>
    <p:sldId id="1041" r:id="rId17"/>
    <p:sldId id="1118" r:id="rId18"/>
    <p:sldId id="1119" r:id="rId19"/>
    <p:sldId id="1120" r:id="rId20"/>
    <p:sldId id="1121" r:id="rId21"/>
    <p:sldId id="1122" r:id="rId22"/>
    <p:sldId id="1123" r:id="rId23"/>
    <p:sldId id="1126" r:id="rId24"/>
    <p:sldId id="1128" r:id="rId25"/>
    <p:sldId id="1131" r:id="rId26"/>
    <p:sldId id="1132" r:id="rId27"/>
    <p:sldId id="1133" r:id="rId28"/>
    <p:sldId id="1139" r:id="rId29"/>
    <p:sldId id="1135" r:id="rId30"/>
    <p:sldId id="1140" r:id="rId31"/>
    <p:sldId id="1141" r:id="rId32"/>
    <p:sldId id="1142" r:id="rId33"/>
    <p:sldId id="1146" r:id="rId34"/>
    <p:sldId id="11090302" r:id="rId35"/>
    <p:sldId id="1008" r:id="rId36"/>
    <p:sldId id="458" r:id="rId37"/>
    <p:sldId id="1009" r:id="rId38"/>
    <p:sldId id="1018" r:id="rId39"/>
    <p:sldId id="1019" r:id="rId40"/>
    <p:sldId id="997" r:id="rId41"/>
    <p:sldId id="998" r:id="rId42"/>
    <p:sldId id="999" r:id="rId43"/>
    <p:sldId id="491" r:id="rId44"/>
    <p:sldId id="1000" r:id="rId45"/>
    <p:sldId id="1001" r:id="rId46"/>
    <p:sldId id="11090301" r:id="rId47"/>
    <p:sldId id="263" r:id="rId48"/>
    <p:sldId id="11090293" r:id="rId49"/>
    <p:sldId id="11090294" r:id="rId50"/>
    <p:sldId id="264" r:id="rId51"/>
    <p:sldId id="11090303" r:id="rId52"/>
    <p:sldId id="11090304" r:id="rId53"/>
    <p:sldId id="11090305" r:id="rId54"/>
    <p:sldId id="11090306" r:id="rId55"/>
    <p:sldId id="11090307" r:id="rId56"/>
    <p:sldId id="492" r:id="rId57"/>
    <p:sldId id="11090290" r:id="rId58"/>
    <p:sldId id="11090296" r:id="rId59"/>
    <p:sldId id="496" r:id="rId60"/>
    <p:sldId id="11090297" r:id="rId61"/>
    <p:sldId id="11090300" r:id="rId62"/>
    <p:sldId id="1013" r:id="rId63"/>
    <p:sldId id="1014" r:id="rId64"/>
    <p:sldId id="1015" r:id="rId65"/>
    <p:sldId id="1016" r:id="rId66"/>
  </p:sldIdLst>
  <p:sldSz cx="12192000" cy="6858000"/>
  <p:notesSz cx="6797675" cy="9928225"/>
  <p:custDataLst>
    <p:tags r:id="rId6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2" userDrawn="1">
          <p15:clr>
            <a:srgbClr val="A4A3A4"/>
          </p15:clr>
        </p15:guide>
        <p15:guide id="2" pos="38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4379"/>
    <a:srgbClr val="42556E"/>
    <a:srgbClr val="C71437"/>
    <a:srgbClr val="114FFB"/>
    <a:srgbClr val="6A798D"/>
    <a:srgbClr val="B9B9B9"/>
    <a:srgbClr val="C00000"/>
    <a:srgbClr val="FFFFFF"/>
    <a:srgbClr val="F2F2F2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75" autoAdjust="0"/>
    <p:restoredTop sz="87463" autoAdjust="0"/>
  </p:normalViewPr>
  <p:slideViewPr>
    <p:cSldViewPr snapToGrid="0" showGuides="1">
      <p:cViewPr varScale="1">
        <p:scale>
          <a:sx n="85" d="100"/>
          <a:sy n="85" d="100"/>
        </p:scale>
        <p:origin x="128" y="64"/>
      </p:cViewPr>
      <p:guideLst>
        <p:guide orient="horz" pos="1972"/>
        <p:guide pos="3808"/>
      </p:guideLst>
    </p:cSldViewPr>
  </p:slideViewPr>
  <p:notesTextViewPr>
    <p:cViewPr>
      <p:scale>
        <a:sx n="25" d="100"/>
        <a:sy n="25" d="100"/>
      </p:scale>
      <p:origin x="0" y="0"/>
    </p:cViewPr>
  </p:notesTextViewPr>
  <p:sorterViewPr>
    <p:cViewPr>
      <p:scale>
        <a:sx n="160" d="100"/>
        <a:sy n="160" d="100"/>
      </p:scale>
      <p:origin x="0" y="8574"/>
    </p:cViewPr>
  </p:sorterViewPr>
  <p:notesViewPr>
    <p:cSldViewPr snapToGrid="0">
      <p:cViewPr varScale="1">
        <p:scale>
          <a:sx n="68" d="100"/>
          <a:sy n="68" d="100"/>
        </p:scale>
        <p:origin x="3696" y="2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tags" Target="tags/tag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7" Type="http://schemas.openxmlformats.org/officeDocument/2006/relationships/image" Target="../media/image65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6" Type="http://schemas.openxmlformats.org/officeDocument/2006/relationships/image" Target="../media/image64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6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Relationship Id="rId5" Type="http://schemas.openxmlformats.org/officeDocument/2006/relationships/image" Target="../media/image84.wmf"/><Relationship Id="rId4" Type="http://schemas.openxmlformats.org/officeDocument/2006/relationships/image" Target="../media/image8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4" Type="http://schemas.openxmlformats.org/officeDocument/2006/relationships/image" Target="../media/image9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" Type="http://schemas.openxmlformats.org/officeDocument/2006/relationships/image" Target="../media/image108.wmf"/><Relationship Id="rId4" Type="http://schemas.openxmlformats.org/officeDocument/2006/relationships/image" Target="../media/image11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wmf"/><Relationship Id="rId2" Type="http://schemas.openxmlformats.org/officeDocument/2006/relationships/image" Target="../media/image113.wmf"/><Relationship Id="rId1" Type="http://schemas.openxmlformats.org/officeDocument/2006/relationships/image" Target="../media/image112.wmf"/><Relationship Id="rId4" Type="http://schemas.openxmlformats.org/officeDocument/2006/relationships/image" Target="../media/image11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wmf"/><Relationship Id="rId2" Type="http://schemas.openxmlformats.org/officeDocument/2006/relationships/image" Target="../media/image146.wmf"/><Relationship Id="rId1" Type="http://schemas.openxmlformats.org/officeDocument/2006/relationships/image" Target="../media/image145.wmf"/><Relationship Id="rId6" Type="http://schemas.openxmlformats.org/officeDocument/2006/relationships/image" Target="../media/image150.wmf"/><Relationship Id="rId5" Type="http://schemas.openxmlformats.org/officeDocument/2006/relationships/image" Target="../media/image149.wmf"/><Relationship Id="rId4" Type="http://schemas.openxmlformats.org/officeDocument/2006/relationships/image" Target="../media/image148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wmf"/><Relationship Id="rId1" Type="http://schemas.openxmlformats.org/officeDocument/2006/relationships/image" Target="../media/image151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wmf"/><Relationship Id="rId2" Type="http://schemas.openxmlformats.org/officeDocument/2006/relationships/image" Target="../media/image153.wmf"/><Relationship Id="rId1" Type="http://schemas.openxmlformats.org/officeDocument/2006/relationships/image" Target="../media/image152.wmf"/><Relationship Id="rId6" Type="http://schemas.openxmlformats.org/officeDocument/2006/relationships/image" Target="../media/image157.wmf"/><Relationship Id="rId5" Type="http://schemas.openxmlformats.org/officeDocument/2006/relationships/image" Target="../media/image156.wmf"/><Relationship Id="rId4" Type="http://schemas.openxmlformats.org/officeDocument/2006/relationships/image" Target="../media/image155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wmf"/><Relationship Id="rId2" Type="http://schemas.openxmlformats.org/officeDocument/2006/relationships/image" Target="../media/image145.wmf"/><Relationship Id="rId1" Type="http://schemas.openxmlformats.org/officeDocument/2006/relationships/image" Target="../media/image158.wmf"/><Relationship Id="rId6" Type="http://schemas.openxmlformats.org/officeDocument/2006/relationships/image" Target="../media/image159.wmf"/><Relationship Id="rId5" Type="http://schemas.openxmlformats.org/officeDocument/2006/relationships/image" Target="../media/image148.wmf"/><Relationship Id="rId4" Type="http://schemas.openxmlformats.org/officeDocument/2006/relationships/image" Target="../media/image14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F3F327-32E1-4D00-A131-C26A39A88C12}" type="datetimeFigureOut">
              <a:rPr lang="zh-CN" altLang="en-US" smtClean="0"/>
              <a:t>2026-10-07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E82D1B-D068-4E10-BFEA-4FF4488B70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0T01:24:43.095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1048,'12'-1,"0"0,0-1,-1-1,1 0,-1 0,18-9,-15 7,181-83,20-7,-15 16,-119 45,64-20,-73 29,112-35,-31 12,375-109,-94 50,-323 82,174-14,-222 33,544-59,-106 20,4 27,-450 18,178-6,-5-13,279-26,141 43,-385 4,-247-2,504 11,-453-6,188 12,89 1,-338-18,252 2,-24-1,178 21,-68-3,-209-13,42 3,518 23,-451-20,-27-3,-36-3,-114-4,366 21,-362-16,240 16,189-24,-280-2,856 1,-905 7,-35 1,46 0,79 1,335 14,154 4,-275-11,-9 17,-270-11,168 13,21-5,-126-8,72 19,-194-20,126 18,0 17,-81-5,294 71,-347-91,244 48,-311-66,204 43,-177-30,-2 4,-2 4,93 49,-113-47,236 120,420 156,-177-111,-533-195,184 64,-25-10,-36-10,13 16,-134-58,3 1,26 17,-36-20,0 1,-1-1,1 1,-1 1,0-1,5 8,4 9,20 38,-22-35,17 24,0-12,54 56,-24-29,-43-45,-2 1,0 0,-1 1,-1 0,9 24,38 117,-33-82,-8-32,22 72,-31-90,-2 1,4 31,-8-36,-1-1,-2 0,0 1,-2-1,0 1,-2-1,-1 0,-1 0,-1-1,-16 39,-97 192,106-229,-50 86,19-34,-3 5,-63 80,14 9,83-139,-13 41,13-31,-22 94,11 5,-2 4,16-96,-12 65,21-98,0 1,1 0,1 0,3 25,21 98,-8-80,-3-14,4 14,-9-36,-1 1,6 46,-10 154,-5-129,3-13,-3 85,-1-145,-1-1,-2 1,-8 25,5-22,-7 44,11-31,-5 30,4-43,-4 20,-2 0,-19 47,10-41,-15 64,33-105,-1 0,-9 21,10-27,0-1,-1 0,1 1,-1-1,0-1,-1 1,-6 5,-56 40,3-2,52-38,0-1,-1 0,0-1,0 0,-21 9,6-4,-39 24,38-19,-36 15,47-25,-30 22,5-4,-96 39,99-48,8-1,21-10,-21 8,9-5,-1-1,0 0,-43 8,36-10,0 1,-38 14,-35 9,75-24,1 2,0 1,-45 21,46-18,-19 11,-75 43,64-37,38-21,1 1,-26 18,27-15,-1 0,-21 10,29-17,-1-1,1 0,0 0,-1-1,0-1,-11 2,14-3,-1 0,1 1,-1 1,1-1,0 1,0 0,0 1,0 0,-11 8,8-6,0 0,0-1,0 0,-1 0,0-2,-13 4,13-4,-14 6,5 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0T01:24:43.56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0T01:25:03.63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0,'11'1,"1"0,-1 1,17 4,5 2,-16-6,-1 2,0-1,0 2,0 0,0 1,-1 1,0 1,27 17,-29-16,1 0,0-1,0-1,0 0,1-1,27 8,-7-4,64 28,-72-25,-13-6,1 0,-1-1,1 0,26 5,-20-7,0 0,0 2,-1 0,28 13,-31-11,1-1,0-1,0-1,1 0,0-2,-1 0,1-1,24 0,-17 0,1 1,46 12,19 2,-3-3,3 0,-72-10,0 0,33 11,-22-5,-9-4,-1-2,1 0,31 0,67-4,-68-1,-27 1,84 2,-91-1,-1 2,0 0,1 1,20 7,-7-1,-1-1,1-2,46 5,95-1,-117-9,96 11,29 0,59-13,-107 0,31 14,-113-8,89 2,118-1,-159-1,-61-6,1-2,46-8,7-1,250 6,-205 7,-81-1,-19 0,-1-1,0-2,36-6,-57 5,164-26,-70 17,52-4,281 10,-404 6,-25 0,-1 0,1-1,0-1,-1 0,1 0,18-7,-10 2,0 2,1 0,0 1,21 0,85 0,-93 4,95 1,81-1,-51-14,-2 1,166 11,-166 3,538-1,-654 2,49 8,0 1,259-3,-86-4,-179-1,316 19,-143 9,75 6,-260-29,87 21,42 3,3-2,-25 7,20 5,455 100,-631-137,118 33,-132-33,1-1,-1 1,0 1,10 7,1 0,15 9,40 28,-63-41,-2 0,1 1,-1 0,13 16,6 17,-19-26,2-1,15 18,91 82,-56-52,-19-22,40 52,0 16,37 48,11-8,-107-127,91 101,-97-102,-1 1,-2 0,0 1,12 28,11 31,59 94,-37-75,32 48,-76-129,-2 1,0 1,-1 0,11 32,39 98,-2-1,32 99,-80-213,2-1,32 58,-25-57,-2 1,-2 1,-2 0,-1 1,17 82,-29-111,46 209,-34-162,57 196,-64-231,17 60,2 3,-7-23,13 46,29 119,-55-188,-5-27,0 0,1 0,1 0,0 0,1-1,7 14,34 56,-26-46,-1 0,25 78,-30-73,3 0,29 55,-31-73,17 32,-17-25,2-1,0-1,3 0,33 39,-44-60,0 0,1 0,20 12,-15-10,-6-5,-1-1,1 1,-1-1,1-1,1 0,-1 0,15 2,3-1,35-1,-19-2,-4 4,-28-3,1-1,-1 0,22-2,1-3,0 1,0 2,0 1,52 8,-18 1,82 1,70-10,-94-2,-77 2,-23-2,1 2,-1 1,49 8,-43-1,4 1,75 10,138-17,-136-4,-96 2,33 0,-1 1,53 10,-46-3,65 1,56-8,-131-1,-24 1,1 1,-1 1,36 10,-27-5,31 2,48 5,107 6,-180-21,-22-1,0 1,0 0,0 1,27 6,-10 4,25 5,-52-15,0 0,0 0,0-1,1 0,-1 0,0 0,0 0,9-3,-11 2,1-1,-1 1,0-1,0 0,0 0,-1 0,1 0,0-1,-1 1,1-1,-1 1,0-1,0 0,0 0,0 0,1-4,2-2,-1 0,-1-1,1 0,2-14,-3 2,1-40,-4 41,2 0,4-26,-5 44,19-77,-16 70,0 0,0 0,1 0,0 1,10-14,-8 14,-2 0,1 0,-1 0,0 0,-1-1,0 0,-1 0,0 0,0 0,-1-1,-1 1,1-11,0-13,-2 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E00284-16BC-4382-8B36-24E400F691F1}" type="datetimeFigureOut">
              <a:rPr lang="zh-CN" altLang="en-US" smtClean="0"/>
              <a:t>2026-10-07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F5CBD3-32D1-4BCD-A706-B0EA53B26FD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F5CBD3-32D1-4BCD-A706-B0EA53B26FDB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B63919-0A8F-4BC9-87FE-C0ACD5E639DE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68651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787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284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200" dirty="0">
              <a:solidFill>
                <a:srgbClr val="000000"/>
              </a:solidFill>
              <a:effectLst/>
              <a:latin typeface="宋体" panose="02010600030101010101" pitchFamily="2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E71946-36CC-463A-AE34-5E5C87B1D0A1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在欧几里得几何中，平行线永不相交。</a:t>
            </a:r>
          </a:p>
          <a:p>
            <a:r>
              <a:rPr lang="zh-CN" altLang="en-US" dirty="0"/>
              <a:t>但在射影几何中，为了统一处理几何关系（比如透视投影、相机成像），我们引入了无穷远点的概念：</a:t>
            </a:r>
          </a:p>
          <a:p>
            <a:endParaRPr lang="zh-CN" altLang="en-US" dirty="0"/>
          </a:p>
          <a:p>
            <a:r>
              <a:rPr lang="zh-CN" altLang="en-US" dirty="0"/>
              <a:t>所有相互平行的直线在无穷远处相交于同一个无穷远点。 </a:t>
            </a:r>
          </a:p>
          <a:p>
            <a:endParaRPr lang="zh-CN" altLang="en-US" dirty="0"/>
          </a:p>
          <a:p>
            <a:r>
              <a:rPr lang="zh-CN" altLang="en-US" dirty="0"/>
              <a:t>这样，射影几何中“任意两条直线都相交于一点”（包括平行线），使得数学表达更简洁、统一。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F5CBD3-32D1-4BCD-A706-B0EA53B26FD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9296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>
              <a:effectLst/>
              <a:latin typeface="Times New Roman" panose="02020603050405020304" pitchFamily="18" charset="0"/>
              <a:ea typeface="仿宋_GB2312" panose="0201060903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F5CBD3-32D1-4BCD-A706-B0EA53B26FD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416878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F5CBD3-32D1-4BCD-A706-B0EA53B26FDB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5190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0558-5325-4CFD-AFD0-B6863C016BE7}" type="datetimeFigureOut">
              <a:rPr lang="zh-CN" altLang="en-US" smtClean="0"/>
              <a:t>2026-10-07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0558-5325-4CFD-AFD0-B6863C016BE7}" type="datetimeFigureOut">
              <a:rPr lang="zh-CN" altLang="en-US" smtClean="0"/>
              <a:t>2026-10-07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0558-5325-4CFD-AFD0-B6863C016BE7}" type="datetimeFigureOut">
              <a:rPr lang="zh-CN" altLang="en-US" smtClean="0"/>
              <a:t>2026-10-07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0558-5325-4CFD-AFD0-B6863C016BE7}" type="datetimeFigureOut">
              <a:rPr lang="zh-CN" altLang="en-US" smtClean="0"/>
              <a:t>2026-10-07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0558-5325-4CFD-AFD0-B6863C016BE7}" type="datetimeFigureOut">
              <a:rPr lang="zh-CN" altLang="en-US" smtClean="0"/>
              <a:t>2026-10-07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0558-5325-4CFD-AFD0-B6863C016BE7}" type="datetimeFigureOut">
              <a:rPr lang="zh-CN" altLang="en-US" smtClean="0"/>
              <a:t>2026-10-07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369613"/>
            <a:ext cx="12192000" cy="824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Picture 4" descr="https://www.tongji.edu.cn/images/name.png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51047" y="540238"/>
            <a:ext cx="1399126" cy="48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987296"/>
            <a:ext cx="12192000" cy="48707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https://www.tongji.edu.cn/images/name.png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47801" y="539072"/>
            <a:ext cx="1399126" cy="48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369613"/>
            <a:ext cx="12192000" cy="824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Picture 4" descr="https://www.tongji.edu.cn/images/name.png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51047" y="540238"/>
            <a:ext cx="1399126" cy="48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0558-5325-4CFD-AFD0-B6863C016BE7}" type="datetimeFigureOut">
              <a:rPr lang="zh-CN" altLang="en-US" smtClean="0"/>
              <a:t>2026-10-07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0558-5325-4CFD-AFD0-B6863C016BE7}" type="datetimeFigureOut">
              <a:rPr lang="zh-CN" altLang="en-US" smtClean="0"/>
              <a:t>2026-10-07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0558-5325-4CFD-AFD0-B6863C016BE7}" type="datetimeFigureOut">
              <a:rPr lang="zh-CN" altLang="en-US" smtClean="0"/>
              <a:t>2026-10-07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0558-5325-4CFD-AFD0-B6863C016BE7}" type="datetimeFigureOut">
              <a:rPr lang="zh-CN" altLang="en-US" smtClean="0"/>
              <a:t>2026-10-07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" y="0"/>
            <a:ext cx="93345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cover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9025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页-57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42">
            <a:extLst>
              <a:ext uri="{FF2B5EF4-FFF2-40B4-BE49-F238E27FC236}">
                <a16:creationId xmlns:a16="http://schemas.microsoft.com/office/drawing/2014/main" id="{30AEE1E8-3394-4FAF-AEE4-E8E7127839F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41092" y="74069"/>
            <a:ext cx="44274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912261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000" dirty="0">
                <a:solidFill>
                  <a:prstClr val="white"/>
                </a:solidFill>
                <a:latin typeface="Impact" panose="020B0806030902050204" pitchFamily="34" charset="0"/>
                <a:sym typeface="Impact" panose="020B0806030902050204" pitchFamily="34" charset="0"/>
              </a:rPr>
              <a:t>2</a:t>
            </a:r>
            <a:endParaRPr lang="zh-CN" altLang="en-US" sz="4000" dirty="0">
              <a:solidFill>
                <a:prstClr val="white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29" name="任意多边形 18">
            <a:extLst>
              <a:ext uri="{FF2B5EF4-FFF2-40B4-BE49-F238E27FC236}">
                <a16:creationId xmlns:a16="http://schemas.microsoft.com/office/drawing/2014/main" id="{4724DA8E-3391-4FDB-81C7-7591F11C9DAC}"/>
              </a:ext>
            </a:extLst>
          </p:cNvPr>
          <p:cNvSpPr/>
          <p:nvPr userDrawn="1"/>
        </p:nvSpPr>
        <p:spPr>
          <a:xfrm flipH="1">
            <a:off x="-3" y="748316"/>
            <a:ext cx="9024000" cy="89885"/>
          </a:xfrm>
          <a:custGeom>
            <a:avLst/>
            <a:gdLst>
              <a:gd name="connsiteX0" fmla="*/ 6515627 w 6515627"/>
              <a:gd name="connsiteY0" fmla="*/ 0 h 67414"/>
              <a:gd name="connsiteX1" fmla="*/ 67507 w 6515627"/>
              <a:gd name="connsiteY1" fmla="*/ 0 h 67414"/>
              <a:gd name="connsiteX2" fmla="*/ 0 w 6515627"/>
              <a:gd name="connsiteY2" fmla="*/ 67414 h 67414"/>
              <a:gd name="connsiteX3" fmla="*/ 6515627 w 6515627"/>
              <a:gd name="connsiteY3" fmla="*/ 67414 h 6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15627" h="67414">
                <a:moveTo>
                  <a:pt x="6515627" y="0"/>
                </a:moveTo>
                <a:lnTo>
                  <a:pt x="67507" y="0"/>
                </a:lnTo>
                <a:lnTo>
                  <a:pt x="0" y="67414"/>
                </a:lnTo>
                <a:lnTo>
                  <a:pt x="6515627" y="67414"/>
                </a:lnTo>
                <a:close/>
              </a:path>
            </a:pathLst>
          </a:custGeom>
          <a:solidFill>
            <a:srgbClr val="37609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endParaRPr lang="zh-CN" altLang="en-US" sz="2400" kern="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30" name="任意多边形 19">
            <a:extLst>
              <a:ext uri="{FF2B5EF4-FFF2-40B4-BE49-F238E27FC236}">
                <a16:creationId xmlns:a16="http://schemas.microsoft.com/office/drawing/2014/main" id="{36712E71-8664-46F3-9D45-61D327936CF1}"/>
              </a:ext>
            </a:extLst>
          </p:cNvPr>
          <p:cNvSpPr/>
          <p:nvPr userDrawn="1"/>
        </p:nvSpPr>
        <p:spPr>
          <a:xfrm flipH="1">
            <a:off x="8589796" y="-9186"/>
            <a:ext cx="3602203" cy="847388"/>
          </a:xfrm>
          <a:custGeom>
            <a:avLst/>
            <a:gdLst>
              <a:gd name="connsiteX0" fmla="*/ 2701652 w 2701652"/>
              <a:gd name="connsiteY0" fmla="*/ 0 h 502825"/>
              <a:gd name="connsiteX1" fmla="*/ 0 w 2701652"/>
              <a:gd name="connsiteY1" fmla="*/ 0 h 502825"/>
              <a:gd name="connsiteX2" fmla="*/ 0 w 2701652"/>
              <a:gd name="connsiteY2" fmla="*/ 502825 h 502825"/>
              <a:gd name="connsiteX3" fmla="*/ 2198133 w 2701652"/>
              <a:gd name="connsiteY3" fmla="*/ 502825 h 502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1652" h="502825">
                <a:moveTo>
                  <a:pt x="2701652" y="0"/>
                </a:moveTo>
                <a:lnTo>
                  <a:pt x="0" y="0"/>
                </a:lnTo>
                <a:lnTo>
                  <a:pt x="0" y="502825"/>
                </a:lnTo>
                <a:lnTo>
                  <a:pt x="2198133" y="502825"/>
                </a:lnTo>
                <a:close/>
              </a:path>
            </a:pathLst>
          </a:custGeom>
          <a:solidFill>
            <a:srgbClr val="37609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endParaRPr lang="zh-CN" altLang="en-US" sz="2400" kern="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31" name="任意多边形 20">
            <a:extLst>
              <a:ext uri="{FF2B5EF4-FFF2-40B4-BE49-F238E27FC236}">
                <a16:creationId xmlns:a16="http://schemas.microsoft.com/office/drawing/2014/main" id="{A3F03BBC-C686-4119-BE01-D2CA365A27B3}"/>
              </a:ext>
            </a:extLst>
          </p:cNvPr>
          <p:cNvSpPr/>
          <p:nvPr userDrawn="1"/>
        </p:nvSpPr>
        <p:spPr>
          <a:xfrm>
            <a:off x="9145704" y="-2169"/>
            <a:ext cx="869552" cy="535569"/>
          </a:xfrm>
          <a:custGeom>
            <a:avLst/>
            <a:gdLst>
              <a:gd name="connsiteX0" fmla="*/ 15986 w 683098"/>
              <a:gd name="connsiteY0" fmla="*/ 0 h 420730"/>
              <a:gd name="connsiteX1" fmla="*/ 667112 w 683098"/>
              <a:gd name="connsiteY1" fmla="*/ 0 h 420730"/>
              <a:gd name="connsiteX2" fmla="*/ 683098 w 683098"/>
              <a:gd name="connsiteY2" fmla="*/ 79181 h 420730"/>
              <a:gd name="connsiteX3" fmla="*/ 341549 w 683098"/>
              <a:gd name="connsiteY3" fmla="*/ 420730 h 420730"/>
              <a:gd name="connsiteX4" fmla="*/ 0 w 683098"/>
              <a:gd name="connsiteY4" fmla="*/ 79181 h 420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3098" h="420730">
                <a:moveTo>
                  <a:pt x="15986" y="0"/>
                </a:moveTo>
                <a:lnTo>
                  <a:pt x="667112" y="0"/>
                </a:lnTo>
                <a:lnTo>
                  <a:pt x="683098" y="79181"/>
                </a:lnTo>
                <a:cubicBezTo>
                  <a:pt x="683098" y="267813"/>
                  <a:pt x="530181" y="420730"/>
                  <a:pt x="341549" y="420730"/>
                </a:cubicBezTo>
                <a:cubicBezTo>
                  <a:pt x="152917" y="420730"/>
                  <a:pt x="0" y="267813"/>
                  <a:pt x="0" y="79181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endParaRPr lang="zh-CN" altLang="en-US" sz="2400" kern="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32" name="任意多边形 21">
            <a:extLst>
              <a:ext uri="{FF2B5EF4-FFF2-40B4-BE49-F238E27FC236}">
                <a16:creationId xmlns:a16="http://schemas.microsoft.com/office/drawing/2014/main" id="{207296E9-218C-4F28-B59E-4BBB4389F616}"/>
              </a:ext>
            </a:extLst>
          </p:cNvPr>
          <p:cNvSpPr/>
          <p:nvPr userDrawn="1"/>
        </p:nvSpPr>
        <p:spPr>
          <a:xfrm>
            <a:off x="9711555" y="-2169"/>
            <a:ext cx="741135" cy="192229"/>
          </a:xfrm>
          <a:custGeom>
            <a:avLst/>
            <a:gdLst>
              <a:gd name="connsiteX0" fmla="*/ 0 w 555851"/>
              <a:gd name="connsiteY0" fmla="*/ 0 h 144172"/>
              <a:gd name="connsiteX1" fmla="*/ 555851 w 555851"/>
              <a:gd name="connsiteY1" fmla="*/ 0 h 144172"/>
              <a:gd name="connsiteX2" fmla="*/ 519437 w 555851"/>
              <a:gd name="connsiteY2" fmla="*/ 44135 h 144172"/>
              <a:gd name="connsiteX3" fmla="*/ 277925 w 555851"/>
              <a:gd name="connsiteY3" fmla="*/ 144172 h 144172"/>
              <a:gd name="connsiteX4" fmla="*/ 36414 w 555851"/>
              <a:gd name="connsiteY4" fmla="*/ 44135 h 14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5851" h="144172">
                <a:moveTo>
                  <a:pt x="0" y="0"/>
                </a:moveTo>
                <a:lnTo>
                  <a:pt x="555851" y="0"/>
                </a:lnTo>
                <a:lnTo>
                  <a:pt x="519437" y="44135"/>
                </a:lnTo>
                <a:cubicBezTo>
                  <a:pt x="457629" y="105943"/>
                  <a:pt x="372241" y="144172"/>
                  <a:pt x="277925" y="144172"/>
                </a:cubicBezTo>
                <a:cubicBezTo>
                  <a:pt x="183609" y="144172"/>
                  <a:pt x="98222" y="105943"/>
                  <a:pt x="36414" y="44135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endParaRPr lang="zh-CN" altLang="en-US" sz="2400" kern="0">
              <a:solidFill>
                <a:prstClr val="white"/>
              </a:solidFill>
              <a:latin typeface="Arial"/>
              <a:ea typeface="微软雅黑"/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C1A12DD4-49A4-4563-AD01-27A20FC74C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3102" y="17786"/>
            <a:ext cx="2279965" cy="81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2516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 userDrawn="1"/>
        </p:nvSpPr>
        <p:spPr bwMode="auto">
          <a:xfrm>
            <a:off x="1363135" y="359836"/>
            <a:ext cx="4584700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hangingPunct="1">
              <a:defRPr/>
            </a:pPr>
            <a:r>
              <a:rPr lang="zh-CN" altLang="en-US" sz="2667" b="1">
                <a:latin typeface="微软雅黑" pitchFamily="34" charset="-122"/>
              </a:rPr>
              <a:t>此处添加您的标题</a:t>
            </a:r>
            <a:endParaRPr lang="id-ID" altLang="zh-CN" sz="2667" b="1">
              <a:latin typeface="微软雅黑" pitchFamily="34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 userDrawn="1"/>
        </p:nvSpPr>
        <p:spPr bwMode="auto">
          <a:xfrm>
            <a:off x="1390651" y="840322"/>
            <a:ext cx="3570816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hangingPunct="1">
              <a:defRPr/>
            </a:pPr>
            <a:r>
              <a:rPr lang="id-ID" altLang="zh-CN" sz="1333"/>
              <a:t>Biscuit oat cake carrot cake muffin jelly</a:t>
            </a:r>
            <a:endParaRPr lang="zh-CN" altLang="en-US" sz="1333"/>
          </a:p>
        </p:txBody>
      </p:sp>
      <p:grpSp>
        <p:nvGrpSpPr>
          <p:cNvPr id="4" name="组合 8"/>
          <p:cNvGrpSpPr>
            <a:grpSpLocks/>
          </p:cNvGrpSpPr>
          <p:nvPr userDrawn="1"/>
        </p:nvGrpSpPr>
        <p:grpSpPr bwMode="auto">
          <a:xfrm>
            <a:off x="275175" y="421220"/>
            <a:ext cx="1087967" cy="666786"/>
            <a:chOff x="4353620" y="864629"/>
            <a:chExt cx="742365" cy="456068"/>
          </a:xfrm>
        </p:grpSpPr>
        <p:sp>
          <p:nvSpPr>
            <p:cNvPr id="5" name="KSO_Shape"/>
            <p:cNvSpPr>
              <a:spLocks/>
            </p:cNvSpPr>
            <p:nvPr/>
          </p:nvSpPr>
          <p:spPr bwMode="auto">
            <a:xfrm>
              <a:off x="4353620" y="866076"/>
              <a:ext cx="742365" cy="408268"/>
            </a:xfrm>
            <a:custGeom>
              <a:avLst/>
              <a:gdLst>
                <a:gd name="T0" fmla="*/ 2147483646 w 5345"/>
                <a:gd name="T1" fmla="*/ 2147483646 h 2936"/>
                <a:gd name="T2" fmla="*/ 2147483646 w 5345"/>
                <a:gd name="T3" fmla="*/ 2147483646 h 2936"/>
                <a:gd name="T4" fmla="*/ 2147483646 w 5345"/>
                <a:gd name="T5" fmla="*/ 2147483646 h 2936"/>
                <a:gd name="T6" fmla="*/ 2147483646 w 5345"/>
                <a:gd name="T7" fmla="*/ 2147483646 h 2936"/>
                <a:gd name="T8" fmla="*/ 2147483646 w 5345"/>
                <a:gd name="T9" fmla="*/ 2147483646 h 2936"/>
                <a:gd name="T10" fmla="*/ 2147483646 w 5345"/>
                <a:gd name="T11" fmla="*/ 2147483646 h 2936"/>
                <a:gd name="T12" fmla="*/ 2147483646 w 5345"/>
                <a:gd name="T13" fmla="*/ 2147483646 h 2936"/>
                <a:gd name="T14" fmla="*/ 2147483646 w 5345"/>
                <a:gd name="T15" fmla="*/ 2147483646 h 2936"/>
                <a:gd name="T16" fmla="*/ 2147483646 w 5345"/>
                <a:gd name="T17" fmla="*/ 2147483646 h 2936"/>
                <a:gd name="T18" fmla="*/ 2147483646 w 5345"/>
                <a:gd name="T19" fmla="*/ 2147483646 h 2936"/>
                <a:gd name="T20" fmla="*/ 2147483646 w 5345"/>
                <a:gd name="T21" fmla="*/ 2147483646 h 2936"/>
                <a:gd name="T22" fmla="*/ 2147483646 w 5345"/>
                <a:gd name="T23" fmla="*/ 2147483646 h 2936"/>
                <a:gd name="T24" fmla="*/ 2147483646 w 5345"/>
                <a:gd name="T25" fmla="*/ 2147483646 h 2936"/>
                <a:gd name="T26" fmla="*/ 2147483646 w 5345"/>
                <a:gd name="T27" fmla="*/ 2147483646 h 2936"/>
                <a:gd name="T28" fmla="*/ 2147483646 w 5345"/>
                <a:gd name="T29" fmla="*/ 2147483646 h 2936"/>
                <a:gd name="T30" fmla="*/ 2147483646 w 5345"/>
                <a:gd name="T31" fmla="*/ 772639970 h 2936"/>
                <a:gd name="T32" fmla="*/ 2147483646 w 5345"/>
                <a:gd name="T33" fmla="*/ 0 h 2936"/>
                <a:gd name="T34" fmla="*/ 2147483646 w 5345"/>
                <a:gd name="T35" fmla="*/ 363587807 h 2936"/>
                <a:gd name="T36" fmla="*/ 2147483646 w 5345"/>
                <a:gd name="T37" fmla="*/ 2147483646 h 2936"/>
                <a:gd name="T38" fmla="*/ 2147483646 w 5345"/>
                <a:gd name="T39" fmla="*/ 2147483646 h 2936"/>
                <a:gd name="T40" fmla="*/ 2147483646 w 5345"/>
                <a:gd name="T41" fmla="*/ 2147483646 h 2936"/>
                <a:gd name="T42" fmla="*/ 2147483646 w 5345"/>
                <a:gd name="T43" fmla="*/ 2147483646 h 2936"/>
                <a:gd name="T44" fmla="*/ 2147483646 w 5345"/>
                <a:gd name="T45" fmla="*/ 2147483646 h 2936"/>
                <a:gd name="T46" fmla="*/ 2147483646 w 5345"/>
                <a:gd name="T47" fmla="*/ 2147483646 h 2936"/>
                <a:gd name="T48" fmla="*/ 2147483646 w 5345"/>
                <a:gd name="T49" fmla="*/ 2147483646 h 2936"/>
                <a:gd name="T50" fmla="*/ 2147483646 w 5345"/>
                <a:gd name="T51" fmla="*/ 2147483646 h 2936"/>
                <a:gd name="T52" fmla="*/ 2147483646 w 5345"/>
                <a:gd name="T53" fmla="*/ 2147483646 h 2936"/>
                <a:gd name="T54" fmla="*/ 2147483646 w 5345"/>
                <a:gd name="T55" fmla="*/ 2147483646 h 2936"/>
                <a:gd name="T56" fmla="*/ 2147483646 w 5345"/>
                <a:gd name="T57" fmla="*/ 2147483646 h 2936"/>
                <a:gd name="T58" fmla="*/ 2147483646 w 5345"/>
                <a:gd name="T59" fmla="*/ 2147483646 h 2936"/>
                <a:gd name="T60" fmla="*/ 2147483646 w 5345"/>
                <a:gd name="T61" fmla="*/ 2147483646 h 2936"/>
                <a:gd name="T62" fmla="*/ 452722804 w 5345"/>
                <a:gd name="T63" fmla="*/ 2147483646 h 2936"/>
                <a:gd name="T64" fmla="*/ 90570008 w 5345"/>
                <a:gd name="T65" fmla="*/ 2147483646 h 2936"/>
                <a:gd name="T66" fmla="*/ 1629877726 w 5345"/>
                <a:gd name="T67" fmla="*/ 2147483646 h 2936"/>
                <a:gd name="T68" fmla="*/ 2147483646 w 5345"/>
                <a:gd name="T69" fmla="*/ 2147483646 h 2936"/>
                <a:gd name="T70" fmla="*/ 2147483646 w 5345"/>
                <a:gd name="T71" fmla="*/ 2147483646 h 2936"/>
                <a:gd name="T72" fmla="*/ 2147483646 w 5345"/>
                <a:gd name="T73" fmla="*/ 2147483646 h 2936"/>
                <a:gd name="T74" fmla="*/ 2147483646 w 5345"/>
                <a:gd name="T75" fmla="*/ 2147483646 h 2936"/>
                <a:gd name="T76" fmla="*/ 2147483646 w 5345"/>
                <a:gd name="T77" fmla="*/ 2147483646 h 2936"/>
                <a:gd name="T78" fmla="*/ 2147483646 w 5345"/>
                <a:gd name="T79" fmla="*/ 2147483646 h 2936"/>
                <a:gd name="T80" fmla="*/ 2147483646 w 5345"/>
                <a:gd name="T81" fmla="*/ 2147483646 h 2936"/>
                <a:gd name="T82" fmla="*/ 2147483646 w 5345"/>
                <a:gd name="T83" fmla="*/ 2147483646 h 2936"/>
                <a:gd name="T84" fmla="*/ 2147483646 w 5345"/>
                <a:gd name="T85" fmla="*/ 2147483646 h 2936"/>
                <a:gd name="T86" fmla="*/ 2147483646 w 5345"/>
                <a:gd name="T87" fmla="*/ 2147483646 h 2936"/>
                <a:gd name="T88" fmla="*/ 2147483646 w 5345"/>
                <a:gd name="T89" fmla="*/ 2147483646 h 2936"/>
                <a:gd name="T90" fmla="*/ 2147483646 w 5345"/>
                <a:gd name="T91" fmla="*/ 2147483646 h 2936"/>
                <a:gd name="T92" fmla="*/ 2147483646 w 5345"/>
                <a:gd name="T93" fmla="*/ 2147483646 h 2936"/>
                <a:gd name="T94" fmla="*/ 2147483646 w 5345"/>
                <a:gd name="T95" fmla="*/ 2147483646 h 2936"/>
                <a:gd name="T96" fmla="*/ 2147483646 w 5345"/>
                <a:gd name="T97" fmla="*/ 2147483646 h 2936"/>
                <a:gd name="T98" fmla="*/ 2147483646 w 5345"/>
                <a:gd name="T99" fmla="*/ 2147483646 h 2936"/>
                <a:gd name="T100" fmla="*/ 2147483646 w 5345"/>
                <a:gd name="T101" fmla="*/ 2147483646 h 2936"/>
                <a:gd name="T102" fmla="*/ 2147483646 w 5345"/>
                <a:gd name="T103" fmla="*/ 2147483646 h 2936"/>
                <a:gd name="T104" fmla="*/ 2147483646 w 5345"/>
                <a:gd name="T105" fmla="*/ 2147483646 h 29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345" h="2936">
                  <a:moveTo>
                    <a:pt x="4729" y="1661"/>
                  </a:moveTo>
                  <a:lnTo>
                    <a:pt x="4729" y="1661"/>
                  </a:lnTo>
                  <a:lnTo>
                    <a:pt x="4723" y="1609"/>
                  </a:lnTo>
                  <a:lnTo>
                    <a:pt x="4716" y="1558"/>
                  </a:lnTo>
                  <a:lnTo>
                    <a:pt x="4706" y="1507"/>
                  </a:lnTo>
                  <a:lnTo>
                    <a:pt x="4693" y="1458"/>
                  </a:lnTo>
                  <a:lnTo>
                    <a:pt x="4679" y="1409"/>
                  </a:lnTo>
                  <a:lnTo>
                    <a:pt x="4663" y="1361"/>
                  </a:lnTo>
                  <a:lnTo>
                    <a:pt x="4644" y="1314"/>
                  </a:lnTo>
                  <a:lnTo>
                    <a:pt x="4622" y="1268"/>
                  </a:lnTo>
                  <a:lnTo>
                    <a:pt x="4600" y="1223"/>
                  </a:lnTo>
                  <a:lnTo>
                    <a:pt x="4575" y="1181"/>
                  </a:lnTo>
                  <a:lnTo>
                    <a:pt x="4548" y="1138"/>
                  </a:lnTo>
                  <a:lnTo>
                    <a:pt x="4519" y="1098"/>
                  </a:lnTo>
                  <a:lnTo>
                    <a:pt x="4489" y="1059"/>
                  </a:lnTo>
                  <a:lnTo>
                    <a:pt x="4457" y="1021"/>
                  </a:lnTo>
                  <a:lnTo>
                    <a:pt x="4422" y="984"/>
                  </a:lnTo>
                  <a:lnTo>
                    <a:pt x="4387" y="950"/>
                  </a:lnTo>
                  <a:lnTo>
                    <a:pt x="4350" y="917"/>
                  </a:lnTo>
                  <a:lnTo>
                    <a:pt x="4312" y="886"/>
                  </a:lnTo>
                  <a:lnTo>
                    <a:pt x="4272" y="856"/>
                  </a:lnTo>
                  <a:lnTo>
                    <a:pt x="4230" y="828"/>
                  </a:lnTo>
                  <a:lnTo>
                    <a:pt x="4188" y="802"/>
                  </a:lnTo>
                  <a:lnTo>
                    <a:pt x="4144" y="778"/>
                  </a:lnTo>
                  <a:lnTo>
                    <a:pt x="4099" y="757"/>
                  </a:lnTo>
                  <a:lnTo>
                    <a:pt x="4053" y="737"/>
                  </a:lnTo>
                  <a:lnTo>
                    <a:pt x="4005" y="719"/>
                  </a:lnTo>
                  <a:lnTo>
                    <a:pt x="3957" y="703"/>
                  </a:lnTo>
                  <a:lnTo>
                    <a:pt x="3907" y="689"/>
                  </a:lnTo>
                  <a:lnTo>
                    <a:pt x="3857" y="679"/>
                  </a:lnTo>
                  <a:lnTo>
                    <a:pt x="3806" y="670"/>
                  </a:lnTo>
                  <a:lnTo>
                    <a:pt x="3754" y="663"/>
                  </a:lnTo>
                  <a:lnTo>
                    <a:pt x="3701" y="660"/>
                  </a:lnTo>
                  <a:lnTo>
                    <a:pt x="3648" y="658"/>
                  </a:lnTo>
                  <a:lnTo>
                    <a:pt x="3608" y="660"/>
                  </a:lnTo>
                  <a:lnTo>
                    <a:pt x="3566" y="661"/>
                  </a:lnTo>
                  <a:lnTo>
                    <a:pt x="3526" y="665"/>
                  </a:lnTo>
                  <a:lnTo>
                    <a:pt x="3486" y="670"/>
                  </a:lnTo>
                  <a:lnTo>
                    <a:pt x="3446" y="677"/>
                  </a:lnTo>
                  <a:lnTo>
                    <a:pt x="3407" y="686"/>
                  </a:lnTo>
                  <a:lnTo>
                    <a:pt x="3368" y="695"/>
                  </a:lnTo>
                  <a:lnTo>
                    <a:pt x="3330" y="706"/>
                  </a:lnTo>
                  <a:lnTo>
                    <a:pt x="3294" y="718"/>
                  </a:lnTo>
                  <a:lnTo>
                    <a:pt x="3257" y="732"/>
                  </a:lnTo>
                  <a:lnTo>
                    <a:pt x="3220" y="746"/>
                  </a:lnTo>
                  <a:lnTo>
                    <a:pt x="3185" y="763"/>
                  </a:lnTo>
                  <a:lnTo>
                    <a:pt x="3150" y="779"/>
                  </a:lnTo>
                  <a:lnTo>
                    <a:pt x="3116" y="798"/>
                  </a:lnTo>
                  <a:lnTo>
                    <a:pt x="3083" y="817"/>
                  </a:lnTo>
                  <a:lnTo>
                    <a:pt x="3050" y="838"/>
                  </a:lnTo>
                  <a:lnTo>
                    <a:pt x="3038" y="793"/>
                  </a:lnTo>
                  <a:lnTo>
                    <a:pt x="3024" y="750"/>
                  </a:lnTo>
                  <a:lnTo>
                    <a:pt x="3007" y="707"/>
                  </a:lnTo>
                  <a:lnTo>
                    <a:pt x="2989" y="664"/>
                  </a:lnTo>
                  <a:lnTo>
                    <a:pt x="2970" y="623"/>
                  </a:lnTo>
                  <a:lnTo>
                    <a:pt x="2949" y="583"/>
                  </a:lnTo>
                  <a:lnTo>
                    <a:pt x="2927" y="542"/>
                  </a:lnTo>
                  <a:lnTo>
                    <a:pt x="2903" y="504"/>
                  </a:lnTo>
                  <a:lnTo>
                    <a:pt x="2877" y="467"/>
                  </a:lnTo>
                  <a:lnTo>
                    <a:pt x="2850" y="430"/>
                  </a:lnTo>
                  <a:lnTo>
                    <a:pt x="2821" y="396"/>
                  </a:lnTo>
                  <a:lnTo>
                    <a:pt x="2792" y="361"/>
                  </a:lnTo>
                  <a:lnTo>
                    <a:pt x="2761" y="329"/>
                  </a:lnTo>
                  <a:lnTo>
                    <a:pt x="2728" y="297"/>
                  </a:lnTo>
                  <a:lnTo>
                    <a:pt x="2694" y="268"/>
                  </a:lnTo>
                  <a:lnTo>
                    <a:pt x="2659" y="238"/>
                  </a:lnTo>
                  <a:lnTo>
                    <a:pt x="2623" y="211"/>
                  </a:lnTo>
                  <a:lnTo>
                    <a:pt x="2586" y="185"/>
                  </a:lnTo>
                  <a:lnTo>
                    <a:pt x="2548" y="161"/>
                  </a:lnTo>
                  <a:lnTo>
                    <a:pt x="2509" y="139"/>
                  </a:lnTo>
                  <a:lnTo>
                    <a:pt x="2468" y="117"/>
                  </a:lnTo>
                  <a:lnTo>
                    <a:pt x="2427" y="97"/>
                  </a:lnTo>
                  <a:lnTo>
                    <a:pt x="2384" y="79"/>
                  </a:lnTo>
                  <a:lnTo>
                    <a:pt x="2342" y="63"/>
                  </a:lnTo>
                  <a:lnTo>
                    <a:pt x="2298" y="49"/>
                  </a:lnTo>
                  <a:lnTo>
                    <a:pt x="2253" y="36"/>
                  </a:lnTo>
                  <a:lnTo>
                    <a:pt x="2208" y="25"/>
                  </a:lnTo>
                  <a:lnTo>
                    <a:pt x="2162" y="17"/>
                  </a:lnTo>
                  <a:lnTo>
                    <a:pt x="2114" y="9"/>
                  </a:lnTo>
                  <a:lnTo>
                    <a:pt x="2067" y="4"/>
                  </a:lnTo>
                  <a:lnTo>
                    <a:pt x="2019" y="1"/>
                  </a:lnTo>
                  <a:lnTo>
                    <a:pt x="1971" y="0"/>
                  </a:lnTo>
                  <a:lnTo>
                    <a:pt x="1941" y="0"/>
                  </a:lnTo>
                  <a:lnTo>
                    <a:pt x="1913" y="1"/>
                  </a:lnTo>
                  <a:lnTo>
                    <a:pt x="1884" y="4"/>
                  </a:lnTo>
                  <a:lnTo>
                    <a:pt x="1856" y="6"/>
                  </a:lnTo>
                  <a:lnTo>
                    <a:pt x="1829" y="8"/>
                  </a:lnTo>
                  <a:lnTo>
                    <a:pt x="1800" y="13"/>
                  </a:lnTo>
                  <a:lnTo>
                    <a:pt x="1746" y="23"/>
                  </a:lnTo>
                  <a:lnTo>
                    <a:pt x="1691" y="34"/>
                  </a:lnTo>
                  <a:lnTo>
                    <a:pt x="1638" y="50"/>
                  </a:lnTo>
                  <a:lnTo>
                    <a:pt x="1587" y="68"/>
                  </a:lnTo>
                  <a:lnTo>
                    <a:pt x="1536" y="88"/>
                  </a:lnTo>
                  <a:lnTo>
                    <a:pt x="1487" y="110"/>
                  </a:lnTo>
                  <a:lnTo>
                    <a:pt x="1438" y="135"/>
                  </a:lnTo>
                  <a:lnTo>
                    <a:pt x="1392" y="161"/>
                  </a:lnTo>
                  <a:lnTo>
                    <a:pt x="1347" y="191"/>
                  </a:lnTo>
                  <a:lnTo>
                    <a:pt x="1303" y="221"/>
                  </a:lnTo>
                  <a:lnTo>
                    <a:pt x="1260" y="255"/>
                  </a:lnTo>
                  <a:lnTo>
                    <a:pt x="1220" y="290"/>
                  </a:lnTo>
                  <a:lnTo>
                    <a:pt x="1181" y="327"/>
                  </a:lnTo>
                  <a:lnTo>
                    <a:pt x="1144" y="366"/>
                  </a:lnTo>
                  <a:lnTo>
                    <a:pt x="1109" y="406"/>
                  </a:lnTo>
                  <a:lnTo>
                    <a:pt x="1076" y="448"/>
                  </a:lnTo>
                  <a:lnTo>
                    <a:pt x="1045" y="491"/>
                  </a:lnTo>
                  <a:lnTo>
                    <a:pt x="1016" y="538"/>
                  </a:lnTo>
                  <a:lnTo>
                    <a:pt x="989" y="584"/>
                  </a:lnTo>
                  <a:lnTo>
                    <a:pt x="964" y="632"/>
                  </a:lnTo>
                  <a:lnTo>
                    <a:pt x="942" y="681"/>
                  </a:lnTo>
                  <a:lnTo>
                    <a:pt x="922" y="732"/>
                  </a:lnTo>
                  <a:lnTo>
                    <a:pt x="905" y="784"/>
                  </a:lnTo>
                  <a:lnTo>
                    <a:pt x="890" y="837"/>
                  </a:lnTo>
                  <a:lnTo>
                    <a:pt x="877" y="890"/>
                  </a:lnTo>
                  <a:lnTo>
                    <a:pt x="867" y="946"/>
                  </a:lnTo>
                  <a:lnTo>
                    <a:pt x="864" y="973"/>
                  </a:lnTo>
                  <a:lnTo>
                    <a:pt x="860" y="1002"/>
                  </a:lnTo>
                  <a:lnTo>
                    <a:pt x="858" y="1030"/>
                  </a:lnTo>
                  <a:lnTo>
                    <a:pt x="855" y="1059"/>
                  </a:lnTo>
                  <a:lnTo>
                    <a:pt x="855" y="1087"/>
                  </a:lnTo>
                  <a:lnTo>
                    <a:pt x="854" y="1115"/>
                  </a:lnTo>
                  <a:lnTo>
                    <a:pt x="855" y="1150"/>
                  </a:lnTo>
                  <a:lnTo>
                    <a:pt x="857" y="1183"/>
                  </a:lnTo>
                  <a:lnTo>
                    <a:pt x="860" y="1216"/>
                  </a:lnTo>
                  <a:lnTo>
                    <a:pt x="864" y="1250"/>
                  </a:lnTo>
                  <a:lnTo>
                    <a:pt x="845" y="1249"/>
                  </a:lnTo>
                  <a:lnTo>
                    <a:pt x="801" y="1250"/>
                  </a:lnTo>
                  <a:lnTo>
                    <a:pt x="758" y="1253"/>
                  </a:lnTo>
                  <a:lnTo>
                    <a:pt x="716" y="1259"/>
                  </a:lnTo>
                  <a:lnTo>
                    <a:pt x="674" y="1266"/>
                  </a:lnTo>
                  <a:lnTo>
                    <a:pt x="633" y="1275"/>
                  </a:lnTo>
                  <a:lnTo>
                    <a:pt x="594" y="1287"/>
                  </a:lnTo>
                  <a:lnTo>
                    <a:pt x="555" y="1300"/>
                  </a:lnTo>
                  <a:lnTo>
                    <a:pt x="515" y="1316"/>
                  </a:lnTo>
                  <a:lnTo>
                    <a:pt x="479" y="1332"/>
                  </a:lnTo>
                  <a:lnTo>
                    <a:pt x="442" y="1351"/>
                  </a:lnTo>
                  <a:lnTo>
                    <a:pt x="407" y="1371"/>
                  </a:lnTo>
                  <a:lnTo>
                    <a:pt x="372" y="1393"/>
                  </a:lnTo>
                  <a:lnTo>
                    <a:pt x="339" y="1416"/>
                  </a:lnTo>
                  <a:lnTo>
                    <a:pt x="307" y="1441"/>
                  </a:lnTo>
                  <a:lnTo>
                    <a:pt x="277" y="1468"/>
                  </a:lnTo>
                  <a:lnTo>
                    <a:pt x="248" y="1496"/>
                  </a:lnTo>
                  <a:lnTo>
                    <a:pt x="219" y="1525"/>
                  </a:lnTo>
                  <a:lnTo>
                    <a:pt x="193" y="1556"/>
                  </a:lnTo>
                  <a:lnTo>
                    <a:pt x="169" y="1588"/>
                  </a:lnTo>
                  <a:lnTo>
                    <a:pt x="145" y="1621"/>
                  </a:lnTo>
                  <a:lnTo>
                    <a:pt x="122" y="1655"/>
                  </a:lnTo>
                  <a:lnTo>
                    <a:pt x="102" y="1690"/>
                  </a:lnTo>
                  <a:lnTo>
                    <a:pt x="83" y="1726"/>
                  </a:lnTo>
                  <a:lnTo>
                    <a:pt x="67" y="1764"/>
                  </a:lnTo>
                  <a:lnTo>
                    <a:pt x="51" y="1802"/>
                  </a:lnTo>
                  <a:lnTo>
                    <a:pt x="38" y="1841"/>
                  </a:lnTo>
                  <a:lnTo>
                    <a:pt x="28" y="1882"/>
                  </a:lnTo>
                  <a:lnTo>
                    <a:pt x="18" y="1923"/>
                  </a:lnTo>
                  <a:lnTo>
                    <a:pt x="10" y="1965"/>
                  </a:lnTo>
                  <a:lnTo>
                    <a:pt x="5" y="2006"/>
                  </a:lnTo>
                  <a:lnTo>
                    <a:pt x="2" y="2049"/>
                  </a:lnTo>
                  <a:lnTo>
                    <a:pt x="0" y="2092"/>
                  </a:lnTo>
                  <a:lnTo>
                    <a:pt x="2" y="2135"/>
                  </a:lnTo>
                  <a:lnTo>
                    <a:pt x="5" y="2176"/>
                  </a:lnTo>
                  <a:lnTo>
                    <a:pt x="10" y="2217"/>
                  </a:lnTo>
                  <a:lnTo>
                    <a:pt x="17" y="2257"/>
                  </a:lnTo>
                  <a:lnTo>
                    <a:pt x="25" y="2297"/>
                  </a:lnTo>
                  <a:lnTo>
                    <a:pt x="36" y="2336"/>
                  </a:lnTo>
                  <a:lnTo>
                    <a:pt x="49" y="2374"/>
                  </a:lnTo>
                  <a:lnTo>
                    <a:pt x="63" y="2411"/>
                  </a:lnTo>
                  <a:lnTo>
                    <a:pt x="79" y="2448"/>
                  </a:lnTo>
                  <a:lnTo>
                    <a:pt x="96" y="2483"/>
                  </a:lnTo>
                  <a:lnTo>
                    <a:pt x="115" y="2517"/>
                  </a:lnTo>
                  <a:lnTo>
                    <a:pt x="137" y="2552"/>
                  </a:lnTo>
                  <a:lnTo>
                    <a:pt x="159" y="2584"/>
                  </a:lnTo>
                  <a:lnTo>
                    <a:pt x="183" y="2615"/>
                  </a:lnTo>
                  <a:lnTo>
                    <a:pt x="208" y="2645"/>
                  </a:lnTo>
                  <a:lnTo>
                    <a:pt x="234" y="2674"/>
                  </a:lnTo>
                  <a:lnTo>
                    <a:pt x="262" y="2702"/>
                  </a:lnTo>
                  <a:lnTo>
                    <a:pt x="290" y="2728"/>
                  </a:lnTo>
                  <a:lnTo>
                    <a:pt x="321" y="2753"/>
                  </a:lnTo>
                  <a:lnTo>
                    <a:pt x="352" y="2777"/>
                  </a:lnTo>
                  <a:lnTo>
                    <a:pt x="385" y="2799"/>
                  </a:lnTo>
                  <a:lnTo>
                    <a:pt x="418" y="2819"/>
                  </a:lnTo>
                  <a:lnTo>
                    <a:pt x="453" y="2840"/>
                  </a:lnTo>
                  <a:lnTo>
                    <a:pt x="488" y="2856"/>
                  </a:lnTo>
                  <a:lnTo>
                    <a:pt x="525" y="2873"/>
                  </a:lnTo>
                  <a:lnTo>
                    <a:pt x="563" y="2887"/>
                  </a:lnTo>
                  <a:lnTo>
                    <a:pt x="601" y="2899"/>
                  </a:lnTo>
                  <a:lnTo>
                    <a:pt x="640" y="2909"/>
                  </a:lnTo>
                  <a:lnTo>
                    <a:pt x="679" y="2919"/>
                  </a:lnTo>
                  <a:lnTo>
                    <a:pt x="719" y="2926"/>
                  </a:lnTo>
                  <a:lnTo>
                    <a:pt x="761" y="2931"/>
                  </a:lnTo>
                  <a:lnTo>
                    <a:pt x="802" y="2934"/>
                  </a:lnTo>
                  <a:lnTo>
                    <a:pt x="802" y="2936"/>
                  </a:lnTo>
                  <a:lnTo>
                    <a:pt x="4682" y="2936"/>
                  </a:lnTo>
                  <a:lnTo>
                    <a:pt x="4682" y="2933"/>
                  </a:lnTo>
                  <a:lnTo>
                    <a:pt x="4693" y="2934"/>
                  </a:lnTo>
                  <a:lnTo>
                    <a:pt x="4706" y="2936"/>
                  </a:lnTo>
                  <a:lnTo>
                    <a:pt x="4740" y="2936"/>
                  </a:lnTo>
                  <a:lnTo>
                    <a:pt x="4772" y="2933"/>
                  </a:lnTo>
                  <a:lnTo>
                    <a:pt x="4804" y="2928"/>
                  </a:lnTo>
                  <a:lnTo>
                    <a:pt x="4836" y="2922"/>
                  </a:lnTo>
                  <a:lnTo>
                    <a:pt x="4866" y="2915"/>
                  </a:lnTo>
                  <a:lnTo>
                    <a:pt x="4896" y="2907"/>
                  </a:lnTo>
                  <a:lnTo>
                    <a:pt x="4926" y="2898"/>
                  </a:lnTo>
                  <a:lnTo>
                    <a:pt x="4955" y="2886"/>
                  </a:lnTo>
                  <a:lnTo>
                    <a:pt x="4984" y="2873"/>
                  </a:lnTo>
                  <a:lnTo>
                    <a:pt x="5011" y="2859"/>
                  </a:lnTo>
                  <a:lnTo>
                    <a:pt x="5038" y="2843"/>
                  </a:lnTo>
                  <a:lnTo>
                    <a:pt x="5063" y="2827"/>
                  </a:lnTo>
                  <a:lnTo>
                    <a:pt x="5089" y="2809"/>
                  </a:lnTo>
                  <a:lnTo>
                    <a:pt x="5113" y="2790"/>
                  </a:lnTo>
                  <a:lnTo>
                    <a:pt x="5135" y="2770"/>
                  </a:lnTo>
                  <a:lnTo>
                    <a:pt x="5158" y="2748"/>
                  </a:lnTo>
                  <a:lnTo>
                    <a:pt x="5179" y="2727"/>
                  </a:lnTo>
                  <a:lnTo>
                    <a:pt x="5199" y="2703"/>
                  </a:lnTo>
                  <a:lnTo>
                    <a:pt x="5218" y="2680"/>
                  </a:lnTo>
                  <a:lnTo>
                    <a:pt x="5236" y="2655"/>
                  </a:lnTo>
                  <a:lnTo>
                    <a:pt x="5252" y="2629"/>
                  </a:lnTo>
                  <a:lnTo>
                    <a:pt x="5268" y="2602"/>
                  </a:lnTo>
                  <a:lnTo>
                    <a:pt x="5282" y="2574"/>
                  </a:lnTo>
                  <a:lnTo>
                    <a:pt x="5295" y="2546"/>
                  </a:lnTo>
                  <a:lnTo>
                    <a:pt x="5306" y="2517"/>
                  </a:lnTo>
                  <a:lnTo>
                    <a:pt x="5316" y="2488"/>
                  </a:lnTo>
                  <a:lnTo>
                    <a:pt x="5325" y="2457"/>
                  </a:lnTo>
                  <a:lnTo>
                    <a:pt x="5332" y="2426"/>
                  </a:lnTo>
                  <a:lnTo>
                    <a:pt x="5338" y="2394"/>
                  </a:lnTo>
                  <a:lnTo>
                    <a:pt x="5341" y="2362"/>
                  </a:lnTo>
                  <a:lnTo>
                    <a:pt x="5344" y="2330"/>
                  </a:lnTo>
                  <a:lnTo>
                    <a:pt x="5345" y="2297"/>
                  </a:lnTo>
                  <a:lnTo>
                    <a:pt x="5344" y="2265"/>
                  </a:lnTo>
                  <a:lnTo>
                    <a:pt x="5341" y="2233"/>
                  </a:lnTo>
                  <a:lnTo>
                    <a:pt x="5338" y="2203"/>
                  </a:lnTo>
                  <a:lnTo>
                    <a:pt x="5333" y="2172"/>
                  </a:lnTo>
                  <a:lnTo>
                    <a:pt x="5326" y="2141"/>
                  </a:lnTo>
                  <a:lnTo>
                    <a:pt x="5318" y="2111"/>
                  </a:lnTo>
                  <a:lnTo>
                    <a:pt x="5308" y="2083"/>
                  </a:lnTo>
                  <a:lnTo>
                    <a:pt x="5296" y="2054"/>
                  </a:lnTo>
                  <a:lnTo>
                    <a:pt x="5284" y="2026"/>
                  </a:lnTo>
                  <a:lnTo>
                    <a:pt x="5271" y="2000"/>
                  </a:lnTo>
                  <a:lnTo>
                    <a:pt x="5256" y="1974"/>
                  </a:lnTo>
                  <a:lnTo>
                    <a:pt x="5241" y="1948"/>
                  </a:lnTo>
                  <a:lnTo>
                    <a:pt x="5223" y="1923"/>
                  </a:lnTo>
                  <a:lnTo>
                    <a:pt x="5205" y="1899"/>
                  </a:lnTo>
                  <a:lnTo>
                    <a:pt x="5185" y="1877"/>
                  </a:lnTo>
                  <a:lnTo>
                    <a:pt x="5165" y="1854"/>
                  </a:lnTo>
                  <a:lnTo>
                    <a:pt x="5143" y="1834"/>
                  </a:lnTo>
                  <a:lnTo>
                    <a:pt x="5121" y="1814"/>
                  </a:lnTo>
                  <a:lnTo>
                    <a:pt x="5098" y="1795"/>
                  </a:lnTo>
                  <a:lnTo>
                    <a:pt x="5074" y="1777"/>
                  </a:lnTo>
                  <a:lnTo>
                    <a:pt x="5049" y="1761"/>
                  </a:lnTo>
                  <a:lnTo>
                    <a:pt x="5023" y="1745"/>
                  </a:lnTo>
                  <a:lnTo>
                    <a:pt x="4997" y="1731"/>
                  </a:lnTo>
                  <a:lnTo>
                    <a:pt x="4969" y="1717"/>
                  </a:lnTo>
                  <a:lnTo>
                    <a:pt x="4941" y="1706"/>
                  </a:lnTo>
                  <a:lnTo>
                    <a:pt x="4913" y="1696"/>
                  </a:lnTo>
                  <a:lnTo>
                    <a:pt x="4883" y="1686"/>
                  </a:lnTo>
                  <a:lnTo>
                    <a:pt x="4853" y="1678"/>
                  </a:lnTo>
                  <a:lnTo>
                    <a:pt x="4823" y="1672"/>
                  </a:lnTo>
                  <a:lnTo>
                    <a:pt x="4792" y="1667"/>
                  </a:lnTo>
                  <a:lnTo>
                    <a:pt x="4761" y="1664"/>
                  </a:lnTo>
                  <a:lnTo>
                    <a:pt x="4729" y="166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/>
            <a:p>
              <a:pPr algn="ctr" defTabSz="9142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67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  <p:sp>
          <p:nvSpPr>
            <p:cNvPr id="6" name="文本框 5"/>
            <p:cNvSpPr txBox="1">
              <a:spLocks noChangeArrowheads="1"/>
            </p:cNvSpPr>
            <p:nvPr/>
          </p:nvSpPr>
          <p:spPr bwMode="auto">
            <a:xfrm>
              <a:off x="4508159" y="864629"/>
              <a:ext cx="433287" cy="4560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5pPr>
              <a:lvl6pPr marL="25146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6pPr>
              <a:lvl7pPr marL="29718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7pPr>
              <a:lvl8pPr marL="34290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8pPr>
              <a:lvl9pPr marL="38862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3733">
                  <a:solidFill>
                    <a:schemeClr val="bg1"/>
                  </a:solidFill>
                  <a:cs typeface="Arial" pitchFamily="34" charset="0"/>
                </a:rPr>
                <a:t>1</a:t>
              </a:r>
              <a:endParaRPr lang="zh-CN" altLang="en-US" sz="3733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1797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 userDrawn="1"/>
        </p:nvSpPr>
        <p:spPr bwMode="auto">
          <a:xfrm>
            <a:off x="1363135" y="359836"/>
            <a:ext cx="4584700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hangingPunct="1">
              <a:defRPr/>
            </a:pPr>
            <a:r>
              <a:rPr lang="zh-CN" altLang="en-US" sz="2667" b="1">
                <a:latin typeface="微软雅黑" pitchFamily="34" charset="-122"/>
              </a:rPr>
              <a:t>此处添加您的标题</a:t>
            </a:r>
            <a:endParaRPr lang="id-ID" altLang="zh-CN" sz="2667" b="1">
              <a:latin typeface="微软雅黑" pitchFamily="34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 userDrawn="1"/>
        </p:nvSpPr>
        <p:spPr bwMode="auto">
          <a:xfrm>
            <a:off x="1390651" y="840322"/>
            <a:ext cx="3570816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hangingPunct="1">
              <a:defRPr/>
            </a:pPr>
            <a:r>
              <a:rPr lang="id-ID" altLang="zh-CN" sz="1333"/>
              <a:t>Biscuit oat cake carrot cake muffin jelly</a:t>
            </a:r>
            <a:endParaRPr lang="zh-CN" altLang="en-US" sz="1333"/>
          </a:p>
        </p:txBody>
      </p:sp>
      <p:grpSp>
        <p:nvGrpSpPr>
          <p:cNvPr id="4" name="组合 8"/>
          <p:cNvGrpSpPr>
            <a:grpSpLocks/>
          </p:cNvGrpSpPr>
          <p:nvPr userDrawn="1"/>
        </p:nvGrpSpPr>
        <p:grpSpPr bwMode="auto">
          <a:xfrm>
            <a:off x="275175" y="421220"/>
            <a:ext cx="1087967" cy="666786"/>
            <a:chOff x="4353620" y="864629"/>
            <a:chExt cx="742365" cy="456068"/>
          </a:xfrm>
        </p:grpSpPr>
        <p:sp>
          <p:nvSpPr>
            <p:cNvPr id="5" name="KSO_Shape"/>
            <p:cNvSpPr>
              <a:spLocks/>
            </p:cNvSpPr>
            <p:nvPr/>
          </p:nvSpPr>
          <p:spPr bwMode="auto">
            <a:xfrm>
              <a:off x="4353620" y="866076"/>
              <a:ext cx="742365" cy="408268"/>
            </a:xfrm>
            <a:custGeom>
              <a:avLst/>
              <a:gdLst>
                <a:gd name="T0" fmla="*/ 2147483646 w 5345"/>
                <a:gd name="T1" fmla="*/ 2147483646 h 2936"/>
                <a:gd name="T2" fmla="*/ 2147483646 w 5345"/>
                <a:gd name="T3" fmla="*/ 2147483646 h 2936"/>
                <a:gd name="T4" fmla="*/ 2147483646 w 5345"/>
                <a:gd name="T5" fmla="*/ 2147483646 h 2936"/>
                <a:gd name="T6" fmla="*/ 2147483646 w 5345"/>
                <a:gd name="T7" fmla="*/ 2147483646 h 2936"/>
                <a:gd name="T8" fmla="*/ 2147483646 w 5345"/>
                <a:gd name="T9" fmla="*/ 2147483646 h 2936"/>
                <a:gd name="T10" fmla="*/ 2147483646 w 5345"/>
                <a:gd name="T11" fmla="*/ 2147483646 h 2936"/>
                <a:gd name="T12" fmla="*/ 2147483646 w 5345"/>
                <a:gd name="T13" fmla="*/ 2147483646 h 2936"/>
                <a:gd name="T14" fmla="*/ 2147483646 w 5345"/>
                <a:gd name="T15" fmla="*/ 2147483646 h 2936"/>
                <a:gd name="T16" fmla="*/ 2147483646 w 5345"/>
                <a:gd name="T17" fmla="*/ 2147483646 h 2936"/>
                <a:gd name="T18" fmla="*/ 2147483646 w 5345"/>
                <a:gd name="T19" fmla="*/ 2147483646 h 2936"/>
                <a:gd name="T20" fmla="*/ 2147483646 w 5345"/>
                <a:gd name="T21" fmla="*/ 2147483646 h 2936"/>
                <a:gd name="T22" fmla="*/ 2147483646 w 5345"/>
                <a:gd name="T23" fmla="*/ 2147483646 h 2936"/>
                <a:gd name="T24" fmla="*/ 2147483646 w 5345"/>
                <a:gd name="T25" fmla="*/ 2147483646 h 2936"/>
                <a:gd name="T26" fmla="*/ 2147483646 w 5345"/>
                <a:gd name="T27" fmla="*/ 2147483646 h 2936"/>
                <a:gd name="T28" fmla="*/ 2147483646 w 5345"/>
                <a:gd name="T29" fmla="*/ 2147483646 h 2936"/>
                <a:gd name="T30" fmla="*/ 2147483646 w 5345"/>
                <a:gd name="T31" fmla="*/ 772639970 h 2936"/>
                <a:gd name="T32" fmla="*/ 2147483646 w 5345"/>
                <a:gd name="T33" fmla="*/ 0 h 2936"/>
                <a:gd name="T34" fmla="*/ 2147483646 w 5345"/>
                <a:gd name="T35" fmla="*/ 363587807 h 2936"/>
                <a:gd name="T36" fmla="*/ 2147483646 w 5345"/>
                <a:gd name="T37" fmla="*/ 2147483646 h 2936"/>
                <a:gd name="T38" fmla="*/ 2147483646 w 5345"/>
                <a:gd name="T39" fmla="*/ 2147483646 h 2936"/>
                <a:gd name="T40" fmla="*/ 2147483646 w 5345"/>
                <a:gd name="T41" fmla="*/ 2147483646 h 2936"/>
                <a:gd name="T42" fmla="*/ 2147483646 w 5345"/>
                <a:gd name="T43" fmla="*/ 2147483646 h 2936"/>
                <a:gd name="T44" fmla="*/ 2147483646 w 5345"/>
                <a:gd name="T45" fmla="*/ 2147483646 h 2936"/>
                <a:gd name="T46" fmla="*/ 2147483646 w 5345"/>
                <a:gd name="T47" fmla="*/ 2147483646 h 2936"/>
                <a:gd name="T48" fmla="*/ 2147483646 w 5345"/>
                <a:gd name="T49" fmla="*/ 2147483646 h 2936"/>
                <a:gd name="T50" fmla="*/ 2147483646 w 5345"/>
                <a:gd name="T51" fmla="*/ 2147483646 h 2936"/>
                <a:gd name="T52" fmla="*/ 2147483646 w 5345"/>
                <a:gd name="T53" fmla="*/ 2147483646 h 2936"/>
                <a:gd name="T54" fmla="*/ 2147483646 w 5345"/>
                <a:gd name="T55" fmla="*/ 2147483646 h 2936"/>
                <a:gd name="T56" fmla="*/ 2147483646 w 5345"/>
                <a:gd name="T57" fmla="*/ 2147483646 h 2936"/>
                <a:gd name="T58" fmla="*/ 2147483646 w 5345"/>
                <a:gd name="T59" fmla="*/ 2147483646 h 2936"/>
                <a:gd name="T60" fmla="*/ 2147483646 w 5345"/>
                <a:gd name="T61" fmla="*/ 2147483646 h 2936"/>
                <a:gd name="T62" fmla="*/ 452722804 w 5345"/>
                <a:gd name="T63" fmla="*/ 2147483646 h 2936"/>
                <a:gd name="T64" fmla="*/ 90570008 w 5345"/>
                <a:gd name="T65" fmla="*/ 2147483646 h 2936"/>
                <a:gd name="T66" fmla="*/ 1629877726 w 5345"/>
                <a:gd name="T67" fmla="*/ 2147483646 h 2936"/>
                <a:gd name="T68" fmla="*/ 2147483646 w 5345"/>
                <a:gd name="T69" fmla="*/ 2147483646 h 2936"/>
                <a:gd name="T70" fmla="*/ 2147483646 w 5345"/>
                <a:gd name="T71" fmla="*/ 2147483646 h 2936"/>
                <a:gd name="T72" fmla="*/ 2147483646 w 5345"/>
                <a:gd name="T73" fmla="*/ 2147483646 h 2936"/>
                <a:gd name="T74" fmla="*/ 2147483646 w 5345"/>
                <a:gd name="T75" fmla="*/ 2147483646 h 2936"/>
                <a:gd name="T76" fmla="*/ 2147483646 w 5345"/>
                <a:gd name="T77" fmla="*/ 2147483646 h 2936"/>
                <a:gd name="T78" fmla="*/ 2147483646 w 5345"/>
                <a:gd name="T79" fmla="*/ 2147483646 h 2936"/>
                <a:gd name="T80" fmla="*/ 2147483646 w 5345"/>
                <a:gd name="T81" fmla="*/ 2147483646 h 2936"/>
                <a:gd name="T82" fmla="*/ 2147483646 w 5345"/>
                <a:gd name="T83" fmla="*/ 2147483646 h 2936"/>
                <a:gd name="T84" fmla="*/ 2147483646 w 5345"/>
                <a:gd name="T85" fmla="*/ 2147483646 h 2936"/>
                <a:gd name="T86" fmla="*/ 2147483646 w 5345"/>
                <a:gd name="T87" fmla="*/ 2147483646 h 2936"/>
                <a:gd name="T88" fmla="*/ 2147483646 w 5345"/>
                <a:gd name="T89" fmla="*/ 2147483646 h 2936"/>
                <a:gd name="T90" fmla="*/ 2147483646 w 5345"/>
                <a:gd name="T91" fmla="*/ 2147483646 h 2936"/>
                <a:gd name="T92" fmla="*/ 2147483646 w 5345"/>
                <a:gd name="T93" fmla="*/ 2147483646 h 2936"/>
                <a:gd name="T94" fmla="*/ 2147483646 w 5345"/>
                <a:gd name="T95" fmla="*/ 2147483646 h 2936"/>
                <a:gd name="T96" fmla="*/ 2147483646 w 5345"/>
                <a:gd name="T97" fmla="*/ 2147483646 h 2936"/>
                <a:gd name="T98" fmla="*/ 2147483646 w 5345"/>
                <a:gd name="T99" fmla="*/ 2147483646 h 2936"/>
                <a:gd name="T100" fmla="*/ 2147483646 w 5345"/>
                <a:gd name="T101" fmla="*/ 2147483646 h 2936"/>
                <a:gd name="T102" fmla="*/ 2147483646 w 5345"/>
                <a:gd name="T103" fmla="*/ 2147483646 h 2936"/>
                <a:gd name="T104" fmla="*/ 2147483646 w 5345"/>
                <a:gd name="T105" fmla="*/ 2147483646 h 29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345" h="2936">
                  <a:moveTo>
                    <a:pt x="4729" y="1661"/>
                  </a:moveTo>
                  <a:lnTo>
                    <a:pt x="4729" y="1661"/>
                  </a:lnTo>
                  <a:lnTo>
                    <a:pt x="4723" y="1609"/>
                  </a:lnTo>
                  <a:lnTo>
                    <a:pt x="4716" y="1558"/>
                  </a:lnTo>
                  <a:lnTo>
                    <a:pt x="4706" y="1507"/>
                  </a:lnTo>
                  <a:lnTo>
                    <a:pt x="4693" y="1458"/>
                  </a:lnTo>
                  <a:lnTo>
                    <a:pt x="4679" y="1409"/>
                  </a:lnTo>
                  <a:lnTo>
                    <a:pt x="4663" y="1361"/>
                  </a:lnTo>
                  <a:lnTo>
                    <a:pt x="4644" y="1314"/>
                  </a:lnTo>
                  <a:lnTo>
                    <a:pt x="4622" y="1268"/>
                  </a:lnTo>
                  <a:lnTo>
                    <a:pt x="4600" y="1223"/>
                  </a:lnTo>
                  <a:lnTo>
                    <a:pt x="4575" y="1181"/>
                  </a:lnTo>
                  <a:lnTo>
                    <a:pt x="4548" y="1138"/>
                  </a:lnTo>
                  <a:lnTo>
                    <a:pt x="4519" y="1098"/>
                  </a:lnTo>
                  <a:lnTo>
                    <a:pt x="4489" y="1059"/>
                  </a:lnTo>
                  <a:lnTo>
                    <a:pt x="4457" y="1021"/>
                  </a:lnTo>
                  <a:lnTo>
                    <a:pt x="4422" y="984"/>
                  </a:lnTo>
                  <a:lnTo>
                    <a:pt x="4387" y="950"/>
                  </a:lnTo>
                  <a:lnTo>
                    <a:pt x="4350" y="917"/>
                  </a:lnTo>
                  <a:lnTo>
                    <a:pt x="4312" y="886"/>
                  </a:lnTo>
                  <a:lnTo>
                    <a:pt x="4272" y="856"/>
                  </a:lnTo>
                  <a:lnTo>
                    <a:pt x="4230" y="828"/>
                  </a:lnTo>
                  <a:lnTo>
                    <a:pt x="4188" y="802"/>
                  </a:lnTo>
                  <a:lnTo>
                    <a:pt x="4144" y="778"/>
                  </a:lnTo>
                  <a:lnTo>
                    <a:pt x="4099" y="757"/>
                  </a:lnTo>
                  <a:lnTo>
                    <a:pt x="4053" y="737"/>
                  </a:lnTo>
                  <a:lnTo>
                    <a:pt x="4005" y="719"/>
                  </a:lnTo>
                  <a:lnTo>
                    <a:pt x="3957" y="703"/>
                  </a:lnTo>
                  <a:lnTo>
                    <a:pt x="3907" y="689"/>
                  </a:lnTo>
                  <a:lnTo>
                    <a:pt x="3857" y="679"/>
                  </a:lnTo>
                  <a:lnTo>
                    <a:pt x="3806" y="670"/>
                  </a:lnTo>
                  <a:lnTo>
                    <a:pt x="3754" y="663"/>
                  </a:lnTo>
                  <a:lnTo>
                    <a:pt x="3701" y="660"/>
                  </a:lnTo>
                  <a:lnTo>
                    <a:pt x="3648" y="658"/>
                  </a:lnTo>
                  <a:lnTo>
                    <a:pt x="3608" y="660"/>
                  </a:lnTo>
                  <a:lnTo>
                    <a:pt x="3566" y="661"/>
                  </a:lnTo>
                  <a:lnTo>
                    <a:pt x="3526" y="665"/>
                  </a:lnTo>
                  <a:lnTo>
                    <a:pt x="3486" y="670"/>
                  </a:lnTo>
                  <a:lnTo>
                    <a:pt x="3446" y="677"/>
                  </a:lnTo>
                  <a:lnTo>
                    <a:pt x="3407" y="686"/>
                  </a:lnTo>
                  <a:lnTo>
                    <a:pt x="3368" y="695"/>
                  </a:lnTo>
                  <a:lnTo>
                    <a:pt x="3330" y="706"/>
                  </a:lnTo>
                  <a:lnTo>
                    <a:pt x="3294" y="718"/>
                  </a:lnTo>
                  <a:lnTo>
                    <a:pt x="3257" y="732"/>
                  </a:lnTo>
                  <a:lnTo>
                    <a:pt x="3220" y="746"/>
                  </a:lnTo>
                  <a:lnTo>
                    <a:pt x="3185" y="763"/>
                  </a:lnTo>
                  <a:lnTo>
                    <a:pt x="3150" y="779"/>
                  </a:lnTo>
                  <a:lnTo>
                    <a:pt x="3116" y="798"/>
                  </a:lnTo>
                  <a:lnTo>
                    <a:pt x="3083" y="817"/>
                  </a:lnTo>
                  <a:lnTo>
                    <a:pt x="3050" y="838"/>
                  </a:lnTo>
                  <a:lnTo>
                    <a:pt x="3038" y="793"/>
                  </a:lnTo>
                  <a:lnTo>
                    <a:pt x="3024" y="750"/>
                  </a:lnTo>
                  <a:lnTo>
                    <a:pt x="3007" y="707"/>
                  </a:lnTo>
                  <a:lnTo>
                    <a:pt x="2989" y="664"/>
                  </a:lnTo>
                  <a:lnTo>
                    <a:pt x="2970" y="623"/>
                  </a:lnTo>
                  <a:lnTo>
                    <a:pt x="2949" y="583"/>
                  </a:lnTo>
                  <a:lnTo>
                    <a:pt x="2927" y="542"/>
                  </a:lnTo>
                  <a:lnTo>
                    <a:pt x="2903" y="504"/>
                  </a:lnTo>
                  <a:lnTo>
                    <a:pt x="2877" y="467"/>
                  </a:lnTo>
                  <a:lnTo>
                    <a:pt x="2850" y="430"/>
                  </a:lnTo>
                  <a:lnTo>
                    <a:pt x="2821" y="396"/>
                  </a:lnTo>
                  <a:lnTo>
                    <a:pt x="2792" y="361"/>
                  </a:lnTo>
                  <a:lnTo>
                    <a:pt x="2761" y="329"/>
                  </a:lnTo>
                  <a:lnTo>
                    <a:pt x="2728" y="297"/>
                  </a:lnTo>
                  <a:lnTo>
                    <a:pt x="2694" y="268"/>
                  </a:lnTo>
                  <a:lnTo>
                    <a:pt x="2659" y="238"/>
                  </a:lnTo>
                  <a:lnTo>
                    <a:pt x="2623" y="211"/>
                  </a:lnTo>
                  <a:lnTo>
                    <a:pt x="2586" y="185"/>
                  </a:lnTo>
                  <a:lnTo>
                    <a:pt x="2548" y="161"/>
                  </a:lnTo>
                  <a:lnTo>
                    <a:pt x="2509" y="139"/>
                  </a:lnTo>
                  <a:lnTo>
                    <a:pt x="2468" y="117"/>
                  </a:lnTo>
                  <a:lnTo>
                    <a:pt x="2427" y="97"/>
                  </a:lnTo>
                  <a:lnTo>
                    <a:pt x="2384" y="79"/>
                  </a:lnTo>
                  <a:lnTo>
                    <a:pt x="2342" y="63"/>
                  </a:lnTo>
                  <a:lnTo>
                    <a:pt x="2298" y="49"/>
                  </a:lnTo>
                  <a:lnTo>
                    <a:pt x="2253" y="36"/>
                  </a:lnTo>
                  <a:lnTo>
                    <a:pt x="2208" y="25"/>
                  </a:lnTo>
                  <a:lnTo>
                    <a:pt x="2162" y="17"/>
                  </a:lnTo>
                  <a:lnTo>
                    <a:pt x="2114" y="9"/>
                  </a:lnTo>
                  <a:lnTo>
                    <a:pt x="2067" y="4"/>
                  </a:lnTo>
                  <a:lnTo>
                    <a:pt x="2019" y="1"/>
                  </a:lnTo>
                  <a:lnTo>
                    <a:pt x="1971" y="0"/>
                  </a:lnTo>
                  <a:lnTo>
                    <a:pt x="1941" y="0"/>
                  </a:lnTo>
                  <a:lnTo>
                    <a:pt x="1913" y="1"/>
                  </a:lnTo>
                  <a:lnTo>
                    <a:pt x="1884" y="4"/>
                  </a:lnTo>
                  <a:lnTo>
                    <a:pt x="1856" y="6"/>
                  </a:lnTo>
                  <a:lnTo>
                    <a:pt x="1829" y="8"/>
                  </a:lnTo>
                  <a:lnTo>
                    <a:pt x="1800" y="13"/>
                  </a:lnTo>
                  <a:lnTo>
                    <a:pt x="1746" y="23"/>
                  </a:lnTo>
                  <a:lnTo>
                    <a:pt x="1691" y="34"/>
                  </a:lnTo>
                  <a:lnTo>
                    <a:pt x="1638" y="50"/>
                  </a:lnTo>
                  <a:lnTo>
                    <a:pt x="1587" y="68"/>
                  </a:lnTo>
                  <a:lnTo>
                    <a:pt x="1536" y="88"/>
                  </a:lnTo>
                  <a:lnTo>
                    <a:pt x="1487" y="110"/>
                  </a:lnTo>
                  <a:lnTo>
                    <a:pt x="1438" y="135"/>
                  </a:lnTo>
                  <a:lnTo>
                    <a:pt x="1392" y="161"/>
                  </a:lnTo>
                  <a:lnTo>
                    <a:pt x="1347" y="191"/>
                  </a:lnTo>
                  <a:lnTo>
                    <a:pt x="1303" y="221"/>
                  </a:lnTo>
                  <a:lnTo>
                    <a:pt x="1260" y="255"/>
                  </a:lnTo>
                  <a:lnTo>
                    <a:pt x="1220" y="290"/>
                  </a:lnTo>
                  <a:lnTo>
                    <a:pt x="1181" y="327"/>
                  </a:lnTo>
                  <a:lnTo>
                    <a:pt x="1144" y="366"/>
                  </a:lnTo>
                  <a:lnTo>
                    <a:pt x="1109" y="406"/>
                  </a:lnTo>
                  <a:lnTo>
                    <a:pt x="1076" y="448"/>
                  </a:lnTo>
                  <a:lnTo>
                    <a:pt x="1045" y="491"/>
                  </a:lnTo>
                  <a:lnTo>
                    <a:pt x="1016" y="538"/>
                  </a:lnTo>
                  <a:lnTo>
                    <a:pt x="989" y="584"/>
                  </a:lnTo>
                  <a:lnTo>
                    <a:pt x="964" y="632"/>
                  </a:lnTo>
                  <a:lnTo>
                    <a:pt x="942" y="681"/>
                  </a:lnTo>
                  <a:lnTo>
                    <a:pt x="922" y="732"/>
                  </a:lnTo>
                  <a:lnTo>
                    <a:pt x="905" y="784"/>
                  </a:lnTo>
                  <a:lnTo>
                    <a:pt x="890" y="837"/>
                  </a:lnTo>
                  <a:lnTo>
                    <a:pt x="877" y="890"/>
                  </a:lnTo>
                  <a:lnTo>
                    <a:pt x="867" y="946"/>
                  </a:lnTo>
                  <a:lnTo>
                    <a:pt x="864" y="973"/>
                  </a:lnTo>
                  <a:lnTo>
                    <a:pt x="860" y="1002"/>
                  </a:lnTo>
                  <a:lnTo>
                    <a:pt x="858" y="1030"/>
                  </a:lnTo>
                  <a:lnTo>
                    <a:pt x="855" y="1059"/>
                  </a:lnTo>
                  <a:lnTo>
                    <a:pt x="855" y="1087"/>
                  </a:lnTo>
                  <a:lnTo>
                    <a:pt x="854" y="1115"/>
                  </a:lnTo>
                  <a:lnTo>
                    <a:pt x="855" y="1150"/>
                  </a:lnTo>
                  <a:lnTo>
                    <a:pt x="857" y="1183"/>
                  </a:lnTo>
                  <a:lnTo>
                    <a:pt x="860" y="1216"/>
                  </a:lnTo>
                  <a:lnTo>
                    <a:pt x="864" y="1250"/>
                  </a:lnTo>
                  <a:lnTo>
                    <a:pt x="845" y="1249"/>
                  </a:lnTo>
                  <a:lnTo>
                    <a:pt x="801" y="1250"/>
                  </a:lnTo>
                  <a:lnTo>
                    <a:pt x="758" y="1253"/>
                  </a:lnTo>
                  <a:lnTo>
                    <a:pt x="716" y="1259"/>
                  </a:lnTo>
                  <a:lnTo>
                    <a:pt x="674" y="1266"/>
                  </a:lnTo>
                  <a:lnTo>
                    <a:pt x="633" y="1275"/>
                  </a:lnTo>
                  <a:lnTo>
                    <a:pt x="594" y="1287"/>
                  </a:lnTo>
                  <a:lnTo>
                    <a:pt x="555" y="1300"/>
                  </a:lnTo>
                  <a:lnTo>
                    <a:pt x="515" y="1316"/>
                  </a:lnTo>
                  <a:lnTo>
                    <a:pt x="479" y="1332"/>
                  </a:lnTo>
                  <a:lnTo>
                    <a:pt x="442" y="1351"/>
                  </a:lnTo>
                  <a:lnTo>
                    <a:pt x="407" y="1371"/>
                  </a:lnTo>
                  <a:lnTo>
                    <a:pt x="372" y="1393"/>
                  </a:lnTo>
                  <a:lnTo>
                    <a:pt x="339" y="1416"/>
                  </a:lnTo>
                  <a:lnTo>
                    <a:pt x="307" y="1441"/>
                  </a:lnTo>
                  <a:lnTo>
                    <a:pt x="277" y="1468"/>
                  </a:lnTo>
                  <a:lnTo>
                    <a:pt x="248" y="1496"/>
                  </a:lnTo>
                  <a:lnTo>
                    <a:pt x="219" y="1525"/>
                  </a:lnTo>
                  <a:lnTo>
                    <a:pt x="193" y="1556"/>
                  </a:lnTo>
                  <a:lnTo>
                    <a:pt x="169" y="1588"/>
                  </a:lnTo>
                  <a:lnTo>
                    <a:pt x="145" y="1621"/>
                  </a:lnTo>
                  <a:lnTo>
                    <a:pt x="122" y="1655"/>
                  </a:lnTo>
                  <a:lnTo>
                    <a:pt x="102" y="1690"/>
                  </a:lnTo>
                  <a:lnTo>
                    <a:pt x="83" y="1726"/>
                  </a:lnTo>
                  <a:lnTo>
                    <a:pt x="67" y="1764"/>
                  </a:lnTo>
                  <a:lnTo>
                    <a:pt x="51" y="1802"/>
                  </a:lnTo>
                  <a:lnTo>
                    <a:pt x="38" y="1841"/>
                  </a:lnTo>
                  <a:lnTo>
                    <a:pt x="28" y="1882"/>
                  </a:lnTo>
                  <a:lnTo>
                    <a:pt x="18" y="1923"/>
                  </a:lnTo>
                  <a:lnTo>
                    <a:pt x="10" y="1965"/>
                  </a:lnTo>
                  <a:lnTo>
                    <a:pt x="5" y="2006"/>
                  </a:lnTo>
                  <a:lnTo>
                    <a:pt x="2" y="2049"/>
                  </a:lnTo>
                  <a:lnTo>
                    <a:pt x="0" y="2092"/>
                  </a:lnTo>
                  <a:lnTo>
                    <a:pt x="2" y="2135"/>
                  </a:lnTo>
                  <a:lnTo>
                    <a:pt x="5" y="2176"/>
                  </a:lnTo>
                  <a:lnTo>
                    <a:pt x="10" y="2217"/>
                  </a:lnTo>
                  <a:lnTo>
                    <a:pt x="17" y="2257"/>
                  </a:lnTo>
                  <a:lnTo>
                    <a:pt x="25" y="2297"/>
                  </a:lnTo>
                  <a:lnTo>
                    <a:pt x="36" y="2336"/>
                  </a:lnTo>
                  <a:lnTo>
                    <a:pt x="49" y="2374"/>
                  </a:lnTo>
                  <a:lnTo>
                    <a:pt x="63" y="2411"/>
                  </a:lnTo>
                  <a:lnTo>
                    <a:pt x="79" y="2448"/>
                  </a:lnTo>
                  <a:lnTo>
                    <a:pt x="96" y="2483"/>
                  </a:lnTo>
                  <a:lnTo>
                    <a:pt x="115" y="2517"/>
                  </a:lnTo>
                  <a:lnTo>
                    <a:pt x="137" y="2552"/>
                  </a:lnTo>
                  <a:lnTo>
                    <a:pt x="159" y="2584"/>
                  </a:lnTo>
                  <a:lnTo>
                    <a:pt x="183" y="2615"/>
                  </a:lnTo>
                  <a:lnTo>
                    <a:pt x="208" y="2645"/>
                  </a:lnTo>
                  <a:lnTo>
                    <a:pt x="234" y="2674"/>
                  </a:lnTo>
                  <a:lnTo>
                    <a:pt x="262" y="2702"/>
                  </a:lnTo>
                  <a:lnTo>
                    <a:pt x="290" y="2728"/>
                  </a:lnTo>
                  <a:lnTo>
                    <a:pt x="321" y="2753"/>
                  </a:lnTo>
                  <a:lnTo>
                    <a:pt x="352" y="2777"/>
                  </a:lnTo>
                  <a:lnTo>
                    <a:pt x="385" y="2799"/>
                  </a:lnTo>
                  <a:lnTo>
                    <a:pt x="418" y="2819"/>
                  </a:lnTo>
                  <a:lnTo>
                    <a:pt x="453" y="2840"/>
                  </a:lnTo>
                  <a:lnTo>
                    <a:pt x="488" y="2856"/>
                  </a:lnTo>
                  <a:lnTo>
                    <a:pt x="525" y="2873"/>
                  </a:lnTo>
                  <a:lnTo>
                    <a:pt x="563" y="2887"/>
                  </a:lnTo>
                  <a:lnTo>
                    <a:pt x="601" y="2899"/>
                  </a:lnTo>
                  <a:lnTo>
                    <a:pt x="640" y="2909"/>
                  </a:lnTo>
                  <a:lnTo>
                    <a:pt x="679" y="2919"/>
                  </a:lnTo>
                  <a:lnTo>
                    <a:pt x="719" y="2926"/>
                  </a:lnTo>
                  <a:lnTo>
                    <a:pt x="761" y="2931"/>
                  </a:lnTo>
                  <a:lnTo>
                    <a:pt x="802" y="2934"/>
                  </a:lnTo>
                  <a:lnTo>
                    <a:pt x="802" y="2936"/>
                  </a:lnTo>
                  <a:lnTo>
                    <a:pt x="4682" y="2936"/>
                  </a:lnTo>
                  <a:lnTo>
                    <a:pt x="4682" y="2933"/>
                  </a:lnTo>
                  <a:lnTo>
                    <a:pt x="4693" y="2934"/>
                  </a:lnTo>
                  <a:lnTo>
                    <a:pt x="4706" y="2936"/>
                  </a:lnTo>
                  <a:lnTo>
                    <a:pt x="4740" y="2936"/>
                  </a:lnTo>
                  <a:lnTo>
                    <a:pt x="4772" y="2933"/>
                  </a:lnTo>
                  <a:lnTo>
                    <a:pt x="4804" y="2928"/>
                  </a:lnTo>
                  <a:lnTo>
                    <a:pt x="4836" y="2922"/>
                  </a:lnTo>
                  <a:lnTo>
                    <a:pt x="4866" y="2915"/>
                  </a:lnTo>
                  <a:lnTo>
                    <a:pt x="4896" y="2907"/>
                  </a:lnTo>
                  <a:lnTo>
                    <a:pt x="4926" y="2898"/>
                  </a:lnTo>
                  <a:lnTo>
                    <a:pt x="4955" y="2886"/>
                  </a:lnTo>
                  <a:lnTo>
                    <a:pt x="4984" y="2873"/>
                  </a:lnTo>
                  <a:lnTo>
                    <a:pt x="5011" y="2859"/>
                  </a:lnTo>
                  <a:lnTo>
                    <a:pt x="5038" y="2843"/>
                  </a:lnTo>
                  <a:lnTo>
                    <a:pt x="5063" y="2827"/>
                  </a:lnTo>
                  <a:lnTo>
                    <a:pt x="5089" y="2809"/>
                  </a:lnTo>
                  <a:lnTo>
                    <a:pt x="5113" y="2790"/>
                  </a:lnTo>
                  <a:lnTo>
                    <a:pt x="5135" y="2770"/>
                  </a:lnTo>
                  <a:lnTo>
                    <a:pt x="5158" y="2748"/>
                  </a:lnTo>
                  <a:lnTo>
                    <a:pt x="5179" y="2727"/>
                  </a:lnTo>
                  <a:lnTo>
                    <a:pt x="5199" y="2703"/>
                  </a:lnTo>
                  <a:lnTo>
                    <a:pt x="5218" y="2680"/>
                  </a:lnTo>
                  <a:lnTo>
                    <a:pt x="5236" y="2655"/>
                  </a:lnTo>
                  <a:lnTo>
                    <a:pt x="5252" y="2629"/>
                  </a:lnTo>
                  <a:lnTo>
                    <a:pt x="5268" y="2602"/>
                  </a:lnTo>
                  <a:lnTo>
                    <a:pt x="5282" y="2574"/>
                  </a:lnTo>
                  <a:lnTo>
                    <a:pt x="5295" y="2546"/>
                  </a:lnTo>
                  <a:lnTo>
                    <a:pt x="5306" y="2517"/>
                  </a:lnTo>
                  <a:lnTo>
                    <a:pt x="5316" y="2488"/>
                  </a:lnTo>
                  <a:lnTo>
                    <a:pt x="5325" y="2457"/>
                  </a:lnTo>
                  <a:lnTo>
                    <a:pt x="5332" y="2426"/>
                  </a:lnTo>
                  <a:lnTo>
                    <a:pt x="5338" y="2394"/>
                  </a:lnTo>
                  <a:lnTo>
                    <a:pt x="5341" y="2362"/>
                  </a:lnTo>
                  <a:lnTo>
                    <a:pt x="5344" y="2330"/>
                  </a:lnTo>
                  <a:lnTo>
                    <a:pt x="5345" y="2297"/>
                  </a:lnTo>
                  <a:lnTo>
                    <a:pt x="5344" y="2265"/>
                  </a:lnTo>
                  <a:lnTo>
                    <a:pt x="5341" y="2233"/>
                  </a:lnTo>
                  <a:lnTo>
                    <a:pt x="5338" y="2203"/>
                  </a:lnTo>
                  <a:lnTo>
                    <a:pt x="5333" y="2172"/>
                  </a:lnTo>
                  <a:lnTo>
                    <a:pt x="5326" y="2141"/>
                  </a:lnTo>
                  <a:lnTo>
                    <a:pt x="5318" y="2111"/>
                  </a:lnTo>
                  <a:lnTo>
                    <a:pt x="5308" y="2083"/>
                  </a:lnTo>
                  <a:lnTo>
                    <a:pt x="5296" y="2054"/>
                  </a:lnTo>
                  <a:lnTo>
                    <a:pt x="5284" y="2026"/>
                  </a:lnTo>
                  <a:lnTo>
                    <a:pt x="5271" y="2000"/>
                  </a:lnTo>
                  <a:lnTo>
                    <a:pt x="5256" y="1974"/>
                  </a:lnTo>
                  <a:lnTo>
                    <a:pt x="5241" y="1948"/>
                  </a:lnTo>
                  <a:lnTo>
                    <a:pt x="5223" y="1923"/>
                  </a:lnTo>
                  <a:lnTo>
                    <a:pt x="5205" y="1899"/>
                  </a:lnTo>
                  <a:lnTo>
                    <a:pt x="5185" y="1877"/>
                  </a:lnTo>
                  <a:lnTo>
                    <a:pt x="5165" y="1854"/>
                  </a:lnTo>
                  <a:lnTo>
                    <a:pt x="5143" y="1834"/>
                  </a:lnTo>
                  <a:lnTo>
                    <a:pt x="5121" y="1814"/>
                  </a:lnTo>
                  <a:lnTo>
                    <a:pt x="5098" y="1795"/>
                  </a:lnTo>
                  <a:lnTo>
                    <a:pt x="5074" y="1777"/>
                  </a:lnTo>
                  <a:lnTo>
                    <a:pt x="5049" y="1761"/>
                  </a:lnTo>
                  <a:lnTo>
                    <a:pt x="5023" y="1745"/>
                  </a:lnTo>
                  <a:lnTo>
                    <a:pt x="4997" y="1731"/>
                  </a:lnTo>
                  <a:lnTo>
                    <a:pt x="4969" y="1717"/>
                  </a:lnTo>
                  <a:lnTo>
                    <a:pt x="4941" y="1706"/>
                  </a:lnTo>
                  <a:lnTo>
                    <a:pt x="4913" y="1696"/>
                  </a:lnTo>
                  <a:lnTo>
                    <a:pt x="4883" y="1686"/>
                  </a:lnTo>
                  <a:lnTo>
                    <a:pt x="4853" y="1678"/>
                  </a:lnTo>
                  <a:lnTo>
                    <a:pt x="4823" y="1672"/>
                  </a:lnTo>
                  <a:lnTo>
                    <a:pt x="4792" y="1667"/>
                  </a:lnTo>
                  <a:lnTo>
                    <a:pt x="4761" y="1664"/>
                  </a:lnTo>
                  <a:lnTo>
                    <a:pt x="4729" y="166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/>
            <a:p>
              <a:pPr algn="ctr" defTabSz="9142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67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  <p:sp>
          <p:nvSpPr>
            <p:cNvPr id="6" name="文本框 5"/>
            <p:cNvSpPr txBox="1">
              <a:spLocks noChangeArrowheads="1"/>
            </p:cNvSpPr>
            <p:nvPr/>
          </p:nvSpPr>
          <p:spPr bwMode="auto">
            <a:xfrm>
              <a:off x="4508159" y="864629"/>
              <a:ext cx="433287" cy="4560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5pPr>
              <a:lvl6pPr marL="25146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6pPr>
              <a:lvl7pPr marL="29718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7pPr>
              <a:lvl8pPr marL="34290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8pPr>
              <a:lvl9pPr marL="38862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3733">
                  <a:solidFill>
                    <a:schemeClr val="bg1"/>
                  </a:solidFill>
                  <a:cs typeface="Arial" pitchFamily="34" charset="0"/>
                </a:rPr>
                <a:t>2</a:t>
              </a:r>
              <a:endParaRPr lang="zh-CN" altLang="en-US" sz="3733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9246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 userDrawn="1"/>
        </p:nvSpPr>
        <p:spPr bwMode="auto">
          <a:xfrm>
            <a:off x="1363135" y="359836"/>
            <a:ext cx="4584700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hangingPunct="1">
              <a:defRPr/>
            </a:pPr>
            <a:r>
              <a:rPr lang="zh-CN" altLang="en-US" sz="2667" b="1">
                <a:latin typeface="微软雅黑" pitchFamily="34" charset="-122"/>
              </a:rPr>
              <a:t>此处添加您的标题</a:t>
            </a:r>
            <a:endParaRPr lang="id-ID" altLang="zh-CN" sz="2667" b="1">
              <a:latin typeface="微软雅黑" pitchFamily="34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 userDrawn="1"/>
        </p:nvSpPr>
        <p:spPr bwMode="auto">
          <a:xfrm>
            <a:off x="1390651" y="840322"/>
            <a:ext cx="3570816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hangingPunct="1">
              <a:defRPr/>
            </a:pPr>
            <a:r>
              <a:rPr lang="id-ID" altLang="zh-CN" sz="1333"/>
              <a:t>Biscuit oat cake carrot cake muffin jelly</a:t>
            </a:r>
            <a:endParaRPr lang="zh-CN" altLang="en-US" sz="1333"/>
          </a:p>
        </p:txBody>
      </p:sp>
      <p:grpSp>
        <p:nvGrpSpPr>
          <p:cNvPr id="4" name="组合 8"/>
          <p:cNvGrpSpPr>
            <a:grpSpLocks/>
          </p:cNvGrpSpPr>
          <p:nvPr userDrawn="1"/>
        </p:nvGrpSpPr>
        <p:grpSpPr bwMode="auto">
          <a:xfrm>
            <a:off x="275175" y="421220"/>
            <a:ext cx="1087967" cy="666786"/>
            <a:chOff x="4353620" y="864629"/>
            <a:chExt cx="742365" cy="456068"/>
          </a:xfrm>
        </p:grpSpPr>
        <p:sp>
          <p:nvSpPr>
            <p:cNvPr id="5" name="KSO_Shape"/>
            <p:cNvSpPr>
              <a:spLocks/>
            </p:cNvSpPr>
            <p:nvPr/>
          </p:nvSpPr>
          <p:spPr bwMode="auto">
            <a:xfrm>
              <a:off x="4353620" y="866076"/>
              <a:ext cx="742365" cy="408268"/>
            </a:xfrm>
            <a:custGeom>
              <a:avLst/>
              <a:gdLst>
                <a:gd name="T0" fmla="*/ 2147483646 w 5345"/>
                <a:gd name="T1" fmla="*/ 2147483646 h 2936"/>
                <a:gd name="T2" fmla="*/ 2147483646 w 5345"/>
                <a:gd name="T3" fmla="*/ 2147483646 h 2936"/>
                <a:gd name="T4" fmla="*/ 2147483646 w 5345"/>
                <a:gd name="T5" fmla="*/ 2147483646 h 2936"/>
                <a:gd name="T6" fmla="*/ 2147483646 w 5345"/>
                <a:gd name="T7" fmla="*/ 2147483646 h 2936"/>
                <a:gd name="T8" fmla="*/ 2147483646 w 5345"/>
                <a:gd name="T9" fmla="*/ 2147483646 h 2936"/>
                <a:gd name="T10" fmla="*/ 2147483646 w 5345"/>
                <a:gd name="T11" fmla="*/ 2147483646 h 2936"/>
                <a:gd name="T12" fmla="*/ 2147483646 w 5345"/>
                <a:gd name="T13" fmla="*/ 2147483646 h 2936"/>
                <a:gd name="T14" fmla="*/ 2147483646 w 5345"/>
                <a:gd name="T15" fmla="*/ 2147483646 h 2936"/>
                <a:gd name="T16" fmla="*/ 2147483646 w 5345"/>
                <a:gd name="T17" fmla="*/ 2147483646 h 2936"/>
                <a:gd name="T18" fmla="*/ 2147483646 w 5345"/>
                <a:gd name="T19" fmla="*/ 2147483646 h 2936"/>
                <a:gd name="T20" fmla="*/ 2147483646 w 5345"/>
                <a:gd name="T21" fmla="*/ 2147483646 h 2936"/>
                <a:gd name="T22" fmla="*/ 2147483646 w 5345"/>
                <a:gd name="T23" fmla="*/ 2147483646 h 2936"/>
                <a:gd name="T24" fmla="*/ 2147483646 w 5345"/>
                <a:gd name="T25" fmla="*/ 2147483646 h 2936"/>
                <a:gd name="T26" fmla="*/ 2147483646 w 5345"/>
                <a:gd name="T27" fmla="*/ 2147483646 h 2936"/>
                <a:gd name="T28" fmla="*/ 2147483646 w 5345"/>
                <a:gd name="T29" fmla="*/ 2147483646 h 2936"/>
                <a:gd name="T30" fmla="*/ 2147483646 w 5345"/>
                <a:gd name="T31" fmla="*/ 772639970 h 2936"/>
                <a:gd name="T32" fmla="*/ 2147483646 w 5345"/>
                <a:gd name="T33" fmla="*/ 0 h 2936"/>
                <a:gd name="T34" fmla="*/ 2147483646 w 5345"/>
                <a:gd name="T35" fmla="*/ 363587807 h 2936"/>
                <a:gd name="T36" fmla="*/ 2147483646 w 5345"/>
                <a:gd name="T37" fmla="*/ 2147483646 h 2936"/>
                <a:gd name="T38" fmla="*/ 2147483646 w 5345"/>
                <a:gd name="T39" fmla="*/ 2147483646 h 2936"/>
                <a:gd name="T40" fmla="*/ 2147483646 w 5345"/>
                <a:gd name="T41" fmla="*/ 2147483646 h 2936"/>
                <a:gd name="T42" fmla="*/ 2147483646 w 5345"/>
                <a:gd name="T43" fmla="*/ 2147483646 h 2936"/>
                <a:gd name="T44" fmla="*/ 2147483646 w 5345"/>
                <a:gd name="T45" fmla="*/ 2147483646 h 2936"/>
                <a:gd name="T46" fmla="*/ 2147483646 w 5345"/>
                <a:gd name="T47" fmla="*/ 2147483646 h 2936"/>
                <a:gd name="T48" fmla="*/ 2147483646 w 5345"/>
                <a:gd name="T49" fmla="*/ 2147483646 h 2936"/>
                <a:gd name="T50" fmla="*/ 2147483646 w 5345"/>
                <a:gd name="T51" fmla="*/ 2147483646 h 2936"/>
                <a:gd name="T52" fmla="*/ 2147483646 w 5345"/>
                <a:gd name="T53" fmla="*/ 2147483646 h 2936"/>
                <a:gd name="T54" fmla="*/ 2147483646 w 5345"/>
                <a:gd name="T55" fmla="*/ 2147483646 h 2936"/>
                <a:gd name="T56" fmla="*/ 2147483646 w 5345"/>
                <a:gd name="T57" fmla="*/ 2147483646 h 2936"/>
                <a:gd name="T58" fmla="*/ 2147483646 w 5345"/>
                <a:gd name="T59" fmla="*/ 2147483646 h 2936"/>
                <a:gd name="T60" fmla="*/ 2147483646 w 5345"/>
                <a:gd name="T61" fmla="*/ 2147483646 h 2936"/>
                <a:gd name="T62" fmla="*/ 452722804 w 5345"/>
                <a:gd name="T63" fmla="*/ 2147483646 h 2936"/>
                <a:gd name="T64" fmla="*/ 90570008 w 5345"/>
                <a:gd name="T65" fmla="*/ 2147483646 h 2936"/>
                <a:gd name="T66" fmla="*/ 1629877726 w 5345"/>
                <a:gd name="T67" fmla="*/ 2147483646 h 2936"/>
                <a:gd name="T68" fmla="*/ 2147483646 w 5345"/>
                <a:gd name="T69" fmla="*/ 2147483646 h 2936"/>
                <a:gd name="T70" fmla="*/ 2147483646 w 5345"/>
                <a:gd name="T71" fmla="*/ 2147483646 h 2936"/>
                <a:gd name="T72" fmla="*/ 2147483646 w 5345"/>
                <a:gd name="T73" fmla="*/ 2147483646 h 2936"/>
                <a:gd name="T74" fmla="*/ 2147483646 w 5345"/>
                <a:gd name="T75" fmla="*/ 2147483646 h 2936"/>
                <a:gd name="T76" fmla="*/ 2147483646 w 5345"/>
                <a:gd name="T77" fmla="*/ 2147483646 h 2936"/>
                <a:gd name="T78" fmla="*/ 2147483646 w 5345"/>
                <a:gd name="T79" fmla="*/ 2147483646 h 2936"/>
                <a:gd name="T80" fmla="*/ 2147483646 w 5345"/>
                <a:gd name="T81" fmla="*/ 2147483646 h 2936"/>
                <a:gd name="T82" fmla="*/ 2147483646 w 5345"/>
                <a:gd name="T83" fmla="*/ 2147483646 h 2936"/>
                <a:gd name="T84" fmla="*/ 2147483646 w 5345"/>
                <a:gd name="T85" fmla="*/ 2147483646 h 2936"/>
                <a:gd name="T86" fmla="*/ 2147483646 w 5345"/>
                <a:gd name="T87" fmla="*/ 2147483646 h 2936"/>
                <a:gd name="T88" fmla="*/ 2147483646 w 5345"/>
                <a:gd name="T89" fmla="*/ 2147483646 h 2936"/>
                <a:gd name="T90" fmla="*/ 2147483646 w 5345"/>
                <a:gd name="T91" fmla="*/ 2147483646 h 2936"/>
                <a:gd name="T92" fmla="*/ 2147483646 w 5345"/>
                <a:gd name="T93" fmla="*/ 2147483646 h 2936"/>
                <a:gd name="T94" fmla="*/ 2147483646 w 5345"/>
                <a:gd name="T95" fmla="*/ 2147483646 h 2936"/>
                <a:gd name="T96" fmla="*/ 2147483646 w 5345"/>
                <a:gd name="T97" fmla="*/ 2147483646 h 2936"/>
                <a:gd name="T98" fmla="*/ 2147483646 w 5345"/>
                <a:gd name="T99" fmla="*/ 2147483646 h 2936"/>
                <a:gd name="T100" fmla="*/ 2147483646 w 5345"/>
                <a:gd name="T101" fmla="*/ 2147483646 h 2936"/>
                <a:gd name="T102" fmla="*/ 2147483646 w 5345"/>
                <a:gd name="T103" fmla="*/ 2147483646 h 2936"/>
                <a:gd name="T104" fmla="*/ 2147483646 w 5345"/>
                <a:gd name="T105" fmla="*/ 2147483646 h 29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345" h="2936">
                  <a:moveTo>
                    <a:pt x="4729" y="1661"/>
                  </a:moveTo>
                  <a:lnTo>
                    <a:pt x="4729" y="1661"/>
                  </a:lnTo>
                  <a:lnTo>
                    <a:pt x="4723" y="1609"/>
                  </a:lnTo>
                  <a:lnTo>
                    <a:pt x="4716" y="1558"/>
                  </a:lnTo>
                  <a:lnTo>
                    <a:pt x="4706" y="1507"/>
                  </a:lnTo>
                  <a:lnTo>
                    <a:pt x="4693" y="1458"/>
                  </a:lnTo>
                  <a:lnTo>
                    <a:pt x="4679" y="1409"/>
                  </a:lnTo>
                  <a:lnTo>
                    <a:pt x="4663" y="1361"/>
                  </a:lnTo>
                  <a:lnTo>
                    <a:pt x="4644" y="1314"/>
                  </a:lnTo>
                  <a:lnTo>
                    <a:pt x="4622" y="1268"/>
                  </a:lnTo>
                  <a:lnTo>
                    <a:pt x="4600" y="1223"/>
                  </a:lnTo>
                  <a:lnTo>
                    <a:pt x="4575" y="1181"/>
                  </a:lnTo>
                  <a:lnTo>
                    <a:pt x="4548" y="1138"/>
                  </a:lnTo>
                  <a:lnTo>
                    <a:pt x="4519" y="1098"/>
                  </a:lnTo>
                  <a:lnTo>
                    <a:pt x="4489" y="1059"/>
                  </a:lnTo>
                  <a:lnTo>
                    <a:pt x="4457" y="1021"/>
                  </a:lnTo>
                  <a:lnTo>
                    <a:pt x="4422" y="984"/>
                  </a:lnTo>
                  <a:lnTo>
                    <a:pt x="4387" y="950"/>
                  </a:lnTo>
                  <a:lnTo>
                    <a:pt x="4350" y="917"/>
                  </a:lnTo>
                  <a:lnTo>
                    <a:pt x="4312" y="886"/>
                  </a:lnTo>
                  <a:lnTo>
                    <a:pt x="4272" y="856"/>
                  </a:lnTo>
                  <a:lnTo>
                    <a:pt x="4230" y="828"/>
                  </a:lnTo>
                  <a:lnTo>
                    <a:pt x="4188" y="802"/>
                  </a:lnTo>
                  <a:lnTo>
                    <a:pt x="4144" y="778"/>
                  </a:lnTo>
                  <a:lnTo>
                    <a:pt x="4099" y="757"/>
                  </a:lnTo>
                  <a:lnTo>
                    <a:pt x="4053" y="737"/>
                  </a:lnTo>
                  <a:lnTo>
                    <a:pt x="4005" y="719"/>
                  </a:lnTo>
                  <a:lnTo>
                    <a:pt x="3957" y="703"/>
                  </a:lnTo>
                  <a:lnTo>
                    <a:pt x="3907" y="689"/>
                  </a:lnTo>
                  <a:lnTo>
                    <a:pt x="3857" y="679"/>
                  </a:lnTo>
                  <a:lnTo>
                    <a:pt x="3806" y="670"/>
                  </a:lnTo>
                  <a:lnTo>
                    <a:pt x="3754" y="663"/>
                  </a:lnTo>
                  <a:lnTo>
                    <a:pt x="3701" y="660"/>
                  </a:lnTo>
                  <a:lnTo>
                    <a:pt x="3648" y="658"/>
                  </a:lnTo>
                  <a:lnTo>
                    <a:pt x="3608" y="660"/>
                  </a:lnTo>
                  <a:lnTo>
                    <a:pt x="3566" y="661"/>
                  </a:lnTo>
                  <a:lnTo>
                    <a:pt x="3526" y="665"/>
                  </a:lnTo>
                  <a:lnTo>
                    <a:pt x="3486" y="670"/>
                  </a:lnTo>
                  <a:lnTo>
                    <a:pt x="3446" y="677"/>
                  </a:lnTo>
                  <a:lnTo>
                    <a:pt x="3407" y="686"/>
                  </a:lnTo>
                  <a:lnTo>
                    <a:pt x="3368" y="695"/>
                  </a:lnTo>
                  <a:lnTo>
                    <a:pt x="3330" y="706"/>
                  </a:lnTo>
                  <a:lnTo>
                    <a:pt x="3294" y="718"/>
                  </a:lnTo>
                  <a:lnTo>
                    <a:pt x="3257" y="732"/>
                  </a:lnTo>
                  <a:lnTo>
                    <a:pt x="3220" y="746"/>
                  </a:lnTo>
                  <a:lnTo>
                    <a:pt x="3185" y="763"/>
                  </a:lnTo>
                  <a:lnTo>
                    <a:pt x="3150" y="779"/>
                  </a:lnTo>
                  <a:lnTo>
                    <a:pt x="3116" y="798"/>
                  </a:lnTo>
                  <a:lnTo>
                    <a:pt x="3083" y="817"/>
                  </a:lnTo>
                  <a:lnTo>
                    <a:pt x="3050" y="838"/>
                  </a:lnTo>
                  <a:lnTo>
                    <a:pt x="3038" y="793"/>
                  </a:lnTo>
                  <a:lnTo>
                    <a:pt x="3024" y="750"/>
                  </a:lnTo>
                  <a:lnTo>
                    <a:pt x="3007" y="707"/>
                  </a:lnTo>
                  <a:lnTo>
                    <a:pt x="2989" y="664"/>
                  </a:lnTo>
                  <a:lnTo>
                    <a:pt x="2970" y="623"/>
                  </a:lnTo>
                  <a:lnTo>
                    <a:pt x="2949" y="583"/>
                  </a:lnTo>
                  <a:lnTo>
                    <a:pt x="2927" y="542"/>
                  </a:lnTo>
                  <a:lnTo>
                    <a:pt x="2903" y="504"/>
                  </a:lnTo>
                  <a:lnTo>
                    <a:pt x="2877" y="467"/>
                  </a:lnTo>
                  <a:lnTo>
                    <a:pt x="2850" y="430"/>
                  </a:lnTo>
                  <a:lnTo>
                    <a:pt x="2821" y="396"/>
                  </a:lnTo>
                  <a:lnTo>
                    <a:pt x="2792" y="361"/>
                  </a:lnTo>
                  <a:lnTo>
                    <a:pt x="2761" y="329"/>
                  </a:lnTo>
                  <a:lnTo>
                    <a:pt x="2728" y="297"/>
                  </a:lnTo>
                  <a:lnTo>
                    <a:pt x="2694" y="268"/>
                  </a:lnTo>
                  <a:lnTo>
                    <a:pt x="2659" y="238"/>
                  </a:lnTo>
                  <a:lnTo>
                    <a:pt x="2623" y="211"/>
                  </a:lnTo>
                  <a:lnTo>
                    <a:pt x="2586" y="185"/>
                  </a:lnTo>
                  <a:lnTo>
                    <a:pt x="2548" y="161"/>
                  </a:lnTo>
                  <a:lnTo>
                    <a:pt x="2509" y="139"/>
                  </a:lnTo>
                  <a:lnTo>
                    <a:pt x="2468" y="117"/>
                  </a:lnTo>
                  <a:lnTo>
                    <a:pt x="2427" y="97"/>
                  </a:lnTo>
                  <a:lnTo>
                    <a:pt x="2384" y="79"/>
                  </a:lnTo>
                  <a:lnTo>
                    <a:pt x="2342" y="63"/>
                  </a:lnTo>
                  <a:lnTo>
                    <a:pt x="2298" y="49"/>
                  </a:lnTo>
                  <a:lnTo>
                    <a:pt x="2253" y="36"/>
                  </a:lnTo>
                  <a:lnTo>
                    <a:pt x="2208" y="25"/>
                  </a:lnTo>
                  <a:lnTo>
                    <a:pt x="2162" y="17"/>
                  </a:lnTo>
                  <a:lnTo>
                    <a:pt x="2114" y="9"/>
                  </a:lnTo>
                  <a:lnTo>
                    <a:pt x="2067" y="4"/>
                  </a:lnTo>
                  <a:lnTo>
                    <a:pt x="2019" y="1"/>
                  </a:lnTo>
                  <a:lnTo>
                    <a:pt x="1971" y="0"/>
                  </a:lnTo>
                  <a:lnTo>
                    <a:pt x="1941" y="0"/>
                  </a:lnTo>
                  <a:lnTo>
                    <a:pt x="1913" y="1"/>
                  </a:lnTo>
                  <a:lnTo>
                    <a:pt x="1884" y="4"/>
                  </a:lnTo>
                  <a:lnTo>
                    <a:pt x="1856" y="6"/>
                  </a:lnTo>
                  <a:lnTo>
                    <a:pt x="1829" y="8"/>
                  </a:lnTo>
                  <a:lnTo>
                    <a:pt x="1800" y="13"/>
                  </a:lnTo>
                  <a:lnTo>
                    <a:pt x="1746" y="23"/>
                  </a:lnTo>
                  <a:lnTo>
                    <a:pt x="1691" y="34"/>
                  </a:lnTo>
                  <a:lnTo>
                    <a:pt x="1638" y="50"/>
                  </a:lnTo>
                  <a:lnTo>
                    <a:pt x="1587" y="68"/>
                  </a:lnTo>
                  <a:lnTo>
                    <a:pt x="1536" y="88"/>
                  </a:lnTo>
                  <a:lnTo>
                    <a:pt x="1487" y="110"/>
                  </a:lnTo>
                  <a:lnTo>
                    <a:pt x="1438" y="135"/>
                  </a:lnTo>
                  <a:lnTo>
                    <a:pt x="1392" y="161"/>
                  </a:lnTo>
                  <a:lnTo>
                    <a:pt x="1347" y="191"/>
                  </a:lnTo>
                  <a:lnTo>
                    <a:pt x="1303" y="221"/>
                  </a:lnTo>
                  <a:lnTo>
                    <a:pt x="1260" y="255"/>
                  </a:lnTo>
                  <a:lnTo>
                    <a:pt x="1220" y="290"/>
                  </a:lnTo>
                  <a:lnTo>
                    <a:pt x="1181" y="327"/>
                  </a:lnTo>
                  <a:lnTo>
                    <a:pt x="1144" y="366"/>
                  </a:lnTo>
                  <a:lnTo>
                    <a:pt x="1109" y="406"/>
                  </a:lnTo>
                  <a:lnTo>
                    <a:pt x="1076" y="448"/>
                  </a:lnTo>
                  <a:lnTo>
                    <a:pt x="1045" y="491"/>
                  </a:lnTo>
                  <a:lnTo>
                    <a:pt x="1016" y="538"/>
                  </a:lnTo>
                  <a:lnTo>
                    <a:pt x="989" y="584"/>
                  </a:lnTo>
                  <a:lnTo>
                    <a:pt x="964" y="632"/>
                  </a:lnTo>
                  <a:lnTo>
                    <a:pt x="942" y="681"/>
                  </a:lnTo>
                  <a:lnTo>
                    <a:pt x="922" y="732"/>
                  </a:lnTo>
                  <a:lnTo>
                    <a:pt x="905" y="784"/>
                  </a:lnTo>
                  <a:lnTo>
                    <a:pt x="890" y="837"/>
                  </a:lnTo>
                  <a:lnTo>
                    <a:pt x="877" y="890"/>
                  </a:lnTo>
                  <a:lnTo>
                    <a:pt x="867" y="946"/>
                  </a:lnTo>
                  <a:lnTo>
                    <a:pt x="864" y="973"/>
                  </a:lnTo>
                  <a:lnTo>
                    <a:pt x="860" y="1002"/>
                  </a:lnTo>
                  <a:lnTo>
                    <a:pt x="858" y="1030"/>
                  </a:lnTo>
                  <a:lnTo>
                    <a:pt x="855" y="1059"/>
                  </a:lnTo>
                  <a:lnTo>
                    <a:pt x="855" y="1087"/>
                  </a:lnTo>
                  <a:lnTo>
                    <a:pt x="854" y="1115"/>
                  </a:lnTo>
                  <a:lnTo>
                    <a:pt x="855" y="1150"/>
                  </a:lnTo>
                  <a:lnTo>
                    <a:pt x="857" y="1183"/>
                  </a:lnTo>
                  <a:lnTo>
                    <a:pt x="860" y="1216"/>
                  </a:lnTo>
                  <a:lnTo>
                    <a:pt x="864" y="1250"/>
                  </a:lnTo>
                  <a:lnTo>
                    <a:pt x="845" y="1249"/>
                  </a:lnTo>
                  <a:lnTo>
                    <a:pt x="801" y="1250"/>
                  </a:lnTo>
                  <a:lnTo>
                    <a:pt x="758" y="1253"/>
                  </a:lnTo>
                  <a:lnTo>
                    <a:pt x="716" y="1259"/>
                  </a:lnTo>
                  <a:lnTo>
                    <a:pt x="674" y="1266"/>
                  </a:lnTo>
                  <a:lnTo>
                    <a:pt x="633" y="1275"/>
                  </a:lnTo>
                  <a:lnTo>
                    <a:pt x="594" y="1287"/>
                  </a:lnTo>
                  <a:lnTo>
                    <a:pt x="555" y="1300"/>
                  </a:lnTo>
                  <a:lnTo>
                    <a:pt x="515" y="1316"/>
                  </a:lnTo>
                  <a:lnTo>
                    <a:pt x="479" y="1332"/>
                  </a:lnTo>
                  <a:lnTo>
                    <a:pt x="442" y="1351"/>
                  </a:lnTo>
                  <a:lnTo>
                    <a:pt x="407" y="1371"/>
                  </a:lnTo>
                  <a:lnTo>
                    <a:pt x="372" y="1393"/>
                  </a:lnTo>
                  <a:lnTo>
                    <a:pt x="339" y="1416"/>
                  </a:lnTo>
                  <a:lnTo>
                    <a:pt x="307" y="1441"/>
                  </a:lnTo>
                  <a:lnTo>
                    <a:pt x="277" y="1468"/>
                  </a:lnTo>
                  <a:lnTo>
                    <a:pt x="248" y="1496"/>
                  </a:lnTo>
                  <a:lnTo>
                    <a:pt x="219" y="1525"/>
                  </a:lnTo>
                  <a:lnTo>
                    <a:pt x="193" y="1556"/>
                  </a:lnTo>
                  <a:lnTo>
                    <a:pt x="169" y="1588"/>
                  </a:lnTo>
                  <a:lnTo>
                    <a:pt x="145" y="1621"/>
                  </a:lnTo>
                  <a:lnTo>
                    <a:pt x="122" y="1655"/>
                  </a:lnTo>
                  <a:lnTo>
                    <a:pt x="102" y="1690"/>
                  </a:lnTo>
                  <a:lnTo>
                    <a:pt x="83" y="1726"/>
                  </a:lnTo>
                  <a:lnTo>
                    <a:pt x="67" y="1764"/>
                  </a:lnTo>
                  <a:lnTo>
                    <a:pt x="51" y="1802"/>
                  </a:lnTo>
                  <a:lnTo>
                    <a:pt x="38" y="1841"/>
                  </a:lnTo>
                  <a:lnTo>
                    <a:pt x="28" y="1882"/>
                  </a:lnTo>
                  <a:lnTo>
                    <a:pt x="18" y="1923"/>
                  </a:lnTo>
                  <a:lnTo>
                    <a:pt x="10" y="1965"/>
                  </a:lnTo>
                  <a:lnTo>
                    <a:pt x="5" y="2006"/>
                  </a:lnTo>
                  <a:lnTo>
                    <a:pt x="2" y="2049"/>
                  </a:lnTo>
                  <a:lnTo>
                    <a:pt x="0" y="2092"/>
                  </a:lnTo>
                  <a:lnTo>
                    <a:pt x="2" y="2135"/>
                  </a:lnTo>
                  <a:lnTo>
                    <a:pt x="5" y="2176"/>
                  </a:lnTo>
                  <a:lnTo>
                    <a:pt x="10" y="2217"/>
                  </a:lnTo>
                  <a:lnTo>
                    <a:pt x="17" y="2257"/>
                  </a:lnTo>
                  <a:lnTo>
                    <a:pt x="25" y="2297"/>
                  </a:lnTo>
                  <a:lnTo>
                    <a:pt x="36" y="2336"/>
                  </a:lnTo>
                  <a:lnTo>
                    <a:pt x="49" y="2374"/>
                  </a:lnTo>
                  <a:lnTo>
                    <a:pt x="63" y="2411"/>
                  </a:lnTo>
                  <a:lnTo>
                    <a:pt x="79" y="2448"/>
                  </a:lnTo>
                  <a:lnTo>
                    <a:pt x="96" y="2483"/>
                  </a:lnTo>
                  <a:lnTo>
                    <a:pt x="115" y="2517"/>
                  </a:lnTo>
                  <a:lnTo>
                    <a:pt x="137" y="2552"/>
                  </a:lnTo>
                  <a:lnTo>
                    <a:pt x="159" y="2584"/>
                  </a:lnTo>
                  <a:lnTo>
                    <a:pt x="183" y="2615"/>
                  </a:lnTo>
                  <a:lnTo>
                    <a:pt x="208" y="2645"/>
                  </a:lnTo>
                  <a:lnTo>
                    <a:pt x="234" y="2674"/>
                  </a:lnTo>
                  <a:lnTo>
                    <a:pt x="262" y="2702"/>
                  </a:lnTo>
                  <a:lnTo>
                    <a:pt x="290" y="2728"/>
                  </a:lnTo>
                  <a:lnTo>
                    <a:pt x="321" y="2753"/>
                  </a:lnTo>
                  <a:lnTo>
                    <a:pt x="352" y="2777"/>
                  </a:lnTo>
                  <a:lnTo>
                    <a:pt x="385" y="2799"/>
                  </a:lnTo>
                  <a:lnTo>
                    <a:pt x="418" y="2819"/>
                  </a:lnTo>
                  <a:lnTo>
                    <a:pt x="453" y="2840"/>
                  </a:lnTo>
                  <a:lnTo>
                    <a:pt x="488" y="2856"/>
                  </a:lnTo>
                  <a:lnTo>
                    <a:pt x="525" y="2873"/>
                  </a:lnTo>
                  <a:lnTo>
                    <a:pt x="563" y="2887"/>
                  </a:lnTo>
                  <a:lnTo>
                    <a:pt x="601" y="2899"/>
                  </a:lnTo>
                  <a:lnTo>
                    <a:pt x="640" y="2909"/>
                  </a:lnTo>
                  <a:lnTo>
                    <a:pt x="679" y="2919"/>
                  </a:lnTo>
                  <a:lnTo>
                    <a:pt x="719" y="2926"/>
                  </a:lnTo>
                  <a:lnTo>
                    <a:pt x="761" y="2931"/>
                  </a:lnTo>
                  <a:lnTo>
                    <a:pt x="802" y="2934"/>
                  </a:lnTo>
                  <a:lnTo>
                    <a:pt x="802" y="2936"/>
                  </a:lnTo>
                  <a:lnTo>
                    <a:pt x="4682" y="2936"/>
                  </a:lnTo>
                  <a:lnTo>
                    <a:pt x="4682" y="2933"/>
                  </a:lnTo>
                  <a:lnTo>
                    <a:pt x="4693" y="2934"/>
                  </a:lnTo>
                  <a:lnTo>
                    <a:pt x="4706" y="2936"/>
                  </a:lnTo>
                  <a:lnTo>
                    <a:pt x="4740" y="2936"/>
                  </a:lnTo>
                  <a:lnTo>
                    <a:pt x="4772" y="2933"/>
                  </a:lnTo>
                  <a:lnTo>
                    <a:pt x="4804" y="2928"/>
                  </a:lnTo>
                  <a:lnTo>
                    <a:pt x="4836" y="2922"/>
                  </a:lnTo>
                  <a:lnTo>
                    <a:pt x="4866" y="2915"/>
                  </a:lnTo>
                  <a:lnTo>
                    <a:pt x="4896" y="2907"/>
                  </a:lnTo>
                  <a:lnTo>
                    <a:pt x="4926" y="2898"/>
                  </a:lnTo>
                  <a:lnTo>
                    <a:pt x="4955" y="2886"/>
                  </a:lnTo>
                  <a:lnTo>
                    <a:pt x="4984" y="2873"/>
                  </a:lnTo>
                  <a:lnTo>
                    <a:pt x="5011" y="2859"/>
                  </a:lnTo>
                  <a:lnTo>
                    <a:pt x="5038" y="2843"/>
                  </a:lnTo>
                  <a:lnTo>
                    <a:pt x="5063" y="2827"/>
                  </a:lnTo>
                  <a:lnTo>
                    <a:pt x="5089" y="2809"/>
                  </a:lnTo>
                  <a:lnTo>
                    <a:pt x="5113" y="2790"/>
                  </a:lnTo>
                  <a:lnTo>
                    <a:pt x="5135" y="2770"/>
                  </a:lnTo>
                  <a:lnTo>
                    <a:pt x="5158" y="2748"/>
                  </a:lnTo>
                  <a:lnTo>
                    <a:pt x="5179" y="2727"/>
                  </a:lnTo>
                  <a:lnTo>
                    <a:pt x="5199" y="2703"/>
                  </a:lnTo>
                  <a:lnTo>
                    <a:pt x="5218" y="2680"/>
                  </a:lnTo>
                  <a:lnTo>
                    <a:pt x="5236" y="2655"/>
                  </a:lnTo>
                  <a:lnTo>
                    <a:pt x="5252" y="2629"/>
                  </a:lnTo>
                  <a:lnTo>
                    <a:pt x="5268" y="2602"/>
                  </a:lnTo>
                  <a:lnTo>
                    <a:pt x="5282" y="2574"/>
                  </a:lnTo>
                  <a:lnTo>
                    <a:pt x="5295" y="2546"/>
                  </a:lnTo>
                  <a:lnTo>
                    <a:pt x="5306" y="2517"/>
                  </a:lnTo>
                  <a:lnTo>
                    <a:pt x="5316" y="2488"/>
                  </a:lnTo>
                  <a:lnTo>
                    <a:pt x="5325" y="2457"/>
                  </a:lnTo>
                  <a:lnTo>
                    <a:pt x="5332" y="2426"/>
                  </a:lnTo>
                  <a:lnTo>
                    <a:pt x="5338" y="2394"/>
                  </a:lnTo>
                  <a:lnTo>
                    <a:pt x="5341" y="2362"/>
                  </a:lnTo>
                  <a:lnTo>
                    <a:pt x="5344" y="2330"/>
                  </a:lnTo>
                  <a:lnTo>
                    <a:pt x="5345" y="2297"/>
                  </a:lnTo>
                  <a:lnTo>
                    <a:pt x="5344" y="2265"/>
                  </a:lnTo>
                  <a:lnTo>
                    <a:pt x="5341" y="2233"/>
                  </a:lnTo>
                  <a:lnTo>
                    <a:pt x="5338" y="2203"/>
                  </a:lnTo>
                  <a:lnTo>
                    <a:pt x="5333" y="2172"/>
                  </a:lnTo>
                  <a:lnTo>
                    <a:pt x="5326" y="2141"/>
                  </a:lnTo>
                  <a:lnTo>
                    <a:pt x="5318" y="2111"/>
                  </a:lnTo>
                  <a:lnTo>
                    <a:pt x="5308" y="2083"/>
                  </a:lnTo>
                  <a:lnTo>
                    <a:pt x="5296" y="2054"/>
                  </a:lnTo>
                  <a:lnTo>
                    <a:pt x="5284" y="2026"/>
                  </a:lnTo>
                  <a:lnTo>
                    <a:pt x="5271" y="2000"/>
                  </a:lnTo>
                  <a:lnTo>
                    <a:pt x="5256" y="1974"/>
                  </a:lnTo>
                  <a:lnTo>
                    <a:pt x="5241" y="1948"/>
                  </a:lnTo>
                  <a:lnTo>
                    <a:pt x="5223" y="1923"/>
                  </a:lnTo>
                  <a:lnTo>
                    <a:pt x="5205" y="1899"/>
                  </a:lnTo>
                  <a:lnTo>
                    <a:pt x="5185" y="1877"/>
                  </a:lnTo>
                  <a:lnTo>
                    <a:pt x="5165" y="1854"/>
                  </a:lnTo>
                  <a:lnTo>
                    <a:pt x="5143" y="1834"/>
                  </a:lnTo>
                  <a:lnTo>
                    <a:pt x="5121" y="1814"/>
                  </a:lnTo>
                  <a:lnTo>
                    <a:pt x="5098" y="1795"/>
                  </a:lnTo>
                  <a:lnTo>
                    <a:pt x="5074" y="1777"/>
                  </a:lnTo>
                  <a:lnTo>
                    <a:pt x="5049" y="1761"/>
                  </a:lnTo>
                  <a:lnTo>
                    <a:pt x="5023" y="1745"/>
                  </a:lnTo>
                  <a:lnTo>
                    <a:pt x="4997" y="1731"/>
                  </a:lnTo>
                  <a:lnTo>
                    <a:pt x="4969" y="1717"/>
                  </a:lnTo>
                  <a:lnTo>
                    <a:pt x="4941" y="1706"/>
                  </a:lnTo>
                  <a:lnTo>
                    <a:pt x="4913" y="1696"/>
                  </a:lnTo>
                  <a:lnTo>
                    <a:pt x="4883" y="1686"/>
                  </a:lnTo>
                  <a:lnTo>
                    <a:pt x="4853" y="1678"/>
                  </a:lnTo>
                  <a:lnTo>
                    <a:pt x="4823" y="1672"/>
                  </a:lnTo>
                  <a:lnTo>
                    <a:pt x="4792" y="1667"/>
                  </a:lnTo>
                  <a:lnTo>
                    <a:pt x="4761" y="1664"/>
                  </a:lnTo>
                  <a:lnTo>
                    <a:pt x="4729" y="166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/>
            <a:p>
              <a:pPr algn="ctr" defTabSz="9142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67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  <p:sp>
          <p:nvSpPr>
            <p:cNvPr id="6" name="文本框 5"/>
            <p:cNvSpPr txBox="1">
              <a:spLocks noChangeArrowheads="1"/>
            </p:cNvSpPr>
            <p:nvPr/>
          </p:nvSpPr>
          <p:spPr bwMode="auto">
            <a:xfrm>
              <a:off x="4508159" y="864629"/>
              <a:ext cx="433287" cy="4560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5pPr>
              <a:lvl6pPr marL="25146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6pPr>
              <a:lvl7pPr marL="29718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7pPr>
              <a:lvl8pPr marL="34290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8pPr>
              <a:lvl9pPr marL="38862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3733">
                  <a:solidFill>
                    <a:schemeClr val="bg1"/>
                  </a:solidFill>
                  <a:cs typeface="Arial" pitchFamily="34" charset="0"/>
                </a:rPr>
                <a:t>3</a:t>
              </a:r>
              <a:endParaRPr lang="zh-CN" altLang="en-US" sz="3733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7064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 userDrawn="1"/>
        </p:nvSpPr>
        <p:spPr bwMode="auto">
          <a:xfrm>
            <a:off x="1363135" y="359836"/>
            <a:ext cx="4584700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hangingPunct="1">
              <a:defRPr/>
            </a:pPr>
            <a:r>
              <a:rPr lang="zh-CN" altLang="en-US" sz="2667" b="1">
                <a:latin typeface="微软雅黑" pitchFamily="34" charset="-122"/>
              </a:rPr>
              <a:t>此处添加您的标题</a:t>
            </a:r>
            <a:endParaRPr lang="id-ID" altLang="zh-CN" sz="2667" b="1">
              <a:latin typeface="微软雅黑" pitchFamily="34" charset="-122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 userDrawn="1"/>
        </p:nvSpPr>
        <p:spPr bwMode="auto">
          <a:xfrm>
            <a:off x="1390651" y="840322"/>
            <a:ext cx="3570816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hangingPunct="1">
              <a:defRPr/>
            </a:pPr>
            <a:r>
              <a:rPr lang="id-ID" altLang="zh-CN" sz="1333"/>
              <a:t>Biscuit oat cake carrot cake muffin jelly</a:t>
            </a:r>
            <a:endParaRPr lang="zh-CN" altLang="en-US" sz="1333"/>
          </a:p>
        </p:txBody>
      </p:sp>
      <p:grpSp>
        <p:nvGrpSpPr>
          <p:cNvPr id="4" name="组合 8"/>
          <p:cNvGrpSpPr>
            <a:grpSpLocks/>
          </p:cNvGrpSpPr>
          <p:nvPr userDrawn="1"/>
        </p:nvGrpSpPr>
        <p:grpSpPr bwMode="auto">
          <a:xfrm>
            <a:off x="275175" y="421220"/>
            <a:ext cx="1087967" cy="666786"/>
            <a:chOff x="4353620" y="864629"/>
            <a:chExt cx="742365" cy="456068"/>
          </a:xfrm>
        </p:grpSpPr>
        <p:sp>
          <p:nvSpPr>
            <p:cNvPr id="5" name="KSO_Shape"/>
            <p:cNvSpPr>
              <a:spLocks/>
            </p:cNvSpPr>
            <p:nvPr/>
          </p:nvSpPr>
          <p:spPr bwMode="auto">
            <a:xfrm>
              <a:off x="4353620" y="866076"/>
              <a:ext cx="742365" cy="408268"/>
            </a:xfrm>
            <a:custGeom>
              <a:avLst/>
              <a:gdLst>
                <a:gd name="T0" fmla="*/ 2147483646 w 5345"/>
                <a:gd name="T1" fmla="*/ 2147483646 h 2936"/>
                <a:gd name="T2" fmla="*/ 2147483646 w 5345"/>
                <a:gd name="T3" fmla="*/ 2147483646 h 2936"/>
                <a:gd name="T4" fmla="*/ 2147483646 w 5345"/>
                <a:gd name="T5" fmla="*/ 2147483646 h 2936"/>
                <a:gd name="T6" fmla="*/ 2147483646 w 5345"/>
                <a:gd name="T7" fmla="*/ 2147483646 h 2936"/>
                <a:gd name="T8" fmla="*/ 2147483646 w 5345"/>
                <a:gd name="T9" fmla="*/ 2147483646 h 2936"/>
                <a:gd name="T10" fmla="*/ 2147483646 w 5345"/>
                <a:gd name="T11" fmla="*/ 2147483646 h 2936"/>
                <a:gd name="T12" fmla="*/ 2147483646 w 5345"/>
                <a:gd name="T13" fmla="*/ 2147483646 h 2936"/>
                <a:gd name="T14" fmla="*/ 2147483646 w 5345"/>
                <a:gd name="T15" fmla="*/ 2147483646 h 2936"/>
                <a:gd name="T16" fmla="*/ 2147483646 w 5345"/>
                <a:gd name="T17" fmla="*/ 2147483646 h 2936"/>
                <a:gd name="T18" fmla="*/ 2147483646 w 5345"/>
                <a:gd name="T19" fmla="*/ 2147483646 h 2936"/>
                <a:gd name="T20" fmla="*/ 2147483646 w 5345"/>
                <a:gd name="T21" fmla="*/ 2147483646 h 2936"/>
                <a:gd name="T22" fmla="*/ 2147483646 w 5345"/>
                <a:gd name="T23" fmla="*/ 2147483646 h 2936"/>
                <a:gd name="T24" fmla="*/ 2147483646 w 5345"/>
                <a:gd name="T25" fmla="*/ 2147483646 h 2936"/>
                <a:gd name="T26" fmla="*/ 2147483646 w 5345"/>
                <a:gd name="T27" fmla="*/ 2147483646 h 2936"/>
                <a:gd name="T28" fmla="*/ 2147483646 w 5345"/>
                <a:gd name="T29" fmla="*/ 2147483646 h 2936"/>
                <a:gd name="T30" fmla="*/ 2147483646 w 5345"/>
                <a:gd name="T31" fmla="*/ 772639970 h 2936"/>
                <a:gd name="T32" fmla="*/ 2147483646 w 5345"/>
                <a:gd name="T33" fmla="*/ 0 h 2936"/>
                <a:gd name="T34" fmla="*/ 2147483646 w 5345"/>
                <a:gd name="T35" fmla="*/ 363587807 h 2936"/>
                <a:gd name="T36" fmla="*/ 2147483646 w 5345"/>
                <a:gd name="T37" fmla="*/ 2147483646 h 2936"/>
                <a:gd name="T38" fmla="*/ 2147483646 w 5345"/>
                <a:gd name="T39" fmla="*/ 2147483646 h 2936"/>
                <a:gd name="T40" fmla="*/ 2147483646 w 5345"/>
                <a:gd name="T41" fmla="*/ 2147483646 h 2936"/>
                <a:gd name="T42" fmla="*/ 2147483646 w 5345"/>
                <a:gd name="T43" fmla="*/ 2147483646 h 2936"/>
                <a:gd name="T44" fmla="*/ 2147483646 w 5345"/>
                <a:gd name="T45" fmla="*/ 2147483646 h 2936"/>
                <a:gd name="T46" fmla="*/ 2147483646 w 5345"/>
                <a:gd name="T47" fmla="*/ 2147483646 h 2936"/>
                <a:gd name="T48" fmla="*/ 2147483646 w 5345"/>
                <a:gd name="T49" fmla="*/ 2147483646 h 2936"/>
                <a:gd name="T50" fmla="*/ 2147483646 w 5345"/>
                <a:gd name="T51" fmla="*/ 2147483646 h 2936"/>
                <a:gd name="T52" fmla="*/ 2147483646 w 5345"/>
                <a:gd name="T53" fmla="*/ 2147483646 h 2936"/>
                <a:gd name="T54" fmla="*/ 2147483646 w 5345"/>
                <a:gd name="T55" fmla="*/ 2147483646 h 2936"/>
                <a:gd name="T56" fmla="*/ 2147483646 w 5345"/>
                <a:gd name="T57" fmla="*/ 2147483646 h 2936"/>
                <a:gd name="T58" fmla="*/ 2147483646 w 5345"/>
                <a:gd name="T59" fmla="*/ 2147483646 h 2936"/>
                <a:gd name="T60" fmla="*/ 2147483646 w 5345"/>
                <a:gd name="T61" fmla="*/ 2147483646 h 2936"/>
                <a:gd name="T62" fmla="*/ 452722804 w 5345"/>
                <a:gd name="T63" fmla="*/ 2147483646 h 2936"/>
                <a:gd name="T64" fmla="*/ 90570008 w 5345"/>
                <a:gd name="T65" fmla="*/ 2147483646 h 2936"/>
                <a:gd name="T66" fmla="*/ 1629877726 w 5345"/>
                <a:gd name="T67" fmla="*/ 2147483646 h 2936"/>
                <a:gd name="T68" fmla="*/ 2147483646 w 5345"/>
                <a:gd name="T69" fmla="*/ 2147483646 h 2936"/>
                <a:gd name="T70" fmla="*/ 2147483646 w 5345"/>
                <a:gd name="T71" fmla="*/ 2147483646 h 2936"/>
                <a:gd name="T72" fmla="*/ 2147483646 w 5345"/>
                <a:gd name="T73" fmla="*/ 2147483646 h 2936"/>
                <a:gd name="T74" fmla="*/ 2147483646 w 5345"/>
                <a:gd name="T75" fmla="*/ 2147483646 h 2936"/>
                <a:gd name="T76" fmla="*/ 2147483646 w 5345"/>
                <a:gd name="T77" fmla="*/ 2147483646 h 2936"/>
                <a:gd name="T78" fmla="*/ 2147483646 w 5345"/>
                <a:gd name="T79" fmla="*/ 2147483646 h 2936"/>
                <a:gd name="T80" fmla="*/ 2147483646 w 5345"/>
                <a:gd name="T81" fmla="*/ 2147483646 h 2936"/>
                <a:gd name="T82" fmla="*/ 2147483646 w 5345"/>
                <a:gd name="T83" fmla="*/ 2147483646 h 2936"/>
                <a:gd name="T84" fmla="*/ 2147483646 w 5345"/>
                <a:gd name="T85" fmla="*/ 2147483646 h 2936"/>
                <a:gd name="T86" fmla="*/ 2147483646 w 5345"/>
                <a:gd name="T87" fmla="*/ 2147483646 h 2936"/>
                <a:gd name="T88" fmla="*/ 2147483646 w 5345"/>
                <a:gd name="T89" fmla="*/ 2147483646 h 2936"/>
                <a:gd name="T90" fmla="*/ 2147483646 w 5345"/>
                <a:gd name="T91" fmla="*/ 2147483646 h 2936"/>
                <a:gd name="T92" fmla="*/ 2147483646 w 5345"/>
                <a:gd name="T93" fmla="*/ 2147483646 h 2936"/>
                <a:gd name="T94" fmla="*/ 2147483646 w 5345"/>
                <a:gd name="T95" fmla="*/ 2147483646 h 2936"/>
                <a:gd name="T96" fmla="*/ 2147483646 w 5345"/>
                <a:gd name="T97" fmla="*/ 2147483646 h 2936"/>
                <a:gd name="T98" fmla="*/ 2147483646 w 5345"/>
                <a:gd name="T99" fmla="*/ 2147483646 h 2936"/>
                <a:gd name="T100" fmla="*/ 2147483646 w 5345"/>
                <a:gd name="T101" fmla="*/ 2147483646 h 2936"/>
                <a:gd name="T102" fmla="*/ 2147483646 w 5345"/>
                <a:gd name="T103" fmla="*/ 2147483646 h 2936"/>
                <a:gd name="T104" fmla="*/ 2147483646 w 5345"/>
                <a:gd name="T105" fmla="*/ 2147483646 h 29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345" h="2936">
                  <a:moveTo>
                    <a:pt x="4729" y="1661"/>
                  </a:moveTo>
                  <a:lnTo>
                    <a:pt x="4729" y="1661"/>
                  </a:lnTo>
                  <a:lnTo>
                    <a:pt x="4723" y="1609"/>
                  </a:lnTo>
                  <a:lnTo>
                    <a:pt x="4716" y="1558"/>
                  </a:lnTo>
                  <a:lnTo>
                    <a:pt x="4706" y="1507"/>
                  </a:lnTo>
                  <a:lnTo>
                    <a:pt x="4693" y="1458"/>
                  </a:lnTo>
                  <a:lnTo>
                    <a:pt x="4679" y="1409"/>
                  </a:lnTo>
                  <a:lnTo>
                    <a:pt x="4663" y="1361"/>
                  </a:lnTo>
                  <a:lnTo>
                    <a:pt x="4644" y="1314"/>
                  </a:lnTo>
                  <a:lnTo>
                    <a:pt x="4622" y="1268"/>
                  </a:lnTo>
                  <a:lnTo>
                    <a:pt x="4600" y="1223"/>
                  </a:lnTo>
                  <a:lnTo>
                    <a:pt x="4575" y="1181"/>
                  </a:lnTo>
                  <a:lnTo>
                    <a:pt x="4548" y="1138"/>
                  </a:lnTo>
                  <a:lnTo>
                    <a:pt x="4519" y="1098"/>
                  </a:lnTo>
                  <a:lnTo>
                    <a:pt x="4489" y="1059"/>
                  </a:lnTo>
                  <a:lnTo>
                    <a:pt x="4457" y="1021"/>
                  </a:lnTo>
                  <a:lnTo>
                    <a:pt x="4422" y="984"/>
                  </a:lnTo>
                  <a:lnTo>
                    <a:pt x="4387" y="950"/>
                  </a:lnTo>
                  <a:lnTo>
                    <a:pt x="4350" y="917"/>
                  </a:lnTo>
                  <a:lnTo>
                    <a:pt x="4312" y="886"/>
                  </a:lnTo>
                  <a:lnTo>
                    <a:pt x="4272" y="856"/>
                  </a:lnTo>
                  <a:lnTo>
                    <a:pt x="4230" y="828"/>
                  </a:lnTo>
                  <a:lnTo>
                    <a:pt x="4188" y="802"/>
                  </a:lnTo>
                  <a:lnTo>
                    <a:pt x="4144" y="778"/>
                  </a:lnTo>
                  <a:lnTo>
                    <a:pt x="4099" y="757"/>
                  </a:lnTo>
                  <a:lnTo>
                    <a:pt x="4053" y="737"/>
                  </a:lnTo>
                  <a:lnTo>
                    <a:pt x="4005" y="719"/>
                  </a:lnTo>
                  <a:lnTo>
                    <a:pt x="3957" y="703"/>
                  </a:lnTo>
                  <a:lnTo>
                    <a:pt x="3907" y="689"/>
                  </a:lnTo>
                  <a:lnTo>
                    <a:pt x="3857" y="679"/>
                  </a:lnTo>
                  <a:lnTo>
                    <a:pt x="3806" y="670"/>
                  </a:lnTo>
                  <a:lnTo>
                    <a:pt x="3754" y="663"/>
                  </a:lnTo>
                  <a:lnTo>
                    <a:pt x="3701" y="660"/>
                  </a:lnTo>
                  <a:lnTo>
                    <a:pt x="3648" y="658"/>
                  </a:lnTo>
                  <a:lnTo>
                    <a:pt x="3608" y="660"/>
                  </a:lnTo>
                  <a:lnTo>
                    <a:pt x="3566" y="661"/>
                  </a:lnTo>
                  <a:lnTo>
                    <a:pt x="3526" y="665"/>
                  </a:lnTo>
                  <a:lnTo>
                    <a:pt x="3486" y="670"/>
                  </a:lnTo>
                  <a:lnTo>
                    <a:pt x="3446" y="677"/>
                  </a:lnTo>
                  <a:lnTo>
                    <a:pt x="3407" y="686"/>
                  </a:lnTo>
                  <a:lnTo>
                    <a:pt x="3368" y="695"/>
                  </a:lnTo>
                  <a:lnTo>
                    <a:pt x="3330" y="706"/>
                  </a:lnTo>
                  <a:lnTo>
                    <a:pt x="3294" y="718"/>
                  </a:lnTo>
                  <a:lnTo>
                    <a:pt x="3257" y="732"/>
                  </a:lnTo>
                  <a:lnTo>
                    <a:pt x="3220" y="746"/>
                  </a:lnTo>
                  <a:lnTo>
                    <a:pt x="3185" y="763"/>
                  </a:lnTo>
                  <a:lnTo>
                    <a:pt x="3150" y="779"/>
                  </a:lnTo>
                  <a:lnTo>
                    <a:pt x="3116" y="798"/>
                  </a:lnTo>
                  <a:lnTo>
                    <a:pt x="3083" y="817"/>
                  </a:lnTo>
                  <a:lnTo>
                    <a:pt x="3050" y="838"/>
                  </a:lnTo>
                  <a:lnTo>
                    <a:pt x="3038" y="793"/>
                  </a:lnTo>
                  <a:lnTo>
                    <a:pt x="3024" y="750"/>
                  </a:lnTo>
                  <a:lnTo>
                    <a:pt x="3007" y="707"/>
                  </a:lnTo>
                  <a:lnTo>
                    <a:pt x="2989" y="664"/>
                  </a:lnTo>
                  <a:lnTo>
                    <a:pt x="2970" y="623"/>
                  </a:lnTo>
                  <a:lnTo>
                    <a:pt x="2949" y="583"/>
                  </a:lnTo>
                  <a:lnTo>
                    <a:pt x="2927" y="542"/>
                  </a:lnTo>
                  <a:lnTo>
                    <a:pt x="2903" y="504"/>
                  </a:lnTo>
                  <a:lnTo>
                    <a:pt x="2877" y="467"/>
                  </a:lnTo>
                  <a:lnTo>
                    <a:pt x="2850" y="430"/>
                  </a:lnTo>
                  <a:lnTo>
                    <a:pt x="2821" y="396"/>
                  </a:lnTo>
                  <a:lnTo>
                    <a:pt x="2792" y="361"/>
                  </a:lnTo>
                  <a:lnTo>
                    <a:pt x="2761" y="329"/>
                  </a:lnTo>
                  <a:lnTo>
                    <a:pt x="2728" y="297"/>
                  </a:lnTo>
                  <a:lnTo>
                    <a:pt x="2694" y="268"/>
                  </a:lnTo>
                  <a:lnTo>
                    <a:pt x="2659" y="238"/>
                  </a:lnTo>
                  <a:lnTo>
                    <a:pt x="2623" y="211"/>
                  </a:lnTo>
                  <a:lnTo>
                    <a:pt x="2586" y="185"/>
                  </a:lnTo>
                  <a:lnTo>
                    <a:pt x="2548" y="161"/>
                  </a:lnTo>
                  <a:lnTo>
                    <a:pt x="2509" y="139"/>
                  </a:lnTo>
                  <a:lnTo>
                    <a:pt x="2468" y="117"/>
                  </a:lnTo>
                  <a:lnTo>
                    <a:pt x="2427" y="97"/>
                  </a:lnTo>
                  <a:lnTo>
                    <a:pt x="2384" y="79"/>
                  </a:lnTo>
                  <a:lnTo>
                    <a:pt x="2342" y="63"/>
                  </a:lnTo>
                  <a:lnTo>
                    <a:pt x="2298" y="49"/>
                  </a:lnTo>
                  <a:lnTo>
                    <a:pt x="2253" y="36"/>
                  </a:lnTo>
                  <a:lnTo>
                    <a:pt x="2208" y="25"/>
                  </a:lnTo>
                  <a:lnTo>
                    <a:pt x="2162" y="17"/>
                  </a:lnTo>
                  <a:lnTo>
                    <a:pt x="2114" y="9"/>
                  </a:lnTo>
                  <a:lnTo>
                    <a:pt x="2067" y="4"/>
                  </a:lnTo>
                  <a:lnTo>
                    <a:pt x="2019" y="1"/>
                  </a:lnTo>
                  <a:lnTo>
                    <a:pt x="1971" y="0"/>
                  </a:lnTo>
                  <a:lnTo>
                    <a:pt x="1941" y="0"/>
                  </a:lnTo>
                  <a:lnTo>
                    <a:pt x="1913" y="1"/>
                  </a:lnTo>
                  <a:lnTo>
                    <a:pt x="1884" y="4"/>
                  </a:lnTo>
                  <a:lnTo>
                    <a:pt x="1856" y="6"/>
                  </a:lnTo>
                  <a:lnTo>
                    <a:pt x="1829" y="8"/>
                  </a:lnTo>
                  <a:lnTo>
                    <a:pt x="1800" y="13"/>
                  </a:lnTo>
                  <a:lnTo>
                    <a:pt x="1746" y="23"/>
                  </a:lnTo>
                  <a:lnTo>
                    <a:pt x="1691" y="34"/>
                  </a:lnTo>
                  <a:lnTo>
                    <a:pt x="1638" y="50"/>
                  </a:lnTo>
                  <a:lnTo>
                    <a:pt x="1587" y="68"/>
                  </a:lnTo>
                  <a:lnTo>
                    <a:pt x="1536" y="88"/>
                  </a:lnTo>
                  <a:lnTo>
                    <a:pt x="1487" y="110"/>
                  </a:lnTo>
                  <a:lnTo>
                    <a:pt x="1438" y="135"/>
                  </a:lnTo>
                  <a:lnTo>
                    <a:pt x="1392" y="161"/>
                  </a:lnTo>
                  <a:lnTo>
                    <a:pt x="1347" y="191"/>
                  </a:lnTo>
                  <a:lnTo>
                    <a:pt x="1303" y="221"/>
                  </a:lnTo>
                  <a:lnTo>
                    <a:pt x="1260" y="255"/>
                  </a:lnTo>
                  <a:lnTo>
                    <a:pt x="1220" y="290"/>
                  </a:lnTo>
                  <a:lnTo>
                    <a:pt x="1181" y="327"/>
                  </a:lnTo>
                  <a:lnTo>
                    <a:pt x="1144" y="366"/>
                  </a:lnTo>
                  <a:lnTo>
                    <a:pt x="1109" y="406"/>
                  </a:lnTo>
                  <a:lnTo>
                    <a:pt x="1076" y="448"/>
                  </a:lnTo>
                  <a:lnTo>
                    <a:pt x="1045" y="491"/>
                  </a:lnTo>
                  <a:lnTo>
                    <a:pt x="1016" y="538"/>
                  </a:lnTo>
                  <a:lnTo>
                    <a:pt x="989" y="584"/>
                  </a:lnTo>
                  <a:lnTo>
                    <a:pt x="964" y="632"/>
                  </a:lnTo>
                  <a:lnTo>
                    <a:pt x="942" y="681"/>
                  </a:lnTo>
                  <a:lnTo>
                    <a:pt x="922" y="732"/>
                  </a:lnTo>
                  <a:lnTo>
                    <a:pt x="905" y="784"/>
                  </a:lnTo>
                  <a:lnTo>
                    <a:pt x="890" y="837"/>
                  </a:lnTo>
                  <a:lnTo>
                    <a:pt x="877" y="890"/>
                  </a:lnTo>
                  <a:lnTo>
                    <a:pt x="867" y="946"/>
                  </a:lnTo>
                  <a:lnTo>
                    <a:pt x="864" y="973"/>
                  </a:lnTo>
                  <a:lnTo>
                    <a:pt x="860" y="1002"/>
                  </a:lnTo>
                  <a:lnTo>
                    <a:pt x="858" y="1030"/>
                  </a:lnTo>
                  <a:lnTo>
                    <a:pt x="855" y="1059"/>
                  </a:lnTo>
                  <a:lnTo>
                    <a:pt x="855" y="1087"/>
                  </a:lnTo>
                  <a:lnTo>
                    <a:pt x="854" y="1115"/>
                  </a:lnTo>
                  <a:lnTo>
                    <a:pt x="855" y="1150"/>
                  </a:lnTo>
                  <a:lnTo>
                    <a:pt x="857" y="1183"/>
                  </a:lnTo>
                  <a:lnTo>
                    <a:pt x="860" y="1216"/>
                  </a:lnTo>
                  <a:lnTo>
                    <a:pt x="864" y="1250"/>
                  </a:lnTo>
                  <a:lnTo>
                    <a:pt x="845" y="1249"/>
                  </a:lnTo>
                  <a:lnTo>
                    <a:pt x="801" y="1250"/>
                  </a:lnTo>
                  <a:lnTo>
                    <a:pt x="758" y="1253"/>
                  </a:lnTo>
                  <a:lnTo>
                    <a:pt x="716" y="1259"/>
                  </a:lnTo>
                  <a:lnTo>
                    <a:pt x="674" y="1266"/>
                  </a:lnTo>
                  <a:lnTo>
                    <a:pt x="633" y="1275"/>
                  </a:lnTo>
                  <a:lnTo>
                    <a:pt x="594" y="1287"/>
                  </a:lnTo>
                  <a:lnTo>
                    <a:pt x="555" y="1300"/>
                  </a:lnTo>
                  <a:lnTo>
                    <a:pt x="515" y="1316"/>
                  </a:lnTo>
                  <a:lnTo>
                    <a:pt x="479" y="1332"/>
                  </a:lnTo>
                  <a:lnTo>
                    <a:pt x="442" y="1351"/>
                  </a:lnTo>
                  <a:lnTo>
                    <a:pt x="407" y="1371"/>
                  </a:lnTo>
                  <a:lnTo>
                    <a:pt x="372" y="1393"/>
                  </a:lnTo>
                  <a:lnTo>
                    <a:pt x="339" y="1416"/>
                  </a:lnTo>
                  <a:lnTo>
                    <a:pt x="307" y="1441"/>
                  </a:lnTo>
                  <a:lnTo>
                    <a:pt x="277" y="1468"/>
                  </a:lnTo>
                  <a:lnTo>
                    <a:pt x="248" y="1496"/>
                  </a:lnTo>
                  <a:lnTo>
                    <a:pt x="219" y="1525"/>
                  </a:lnTo>
                  <a:lnTo>
                    <a:pt x="193" y="1556"/>
                  </a:lnTo>
                  <a:lnTo>
                    <a:pt x="169" y="1588"/>
                  </a:lnTo>
                  <a:lnTo>
                    <a:pt x="145" y="1621"/>
                  </a:lnTo>
                  <a:lnTo>
                    <a:pt x="122" y="1655"/>
                  </a:lnTo>
                  <a:lnTo>
                    <a:pt x="102" y="1690"/>
                  </a:lnTo>
                  <a:lnTo>
                    <a:pt x="83" y="1726"/>
                  </a:lnTo>
                  <a:lnTo>
                    <a:pt x="67" y="1764"/>
                  </a:lnTo>
                  <a:lnTo>
                    <a:pt x="51" y="1802"/>
                  </a:lnTo>
                  <a:lnTo>
                    <a:pt x="38" y="1841"/>
                  </a:lnTo>
                  <a:lnTo>
                    <a:pt x="28" y="1882"/>
                  </a:lnTo>
                  <a:lnTo>
                    <a:pt x="18" y="1923"/>
                  </a:lnTo>
                  <a:lnTo>
                    <a:pt x="10" y="1965"/>
                  </a:lnTo>
                  <a:lnTo>
                    <a:pt x="5" y="2006"/>
                  </a:lnTo>
                  <a:lnTo>
                    <a:pt x="2" y="2049"/>
                  </a:lnTo>
                  <a:lnTo>
                    <a:pt x="0" y="2092"/>
                  </a:lnTo>
                  <a:lnTo>
                    <a:pt x="2" y="2135"/>
                  </a:lnTo>
                  <a:lnTo>
                    <a:pt x="5" y="2176"/>
                  </a:lnTo>
                  <a:lnTo>
                    <a:pt x="10" y="2217"/>
                  </a:lnTo>
                  <a:lnTo>
                    <a:pt x="17" y="2257"/>
                  </a:lnTo>
                  <a:lnTo>
                    <a:pt x="25" y="2297"/>
                  </a:lnTo>
                  <a:lnTo>
                    <a:pt x="36" y="2336"/>
                  </a:lnTo>
                  <a:lnTo>
                    <a:pt x="49" y="2374"/>
                  </a:lnTo>
                  <a:lnTo>
                    <a:pt x="63" y="2411"/>
                  </a:lnTo>
                  <a:lnTo>
                    <a:pt x="79" y="2448"/>
                  </a:lnTo>
                  <a:lnTo>
                    <a:pt x="96" y="2483"/>
                  </a:lnTo>
                  <a:lnTo>
                    <a:pt x="115" y="2517"/>
                  </a:lnTo>
                  <a:lnTo>
                    <a:pt x="137" y="2552"/>
                  </a:lnTo>
                  <a:lnTo>
                    <a:pt x="159" y="2584"/>
                  </a:lnTo>
                  <a:lnTo>
                    <a:pt x="183" y="2615"/>
                  </a:lnTo>
                  <a:lnTo>
                    <a:pt x="208" y="2645"/>
                  </a:lnTo>
                  <a:lnTo>
                    <a:pt x="234" y="2674"/>
                  </a:lnTo>
                  <a:lnTo>
                    <a:pt x="262" y="2702"/>
                  </a:lnTo>
                  <a:lnTo>
                    <a:pt x="290" y="2728"/>
                  </a:lnTo>
                  <a:lnTo>
                    <a:pt x="321" y="2753"/>
                  </a:lnTo>
                  <a:lnTo>
                    <a:pt x="352" y="2777"/>
                  </a:lnTo>
                  <a:lnTo>
                    <a:pt x="385" y="2799"/>
                  </a:lnTo>
                  <a:lnTo>
                    <a:pt x="418" y="2819"/>
                  </a:lnTo>
                  <a:lnTo>
                    <a:pt x="453" y="2840"/>
                  </a:lnTo>
                  <a:lnTo>
                    <a:pt x="488" y="2856"/>
                  </a:lnTo>
                  <a:lnTo>
                    <a:pt x="525" y="2873"/>
                  </a:lnTo>
                  <a:lnTo>
                    <a:pt x="563" y="2887"/>
                  </a:lnTo>
                  <a:lnTo>
                    <a:pt x="601" y="2899"/>
                  </a:lnTo>
                  <a:lnTo>
                    <a:pt x="640" y="2909"/>
                  </a:lnTo>
                  <a:lnTo>
                    <a:pt x="679" y="2919"/>
                  </a:lnTo>
                  <a:lnTo>
                    <a:pt x="719" y="2926"/>
                  </a:lnTo>
                  <a:lnTo>
                    <a:pt x="761" y="2931"/>
                  </a:lnTo>
                  <a:lnTo>
                    <a:pt x="802" y="2934"/>
                  </a:lnTo>
                  <a:lnTo>
                    <a:pt x="802" y="2936"/>
                  </a:lnTo>
                  <a:lnTo>
                    <a:pt x="4682" y="2936"/>
                  </a:lnTo>
                  <a:lnTo>
                    <a:pt x="4682" y="2933"/>
                  </a:lnTo>
                  <a:lnTo>
                    <a:pt x="4693" y="2934"/>
                  </a:lnTo>
                  <a:lnTo>
                    <a:pt x="4706" y="2936"/>
                  </a:lnTo>
                  <a:lnTo>
                    <a:pt x="4740" y="2936"/>
                  </a:lnTo>
                  <a:lnTo>
                    <a:pt x="4772" y="2933"/>
                  </a:lnTo>
                  <a:lnTo>
                    <a:pt x="4804" y="2928"/>
                  </a:lnTo>
                  <a:lnTo>
                    <a:pt x="4836" y="2922"/>
                  </a:lnTo>
                  <a:lnTo>
                    <a:pt x="4866" y="2915"/>
                  </a:lnTo>
                  <a:lnTo>
                    <a:pt x="4896" y="2907"/>
                  </a:lnTo>
                  <a:lnTo>
                    <a:pt x="4926" y="2898"/>
                  </a:lnTo>
                  <a:lnTo>
                    <a:pt x="4955" y="2886"/>
                  </a:lnTo>
                  <a:lnTo>
                    <a:pt x="4984" y="2873"/>
                  </a:lnTo>
                  <a:lnTo>
                    <a:pt x="5011" y="2859"/>
                  </a:lnTo>
                  <a:lnTo>
                    <a:pt x="5038" y="2843"/>
                  </a:lnTo>
                  <a:lnTo>
                    <a:pt x="5063" y="2827"/>
                  </a:lnTo>
                  <a:lnTo>
                    <a:pt x="5089" y="2809"/>
                  </a:lnTo>
                  <a:lnTo>
                    <a:pt x="5113" y="2790"/>
                  </a:lnTo>
                  <a:lnTo>
                    <a:pt x="5135" y="2770"/>
                  </a:lnTo>
                  <a:lnTo>
                    <a:pt x="5158" y="2748"/>
                  </a:lnTo>
                  <a:lnTo>
                    <a:pt x="5179" y="2727"/>
                  </a:lnTo>
                  <a:lnTo>
                    <a:pt x="5199" y="2703"/>
                  </a:lnTo>
                  <a:lnTo>
                    <a:pt x="5218" y="2680"/>
                  </a:lnTo>
                  <a:lnTo>
                    <a:pt x="5236" y="2655"/>
                  </a:lnTo>
                  <a:lnTo>
                    <a:pt x="5252" y="2629"/>
                  </a:lnTo>
                  <a:lnTo>
                    <a:pt x="5268" y="2602"/>
                  </a:lnTo>
                  <a:lnTo>
                    <a:pt x="5282" y="2574"/>
                  </a:lnTo>
                  <a:lnTo>
                    <a:pt x="5295" y="2546"/>
                  </a:lnTo>
                  <a:lnTo>
                    <a:pt x="5306" y="2517"/>
                  </a:lnTo>
                  <a:lnTo>
                    <a:pt x="5316" y="2488"/>
                  </a:lnTo>
                  <a:lnTo>
                    <a:pt x="5325" y="2457"/>
                  </a:lnTo>
                  <a:lnTo>
                    <a:pt x="5332" y="2426"/>
                  </a:lnTo>
                  <a:lnTo>
                    <a:pt x="5338" y="2394"/>
                  </a:lnTo>
                  <a:lnTo>
                    <a:pt x="5341" y="2362"/>
                  </a:lnTo>
                  <a:lnTo>
                    <a:pt x="5344" y="2330"/>
                  </a:lnTo>
                  <a:lnTo>
                    <a:pt x="5345" y="2297"/>
                  </a:lnTo>
                  <a:lnTo>
                    <a:pt x="5344" y="2265"/>
                  </a:lnTo>
                  <a:lnTo>
                    <a:pt x="5341" y="2233"/>
                  </a:lnTo>
                  <a:lnTo>
                    <a:pt x="5338" y="2203"/>
                  </a:lnTo>
                  <a:lnTo>
                    <a:pt x="5333" y="2172"/>
                  </a:lnTo>
                  <a:lnTo>
                    <a:pt x="5326" y="2141"/>
                  </a:lnTo>
                  <a:lnTo>
                    <a:pt x="5318" y="2111"/>
                  </a:lnTo>
                  <a:lnTo>
                    <a:pt x="5308" y="2083"/>
                  </a:lnTo>
                  <a:lnTo>
                    <a:pt x="5296" y="2054"/>
                  </a:lnTo>
                  <a:lnTo>
                    <a:pt x="5284" y="2026"/>
                  </a:lnTo>
                  <a:lnTo>
                    <a:pt x="5271" y="2000"/>
                  </a:lnTo>
                  <a:lnTo>
                    <a:pt x="5256" y="1974"/>
                  </a:lnTo>
                  <a:lnTo>
                    <a:pt x="5241" y="1948"/>
                  </a:lnTo>
                  <a:lnTo>
                    <a:pt x="5223" y="1923"/>
                  </a:lnTo>
                  <a:lnTo>
                    <a:pt x="5205" y="1899"/>
                  </a:lnTo>
                  <a:lnTo>
                    <a:pt x="5185" y="1877"/>
                  </a:lnTo>
                  <a:lnTo>
                    <a:pt x="5165" y="1854"/>
                  </a:lnTo>
                  <a:lnTo>
                    <a:pt x="5143" y="1834"/>
                  </a:lnTo>
                  <a:lnTo>
                    <a:pt x="5121" y="1814"/>
                  </a:lnTo>
                  <a:lnTo>
                    <a:pt x="5098" y="1795"/>
                  </a:lnTo>
                  <a:lnTo>
                    <a:pt x="5074" y="1777"/>
                  </a:lnTo>
                  <a:lnTo>
                    <a:pt x="5049" y="1761"/>
                  </a:lnTo>
                  <a:lnTo>
                    <a:pt x="5023" y="1745"/>
                  </a:lnTo>
                  <a:lnTo>
                    <a:pt x="4997" y="1731"/>
                  </a:lnTo>
                  <a:lnTo>
                    <a:pt x="4969" y="1717"/>
                  </a:lnTo>
                  <a:lnTo>
                    <a:pt x="4941" y="1706"/>
                  </a:lnTo>
                  <a:lnTo>
                    <a:pt x="4913" y="1696"/>
                  </a:lnTo>
                  <a:lnTo>
                    <a:pt x="4883" y="1686"/>
                  </a:lnTo>
                  <a:lnTo>
                    <a:pt x="4853" y="1678"/>
                  </a:lnTo>
                  <a:lnTo>
                    <a:pt x="4823" y="1672"/>
                  </a:lnTo>
                  <a:lnTo>
                    <a:pt x="4792" y="1667"/>
                  </a:lnTo>
                  <a:lnTo>
                    <a:pt x="4761" y="1664"/>
                  </a:lnTo>
                  <a:lnTo>
                    <a:pt x="4729" y="166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>
                <a:contourClr>
                  <a:srgbClr val="FFFFFF"/>
                </a:contourClr>
              </a:sp3d>
            </a:bodyPr>
            <a:lstStyle/>
            <a:p>
              <a:pPr algn="ctr" defTabSz="91427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67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  <p:sp>
          <p:nvSpPr>
            <p:cNvPr id="6" name="文本框 5"/>
            <p:cNvSpPr txBox="1">
              <a:spLocks noChangeArrowheads="1"/>
            </p:cNvSpPr>
            <p:nvPr/>
          </p:nvSpPr>
          <p:spPr bwMode="auto">
            <a:xfrm>
              <a:off x="4508159" y="864629"/>
              <a:ext cx="433287" cy="4560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5pPr>
              <a:lvl6pPr marL="25146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6pPr>
              <a:lvl7pPr marL="29718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7pPr>
              <a:lvl8pPr marL="34290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8pPr>
              <a:lvl9pPr marL="3886200" indent="-228600" defTabSz="684213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itchFamily="34" charset="0"/>
                  <a:ea typeface="微软雅黑" pitchFamily="34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3733">
                  <a:solidFill>
                    <a:schemeClr val="bg1"/>
                  </a:solidFill>
                  <a:cs typeface="Arial" pitchFamily="34" charset="0"/>
                </a:rPr>
                <a:t>4</a:t>
              </a:r>
              <a:endParaRPr lang="zh-CN" altLang="en-US" sz="3733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3111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节标题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>
            <a:spLocks noChangeArrowheads="1"/>
          </p:cNvSpPr>
          <p:nvPr userDrawn="1"/>
        </p:nvSpPr>
        <p:spPr bwMode="auto">
          <a:xfrm>
            <a:off x="3630088" y="463554"/>
            <a:ext cx="4931833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defTabSz="684213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667">
                <a:solidFill>
                  <a:srgbClr val="262626"/>
                </a:solidFill>
              </a:rPr>
              <a:t>ADD YOUR TITLE HERE</a:t>
            </a:r>
            <a:endParaRPr lang="zh-CN" altLang="en-US" sz="2667">
              <a:solidFill>
                <a:srgbClr val="262626"/>
              </a:solidFill>
            </a:endParaRPr>
          </a:p>
        </p:txBody>
      </p:sp>
      <p:sp>
        <p:nvSpPr>
          <p:cNvPr id="3" name="Content Placeholder 2"/>
          <p:cNvSpPr txBox="1">
            <a:spLocks/>
          </p:cNvSpPr>
          <p:nvPr userDrawn="1"/>
        </p:nvSpPr>
        <p:spPr>
          <a:xfrm>
            <a:off x="1691225" y="1100667"/>
            <a:ext cx="9215967" cy="423333"/>
          </a:xfrm>
          <a:prstGeom prst="rect">
            <a:avLst/>
          </a:prstGeom>
        </p:spPr>
        <p:txBody>
          <a:bodyPr/>
          <a:lstStyle>
            <a:lvl1pPr defTabSz="1087438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 defTabSz="1087438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 defTabSz="1087438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 defTabSz="1087438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 defTabSz="1087438"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defTabSz="1087438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defTabSz="1087438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defTabSz="1087438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defTabSz="1087438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algn="ctr" eaLnBrk="1" hangingPunct="1">
              <a:buFont typeface="Arial" pitchFamily="34" charset="0"/>
              <a:buNone/>
              <a:defRPr/>
            </a:pPr>
            <a:r>
              <a:rPr lang="en-US" altLang="zh-CN" sz="1467">
                <a:solidFill>
                  <a:srgbClr val="262626"/>
                </a:solidFill>
                <a:latin typeface="华文细黑" pitchFamily="2" charset="-122"/>
                <a:ea typeface="华文细黑" pitchFamily="2" charset="-122"/>
                <a:cs typeface="Arial" pitchFamily="34" charset="0"/>
              </a:rPr>
              <a:t>Click here to modify the text , you may post text here . Click here to modify the text Click</a:t>
            </a: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111758" y="1054100"/>
            <a:ext cx="19685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409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4810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 userDrawn="1"/>
        </p:nvSpPr>
        <p:spPr>
          <a:xfrm>
            <a:off x="0" y="1071564"/>
            <a:ext cx="12192000" cy="12858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300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04800" y="1600200"/>
            <a:ext cx="11582400" cy="1143000"/>
          </a:xfrm>
        </p:spPr>
        <p:txBody>
          <a:bodyPr/>
          <a:lstStyle>
            <a:lvl1pPr>
              <a:defRPr sz="3000"/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304800" y="2743200"/>
            <a:ext cx="11582400" cy="685800"/>
          </a:xfrm>
        </p:spPr>
        <p:txBody>
          <a:bodyPr/>
          <a:lstStyle>
            <a:lvl1pPr marL="0" indent="0">
              <a:buFontTx/>
              <a:buNone/>
              <a:defRPr sz="2000" b="0"/>
            </a:lvl1pPr>
          </a:lstStyle>
          <a:p>
            <a:r>
              <a:rPr lang="zh-CN" altLang="en-US"/>
              <a:t>单击此处编辑母版副标题样式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24055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dissolv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页-57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42">
            <a:extLst>
              <a:ext uri="{FF2B5EF4-FFF2-40B4-BE49-F238E27FC236}">
                <a16:creationId xmlns:a16="http://schemas.microsoft.com/office/drawing/2014/main" id="{30AEE1E8-3394-4FAF-AEE4-E8E7127839F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41092" y="74069"/>
            <a:ext cx="44274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912261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000" dirty="0">
                <a:solidFill>
                  <a:prstClr val="white"/>
                </a:solidFill>
                <a:latin typeface="Impact" panose="020B0806030902050204" pitchFamily="34" charset="0"/>
                <a:sym typeface="Impact" panose="020B0806030902050204" pitchFamily="34" charset="0"/>
              </a:rPr>
              <a:t>2</a:t>
            </a:r>
            <a:endParaRPr lang="zh-CN" altLang="en-US" sz="4000" dirty="0">
              <a:solidFill>
                <a:prstClr val="white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29" name="任意多边形 18">
            <a:extLst>
              <a:ext uri="{FF2B5EF4-FFF2-40B4-BE49-F238E27FC236}">
                <a16:creationId xmlns:a16="http://schemas.microsoft.com/office/drawing/2014/main" id="{4724DA8E-3391-4FDB-81C7-7591F11C9DAC}"/>
              </a:ext>
            </a:extLst>
          </p:cNvPr>
          <p:cNvSpPr/>
          <p:nvPr userDrawn="1"/>
        </p:nvSpPr>
        <p:spPr>
          <a:xfrm flipH="1">
            <a:off x="-3" y="748316"/>
            <a:ext cx="9024000" cy="89885"/>
          </a:xfrm>
          <a:custGeom>
            <a:avLst/>
            <a:gdLst>
              <a:gd name="connsiteX0" fmla="*/ 6515627 w 6515627"/>
              <a:gd name="connsiteY0" fmla="*/ 0 h 67414"/>
              <a:gd name="connsiteX1" fmla="*/ 67507 w 6515627"/>
              <a:gd name="connsiteY1" fmla="*/ 0 h 67414"/>
              <a:gd name="connsiteX2" fmla="*/ 0 w 6515627"/>
              <a:gd name="connsiteY2" fmla="*/ 67414 h 67414"/>
              <a:gd name="connsiteX3" fmla="*/ 6515627 w 6515627"/>
              <a:gd name="connsiteY3" fmla="*/ 67414 h 6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15627" h="67414">
                <a:moveTo>
                  <a:pt x="6515627" y="0"/>
                </a:moveTo>
                <a:lnTo>
                  <a:pt x="67507" y="0"/>
                </a:lnTo>
                <a:lnTo>
                  <a:pt x="0" y="67414"/>
                </a:lnTo>
                <a:lnTo>
                  <a:pt x="6515627" y="67414"/>
                </a:lnTo>
                <a:close/>
              </a:path>
            </a:pathLst>
          </a:custGeom>
          <a:solidFill>
            <a:srgbClr val="37609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endParaRPr lang="zh-CN" altLang="en-US" sz="2400" kern="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30" name="任意多边形 19">
            <a:extLst>
              <a:ext uri="{FF2B5EF4-FFF2-40B4-BE49-F238E27FC236}">
                <a16:creationId xmlns:a16="http://schemas.microsoft.com/office/drawing/2014/main" id="{36712E71-8664-46F3-9D45-61D327936CF1}"/>
              </a:ext>
            </a:extLst>
          </p:cNvPr>
          <p:cNvSpPr/>
          <p:nvPr userDrawn="1"/>
        </p:nvSpPr>
        <p:spPr>
          <a:xfrm flipH="1">
            <a:off x="8589796" y="-9186"/>
            <a:ext cx="3602203" cy="847388"/>
          </a:xfrm>
          <a:custGeom>
            <a:avLst/>
            <a:gdLst>
              <a:gd name="connsiteX0" fmla="*/ 2701652 w 2701652"/>
              <a:gd name="connsiteY0" fmla="*/ 0 h 502825"/>
              <a:gd name="connsiteX1" fmla="*/ 0 w 2701652"/>
              <a:gd name="connsiteY1" fmla="*/ 0 h 502825"/>
              <a:gd name="connsiteX2" fmla="*/ 0 w 2701652"/>
              <a:gd name="connsiteY2" fmla="*/ 502825 h 502825"/>
              <a:gd name="connsiteX3" fmla="*/ 2198133 w 2701652"/>
              <a:gd name="connsiteY3" fmla="*/ 502825 h 502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1652" h="502825">
                <a:moveTo>
                  <a:pt x="2701652" y="0"/>
                </a:moveTo>
                <a:lnTo>
                  <a:pt x="0" y="0"/>
                </a:lnTo>
                <a:lnTo>
                  <a:pt x="0" y="502825"/>
                </a:lnTo>
                <a:lnTo>
                  <a:pt x="2198133" y="502825"/>
                </a:lnTo>
                <a:close/>
              </a:path>
            </a:pathLst>
          </a:custGeom>
          <a:solidFill>
            <a:srgbClr val="37609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endParaRPr lang="zh-CN" altLang="en-US" sz="2400" kern="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31" name="任意多边形 20">
            <a:extLst>
              <a:ext uri="{FF2B5EF4-FFF2-40B4-BE49-F238E27FC236}">
                <a16:creationId xmlns:a16="http://schemas.microsoft.com/office/drawing/2014/main" id="{A3F03BBC-C686-4119-BE01-D2CA365A27B3}"/>
              </a:ext>
            </a:extLst>
          </p:cNvPr>
          <p:cNvSpPr/>
          <p:nvPr userDrawn="1"/>
        </p:nvSpPr>
        <p:spPr>
          <a:xfrm>
            <a:off x="9145704" y="-2169"/>
            <a:ext cx="869552" cy="535569"/>
          </a:xfrm>
          <a:custGeom>
            <a:avLst/>
            <a:gdLst>
              <a:gd name="connsiteX0" fmla="*/ 15986 w 683098"/>
              <a:gd name="connsiteY0" fmla="*/ 0 h 420730"/>
              <a:gd name="connsiteX1" fmla="*/ 667112 w 683098"/>
              <a:gd name="connsiteY1" fmla="*/ 0 h 420730"/>
              <a:gd name="connsiteX2" fmla="*/ 683098 w 683098"/>
              <a:gd name="connsiteY2" fmla="*/ 79181 h 420730"/>
              <a:gd name="connsiteX3" fmla="*/ 341549 w 683098"/>
              <a:gd name="connsiteY3" fmla="*/ 420730 h 420730"/>
              <a:gd name="connsiteX4" fmla="*/ 0 w 683098"/>
              <a:gd name="connsiteY4" fmla="*/ 79181 h 420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3098" h="420730">
                <a:moveTo>
                  <a:pt x="15986" y="0"/>
                </a:moveTo>
                <a:lnTo>
                  <a:pt x="667112" y="0"/>
                </a:lnTo>
                <a:lnTo>
                  <a:pt x="683098" y="79181"/>
                </a:lnTo>
                <a:cubicBezTo>
                  <a:pt x="683098" y="267813"/>
                  <a:pt x="530181" y="420730"/>
                  <a:pt x="341549" y="420730"/>
                </a:cubicBezTo>
                <a:cubicBezTo>
                  <a:pt x="152917" y="420730"/>
                  <a:pt x="0" y="267813"/>
                  <a:pt x="0" y="79181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endParaRPr lang="zh-CN" altLang="en-US" sz="2400" kern="0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32" name="任意多边形 21">
            <a:extLst>
              <a:ext uri="{FF2B5EF4-FFF2-40B4-BE49-F238E27FC236}">
                <a16:creationId xmlns:a16="http://schemas.microsoft.com/office/drawing/2014/main" id="{207296E9-218C-4F28-B59E-4BBB4389F616}"/>
              </a:ext>
            </a:extLst>
          </p:cNvPr>
          <p:cNvSpPr/>
          <p:nvPr userDrawn="1"/>
        </p:nvSpPr>
        <p:spPr>
          <a:xfrm>
            <a:off x="9711555" y="-2169"/>
            <a:ext cx="741135" cy="192229"/>
          </a:xfrm>
          <a:custGeom>
            <a:avLst/>
            <a:gdLst>
              <a:gd name="connsiteX0" fmla="*/ 0 w 555851"/>
              <a:gd name="connsiteY0" fmla="*/ 0 h 144172"/>
              <a:gd name="connsiteX1" fmla="*/ 555851 w 555851"/>
              <a:gd name="connsiteY1" fmla="*/ 0 h 144172"/>
              <a:gd name="connsiteX2" fmla="*/ 519437 w 555851"/>
              <a:gd name="connsiteY2" fmla="*/ 44135 h 144172"/>
              <a:gd name="connsiteX3" fmla="*/ 277925 w 555851"/>
              <a:gd name="connsiteY3" fmla="*/ 144172 h 144172"/>
              <a:gd name="connsiteX4" fmla="*/ 36414 w 555851"/>
              <a:gd name="connsiteY4" fmla="*/ 44135 h 14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5851" h="144172">
                <a:moveTo>
                  <a:pt x="0" y="0"/>
                </a:moveTo>
                <a:lnTo>
                  <a:pt x="555851" y="0"/>
                </a:lnTo>
                <a:lnTo>
                  <a:pt x="519437" y="44135"/>
                </a:lnTo>
                <a:cubicBezTo>
                  <a:pt x="457629" y="105943"/>
                  <a:pt x="372241" y="144172"/>
                  <a:pt x="277925" y="144172"/>
                </a:cubicBezTo>
                <a:cubicBezTo>
                  <a:pt x="183609" y="144172"/>
                  <a:pt x="98222" y="105943"/>
                  <a:pt x="36414" y="44135"/>
                </a:cubicBezTo>
                <a:close/>
              </a:path>
            </a:pathLst>
          </a:custGeom>
          <a:solidFill>
            <a:srgbClr val="FFFFFF">
              <a:alpha val="5098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endParaRPr lang="zh-CN" altLang="en-US" sz="2400" kern="0">
              <a:solidFill>
                <a:prstClr val="white"/>
              </a:solidFill>
              <a:latin typeface="Arial"/>
              <a:ea typeface="微软雅黑"/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C1A12DD4-49A4-4563-AD01-27A20FC74C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3102" y="17786"/>
            <a:ext cx="2279965" cy="81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611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58D13E-7247-4367-AC2D-A72A1BE37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0FE9E8-7A34-4CC1-BD4F-9C3EED360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49A6C8-94E1-44C8-B95C-D4FCB6144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FAB75-46E8-4D97-A728-93EF25077506}" type="datetimeFigureOut">
              <a:rPr lang="zh-CN" altLang="en-US" smtClean="0"/>
              <a:t>2026-10-07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79B747-D807-45B1-BD61-A65C64C9D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E91EE1-C3F7-46D3-AF90-A7D443020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6D722-0B96-4EE9-B40A-3F4A10FF0C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25429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A251D-8EE8-4989-9E9C-892CCBFEFB6C}" type="datetime1">
              <a:rPr lang="en-US" altLang="zh-CN" smtClean="0"/>
              <a:t>10/7/2026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0" name="Picture 2" descr="C:\Users\Administrator\Desktop\灰色01副本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" y="-827"/>
            <a:ext cx="12194117" cy="6861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151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620558-5325-4CFD-AFD0-B6863C016BE7}" type="datetimeFigureOut">
              <a:rPr lang="zh-CN" altLang="en-US" smtClean="0"/>
              <a:t>2026-10-07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A6431-AF6F-4770-94EC-EB1259D505D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988" r:id="rId16"/>
    <p:sldLayoutId id="214748399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1" y="366190"/>
            <a:ext cx="10515600" cy="1325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1" y="1826684"/>
            <a:ext cx="10515600" cy="4349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7"/>
            <a:ext cx="27432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294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华文细黑" panose="02010600040101010101" pitchFamily="2" charset="-122"/>
                <a:ea typeface="+mn-ea"/>
              </a:defRPr>
            </a:lvl1pPr>
          </a:lstStyle>
          <a:p>
            <a:pPr>
              <a:defRPr/>
            </a:pPr>
            <a:fld id="{B688739C-4961-464E-BA3F-458A2D378A86}" type="datetimeFigureOut">
              <a:rPr lang="zh-CN" altLang="en-US"/>
              <a:pPr>
                <a:defRPr/>
              </a:pPr>
              <a:t>2026-10-07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7"/>
            <a:ext cx="411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914294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华文细黑" panose="02010600040101010101" pitchFamily="2" charset="-122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7"/>
            <a:ext cx="2743200" cy="36618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华文细黑" panose="02010600040101010101" pitchFamily="2" charset="-122"/>
              </a:defRPr>
            </a:lvl1pPr>
          </a:lstStyle>
          <a:p>
            <a:fld id="{3A11DDF8-7585-4D5A-A9E0-BA1CFD1E6C2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094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2" r:id="rId7"/>
    <p:sldLayoutId id="2147483986" r:id="rId8"/>
    <p:sldLayoutId id="2147483987" r:id="rId9"/>
    <p:sldLayoutId id="2147483989" r:id="rId10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354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华文细黑" panose="02010600040101010101" pitchFamily="2" charset="-122"/>
          <a:ea typeface="+mj-ea"/>
          <a:cs typeface="+mj-cs"/>
        </a:defRPr>
      </a:lvl1pPr>
      <a:lvl2pPr algn="l" defTabSz="914354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细黑" pitchFamily="2" charset="-122"/>
          <a:ea typeface="微软雅黑" pitchFamily="34" charset="-122"/>
        </a:defRPr>
      </a:lvl2pPr>
      <a:lvl3pPr algn="l" defTabSz="914354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细黑" pitchFamily="2" charset="-122"/>
          <a:ea typeface="微软雅黑" pitchFamily="34" charset="-122"/>
        </a:defRPr>
      </a:lvl3pPr>
      <a:lvl4pPr algn="l" defTabSz="914354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细黑" pitchFamily="2" charset="-122"/>
          <a:ea typeface="微软雅黑" pitchFamily="34" charset="-122"/>
        </a:defRPr>
      </a:lvl4pPr>
      <a:lvl5pPr algn="l" defTabSz="914354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细黑" pitchFamily="2" charset="-122"/>
          <a:ea typeface="微软雅黑" pitchFamily="34" charset="-122"/>
        </a:defRPr>
      </a:lvl5pPr>
      <a:lvl6pPr marL="609570"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细黑" pitchFamily="2" charset="-122"/>
          <a:ea typeface="微软雅黑" pitchFamily="34" charset="-122"/>
        </a:defRPr>
      </a:lvl6pPr>
      <a:lvl7pPr marL="1219139"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细黑" pitchFamily="2" charset="-122"/>
          <a:ea typeface="微软雅黑" pitchFamily="34" charset="-122"/>
        </a:defRPr>
      </a:lvl7pPr>
      <a:lvl8pPr marL="1828709"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细黑" pitchFamily="2" charset="-122"/>
          <a:ea typeface="微软雅黑" pitchFamily="34" charset="-122"/>
        </a:defRPr>
      </a:lvl8pPr>
      <a:lvl9pPr marL="2438278" algn="l" defTabSz="914354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华文细黑" pitchFamily="2" charset="-122"/>
          <a:ea typeface="微软雅黑" pitchFamily="34" charset="-122"/>
        </a:defRPr>
      </a:lvl9pPr>
    </p:titleStyle>
    <p:bodyStyle>
      <a:lvl1pPr marL="228589" indent="-228589" algn="l" defTabSz="914354" rtl="0" eaLnBrk="0" fontAlgn="base" hangingPunct="0">
        <a:lnSpc>
          <a:spcPct val="90000"/>
        </a:lnSpc>
        <a:spcBef>
          <a:spcPts val="1001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华文细黑" panose="02010600040101010101" pitchFamily="2" charset="-122"/>
          <a:ea typeface="+mn-ea"/>
          <a:cs typeface="+mn-cs"/>
        </a:defRPr>
      </a:lvl1pPr>
      <a:lvl2pPr marL="685767" indent="-228589" algn="l" defTabSz="914354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华文细黑" panose="02010600040101010101" pitchFamily="2" charset="-122"/>
          <a:ea typeface="+mn-ea"/>
          <a:cs typeface="+mn-cs"/>
        </a:defRPr>
      </a:lvl2pPr>
      <a:lvl3pPr marL="1142943" indent="-228589" algn="l" defTabSz="914354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华文细黑" panose="02010600040101010101" pitchFamily="2" charset="-122"/>
          <a:ea typeface="+mn-ea"/>
          <a:cs typeface="+mn-cs"/>
        </a:defRPr>
      </a:lvl3pPr>
      <a:lvl4pPr marL="1600121" indent="-228589" algn="l" defTabSz="914354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华文细黑" panose="02010600040101010101" pitchFamily="2" charset="-122"/>
          <a:ea typeface="+mn-ea"/>
          <a:cs typeface="+mn-cs"/>
        </a:defRPr>
      </a:lvl4pPr>
      <a:lvl5pPr marL="2057298" indent="-228589" algn="l" defTabSz="914354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733" kern="1200">
          <a:solidFill>
            <a:schemeClr val="tx1"/>
          </a:solidFill>
          <a:latin typeface="华文细黑" panose="02010600040101010101" pitchFamily="2" charset="-122"/>
          <a:ea typeface="+mn-ea"/>
          <a:cs typeface="+mn-cs"/>
        </a:defRPr>
      </a:lvl5pPr>
      <a:lvl6pPr marL="251447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7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0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3" Type="http://schemas.openxmlformats.org/officeDocument/2006/relationships/image" Target="../media/image25.png"/><Relationship Id="rId7" Type="http://schemas.openxmlformats.org/officeDocument/2006/relationships/image" Target="../media/image29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80.png"/><Relationship Id="rId5" Type="http://schemas.openxmlformats.org/officeDocument/2006/relationships/image" Target="../media/image270.png"/><Relationship Id="rId4" Type="http://schemas.openxmlformats.org/officeDocument/2006/relationships/image" Target="../media/image26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7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0.png"/><Relationship Id="rId5" Type="http://schemas.openxmlformats.org/officeDocument/2006/relationships/image" Target="../media/image42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45.png"/><Relationship Id="rId7" Type="http://schemas.openxmlformats.org/officeDocument/2006/relationships/image" Target="../media/image47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Relationship Id="rId6" Type="http://schemas.openxmlformats.org/officeDocument/2006/relationships/customXml" Target="../ink/ink1.xml"/><Relationship Id="rId11" Type="http://schemas.openxmlformats.org/officeDocument/2006/relationships/image" Target="../media/image49.png"/><Relationship Id="rId5" Type="http://schemas.openxmlformats.org/officeDocument/2006/relationships/image" Target="../media/image33.png"/><Relationship Id="rId10" Type="http://schemas.openxmlformats.org/officeDocument/2006/relationships/customXml" Target="../ink/ink3.xml"/><Relationship Id="rId4" Type="http://schemas.openxmlformats.org/officeDocument/2006/relationships/image" Target="../media/image32.png"/><Relationship Id="rId9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40.png"/><Relationship Id="rId5" Type="http://schemas.openxmlformats.org/officeDocument/2006/relationships/image" Target="../media/image41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51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30.png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670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68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7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7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77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5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3.wmf"/><Relationship Id="rId2" Type="http://schemas.openxmlformats.org/officeDocument/2006/relationships/slideLayout" Target="../slideLayouts/slideLayout25.xml"/><Relationship Id="rId16" Type="http://schemas.openxmlformats.org/officeDocument/2006/relationships/image" Target="../media/image65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62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4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79.png"/><Relationship Id="rId3" Type="http://schemas.openxmlformats.org/officeDocument/2006/relationships/oleObject" Target="../embeddings/oleObject8.bin"/><Relationship Id="rId7" Type="http://schemas.openxmlformats.org/officeDocument/2006/relationships/image" Target="../media/image77.png"/><Relationship Id="rId12" Type="http://schemas.openxmlformats.org/officeDocument/2006/relationships/image" Target="../media/image69.wmf"/><Relationship Id="rId17" Type="http://schemas.openxmlformats.org/officeDocument/2006/relationships/image" Target="../media/image71.wmf"/><Relationship Id="rId2" Type="http://schemas.openxmlformats.org/officeDocument/2006/relationships/slideLayout" Target="../slideLayouts/slideLayout25.xml"/><Relationship Id="rId16" Type="http://schemas.openxmlformats.org/officeDocument/2006/relationships/oleObject" Target="../embeddings/oleObject13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67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9.bin"/><Relationship Id="rId15" Type="http://schemas.openxmlformats.org/officeDocument/2006/relationships/image" Target="../media/image70.wmf"/><Relationship Id="rId10" Type="http://schemas.openxmlformats.org/officeDocument/2006/relationships/image" Target="../media/image68.wmf"/><Relationship Id="rId4" Type="http://schemas.openxmlformats.org/officeDocument/2006/relationships/image" Target="../media/image66.wmf"/><Relationship Id="rId9" Type="http://schemas.openxmlformats.org/officeDocument/2006/relationships/oleObject" Target="../embeddings/oleObject10.bin"/><Relationship Id="rId14" Type="http://schemas.openxmlformats.org/officeDocument/2006/relationships/oleObject" Target="../embeddings/oleObject12.bin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84.wmf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1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83.wmf"/><Relationship Id="rId4" Type="http://schemas.openxmlformats.org/officeDocument/2006/relationships/image" Target="../media/image80.wmf"/><Relationship Id="rId9" Type="http://schemas.openxmlformats.org/officeDocument/2006/relationships/oleObject" Target="../embeddings/oleObject17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6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85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89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88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92.wmf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94.wmf"/><Relationship Id="rId4" Type="http://schemas.openxmlformats.org/officeDocument/2006/relationships/image" Target="../media/image91.wmf"/><Relationship Id="rId9" Type="http://schemas.openxmlformats.org/officeDocument/2006/relationships/oleObject" Target="../embeddings/oleObject28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0" Type="http://schemas.openxmlformats.org/officeDocument/2006/relationships/image" Target="../media/image103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09.wmf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111.wmf"/><Relationship Id="rId4" Type="http://schemas.openxmlformats.org/officeDocument/2006/relationships/image" Target="../media/image108.wmf"/><Relationship Id="rId9" Type="http://schemas.openxmlformats.org/officeDocument/2006/relationships/oleObject" Target="../embeddings/oleObject32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13.wmf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115.wmf"/><Relationship Id="rId4" Type="http://schemas.openxmlformats.org/officeDocument/2006/relationships/image" Target="../media/image112.wmf"/><Relationship Id="rId9" Type="http://schemas.openxmlformats.org/officeDocument/2006/relationships/oleObject" Target="../embeddings/oleObject36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16.emf"/><Relationship Id="rId1" Type="http://schemas.openxmlformats.org/officeDocument/2006/relationships/slideLayout" Target="../slideLayouts/slideLayout25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jpeg"/><Relationship Id="rId3" Type="http://schemas.microsoft.com/office/2007/relationships/hdphoto" Target="../media/hdphoto2.wdp"/><Relationship Id="rId7" Type="http://schemas.microsoft.com/office/2007/relationships/hdphoto" Target="../media/hdphoto4.wdp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19.png"/><Relationship Id="rId5" Type="http://schemas.microsoft.com/office/2007/relationships/hdphoto" Target="../media/hdphoto3.wdp"/><Relationship Id="rId4" Type="http://schemas.openxmlformats.org/officeDocument/2006/relationships/image" Target="../media/image118.png"/></Relationships>
</file>

<file path=ppt/slides/_rels/slide4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openxmlformats.org/officeDocument/2006/relationships/image" Target="../media/image124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4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24.png"/><Relationship Id="rId4" Type="http://schemas.openxmlformats.org/officeDocument/2006/relationships/image" Target="../media/image12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5.xml"/><Relationship Id="rId6" Type="http://schemas.microsoft.com/office/2007/relationships/hdphoto" Target="../media/hdphoto4.wdp"/><Relationship Id="rId5" Type="http://schemas.openxmlformats.org/officeDocument/2006/relationships/image" Target="../media/image119.png"/><Relationship Id="rId4" Type="http://schemas.openxmlformats.org/officeDocument/2006/relationships/image" Target="../media/image127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tags" Target="../tags/tag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tags" Target="../tags/tag4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jpg"/><Relationship Id="rId3" Type="http://schemas.openxmlformats.org/officeDocument/2006/relationships/image" Target="../media/image137.jpeg"/><Relationship Id="rId7" Type="http://schemas.openxmlformats.org/officeDocument/2006/relationships/image" Target="../media/image14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9.png"/><Relationship Id="rId5" Type="http://schemas.openxmlformats.org/officeDocument/2006/relationships/image" Target="../media/image52.png"/><Relationship Id="rId4" Type="http://schemas.openxmlformats.org/officeDocument/2006/relationships/image" Target="../media/image13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3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13" Type="http://schemas.openxmlformats.org/officeDocument/2006/relationships/oleObject" Target="../embeddings/oleObject42.bin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149.w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46.w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0" Type="http://schemas.openxmlformats.org/officeDocument/2006/relationships/image" Target="../media/image148.wmf"/><Relationship Id="rId4" Type="http://schemas.openxmlformats.org/officeDocument/2006/relationships/image" Target="../media/image145.wmf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150.w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52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151.w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13" Type="http://schemas.openxmlformats.org/officeDocument/2006/relationships/oleObject" Target="../embeddings/oleObject50.bin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156.w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53.w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0" Type="http://schemas.openxmlformats.org/officeDocument/2006/relationships/image" Target="../media/image155.wmf"/><Relationship Id="rId4" Type="http://schemas.openxmlformats.org/officeDocument/2006/relationships/image" Target="../media/image152.w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157.w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13" Type="http://schemas.openxmlformats.org/officeDocument/2006/relationships/oleObject" Target="../embeddings/oleObject52.bin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148.w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45.w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0" Type="http://schemas.openxmlformats.org/officeDocument/2006/relationships/image" Target="../media/image147.wmf"/><Relationship Id="rId4" Type="http://schemas.openxmlformats.org/officeDocument/2006/relationships/image" Target="../media/image158.wmf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15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43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-34399" y="3445614"/>
            <a:ext cx="12260797" cy="1721472"/>
            <a:chOff x="-34399" y="3445614"/>
            <a:chExt cx="12260797" cy="1721472"/>
          </a:xfrm>
        </p:grpSpPr>
        <p:sp>
          <p:nvSpPr>
            <p:cNvPr id="20" name="矩形 19"/>
            <p:cNvSpPr/>
            <p:nvPr/>
          </p:nvSpPr>
          <p:spPr>
            <a:xfrm>
              <a:off x="-34399" y="3744687"/>
              <a:ext cx="12260797" cy="14223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1031942" y="3445614"/>
              <a:ext cx="10521603" cy="16326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796798" y="3149371"/>
            <a:ext cx="10598396" cy="1811507"/>
            <a:chOff x="-4502396" y="-1334515"/>
            <a:chExt cx="13794115" cy="2357728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733753" y="-1334515"/>
              <a:ext cx="3557966" cy="235576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4502396" y="-1334515"/>
              <a:ext cx="3534259" cy="235640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75787" y="-1334515"/>
              <a:ext cx="3557966" cy="235640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968137" y="-1333195"/>
              <a:ext cx="3143924" cy="235640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pic>
        <p:nvPicPr>
          <p:cNvPr id="2" name="图片 7" descr="tjlogo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 cstate="print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590" y="53129"/>
            <a:ext cx="3136356" cy="8130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494947" y="1240210"/>
            <a:ext cx="11193087" cy="1674493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>
            <a:spAutoFit/>
          </a:bodyPr>
          <a:lstStyle/>
          <a:p>
            <a:pPr marL="0" marR="0" lvl="0" indent="0" algn="ctr" defTabSz="1219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  <a:sym typeface="+mn-lt"/>
              </a:rPr>
              <a:t>数字图像处理</a:t>
            </a:r>
            <a:endParaRPr kumimoji="0" lang="en-US" altLang="zh-CN" sz="4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  <a:sym typeface="+mn-lt"/>
            </a:endParaRPr>
          </a:p>
          <a:p>
            <a:pPr marL="0" marR="0" lvl="0" indent="0" algn="ctr" defTabSz="12192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/>
            </a:pPr>
            <a:r>
              <a:rPr lang="en-US" altLang="zh-CN" sz="2800" kern="0" dirty="0">
                <a:solidFill>
                  <a:srgbClr val="FFFFFF"/>
                </a:solidFill>
                <a:latin typeface="Arial" panose="020B0604020202090204"/>
                <a:ea typeface="微软雅黑" panose="020B0503020204020204" pitchFamily="34" charset="-122"/>
                <a:sym typeface="+mn-lt"/>
              </a:rPr>
              <a:t>3 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90204"/>
                <a:ea typeface="微软雅黑" panose="020B0503020204020204" pitchFamily="34" charset="-122"/>
                <a:sym typeface="+mn-lt"/>
              </a:rPr>
              <a:t>灰度变换与几何变换</a:t>
            </a:r>
            <a:endParaRPr kumimoji="0" lang="zh-CN" altLang="en-US" sz="28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3B0AC426-F383-4563-A282-E33FEC03CC84}"/>
              </a:ext>
            </a:extLst>
          </p:cNvPr>
          <p:cNvSpPr txBox="1"/>
          <p:nvPr/>
        </p:nvSpPr>
        <p:spPr>
          <a:xfrm>
            <a:off x="796798" y="5605563"/>
            <a:ext cx="10598396" cy="387794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>
            <a:spAutoFit/>
          </a:bodyPr>
          <a:lstStyle/>
          <a:p>
            <a:pPr marL="0" marR="0" lvl="0" indent="0" algn="ctr" defTabSz="1219200" rtl="0" eaLnBrk="1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200"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  <a:sym typeface="+mn-lt"/>
              </a:rPr>
              <a:t>张绍明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34413" y="0"/>
            <a:ext cx="5857698" cy="6858000"/>
          </a:xfrm>
          <a:prstGeom prst="rect">
            <a:avLst/>
          </a:prstGeom>
        </p:spPr>
      </p:pic>
      <p:sp>
        <p:nvSpPr>
          <p:cNvPr id="7" name="Rectangle 47"/>
          <p:cNvSpPr/>
          <p:nvPr/>
        </p:nvSpPr>
        <p:spPr>
          <a:xfrm>
            <a:off x="-34414" y="0"/>
            <a:ext cx="5857698" cy="6858000"/>
          </a:xfrm>
          <a:prstGeom prst="rect">
            <a:avLst/>
          </a:prstGeom>
          <a:solidFill>
            <a:srgbClr val="0A499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和七个小矮人" panose="00000500000000000000" charset="-122"/>
              <a:ea typeface="阿里巴巴和七个小矮人" panose="00000500000000000000" charset="-122"/>
              <a:cs typeface="阿里巴巴和七个小矮人" panose="00000500000000000000" charset="-122"/>
            </a:endParaRPr>
          </a:p>
        </p:txBody>
      </p:sp>
      <p:sp>
        <p:nvSpPr>
          <p:cNvPr id="5" name="任意多边形: 形状 4"/>
          <p:cNvSpPr/>
          <p:nvPr/>
        </p:nvSpPr>
        <p:spPr>
          <a:xfrm>
            <a:off x="1979234" y="1677952"/>
            <a:ext cx="974558" cy="3392905"/>
          </a:xfrm>
          <a:custGeom>
            <a:avLst/>
            <a:gdLst>
              <a:gd name="connsiteX0" fmla="*/ 962526 w 974558"/>
              <a:gd name="connsiteY0" fmla="*/ 0 h 3392905"/>
              <a:gd name="connsiteX1" fmla="*/ 0 w 974558"/>
              <a:gd name="connsiteY1" fmla="*/ 0 h 3392905"/>
              <a:gd name="connsiteX2" fmla="*/ 0 w 974558"/>
              <a:gd name="connsiteY2" fmla="*/ 3392905 h 3392905"/>
              <a:gd name="connsiteX3" fmla="*/ 974558 w 974558"/>
              <a:gd name="connsiteY3" fmla="*/ 3380874 h 3392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4558" h="3392905">
                <a:moveTo>
                  <a:pt x="962526" y="0"/>
                </a:moveTo>
                <a:lnTo>
                  <a:pt x="0" y="0"/>
                </a:lnTo>
                <a:lnTo>
                  <a:pt x="0" y="3392905"/>
                </a:lnTo>
                <a:lnTo>
                  <a:pt x="974558" y="3380874"/>
                </a:lnTo>
              </a:path>
            </a:pathLst>
          </a:cu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和七个小矮人" panose="00000500000000000000" charset="-122"/>
              <a:ea typeface="阿里巴巴和七个小矮人" panose="00000500000000000000" charset="-122"/>
              <a:cs typeface="阿里巴巴和七个小矮人" panose="00000500000000000000" charset="-122"/>
            </a:endParaRPr>
          </a:p>
        </p:txBody>
      </p:sp>
      <p:sp>
        <p:nvSpPr>
          <p:cNvPr id="16" name="任意多边形: 形状 15"/>
          <p:cNvSpPr/>
          <p:nvPr/>
        </p:nvSpPr>
        <p:spPr>
          <a:xfrm rot="10800000">
            <a:off x="2994016" y="1665919"/>
            <a:ext cx="974558" cy="3392905"/>
          </a:xfrm>
          <a:custGeom>
            <a:avLst/>
            <a:gdLst>
              <a:gd name="connsiteX0" fmla="*/ 962526 w 974558"/>
              <a:gd name="connsiteY0" fmla="*/ 0 h 3392905"/>
              <a:gd name="connsiteX1" fmla="*/ 0 w 974558"/>
              <a:gd name="connsiteY1" fmla="*/ 0 h 3392905"/>
              <a:gd name="connsiteX2" fmla="*/ 0 w 974558"/>
              <a:gd name="connsiteY2" fmla="*/ 3392905 h 3392905"/>
              <a:gd name="connsiteX3" fmla="*/ 974558 w 974558"/>
              <a:gd name="connsiteY3" fmla="*/ 3380874 h 3392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4558" h="3392905">
                <a:moveTo>
                  <a:pt x="962526" y="0"/>
                </a:moveTo>
                <a:lnTo>
                  <a:pt x="0" y="0"/>
                </a:lnTo>
                <a:lnTo>
                  <a:pt x="0" y="3392905"/>
                </a:lnTo>
                <a:lnTo>
                  <a:pt x="974558" y="3380874"/>
                </a:lnTo>
              </a:path>
            </a:pathLst>
          </a:cu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和七个小矮人" panose="00000500000000000000" charset="-122"/>
              <a:ea typeface="阿里巴巴和七个小矮人" panose="00000500000000000000" charset="-122"/>
              <a:cs typeface="阿里巴巴和七个小矮人" panose="000005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76464" y="2932479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阿里巴巴和七个小矮人" panose="00000500000000000000" charset="-122"/>
              </a:rPr>
              <a:t>目录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2A5EE3A-8A92-4E50-B858-4B8B15C0DCA2}"/>
              </a:ext>
            </a:extLst>
          </p:cNvPr>
          <p:cNvSpPr txBox="1"/>
          <p:nvPr/>
        </p:nvSpPr>
        <p:spPr>
          <a:xfrm>
            <a:off x="6562780" y="1355135"/>
            <a:ext cx="4833257" cy="3905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图像预处理</a:t>
            </a:r>
            <a:endParaRPr lang="en-US" altLang="zh-CN" sz="24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图像基本运算概要</a:t>
            </a:r>
            <a:endParaRPr lang="en-US" altLang="zh-CN" sz="24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图像的代数和逻辑运算</a:t>
            </a:r>
            <a:endParaRPr lang="en-US" altLang="zh-CN" sz="24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图像的灰度级变换</a:t>
            </a:r>
            <a:endParaRPr lang="en-US" altLang="zh-CN" sz="24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图像的直方图变换</a:t>
            </a:r>
            <a:endParaRPr lang="en-US" altLang="zh-CN" sz="24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图像的几何变换</a:t>
            </a:r>
            <a:endParaRPr lang="en-US" altLang="zh-CN" sz="24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altLang="zh-CN" sz="24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251840" y="1078121"/>
            <a:ext cx="6508513" cy="31663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图像预处理的目的： </a:t>
            </a:r>
            <a:r>
              <a:rPr lang="zh-CN" altLang="en-US" sz="24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对图像的质量进行改善</a:t>
            </a:r>
            <a:endParaRPr lang="en-US" altLang="zh-CN" sz="24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marR="6773" lvl="1" indent="-342900">
              <a:lnSpc>
                <a:spcPct val="200000"/>
              </a:lnSpc>
              <a:spcBef>
                <a:spcPts val="580"/>
              </a:spcBef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图像增强</a:t>
            </a:r>
            <a:endParaRPr lang="en-US" altLang="zh-CN" sz="24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marR="6773" lvl="1" indent="-342900">
              <a:lnSpc>
                <a:spcPct val="200000"/>
              </a:lnSpc>
              <a:spcBef>
                <a:spcPts val="580"/>
              </a:spcBef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图像复原（噪声去噪、去模糊）</a:t>
            </a:r>
            <a:endParaRPr lang="en-US" altLang="zh-CN" sz="24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marR="6773" lvl="1" indent="-342900">
              <a:lnSpc>
                <a:spcPct val="200000"/>
              </a:lnSpc>
              <a:spcBef>
                <a:spcPts val="580"/>
              </a:spcBef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畸变消除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7C5A603-D1D7-45C2-92CA-9B685A3717C0}"/>
              </a:ext>
            </a:extLst>
          </p:cNvPr>
          <p:cNvSpPr txBox="1"/>
          <p:nvPr/>
        </p:nvSpPr>
        <p:spPr>
          <a:xfrm>
            <a:off x="114695" y="184891"/>
            <a:ext cx="6327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4255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4255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图像预处理的基本任务</a:t>
            </a:r>
          </a:p>
        </p:txBody>
      </p:sp>
    </p:spTree>
    <p:extLst>
      <p:ext uri="{BB962C8B-B14F-4D97-AF65-F5344CB8AC3E}">
        <p14:creationId xmlns:p14="http://schemas.microsoft.com/office/powerpoint/2010/main" val="3441108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4695" y="184891"/>
            <a:ext cx="6327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4255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4255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图像预处理的基本任务</a:t>
            </a:r>
          </a:p>
        </p:txBody>
      </p:sp>
      <p:sp>
        <p:nvSpPr>
          <p:cNvPr id="8" name="矩形 7"/>
          <p:cNvSpPr/>
          <p:nvPr/>
        </p:nvSpPr>
        <p:spPr>
          <a:xfrm>
            <a:off x="821844" y="921367"/>
            <a:ext cx="18004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图像增强</a:t>
            </a:r>
          </a:p>
        </p:txBody>
      </p:sp>
      <p:sp>
        <p:nvSpPr>
          <p:cNvPr id="7" name="矩形 6"/>
          <p:cNvSpPr/>
          <p:nvPr/>
        </p:nvSpPr>
        <p:spPr>
          <a:xfrm>
            <a:off x="1308100" y="1384248"/>
            <a:ext cx="9012059" cy="13906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6773" indent="-342900">
              <a:lnSpc>
                <a:spcPct val="128000"/>
              </a:lnSpc>
              <a:spcBef>
                <a:spcPts val="580"/>
              </a:spcBef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目的：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能够更清晰地查看和评估图像中包含的视觉信息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6773" indent="-342900">
              <a:lnSpc>
                <a:spcPct val="128000"/>
              </a:lnSpc>
              <a:spcBef>
                <a:spcPts val="580"/>
              </a:spcBef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条件：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要提取、强调或还原的信息必须存在于图像中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6773" indent="-342900">
              <a:lnSpc>
                <a:spcPct val="128000"/>
              </a:lnSpc>
              <a:spcBef>
                <a:spcPts val="580"/>
              </a:spcBef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性能评价是</a:t>
            </a: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主观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</a:blip>
          <a:srcRect l="4309" t="11506" r="7103" b="1482"/>
          <a:stretch/>
        </p:blipFill>
        <p:spPr>
          <a:xfrm>
            <a:off x="905764" y="3183418"/>
            <a:ext cx="4545874" cy="2412000"/>
          </a:xfrm>
          <a:prstGeom prst="rect">
            <a:avLst/>
          </a:prstGeom>
        </p:spPr>
      </p:pic>
      <p:pic>
        <p:nvPicPr>
          <p:cNvPr id="9" name="Picture 10" descr="这里写图片描述">
            <a:extLst>
              <a:ext uri="{FF2B5EF4-FFF2-40B4-BE49-F238E27FC236}">
                <a16:creationId xmlns:a16="http://schemas.microsoft.com/office/drawing/2014/main" id="{EA969915-2E43-40F3-81A2-DFBEFCC012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943" t="12376" r="9882" b="13274"/>
          <a:stretch/>
        </p:blipFill>
        <p:spPr bwMode="auto">
          <a:xfrm>
            <a:off x="9178123" y="3183418"/>
            <a:ext cx="2028730" cy="241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这里写图片描述">
            <a:extLst>
              <a:ext uri="{FF2B5EF4-FFF2-40B4-BE49-F238E27FC236}">
                <a16:creationId xmlns:a16="http://schemas.microsoft.com/office/drawing/2014/main" id="{430FECF2-38AC-4F64-B7B0-8A8B4CD236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95" t="12537" r="52229" b="12963"/>
          <a:stretch/>
        </p:blipFill>
        <p:spPr bwMode="auto">
          <a:xfrm>
            <a:off x="6589779" y="3183418"/>
            <a:ext cx="2024630" cy="241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7793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43527" y="1022419"/>
            <a:ext cx="30315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图像复原（去噪）</a:t>
            </a:r>
          </a:p>
        </p:txBody>
      </p:sp>
      <p:sp>
        <p:nvSpPr>
          <p:cNvPr id="7" name="矩形 6"/>
          <p:cNvSpPr/>
          <p:nvPr/>
        </p:nvSpPr>
        <p:spPr>
          <a:xfrm>
            <a:off x="1218402" y="1582404"/>
            <a:ext cx="9601998" cy="1576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6773">
              <a:lnSpc>
                <a:spcPct val="150000"/>
              </a:lnSpc>
              <a:spcBef>
                <a:spcPts val="580"/>
              </a:spcBef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目的：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试图去除因退化引起的噪声</a:t>
            </a:r>
            <a:endParaRPr lang="en-US" altLang="zh-CN" sz="20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6773">
              <a:lnSpc>
                <a:spcPct val="150000"/>
              </a:lnSpc>
              <a:spcBef>
                <a:spcPts val="580"/>
              </a:spcBef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图像处理中的反问题（</a:t>
            </a:r>
            <a:r>
              <a:rPr lang="en-US" altLang="zh-CN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Inverse Problem</a:t>
            </a: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特定的优化准则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</a:t>
            </a:r>
            <a:endParaRPr lang="en-US" altLang="zh-CN" sz="20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6773">
              <a:lnSpc>
                <a:spcPct val="150000"/>
              </a:lnSpc>
              <a:spcBef>
                <a:spcPts val="580"/>
              </a:spcBef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性能评价有</a:t>
            </a: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客观指标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b="6307"/>
          <a:stretch>
            <a:fillRect/>
          </a:stretch>
        </p:blipFill>
        <p:spPr>
          <a:xfrm>
            <a:off x="3278648" y="3257566"/>
            <a:ext cx="5148443" cy="239151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685F2E5-E15C-4ECA-88F8-2643F3995FC5}"/>
              </a:ext>
            </a:extLst>
          </p:cNvPr>
          <p:cNvSpPr txBox="1"/>
          <p:nvPr/>
        </p:nvSpPr>
        <p:spPr>
          <a:xfrm>
            <a:off x="114695" y="184891"/>
            <a:ext cx="6327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4255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4255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图像预处理的基本任务</a:t>
            </a:r>
          </a:p>
        </p:txBody>
      </p:sp>
    </p:spTree>
    <p:extLst>
      <p:ext uri="{BB962C8B-B14F-4D97-AF65-F5344CB8AC3E}">
        <p14:creationId xmlns:p14="http://schemas.microsoft.com/office/powerpoint/2010/main" val="794159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DC0D10BE-4FD3-47EC-BAA0-EEB8E9AD16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07" t="7178" b="1"/>
          <a:stretch/>
        </p:blipFill>
        <p:spPr bwMode="auto">
          <a:xfrm>
            <a:off x="2075714" y="2788495"/>
            <a:ext cx="3414823" cy="2130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3EC8BCE0-864A-47F6-80BE-FBEB06FC89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37" r="50000"/>
          <a:stretch/>
        </p:blipFill>
        <p:spPr bwMode="auto">
          <a:xfrm>
            <a:off x="6111063" y="2770233"/>
            <a:ext cx="3429001" cy="2131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6A7E750-1847-450B-8E9C-215073B7492B}"/>
              </a:ext>
            </a:extLst>
          </p:cNvPr>
          <p:cNvSpPr/>
          <p:nvPr/>
        </p:nvSpPr>
        <p:spPr>
          <a:xfrm>
            <a:off x="872711" y="841042"/>
            <a:ext cx="2416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图像畸变消除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C15FC75-A9D6-487E-922D-0A6B4D9466A9}"/>
              </a:ext>
            </a:extLst>
          </p:cNvPr>
          <p:cNvSpPr/>
          <p:nvPr/>
        </p:nvSpPr>
        <p:spPr>
          <a:xfrm>
            <a:off x="1295001" y="1440202"/>
            <a:ext cx="9601998" cy="9197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6773">
              <a:lnSpc>
                <a:spcPct val="128000"/>
              </a:lnSpc>
              <a:spcBef>
                <a:spcPts val="580"/>
              </a:spcBef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目的：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消除成像过程中的几何畸变（镜头畸变）和形变（旋转、尺度）</a:t>
            </a:r>
            <a:endParaRPr lang="en-US" altLang="zh-CN" sz="20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6773">
              <a:lnSpc>
                <a:spcPct val="128000"/>
              </a:lnSpc>
              <a:spcBef>
                <a:spcPts val="580"/>
              </a:spcBef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性能评价有</a:t>
            </a: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客观指标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F3D2A9F-FCEA-4F6E-9777-55FCBDD3DCFF}"/>
              </a:ext>
            </a:extLst>
          </p:cNvPr>
          <p:cNvSpPr txBox="1"/>
          <p:nvPr/>
        </p:nvSpPr>
        <p:spPr>
          <a:xfrm>
            <a:off x="114695" y="184891"/>
            <a:ext cx="6327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4255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4255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图像预处理的基本任务</a:t>
            </a:r>
          </a:p>
        </p:txBody>
      </p:sp>
    </p:spTree>
    <p:extLst>
      <p:ext uri="{BB962C8B-B14F-4D97-AF65-F5344CB8AC3E}">
        <p14:creationId xmlns:p14="http://schemas.microsoft.com/office/powerpoint/2010/main" val="226738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81899" y="130849"/>
            <a:ext cx="6772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4255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b="1" dirty="0">
                <a:solidFill>
                  <a:srgbClr val="4255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图像的基本运算概要</a:t>
            </a:r>
          </a:p>
        </p:txBody>
      </p:sp>
      <p:sp>
        <p:nvSpPr>
          <p:cNvPr id="8" name="矩形 7"/>
          <p:cNvSpPr/>
          <p:nvPr/>
        </p:nvSpPr>
        <p:spPr>
          <a:xfrm>
            <a:off x="1211046" y="1072408"/>
            <a:ext cx="5391219" cy="46161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图像处理基本任务：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38190" lvl="1" indent="-38099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将输入图像处理为希望达到的目标图像</a:t>
            </a:r>
            <a:endParaRPr lang="en-US" altLang="zh-CN" sz="20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80990" indent="-38099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常用图像基本运算包括：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2813" marR="6773" lvl="1" indent="-455613">
              <a:lnSpc>
                <a:spcPct val="200000"/>
              </a:lnSpc>
              <a:spcBef>
                <a:spcPts val="580"/>
              </a:spcBef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代数与逻辑运算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2813" marR="6773" lvl="1" indent="-455613">
              <a:lnSpc>
                <a:spcPct val="200000"/>
              </a:lnSpc>
              <a:spcBef>
                <a:spcPts val="580"/>
              </a:spcBef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点运算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2813" marR="6773" lvl="1" indent="-455613">
              <a:lnSpc>
                <a:spcPct val="200000"/>
              </a:lnSpc>
              <a:spcBef>
                <a:spcPts val="580"/>
              </a:spcBef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几何运算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2813" marR="6773" lvl="1" indent="-455613">
              <a:lnSpc>
                <a:spcPct val="200000"/>
              </a:lnSpc>
              <a:spcBef>
                <a:spcPts val="580"/>
              </a:spcBef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空间邻域运算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43527" y="1038332"/>
            <a:ext cx="61446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 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点运算：像素到像素</a:t>
            </a:r>
          </a:p>
        </p:txBody>
      </p:sp>
      <p:sp>
        <p:nvSpPr>
          <p:cNvPr id="7" name="矩形 6"/>
          <p:cNvSpPr/>
          <p:nvPr/>
        </p:nvSpPr>
        <p:spPr>
          <a:xfrm>
            <a:off x="594394" y="1728735"/>
            <a:ext cx="5404070" cy="2000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79413" marR="6773" indent="-379413">
              <a:lnSpc>
                <a:spcPct val="200000"/>
              </a:lnSpc>
              <a:spcBef>
                <a:spcPts val="580"/>
              </a:spcBef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输入：原始像素值，独立处理</a:t>
            </a:r>
            <a:endParaRPr lang="en-US" altLang="zh-CN" sz="20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79413" marR="6773" indent="-379413">
              <a:lnSpc>
                <a:spcPct val="200000"/>
              </a:lnSpc>
              <a:spcBef>
                <a:spcPts val="580"/>
              </a:spcBef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输出：目标像素值，仅与同位置像素有关</a:t>
            </a:r>
            <a:endParaRPr lang="en-US" altLang="zh-CN" sz="20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36613" marR="6773" lvl="1" indent="-379413">
              <a:lnSpc>
                <a:spcPct val="200000"/>
              </a:lnSpc>
              <a:spcBef>
                <a:spcPts val="58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与其他位置像素无关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22862" y="1173100"/>
            <a:ext cx="5303285" cy="497916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D242AEF-6A1B-46B4-B083-47DA07C0475A}"/>
              </a:ext>
            </a:extLst>
          </p:cNvPr>
          <p:cNvSpPr txBox="1"/>
          <p:nvPr/>
        </p:nvSpPr>
        <p:spPr>
          <a:xfrm>
            <a:off x="281899" y="130849"/>
            <a:ext cx="6772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4255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b="1" dirty="0">
                <a:solidFill>
                  <a:srgbClr val="4255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图像的基本运算概要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64428" y="1031586"/>
            <a:ext cx="18165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2) 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代数运算</a:t>
            </a:r>
          </a:p>
        </p:txBody>
      </p:sp>
      <p:sp>
        <p:nvSpPr>
          <p:cNvPr id="7" name="矩形 6"/>
          <p:cNvSpPr/>
          <p:nvPr/>
        </p:nvSpPr>
        <p:spPr>
          <a:xfrm>
            <a:off x="1118181" y="1483122"/>
            <a:ext cx="8057672" cy="2332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79413" marR="6773" indent="-379413">
              <a:lnSpc>
                <a:spcPct val="128000"/>
              </a:lnSpc>
              <a:spcBef>
                <a:spcPts val="580"/>
              </a:spcBef>
            </a:pP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对两幅输入图像进行像素与像素的加、减、乘、除计算</a:t>
            </a:r>
            <a:endParaRPr lang="en-US" altLang="zh-CN" sz="20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79413" marR="6773" indent="-379413">
              <a:lnSpc>
                <a:spcPct val="128000"/>
              </a:lnSpc>
              <a:spcBef>
                <a:spcPts val="58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加法：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求平均值，降低加性噪声（</a:t>
            </a:r>
            <a:r>
              <a:rPr lang="en-US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Additive Noise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79413" marR="6773" indent="-379413">
              <a:lnSpc>
                <a:spcPct val="128000"/>
              </a:lnSpc>
              <a:spcBef>
                <a:spcPts val="58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减法：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去除加性图案，检测视频运动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79413" marR="6773" indent="-379413">
              <a:lnSpc>
                <a:spcPct val="128000"/>
              </a:lnSpc>
              <a:spcBef>
                <a:spcPts val="58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乘法：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突出感兴趣的区域，遮住不感兴趣的区域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79413" marR="6773" indent="-379413">
              <a:lnSpc>
                <a:spcPct val="128000"/>
              </a:lnSpc>
              <a:spcBef>
                <a:spcPts val="58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除法：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多光谱图像中求波段相似比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10446" y="6413087"/>
            <a:ext cx="4261993" cy="4132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R="6773" algn="ctr">
              <a:lnSpc>
                <a:spcPct val="128000"/>
              </a:lnSpc>
              <a:spcBef>
                <a:spcPts val="580"/>
              </a:spcBef>
            </a:pPr>
            <a:r>
              <a:rPr lang="zh-CN" altLang="en-US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视频帧求差值，目标侵入异常检测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AFA0DC-E927-4024-86E2-A9399F593ABE}"/>
              </a:ext>
            </a:extLst>
          </p:cNvPr>
          <p:cNvSpPr txBox="1"/>
          <p:nvPr/>
        </p:nvSpPr>
        <p:spPr>
          <a:xfrm>
            <a:off x="281899" y="130849"/>
            <a:ext cx="6772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4255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b="1" dirty="0">
                <a:solidFill>
                  <a:srgbClr val="4255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图像的基本运算概要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290CFCB-B7F7-404C-9C00-AFEABF7FC6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26" b="47675"/>
          <a:stretch/>
        </p:blipFill>
        <p:spPr>
          <a:xfrm>
            <a:off x="6700875" y="3930494"/>
            <a:ext cx="4033718" cy="24540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5E9FA56-EBAE-4A58-99A9-94CAC67737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2002"/>
          <a:stretch/>
        </p:blipFill>
        <p:spPr>
          <a:xfrm>
            <a:off x="1651061" y="3930494"/>
            <a:ext cx="4033718" cy="24540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24072" y="939569"/>
            <a:ext cx="18165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3) 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几何运算</a:t>
            </a:r>
          </a:p>
        </p:txBody>
      </p:sp>
      <p:sp>
        <p:nvSpPr>
          <p:cNvPr id="7" name="矩形 6"/>
          <p:cNvSpPr/>
          <p:nvPr/>
        </p:nvSpPr>
        <p:spPr>
          <a:xfrm>
            <a:off x="681083" y="1578293"/>
            <a:ext cx="7093930" cy="458385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5613" marR="6773" indent="-455613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改变图像中各个物体之间空间关系的运算输出图像的像素值</a:t>
            </a:r>
            <a:endParaRPr lang="en-US" altLang="zh-CN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5613" marR="6773" indent="-455613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用于图像的几何校正和图像变形</a:t>
            </a:r>
            <a:endParaRPr lang="en-US" altLang="zh-CN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2813" marR="6773" lvl="1" indent="-455613">
              <a:lnSpc>
                <a:spcPct val="200000"/>
              </a:lnSpc>
              <a:buFont typeface="+mj-ea"/>
              <a:buAutoNum type="circleNumDbPlain"/>
            </a:pP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像素坐标空间变换</a:t>
            </a:r>
            <a:endParaRPr lang="en-US" altLang="zh-CN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2813" marR="6773" lvl="1" indent="-455613">
              <a:lnSpc>
                <a:spcPct val="200000"/>
              </a:lnSpc>
              <a:buFont typeface="+mj-ea"/>
              <a:buAutoNum type="circleNumDbPlain"/>
            </a:pP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灰度插值</a:t>
            </a:r>
            <a:endParaRPr lang="en-US" altLang="zh-CN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0013" marR="6773" lvl="2" indent="-455613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输出图像的坐标映射回输入图像后，往往不是整数</a:t>
            </a:r>
            <a:endParaRPr lang="en-US" altLang="zh-CN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0013" marR="6773" lvl="2" indent="-455613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需利用空间灰度插值方法重新计算像素值。</a:t>
            </a:r>
            <a:endParaRPr lang="en-US" altLang="zh-CN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20992" y="2133140"/>
            <a:ext cx="4315174" cy="354741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59D43CB-9762-4ED2-9F40-093C42300405}"/>
              </a:ext>
            </a:extLst>
          </p:cNvPr>
          <p:cNvSpPr txBox="1"/>
          <p:nvPr/>
        </p:nvSpPr>
        <p:spPr>
          <a:xfrm>
            <a:off x="281899" y="130849"/>
            <a:ext cx="6772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4255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b="1" dirty="0">
                <a:solidFill>
                  <a:srgbClr val="4255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图像的基本运算概要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21BE5BA-9136-43A7-B392-639FDF7B916C}"/>
              </a:ext>
            </a:extLst>
          </p:cNvPr>
          <p:cNvSpPr txBox="1"/>
          <p:nvPr/>
        </p:nvSpPr>
        <p:spPr>
          <a:xfrm>
            <a:off x="9780623" y="4753401"/>
            <a:ext cx="11007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(30,20)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6ADA58C-7DBE-4BF1-9DB9-356F50FD4A11}"/>
              </a:ext>
            </a:extLst>
          </p:cNvPr>
          <p:cNvSpPr txBox="1"/>
          <p:nvPr/>
        </p:nvSpPr>
        <p:spPr>
          <a:xfrm>
            <a:off x="7720111" y="4753401"/>
            <a:ext cx="11007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(61.5,12.7)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8EB4F71-5922-48AE-897F-572147B9DE11}"/>
              </a:ext>
            </a:extLst>
          </p:cNvPr>
          <p:cNvSpPr txBox="1"/>
          <p:nvPr/>
        </p:nvSpPr>
        <p:spPr>
          <a:xfrm>
            <a:off x="9675158" y="5595921"/>
            <a:ext cx="12062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输出图像</a:t>
            </a:r>
            <a:endParaRPr lang="zh-CN" altLang="en-US" sz="16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331C93-8898-4581-81EE-BB9B39361D7B}"/>
              </a:ext>
            </a:extLst>
          </p:cNvPr>
          <p:cNvSpPr txBox="1"/>
          <p:nvPr/>
        </p:nvSpPr>
        <p:spPr>
          <a:xfrm>
            <a:off x="7775013" y="5595921"/>
            <a:ext cx="12062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输入图像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92281" y="1395538"/>
            <a:ext cx="3607647" cy="233243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5613" marR="6773" lvl="1" indent="-455613">
              <a:lnSpc>
                <a:spcPct val="128000"/>
              </a:lnSpc>
              <a:spcBef>
                <a:spcPts val="58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欧式变换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5613" marR="6773" lvl="1" indent="-455613">
              <a:lnSpc>
                <a:spcPct val="128000"/>
              </a:lnSpc>
              <a:spcBef>
                <a:spcPts val="58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相似变换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5613" marR="6773" lvl="1" indent="-455613">
              <a:lnSpc>
                <a:spcPct val="128000"/>
              </a:lnSpc>
              <a:spcBef>
                <a:spcPts val="58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仿射变换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5613" marR="6773" lvl="1" indent="-455613">
              <a:lnSpc>
                <a:spcPct val="128000"/>
              </a:lnSpc>
              <a:spcBef>
                <a:spcPts val="58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射影变换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5613" marR="6773" lvl="1" indent="-455613">
              <a:lnSpc>
                <a:spcPct val="128000"/>
              </a:lnSpc>
              <a:spcBef>
                <a:spcPts val="58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弹性变换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非刚体</a:t>
            </a:r>
          </a:p>
        </p:txBody>
      </p:sp>
      <p:sp>
        <p:nvSpPr>
          <p:cNvPr id="8" name="矩形 7"/>
          <p:cNvSpPr/>
          <p:nvPr/>
        </p:nvSpPr>
        <p:spPr>
          <a:xfrm>
            <a:off x="548752" y="929524"/>
            <a:ext cx="30476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3) </a:t>
            </a:r>
            <a:r>
              <a:rPr lang="zh-CN" altLang="en-US" sz="24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几何运算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【拓展】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8BCE424-4474-4FFE-A79F-2E8B7CD18B2B}"/>
              </a:ext>
            </a:extLst>
          </p:cNvPr>
          <p:cNvSpPr txBox="1"/>
          <p:nvPr/>
        </p:nvSpPr>
        <p:spPr>
          <a:xfrm>
            <a:off x="281899" y="130849"/>
            <a:ext cx="6772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4255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b="1" dirty="0">
                <a:solidFill>
                  <a:srgbClr val="4255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图像的基本运算概要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A034EEB-1D08-48A1-8EA5-93F15B689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920" y="1391189"/>
            <a:ext cx="8202341" cy="4628229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77C49F1D-C20C-4D49-A1CF-9A4F67C7A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52" y="3791607"/>
            <a:ext cx="3000375" cy="27432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98E353EB-C82B-44E9-B7E6-3D7DDEC33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420" y="3455504"/>
            <a:ext cx="1012606" cy="499597"/>
          </a:xfrm>
          <a:prstGeom prst="rect">
            <a:avLst/>
          </a:prstGeom>
        </p:spPr>
      </p:pic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E9E6EF19-2A0D-4B41-9987-721C5A8F3A4D}"/>
              </a:ext>
            </a:extLst>
          </p:cNvPr>
          <p:cNvCxnSpPr>
            <a:cxnSpLocks/>
          </p:cNvCxnSpPr>
          <p:nvPr/>
        </p:nvCxnSpPr>
        <p:spPr>
          <a:xfrm>
            <a:off x="8744607" y="3316014"/>
            <a:ext cx="126124" cy="210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73540" y="843844"/>
            <a:ext cx="2185214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4) </a:t>
            </a: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空间邻域运算</a:t>
            </a:r>
          </a:p>
        </p:txBody>
      </p:sp>
      <p:sp>
        <p:nvSpPr>
          <p:cNvPr id="7" name="矩形 6"/>
          <p:cNvSpPr/>
          <p:nvPr/>
        </p:nvSpPr>
        <p:spPr>
          <a:xfrm>
            <a:off x="373540" y="1455569"/>
            <a:ext cx="10705011" cy="2803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6182" marR="6773">
              <a:lnSpc>
                <a:spcPct val="128000"/>
              </a:lnSpc>
              <a:spcBef>
                <a:spcPts val="580"/>
              </a:spcBef>
            </a:pP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输出像素值由输入像素及其邻域内像素共同决定</a:t>
            </a:r>
            <a:endParaRPr lang="en-US" altLang="zh-CN" sz="20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57173" marR="6773" indent="-380990">
              <a:lnSpc>
                <a:spcPct val="128000"/>
              </a:lnSpc>
              <a:spcBef>
                <a:spcPts val="58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上下文像素相关的</a:t>
            </a:r>
            <a:endParaRPr lang="en-US" altLang="zh-CN" sz="20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57173" marR="6773" indent="-380990">
              <a:lnSpc>
                <a:spcPct val="128000"/>
              </a:lnSpc>
              <a:spcBef>
                <a:spcPts val="58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主要作用是图像滤波：</a:t>
            </a:r>
            <a:endParaRPr lang="en-US" altLang="zh-CN" sz="20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966757" marR="6773" lvl="1" indent="-380990">
              <a:lnSpc>
                <a:spcPct val="128000"/>
              </a:lnSpc>
              <a:spcBef>
                <a:spcPts val="58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空域线性滤波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966757" marR="6773" lvl="1" indent="-380990">
              <a:lnSpc>
                <a:spcPct val="128000"/>
              </a:lnSpc>
              <a:spcBef>
                <a:spcPts val="58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非线性滤波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966757" marR="6773" lvl="1" indent="-380990">
              <a:lnSpc>
                <a:spcPct val="128000"/>
              </a:lnSpc>
              <a:spcBef>
                <a:spcPts val="58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留待卷积计算讲解之后</a:t>
            </a:r>
            <a:endParaRPr lang="zh-CN" altLang="en-US" sz="2133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806263" y="233505"/>
            <a:ext cx="1551296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基本运算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03689" y="2184079"/>
            <a:ext cx="4775818" cy="414964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DE0C2CA-0FED-4477-B4AC-042251C33E96}"/>
              </a:ext>
            </a:extLst>
          </p:cNvPr>
          <p:cNvSpPr txBox="1"/>
          <p:nvPr/>
        </p:nvSpPr>
        <p:spPr>
          <a:xfrm>
            <a:off x="281899" y="130849"/>
            <a:ext cx="67720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4255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b="1" dirty="0">
                <a:solidFill>
                  <a:srgbClr val="4255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图像的基本运算概要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560593" y="2380130"/>
            <a:ext cx="4142038" cy="1705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6773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图像加法</a:t>
            </a:r>
            <a:endParaRPr lang="en-US" altLang="zh-CN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marR="6773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调节亮度：图像</a:t>
            </a:r>
            <a:r>
              <a:rPr lang="en-US" altLang="zh-CN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常量</a:t>
            </a:r>
            <a:endParaRPr lang="en-US" altLang="zh-CN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6773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图像减法</a:t>
            </a:r>
            <a:endParaRPr lang="en-US" altLang="zh-CN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marR="6773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提取帧间运动或者变化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93" y="4409422"/>
            <a:ext cx="4547342" cy="103038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CF2EAF7-D4DA-4104-A249-5B6B1F01A9A1}"/>
              </a:ext>
            </a:extLst>
          </p:cNvPr>
          <p:cNvSpPr txBox="1"/>
          <p:nvPr/>
        </p:nvSpPr>
        <p:spPr>
          <a:xfrm>
            <a:off x="240974" y="175309"/>
            <a:ext cx="5641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图像代数与逻辑运算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4045FEDA-0E97-4C8A-BA26-19E72E106531}"/>
                  </a:ext>
                </a:extLst>
              </p:cNvPr>
              <p:cNvSpPr/>
              <p:nvPr/>
            </p:nvSpPr>
            <p:spPr>
              <a:xfrm>
                <a:off x="5644602" y="2450514"/>
                <a:ext cx="6503856" cy="25364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 NOT</a:t>
                </a:r>
                <a:r>
                  <a:rPr lang="zh-CN" altLang="zh-CN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（黑白翻转）：将图像进行黑白翻转的操作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𝑜𝑢𝑡</m:t>
                        </m:r>
                      </m:sub>
                    </m:sSub>
                    <m:d>
                      <m:d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</m:d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𝑀𝐴𝑋</m:t>
                    </m:r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  <m:d>
                      <m:d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altLang="zh-CN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en-US" altLang="zh-CN" sz="1400" i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MAX</a:t>
                </a:r>
                <a:r>
                  <a:rPr lang="zh-CN" altLang="zh-CN" sz="1400" i="1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是最大像素值</a:t>
                </a:r>
                <a:endParaRPr lang="en-US" altLang="zh-CN" sz="1400" b="1" i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 XOR</a:t>
                </a:r>
                <a:r>
                  <a:rPr lang="zh-CN" altLang="zh-CN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（逻辑或）：</a:t>
                </a:r>
                <a:endParaRPr lang="en-US" altLang="zh-CN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90575" lvl="1" indent="-38099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作用于二值图像，检测视频帧之间的目标运动</a:t>
                </a:r>
                <a:endParaRPr lang="en-US" altLang="zh-CN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3. AND</a:t>
                </a:r>
                <a:r>
                  <a:rPr lang="zh-CN" altLang="zh-CN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（逻辑与）：</a:t>
                </a:r>
                <a:endParaRPr lang="en-US" altLang="zh-CN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990575" lvl="1" indent="-38099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检测图像之间的差异，显著突出目标区域</a:t>
                </a:r>
                <a:endParaRPr lang="en-US" altLang="zh-CN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4045FEDA-0E97-4C8A-BA26-19E72E1065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602" y="2450514"/>
                <a:ext cx="6503856" cy="2536400"/>
              </a:xfrm>
              <a:prstGeom prst="rect">
                <a:avLst/>
              </a:prstGeom>
              <a:blipFill>
                <a:blip r:embed="rId4"/>
                <a:stretch>
                  <a:fillRect l="-843" b="-28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39ED0646-57F6-446D-9B45-5A9625A44D4C}"/>
              </a:ext>
            </a:extLst>
          </p:cNvPr>
          <p:cNvSpPr/>
          <p:nvPr/>
        </p:nvSpPr>
        <p:spPr>
          <a:xfrm>
            <a:off x="5696038" y="1974008"/>
            <a:ext cx="1665841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5D3CAE-8554-4465-AFF2-EBF3D6CE5C80}"/>
              </a:ext>
            </a:extLst>
          </p:cNvPr>
          <p:cNvSpPr/>
          <p:nvPr/>
        </p:nvSpPr>
        <p:spPr>
          <a:xfrm>
            <a:off x="560593" y="1974008"/>
            <a:ext cx="1665841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代数运算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B3942FCC-0965-434B-B8C2-433A70372D22}"/>
                  </a:ext>
                </a:extLst>
              </p:cNvPr>
              <p:cNvSpPr/>
              <p:nvPr/>
            </p:nvSpPr>
            <p:spPr>
              <a:xfrm>
                <a:off x="240974" y="1090690"/>
                <a:ext cx="2160000" cy="4469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6773" algn="ctr">
                  <a:lnSpc>
                    <a:spcPct val="128000"/>
                  </a:lnSpc>
                  <a:spcBef>
                    <a:spcPts val="5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b="1" i="1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𝐼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𝐴</m:t>
                          </m:r>
                        </m:sub>
                      </m:sSub>
                      <m:r>
                        <a:rPr lang="en-US" altLang="zh-CN" b="1">
                          <a:solidFill>
                            <a:srgbClr val="000066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zh-CN" altLang="zh-CN" b="1" i="1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b="1" i="1">
                                  <a:solidFill>
                                    <a:srgbClr val="000066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b="1" i="1">
                                      <a:solidFill>
                                        <a:srgbClr val="000066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>
                                      <a:solidFill>
                                        <a:srgbClr val="000066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b="1">
                                      <a:solidFill>
                                        <a:srgbClr val="000066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𝐴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b="1" i="1">
                                      <a:solidFill>
                                        <a:srgbClr val="000066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>
                                      <a:solidFill>
                                        <a:srgbClr val="000066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  <m:r>
                                    <a:rPr lang="en-US" altLang="zh-CN" b="1">
                                      <a:solidFill>
                                        <a:srgbClr val="000066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b="1">
                                      <a:solidFill>
                                        <a:srgbClr val="000066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𝑗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altLang="zh-CN" b="1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𝑀</m:t>
                          </m:r>
                          <m:r>
                            <a:rPr lang="en-US" altLang="zh-CN" b="1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×</m:t>
                          </m:r>
                          <m:r>
                            <a:rPr lang="en-US" altLang="zh-CN" b="1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zh-CN" altLang="en-US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B3942FCC-0965-434B-B8C2-433A70372D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974" y="1090690"/>
                <a:ext cx="2160000" cy="446917"/>
              </a:xfrm>
              <a:prstGeom prst="rect">
                <a:avLst/>
              </a:prstGeom>
              <a:blipFill>
                <a:blip r:embed="rId5"/>
                <a:stretch>
                  <a:fillRect b="-4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38E15862-59F8-4288-9FE2-83FE80CB35D8}"/>
                  </a:ext>
                </a:extLst>
              </p:cNvPr>
              <p:cNvSpPr/>
              <p:nvPr/>
            </p:nvSpPr>
            <p:spPr>
              <a:xfrm>
                <a:off x="2400974" y="1090690"/>
                <a:ext cx="2160000" cy="4469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6773" algn="ctr">
                  <a:lnSpc>
                    <a:spcPct val="128000"/>
                  </a:lnSpc>
                  <a:spcBef>
                    <a:spcPts val="58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𝐵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000066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sSub>
                        <m:sSubPr>
                          <m:ctrlPr>
                            <a:rPr lang="zh-CN" altLang="zh-CN" b="1" i="1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b="1" i="1">
                                  <a:solidFill>
                                    <a:srgbClr val="000066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i="1">
                                      <a:solidFill>
                                        <a:srgbClr val="000066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rgbClr val="000066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000066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𝐵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zh-CN" i="1">
                                      <a:solidFill>
                                        <a:srgbClr val="000066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solidFill>
                                        <a:srgbClr val="000066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𝑖</m:t>
                                  </m:r>
                                  <m:r>
                                    <a:rPr lang="en-US" altLang="zh-CN" i="1">
                                      <a:solidFill>
                                        <a:srgbClr val="000066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,</m:t>
                                  </m:r>
                                  <m:r>
                                    <a:rPr lang="en-US" altLang="zh-CN" i="1">
                                      <a:solidFill>
                                        <a:srgbClr val="000066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𝑗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altLang="zh-CN" b="1" i="1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𝑴</m:t>
                          </m:r>
                          <m:r>
                            <a:rPr lang="en-US" altLang="zh-CN" b="1" i="1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×</m:t>
                          </m:r>
                          <m:r>
                            <a:rPr lang="en-US" altLang="zh-CN" b="1" i="1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zh-CN" altLang="en-US" b="1" i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38E15862-59F8-4288-9FE2-83FE80CB35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0974" y="1090690"/>
                <a:ext cx="2160000" cy="446917"/>
              </a:xfrm>
              <a:prstGeom prst="rect">
                <a:avLst/>
              </a:prstGeom>
              <a:blipFill>
                <a:blip r:embed="rId6"/>
                <a:stretch>
                  <a:fillRect b="-4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52870FF-2437-4228-A8B6-4409A607300B}"/>
                  </a:ext>
                </a:extLst>
              </p:cNvPr>
              <p:cNvSpPr txBox="1"/>
              <p:nvPr/>
            </p:nvSpPr>
            <p:spPr>
              <a:xfrm>
                <a:off x="1952264" y="2484961"/>
                <a:ext cx="1764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52870FF-2437-4228-A8B6-4409A6073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2264" y="2484961"/>
                <a:ext cx="1764000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5FA9766-B57B-4503-80D7-3FA35FFE95D3}"/>
                  </a:ext>
                </a:extLst>
              </p:cNvPr>
              <p:cNvSpPr txBox="1"/>
              <p:nvPr/>
            </p:nvSpPr>
            <p:spPr>
              <a:xfrm>
                <a:off x="1927033" y="3314015"/>
                <a:ext cx="1764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en-US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−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45FA9766-B57B-4503-80D7-3FA35FFE9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033" y="3314015"/>
                <a:ext cx="1764000" cy="369332"/>
              </a:xfrm>
              <a:prstGeom prst="rect">
                <a:avLst/>
              </a:prstGeom>
              <a:blipFill>
                <a:blip r:embed="rId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3422" y="167230"/>
            <a:ext cx="6270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图像点运算：基本灰度级变换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548800" y="1509966"/>
                <a:ext cx="11211400" cy="1019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6773" indent="354013">
                  <a:lnSpc>
                    <a:spcPct val="128000"/>
                  </a:lnSpc>
                  <a:spcBef>
                    <a:spcPts val="580"/>
                  </a:spcBef>
                  <a:spcAft>
                    <a:spcPts val="333"/>
                  </a:spcAft>
                </a:pPr>
                <a:r>
                  <a:rPr lang="zh-CN" altLang="zh-CN" sz="20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给定一幅输入图像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𝐼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𝑖𝑛</m:t>
                        </m:r>
                      </m:sub>
                    </m:sSub>
                    <m:d>
                      <m:dPr>
                        <m:ctrlPr>
                          <a:rPr lang="zh-CN" altLang="zh-CN" sz="2000" b="1" i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𝑖</m:t>
                        </m:r>
                        <m:r>
                          <a:rPr lang="en-US" altLang="zh-CN" sz="2000" b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r>
                          <a:rPr lang="en-US" altLang="zh-CN" sz="2000" b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𝑗</m:t>
                        </m:r>
                      </m:e>
                    </m:d>
                  </m:oMath>
                </a14:m>
                <a:r>
                  <a:rPr lang="zh-CN" altLang="zh-CN" sz="20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，记</a:t>
                </a: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0066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𝑀</m:t>
                    </m:r>
                    <m:d>
                      <m:dPr>
                        <m:ctrlPr>
                          <a:rPr lang="zh-CN" altLang="zh-CN" sz="2000" b="1" i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.</m:t>
                        </m:r>
                      </m:e>
                    </m:d>
                  </m:oMath>
                </a14:m>
                <a:r>
                  <a:rPr lang="zh-CN" altLang="zh-CN" sz="20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为图像的一个点运算，</a:t>
                </a:r>
                <a:r>
                  <a:rPr lang="zh-CN" altLang="en-US" sz="20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</a:t>
                </a:r>
                <a:r>
                  <a:rPr lang="zh-CN" altLang="zh-CN" sz="20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图像为</a:t>
                </a:r>
              </a:p>
              <a:p>
                <a:pPr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en-US" altLang="zh-CN" sz="2400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            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𝑜𝑢𝑡</m:t>
                        </m:r>
                      </m:sub>
                    </m:sSub>
                    <m:d>
                      <m:d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</m:d>
                    <m:r>
                      <m:rPr>
                        <m:nor/>
                      </m:rPr>
                      <a:rPr lang="en-US" altLang="zh-CN" sz="2000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sz="2000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M</m:t>
                    </m:r>
                    <m:d>
                      <m:d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𝑖𝑛</m:t>
                            </m:r>
                          </m:sub>
                        </m:sSub>
                        <m:d>
                          <m:dPr>
                            <m:ctrlPr>
                              <a:rPr lang="zh-CN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e>
                        </m:d>
                      </m:e>
                    </m:d>
                  </m:oMath>
                </a14:m>
                <a:endParaRPr lang="zh-CN" altLang="zh-CN" sz="2400" kern="100" dirty="0">
                  <a:latin typeface="Calibri" panose="020F050202020403020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800" y="1509966"/>
                <a:ext cx="11211400" cy="1019831"/>
              </a:xfrm>
              <a:prstGeom prst="rect">
                <a:avLst/>
              </a:prstGeom>
              <a:blipFill>
                <a:blip r:embed="rId3"/>
                <a:stretch>
                  <a:fillRect b="-35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879365" y="3116373"/>
                <a:ext cx="8094133" cy="1432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6773">
                  <a:lnSpc>
                    <a:spcPct val="128000"/>
                  </a:lnSpc>
                  <a:spcBef>
                    <a:spcPts val="580"/>
                  </a:spcBef>
                  <a:spcAft>
                    <a:spcPts val="333"/>
                  </a:spcAft>
                </a:pPr>
                <a14:m>
                  <m:oMath xmlns:m="http://schemas.openxmlformats.org/officeDocument/2006/math">
                    <m:r>
                      <a:rPr lang="en-US" altLang="zh-CN" sz="2000" b="1">
                        <a:solidFill>
                          <a:srgbClr val="000066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𝑀</m:t>
                    </m:r>
                    <m:d>
                      <m:dPr>
                        <m:ctrlPr>
                          <a:rPr lang="zh-CN" altLang="zh-CN" sz="2000" b="1" i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.</m:t>
                        </m:r>
                      </m:e>
                    </m:d>
                  </m:oMath>
                </a14:m>
                <a:r>
                  <a:rPr lang="zh-CN" altLang="zh-CN" sz="20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的形式可表达为</a:t>
                </a:r>
              </a:p>
              <a:p>
                <a:pPr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en-US" altLang="zh-CN" sz="2000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𝑛𝑒𝑤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000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sz="2000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M</m:t>
                    </m:r>
                    <m:d>
                      <m:d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𝑜𝑙𝑑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000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                </a:t>
                </a:r>
              </a:p>
              <a:p>
                <a:pPr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zh-CN" altLang="zh-CN" sz="20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即一个灰度值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𝑜𝑙𝑑</m:t>
                        </m:r>
                      </m:sub>
                    </m:sSub>
                  </m:oMath>
                </a14:m>
                <a:r>
                  <a:rPr lang="zh-CN" altLang="zh-CN" sz="20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经过点运算的映射后，变成新的像素值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b="1" i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𝑣</m:t>
                        </m:r>
                      </m:e>
                      <m:sub>
                        <m:r>
                          <a:rPr lang="en-US" altLang="zh-CN" sz="2000" b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𝑛𝑒𝑤</m:t>
                        </m:r>
                      </m:sub>
                    </m:sSub>
                  </m:oMath>
                </a14:m>
                <a:r>
                  <a:rPr lang="zh-CN" altLang="zh-CN" sz="20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365" y="3116373"/>
                <a:ext cx="8094133" cy="1432187"/>
              </a:xfrm>
              <a:prstGeom prst="rect">
                <a:avLst/>
              </a:prstGeom>
              <a:blipFill>
                <a:blip r:embed="rId4"/>
                <a:stretch>
                  <a:fillRect l="-753" b="-68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/>
          <p:cNvSpPr/>
          <p:nvPr/>
        </p:nvSpPr>
        <p:spPr>
          <a:xfrm>
            <a:off x="548800" y="1071554"/>
            <a:ext cx="1391728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点运算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913509" y="233504"/>
            <a:ext cx="1551296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点运算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895934" y="1024999"/>
            <a:ext cx="1391728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点运算</a:t>
            </a:r>
          </a:p>
        </p:txBody>
      </p:sp>
      <p:sp>
        <p:nvSpPr>
          <p:cNvPr id="7" name="矩形 6"/>
          <p:cNvSpPr/>
          <p:nvPr/>
        </p:nvSpPr>
        <p:spPr>
          <a:xfrm>
            <a:off x="1323270" y="1690774"/>
            <a:ext cx="3678059" cy="2000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6773" indent="-342900">
              <a:lnSpc>
                <a:spcPct val="200000"/>
              </a:lnSpc>
              <a:spcBef>
                <a:spcPts val="580"/>
              </a:spcBef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线性拉伸</a:t>
            </a:r>
            <a:endParaRPr lang="en-US" altLang="zh-CN" sz="20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6773" indent="-342900">
              <a:lnSpc>
                <a:spcPct val="200000"/>
              </a:lnSpc>
              <a:spcBef>
                <a:spcPts val="580"/>
              </a:spcBef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分片线性拉伸</a:t>
            </a:r>
            <a:endParaRPr lang="en-US" altLang="zh-CN" sz="20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6773" indent="-342900">
              <a:lnSpc>
                <a:spcPct val="200000"/>
              </a:lnSpc>
              <a:spcBef>
                <a:spcPts val="580"/>
              </a:spcBef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非线性拉伸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666" y="1242663"/>
            <a:ext cx="5017566" cy="437267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001329" y="5615337"/>
            <a:ext cx="4682067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8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常见的图像拉伸函数</a:t>
            </a:r>
            <a:endParaRPr lang="zh-CN" altLang="en-US" sz="1867" dirty="0">
              <a:latin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913509" y="233504"/>
            <a:ext cx="1551296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点运算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5D0E5A8-2112-421C-937D-DF65F26B405B}"/>
              </a:ext>
            </a:extLst>
          </p:cNvPr>
          <p:cNvSpPr txBox="1"/>
          <p:nvPr/>
        </p:nvSpPr>
        <p:spPr>
          <a:xfrm>
            <a:off x="143422" y="167230"/>
            <a:ext cx="6270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图像点运算：基本灰度级变换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707974" y="840604"/>
            <a:ext cx="1665841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线性拉伸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708733" y="1323831"/>
                <a:ext cx="4545578" cy="12305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200000"/>
                  </a:lnSpc>
                </a:pPr>
                <a:r>
                  <a:rPr lang="zh-CN" altLang="en-US" sz="20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线性拉伸可以改变图像灰度的分布区间</a:t>
                </a: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8733" y="1323831"/>
                <a:ext cx="4545578" cy="1230593"/>
              </a:xfrm>
              <a:prstGeom prst="rect">
                <a:avLst/>
              </a:prstGeom>
              <a:blipFill>
                <a:blip r:embed="rId3"/>
                <a:stretch>
                  <a:fillRect l="-1340" r="-804" b="-79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708733" y="2912290"/>
            <a:ext cx="7975901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设输入图像的灰度区间是</a:t>
            </a:r>
            <a:r>
              <a:rPr lang="en-US" altLang="zh-CN" sz="2000" dirty="0">
                <a:solidFill>
                  <a:srgbClr val="000066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[</a:t>
            </a:r>
            <a:r>
              <a:rPr lang="en-US" altLang="zh-CN" sz="2000" i="1" dirty="0">
                <a:solidFill>
                  <a:srgbClr val="000066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p , q</a:t>
            </a:r>
            <a:r>
              <a:rPr lang="en-US" altLang="zh-CN" sz="2000" dirty="0">
                <a:solidFill>
                  <a:srgbClr val="000066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]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，通过线性函数变换到灰度区间</a:t>
            </a:r>
            <a:r>
              <a:rPr lang="en-US" altLang="zh-CN" sz="2000" dirty="0">
                <a:solidFill>
                  <a:srgbClr val="000066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[</a:t>
            </a:r>
            <a:r>
              <a:rPr lang="en-US" altLang="zh-CN" sz="2000" i="1" dirty="0">
                <a:solidFill>
                  <a:srgbClr val="000066"/>
                </a:solidFill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</a:rPr>
              <a:t>p‘, q’</a:t>
            </a:r>
            <a:r>
              <a:rPr lang="en-US" altLang="zh-CN" sz="2000" i="1" dirty="0">
                <a:solidFill>
                  <a:srgbClr val="000066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]</a:t>
            </a:r>
          </a:p>
          <a:p>
            <a:pPr indent="355591"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  <p:pic>
        <p:nvPicPr>
          <p:cNvPr id="7169" name="图片 2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2328" y="3429000"/>
            <a:ext cx="2319867" cy="1877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808582" y="5235155"/>
            <a:ext cx="8286884" cy="992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spAutoFit/>
          </a:bodyPr>
          <a:lstStyle>
            <a:lvl1pPr indent="2667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 defTabSz="121917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当参数</a:t>
            </a:r>
            <a:r>
              <a:rPr lang="en-US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α&lt;1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时输出图像的灰度区间变小，动态范围变窄；反之亦然。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121917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β&gt;0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时图像的整体变亮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808582" y="3483869"/>
                <a:ext cx="4724400" cy="13613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zh-CN" altLang="en-US" sz="2000">
                              <a:latin typeface="Cambria Math" panose="02040503050406030204" pitchFamily="18" charset="0"/>
                            </a:rPr>
                            <m:t>′−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zh-CN" altLang="en-US" sz="2000">
                              <a:latin typeface="Cambria Math" panose="02040503050406030204" pitchFamily="18" charset="0"/>
                            </a:rPr>
                            <m:t>′</m:t>
                          </m:r>
                        </m:num>
                        <m:den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zh-CN" altLang="en-US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zh-CN" altLang="en-US" sz="200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2000" dirty="0">
                  <a:latin typeface="Cambria Math" panose="02040503050406030204" pitchFamily="18" charset="0"/>
                </a:endParaRPr>
              </a:p>
              <a:p>
                <a:endParaRPr lang="en-US" altLang="zh-CN" sz="20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zh-CN" altLang="en-US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sz="2000">
                          <a:latin typeface="Cambria Math" panose="02040503050406030204" pitchFamily="18" charset="0"/>
                        </a:rPr>
                        <m:t>′−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582" y="3483869"/>
                <a:ext cx="4724400" cy="1361398"/>
              </a:xfrm>
              <a:prstGeom prst="rect">
                <a:avLst/>
              </a:prstGeom>
              <a:blipFill>
                <a:blip r:embed="rId5"/>
                <a:stretch>
                  <a:fillRect b="-40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8913509" y="233504"/>
            <a:ext cx="1551296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点运算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DBAAACA-EBF6-4CBB-A100-653BD6524231}"/>
              </a:ext>
            </a:extLst>
          </p:cNvPr>
          <p:cNvSpPr txBox="1"/>
          <p:nvPr/>
        </p:nvSpPr>
        <p:spPr>
          <a:xfrm>
            <a:off x="143422" y="167230"/>
            <a:ext cx="6270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图像点运算：基本灰度级变换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7E6394B-E34D-4B5F-A931-2C3E5B7F9F10}"/>
              </a:ext>
            </a:extLst>
          </p:cNvPr>
          <p:cNvSpPr txBox="1"/>
          <p:nvPr/>
        </p:nvSpPr>
        <p:spPr>
          <a:xfrm>
            <a:off x="7739744" y="4422802"/>
            <a:ext cx="730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α&lt;1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52444" y="880958"/>
            <a:ext cx="2214068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黑白反转映射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083733" y="1451249"/>
                <a:ext cx="4949205" cy="1036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6773">
                  <a:lnSpc>
                    <a:spcPct val="128000"/>
                  </a:lnSpc>
                  <a:spcBef>
                    <a:spcPts val="580"/>
                  </a:spcBef>
                  <a:spcAft>
                    <a:spcPts val="333"/>
                  </a:spcAft>
                </a:pPr>
                <a:r>
                  <a:rPr lang="zh-CN" altLang="zh-CN" sz="2000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灰度等级范围</a:t>
                </a:r>
                <a14:m>
                  <m:oMath xmlns:m="http://schemas.openxmlformats.org/officeDocument/2006/math">
                    <m:r>
                      <a:rPr lang="en-US" altLang="zh-CN" sz="2000">
                        <a:solidFill>
                          <a:srgbClr val="000066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[0,</m:t>
                    </m:r>
                    <m:r>
                      <m:rPr>
                        <m:sty m:val="p"/>
                      </m:rPr>
                      <a:rPr lang="en-US" altLang="zh-CN" sz="2000" i="1">
                        <a:solidFill>
                          <a:srgbClr val="000066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L</m:t>
                    </m:r>
                    <m:r>
                      <a:rPr lang="en-US" altLang="zh-CN" sz="2000">
                        <a:solidFill>
                          <a:srgbClr val="000066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−1]</m:t>
                    </m:r>
                  </m:oMath>
                </a14:m>
                <a:r>
                  <a:rPr lang="zh-CN" altLang="zh-CN" sz="2000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的图像反转</a:t>
                </a:r>
                <a:r>
                  <a:rPr lang="zh-CN" altLang="en-US" sz="2000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结果为</a:t>
                </a:r>
                <a:endParaRPr lang="en-US" altLang="zh-CN" sz="2000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R="6773" algn="ctr">
                  <a:lnSpc>
                    <a:spcPct val="128000"/>
                  </a:lnSpc>
                  <a:spcBef>
                    <a:spcPts val="580"/>
                  </a:spcBef>
                  <a:spcAft>
                    <a:spcPts val="333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𝑀</m:t>
                      </m:r>
                      <m:d>
                        <m:dPr>
                          <m:ctrlPr>
                            <a:rPr lang="zh-CN" altLang="zh-CN" sz="24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CN" sz="2400" i="1" kern="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i="1" kern="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US" altLang="zh-CN" sz="2400" i="1" kern="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−1−</m:t>
                      </m:r>
                      <m:r>
                        <a:rPr lang="en-US" altLang="zh-CN" sz="2400" i="1" kern="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𝑣</m:t>
                      </m:r>
                    </m:oMath>
                  </m:oMathPara>
                </a14:m>
                <a:endParaRPr lang="zh-CN" altLang="zh-CN" sz="2400" kern="100" dirty="0">
                  <a:latin typeface="Calibri" panose="020F050202020403020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733" y="1451249"/>
                <a:ext cx="4949205" cy="1036566"/>
              </a:xfrm>
              <a:prstGeom prst="rect">
                <a:avLst/>
              </a:prstGeom>
              <a:blipFill>
                <a:blip r:embed="rId3"/>
                <a:stretch>
                  <a:fillRect l="-13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7049" y="2872787"/>
            <a:ext cx="4811236" cy="199641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963398" y="4934249"/>
            <a:ext cx="7438539" cy="448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76182" marR="6773">
              <a:lnSpc>
                <a:spcPct val="128000"/>
              </a:lnSpc>
              <a:spcBef>
                <a:spcPts val="580"/>
              </a:spcBef>
            </a:pPr>
            <a:r>
              <a:rPr lang="zh-CN" altLang="zh-CN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可增强嵌入图像暗色区域中的白色或灰色细节</a:t>
            </a:r>
            <a:endParaRPr lang="zh-CN" altLang="en-US" sz="20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913509" y="233504"/>
            <a:ext cx="1551296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点运算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DC1E986-739B-4BDE-B5ED-CACC02E5D1E0}"/>
              </a:ext>
            </a:extLst>
          </p:cNvPr>
          <p:cNvSpPr txBox="1"/>
          <p:nvPr/>
        </p:nvSpPr>
        <p:spPr>
          <a:xfrm>
            <a:off x="143422" y="167230"/>
            <a:ext cx="6270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图像点运算：基本灰度级变换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00045" y="994436"/>
            <a:ext cx="2214068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分片线性拉伸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972207" y="1415000"/>
                <a:ext cx="9492599" cy="8744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zh-CN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图像的灰度等级大部分聚集在区间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i="1">
                                <a:solidFill>
                                  <a:srgbClr val="000066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000066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μ</m:t>
                            </m:r>
                          </m:e>
                          <m:sub>
                            <m:r>
                              <a:rPr lang="en-US" altLang="zh-CN">
                                <a:solidFill>
                                  <a:srgbClr val="000066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i="1">
                                <a:solidFill>
                                  <a:srgbClr val="000066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000066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μ</m:t>
                            </m:r>
                          </m:e>
                          <m:sub>
                            <m:r>
                              <a:rPr lang="en-US" altLang="zh-CN">
                                <a:solidFill>
                                  <a:srgbClr val="000066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分片线性函数将图像映射到 </a:t>
                </a:r>
                <a:r>
                  <a:rPr lang="en-US" altLang="zh-CN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[0, 255]</a:t>
                </a:r>
                <a:r>
                  <a:rPr lang="zh-CN" altLang="en-US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，实现对比度增强</a:t>
                </a: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207" y="1415000"/>
                <a:ext cx="9492599" cy="874407"/>
              </a:xfrm>
              <a:prstGeom prst="rect">
                <a:avLst/>
              </a:prstGeom>
              <a:blipFill>
                <a:blip r:embed="rId3"/>
                <a:stretch>
                  <a:fillRect l="-385" b="-97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6140" y="1922090"/>
            <a:ext cx="2663005" cy="19942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955476" y="2379899"/>
                <a:ext cx="5461000" cy="1340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&amp;0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/>
                                  <m:e/>
                                  <m:e/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zh-CN" altLang="en-US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𝑖𝑓</m:t>
                                          </m:r>
                                        </m:e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  <m:r>
                                            <a:rPr lang="zh-CN" altLang="en-US">
                                              <a:latin typeface="Cambria Math" panose="02040503050406030204" pitchFamily="18" charset="0"/>
                                            </a:rPr>
                                            <m:t>∈</m:t>
                                          </m:r>
                                          <m:d>
                                            <m:dPr>
                                              <m:begChr m:val="["/>
                                              <m:sepChr m:val=","/>
                                              <m:ctrlPr>
                                                <a:rPr lang="zh-CN" alt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zh-CN" altLang="en-US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zh-CN" altLang="en-US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𝜇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altLang="en-US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&amp;255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zh-CN" altLang="en-US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zh-CN" altLang="en-US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zh-CN" altLang="en-US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zh-CN" altLang="en-US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zh-CN" altLang="en-US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𝑖𝑓</m:t>
                                    </m:r>
                                  </m:e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zh-CN" altLang="en-US"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sepChr m:val=","/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zh-CN" altLang="en-US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i="1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zh-CN" altLang="en-US" i="1">
                                                <a:solidFill>
                                                  <a:srgbClr val="83696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zh-CN" altLang="en-US" i="1">
                                                <a:latin typeface="Cambria Math" panose="02040503050406030204" pitchFamily="18" charset="0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lang="zh-CN" altLang="en-US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mr>
                              </m:m>
                            </m:e>
                            <m:e>
                              <m:r>
                                <a:rPr lang="zh-CN" altLang="en-US">
                                  <a:latin typeface="Cambria Math" panose="02040503050406030204" pitchFamily="18" charset="0"/>
                                </a:rPr>
                                <m:t>&amp;255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/>
                                  <m:e/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zh-CN" altLang="en-US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𝑖𝑓</m:t>
                                          </m:r>
                                        </m:e>
                                        <m:e>
                                          <m: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  <m:r>
                                            <a:rPr lang="zh-CN" altLang="en-US">
                                              <a:latin typeface="Cambria Math" panose="02040503050406030204" pitchFamily="18" charset="0"/>
                                            </a:rPr>
                                            <m:t>∈</m:t>
                                          </m:r>
                                          <m:d>
                                            <m:dPr>
                                              <m:ctrlPr>
                                                <a:rPr lang="zh-CN" altLang="en-US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zh-CN" altLang="en-US" i="1">
                                                      <a:solidFill>
                                                        <a:srgbClr val="836967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𝜇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altLang="en-US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zh-CN" altLang="en-US">
                                                  <a:latin typeface="Cambria Math" panose="02040503050406030204" pitchFamily="18" charset="0"/>
                                                </a:rPr>
                                                <m:t>,255</m:t>
                                              </m:r>
                                            </m:e>
                                          </m:d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476" y="2379899"/>
                <a:ext cx="5461000" cy="13408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1759" y="3968120"/>
            <a:ext cx="3973336" cy="1960279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6713"/>
          </a:xfrm>
        </p:spPr>
        <p:txBody>
          <a:bodyPr/>
          <a:lstStyle/>
          <a:p>
            <a:fld id="{48F63A3B-78C7-47BE-AE5E-E10140E04643}" type="slidenum">
              <a:rPr lang="en-US" smtClean="0"/>
              <a:t>18</a:t>
            </a:fld>
            <a:endParaRPr 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8913509" y="233504"/>
            <a:ext cx="1551296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点运算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48ABE83-8FE7-44B1-8216-0D08285DDD8B}"/>
              </a:ext>
            </a:extLst>
          </p:cNvPr>
          <p:cNvSpPr txBox="1"/>
          <p:nvPr/>
        </p:nvSpPr>
        <p:spPr>
          <a:xfrm>
            <a:off x="143422" y="167230"/>
            <a:ext cx="6270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图像点运算：基本灰度级变换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58002" y="937763"/>
            <a:ext cx="1939955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非线性拉伸</a:t>
            </a:r>
          </a:p>
        </p:txBody>
      </p:sp>
      <p:sp>
        <p:nvSpPr>
          <p:cNvPr id="7" name="矩形 6"/>
          <p:cNvSpPr/>
          <p:nvPr/>
        </p:nvSpPr>
        <p:spPr>
          <a:xfrm>
            <a:off x="957243" y="1420614"/>
            <a:ext cx="8611425" cy="33850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6773" indent="-457200">
              <a:lnSpc>
                <a:spcPct val="200000"/>
              </a:lnSpc>
              <a:spcBef>
                <a:spcPts val="580"/>
              </a:spcBef>
              <a:buFont typeface="+mj-lt"/>
              <a:buAutoNum type="arabicPeriod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输入图像灰度区间本身就在</a:t>
            </a:r>
            <a:r>
              <a:rPr lang="en-US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[0,255]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</a:t>
            </a:r>
            <a:endParaRPr lang="en-US" altLang="zh-CN" sz="20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6773" indent="-457200">
              <a:lnSpc>
                <a:spcPct val="200000"/>
              </a:lnSpc>
              <a:spcBef>
                <a:spcPts val="580"/>
              </a:spcBef>
              <a:buFont typeface="+mj-lt"/>
              <a:buAutoNum type="arabicPeriod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非递减单调的非线性映射函数：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marR="6773" lvl="1" indent="-342900">
              <a:lnSpc>
                <a:spcPct val="200000"/>
              </a:lnSpc>
              <a:spcBef>
                <a:spcPts val="580"/>
              </a:spcBef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保持灰度等级顺序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marR="6773" lvl="1" indent="-342900">
              <a:lnSpc>
                <a:spcPct val="200000"/>
              </a:lnSpc>
              <a:spcBef>
                <a:spcPts val="580"/>
              </a:spcBef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将完整的灰级范围映射到其完整范围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marR="6773" lvl="1" indent="-342900">
              <a:lnSpc>
                <a:spcPct val="200000"/>
              </a:lnSpc>
              <a:spcBef>
                <a:spcPts val="580"/>
              </a:spcBef>
              <a:buFont typeface="Wingdings" panose="05000000000000000000" pitchFamily="2" charset="2"/>
              <a:buChar char="ü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实现对比度增强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l="18247" b="17929"/>
          <a:stretch>
            <a:fillRect/>
          </a:stretch>
        </p:blipFill>
        <p:spPr>
          <a:xfrm>
            <a:off x="7391302" y="1845983"/>
            <a:ext cx="3387936" cy="237294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999013" y="2741250"/>
            <a:ext cx="784579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33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扩张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393191" y="4218931"/>
            <a:ext cx="956733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33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1B8D97-5368-4564-B43C-2270174D1201}"/>
              </a:ext>
            </a:extLst>
          </p:cNvPr>
          <p:cNvSpPr txBox="1"/>
          <p:nvPr/>
        </p:nvSpPr>
        <p:spPr>
          <a:xfrm>
            <a:off x="143422" y="167230"/>
            <a:ext cx="6270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图像点运算：基本灰度级变换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89534" y="869446"/>
            <a:ext cx="5896166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对数变换</a:t>
            </a:r>
            <a:r>
              <a:rPr lang="en-US" altLang="zh-CN" sz="2133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133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压缩高亮区域动态范围的对数变换</a:t>
            </a:r>
            <a:endParaRPr lang="zh-CN" altLang="en-US" sz="2133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6465241" y="3929117"/>
                <a:ext cx="45720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zh-CN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zh-CN" altLang="en-US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𝐿𝑛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000">
                              <a:latin typeface="Cambria Math" panose="02040503050406030204" pitchFamily="18" charset="0"/>
                            </a:rPr>
                            <m:t>1+</m:t>
                          </m:r>
                          <m:d>
                            <m:dPr>
                              <m:ctrlPr>
                                <a:rPr lang="zh-CN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sz="20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zh-CN" altLang="en-US" sz="20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sup>
                              </m:sSup>
                              <m:r>
                                <a:rPr lang="zh-CN" altLang="en-US" sz="200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zh-CN" altLang="en-US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5241" y="3929117"/>
                <a:ext cx="4572000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43268" y="1290010"/>
            <a:ext cx="5868108" cy="20185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anchor="ctr" anchorCtr="0" compatLnSpc="1">
            <a:spAutoFit/>
          </a:bodyPr>
          <a:lstStyle/>
          <a:p>
            <a:pPr marL="380990" indent="-38099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伸缩参数 </a:t>
            </a:r>
            <a:r>
              <a:rPr lang="en-US" altLang="zh-CN" sz="1600" i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σ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控制对数函数的输入范围</a:t>
            </a:r>
            <a:endParaRPr lang="en-US" altLang="zh-CN" sz="1600" dirty="0">
              <a:solidFill>
                <a:srgbClr val="000066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80990" indent="-38099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参数 </a:t>
            </a:r>
            <a:r>
              <a:rPr lang="en-US" altLang="zh-CN" sz="1600" i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将图像缩放到灰度范围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255</a:t>
            </a:r>
          </a:p>
          <a:p>
            <a:pPr marL="380990" indent="-38099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加 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 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的作用：对输入值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，保证输出值也是</a:t>
            </a:r>
            <a:r>
              <a:rPr lang="en-US" altLang="zh-CN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</a:p>
          <a:p>
            <a:pPr marL="380990" indent="-38099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动态范围压缩级别由参数 </a:t>
            </a:r>
            <a:r>
              <a:rPr lang="en-US" altLang="zh-CN" sz="1600" i="1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σ </a:t>
            </a:r>
            <a:r>
              <a:rPr lang="zh-CN" altLang="en-US" sz="1600" dirty="0">
                <a:solidFill>
                  <a:srgbClr val="000066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控制 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5633" y="1577479"/>
            <a:ext cx="2621961" cy="2351638"/>
          </a:xfrm>
          <a:prstGeom prst="rect">
            <a:avLst/>
          </a:prstGeom>
        </p:spPr>
      </p:pic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7146957" y="4539219"/>
            <a:ext cx="4301775" cy="818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anchor="ctr" anchorCtr="0" compatLnSpc="1">
            <a:spAutoFit/>
          </a:bodyPr>
          <a:lstStyle/>
          <a:p>
            <a:pPr marL="380990" indent="-38099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扩张：</a:t>
            </a:r>
            <a:r>
              <a:rPr lang="zh-CN" altLang="en-US" sz="16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低范围输入值的图像</a:t>
            </a:r>
            <a:endParaRPr lang="en-US" altLang="zh-CN" sz="16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80990" indent="-38099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压缩：</a:t>
            </a:r>
            <a:r>
              <a:rPr lang="zh-CN" altLang="en-US" sz="16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较亮的像素值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33C68F5-2C56-4194-ADF1-CD80FA460013}"/>
              </a:ext>
            </a:extLst>
          </p:cNvPr>
          <p:cNvSpPr txBox="1"/>
          <p:nvPr/>
        </p:nvSpPr>
        <p:spPr>
          <a:xfrm>
            <a:off x="143422" y="167230"/>
            <a:ext cx="6270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图像点运算：基本灰度级变换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4AF8642-50B9-4DAE-8653-9B459B7EDF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5649" y="3523343"/>
            <a:ext cx="4716664" cy="2103101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9A794D2D-9815-4093-B5D0-E9A59F56209C}"/>
              </a:ext>
            </a:extLst>
          </p:cNvPr>
          <p:cNvSpPr/>
          <p:nvPr/>
        </p:nvSpPr>
        <p:spPr>
          <a:xfrm>
            <a:off x="544132" y="5644989"/>
            <a:ext cx="6119697" cy="377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6773" algn="ctr">
              <a:lnSpc>
                <a:spcPct val="128000"/>
              </a:lnSpc>
              <a:spcBef>
                <a:spcPts val="580"/>
              </a:spcBef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增加暗区域的动态范围，减少亮区域的动态范围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0F84338-DB2F-4659-A6AC-F2AB23C72C5F}"/>
              </a:ext>
            </a:extLst>
          </p:cNvPr>
          <p:cNvGrpSpPr/>
          <p:nvPr/>
        </p:nvGrpSpPr>
        <p:grpSpPr>
          <a:xfrm>
            <a:off x="1739901" y="1122038"/>
            <a:ext cx="9844560" cy="3369960"/>
            <a:chOff x="1739901" y="1122038"/>
            <a:chExt cx="9844560" cy="336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墨迹 2">
                  <a:extLst>
                    <a:ext uri="{FF2B5EF4-FFF2-40B4-BE49-F238E27FC236}">
                      <a16:creationId xmlns:a16="http://schemas.microsoft.com/office/drawing/2014/main" id="{3608428A-79A5-42F7-A610-615EBF511796}"/>
                    </a:ext>
                  </a:extLst>
                </p14:cNvPr>
                <p14:cNvContentPartPr/>
                <p14:nvPr/>
              </p14:nvContentPartPr>
              <p14:xfrm>
                <a:off x="2178741" y="1122038"/>
                <a:ext cx="8351640" cy="2866320"/>
              </p14:xfrm>
            </p:contentPart>
          </mc:Choice>
          <mc:Fallback xmlns="">
            <p:pic>
              <p:nvPicPr>
                <p:cNvPr id="3" name="墨迹 2">
                  <a:extLst>
                    <a:ext uri="{FF2B5EF4-FFF2-40B4-BE49-F238E27FC236}">
                      <a16:creationId xmlns:a16="http://schemas.microsoft.com/office/drawing/2014/main" id="{3608428A-79A5-42F7-A610-615EBF51179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69741" y="1113398"/>
                  <a:ext cx="8369280" cy="28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A3278225-EBE5-4A7B-88E4-BD10D253D341}"/>
                    </a:ext>
                  </a:extLst>
                </p14:cNvPr>
                <p14:cNvContentPartPr/>
                <p14:nvPr/>
              </p14:nvContentPartPr>
              <p14:xfrm>
                <a:off x="11584101" y="4195358"/>
                <a:ext cx="360" cy="36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A3278225-EBE5-4A7B-88E4-BD10D253D34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575101" y="418635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51751402-CA97-448E-8DB8-7838B5500F12}"/>
                    </a:ext>
                  </a:extLst>
                </p14:cNvPr>
                <p14:cNvContentPartPr/>
                <p14:nvPr/>
              </p14:nvContentPartPr>
              <p14:xfrm>
                <a:off x="1739901" y="2246678"/>
                <a:ext cx="6464880" cy="2245320"/>
              </p14:xfrm>
            </p:contentPart>
          </mc:Choice>
          <mc:Fallback xmlns=""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51751402-CA97-448E-8DB8-7838B5500F1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30901" y="2237678"/>
                  <a:ext cx="6482520" cy="22629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783824" y="979804"/>
            <a:ext cx="4681090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增加高亮区域动态范围的对数变换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149520" y="1555254"/>
                <a:ext cx="8388618" cy="13577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用于合成孔径雷达图像增强的对数变换，输入像素</a:t>
                </a:r>
                <a:r>
                  <a:rPr lang="en-US" altLang="zh-CN" dirty="0"/>
                  <a:t>v</a:t>
                </a:r>
                <a:r>
                  <a:rPr lang="zh-CN" altLang="en-US" dirty="0"/>
                  <a:t>的取值范围为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[0,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zh-CN" altLang="en-US" sz="2133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)=255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133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增加亮区的动态范围，雷达目标大部分为亮，高回波。</a:t>
                </a:r>
                <a:endParaRPr lang="zh-CN" altLang="en-US" sz="2133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520" y="1555254"/>
                <a:ext cx="8388618" cy="1357744"/>
              </a:xfrm>
              <a:prstGeom prst="rect">
                <a:avLst/>
              </a:prstGeom>
              <a:blipFill>
                <a:blip r:embed="rId3"/>
                <a:stretch>
                  <a:fillRect l="-799" b="-49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D18D42E4-F421-491B-8674-2D6FA24C2B30}"/>
              </a:ext>
            </a:extLst>
          </p:cNvPr>
          <p:cNvSpPr txBox="1"/>
          <p:nvPr/>
        </p:nvSpPr>
        <p:spPr>
          <a:xfrm>
            <a:off x="143422" y="167230"/>
            <a:ext cx="6270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图像点运算：基本灰度级变换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0BB1CEA-336C-4CBB-98D2-E4104808330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623" t="36015" r="11623" b="12108"/>
          <a:stretch/>
        </p:blipFill>
        <p:spPr>
          <a:xfrm>
            <a:off x="2449665" y="3067884"/>
            <a:ext cx="3524093" cy="308244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E2667A9-E45D-474D-8F86-9F610025BEE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393" t="8991" r="24252" b="56128"/>
          <a:stretch/>
        </p:blipFill>
        <p:spPr>
          <a:xfrm>
            <a:off x="6647372" y="3067884"/>
            <a:ext cx="3506880" cy="308244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7E41B43-60EE-4E38-AE49-2EF7A7BF0401}"/>
              </a:ext>
            </a:extLst>
          </p:cNvPr>
          <p:cNvSpPr txBox="1"/>
          <p:nvPr/>
        </p:nvSpPr>
        <p:spPr>
          <a:xfrm>
            <a:off x="2449665" y="6305214"/>
            <a:ext cx="35240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/>
              <a:t>输入，高亮区域饱和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6BB584A-DD17-4033-A7C8-4103E86C2BD4}"/>
              </a:ext>
            </a:extLst>
          </p:cNvPr>
          <p:cNvSpPr txBox="1"/>
          <p:nvPr/>
        </p:nvSpPr>
        <p:spPr>
          <a:xfrm>
            <a:off x="6664585" y="6315917"/>
            <a:ext cx="3506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/>
              <a:t>输出，高亮区域细节更丰富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89382" y="948274"/>
            <a:ext cx="1665841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指数变换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7373864" y="4734778"/>
                <a:ext cx="4323974" cy="498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333"/>
                  </a:spcAft>
                </a:pP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p>
                        </m:s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altLang="zh-CN" sz="2000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                       </a:t>
                </a: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3864" y="4734778"/>
                <a:ext cx="4323974" cy="498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1024759" y="5710661"/>
            <a:ext cx="55599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增强图像高值区域（亮）的细节，减小低值区域（暗）的动态范围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856" y="3233393"/>
            <a:ext cx="5647268" cy="253271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A106575-5B50-4ADF-8C3D-B86AFC294D03}"/>
              </a:ext>
            </a:extLst>
          </p:cNvPr>
          <p:cNvSpPr txBox="1"/>
          <p:nvPr/>
        </p:nvSpPr>
        <p:spPr>
          <a:xfrm>
            <a:off x="143422" y="167230"/>
            <a:ext cx="6270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图像点运算：基本灰度级变换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025D249-B931-4C0B-8476-52F2FC6022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7635" y="2194610"/>
            <a:ext cx="2592219" cy="24687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7D39106-4E38-4314-B89F-1D3E036ADB1A}"/>
                  </a:ext>
                </a:extLst>
              </p:cNvPr>
              <p:cNvSpPr txBox="1"/>
              <p:nvPr/>
            </p:nvSpPr>
            <p:spPr>
              <a:xfrm>
                <a:off x="656897" y="1513211"/>
                <a:ext cx="7480738" cy="14884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marR="6773" indent="-342900">
                  <a:lnSpc>
                    <a:spcPct val="150000"/>
                  </a:lnSpc>
                  <a:spcBef>
                    <a:spcPts val="580"/>
                  </a:spcBef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CN" sz="1867" smtClean="0">
                        <a:solidFill>
                          <a:srgbClr val="000066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1+</m:t>
                    </m:r>
                    <m:r>
                      <a:rPr lang="en-US" altLang="zh-CN" sz="1867" i="1">
                        <a:solidFill>
                          <a:srgbClr val="000066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𝛼</m:t>
                    </m:r>
                  </m:oMath>
                </a14:m>
                <a:r>
                  <a:rPr lang="zh-CN" altLang="zh-CN" sz="1867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是变换的基底，参数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67" i="1">
                        <a:solidFill>
                          <a:srgbClr val="000066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c</m:t>
                    </m:r>
                  </m:oMath>
                </a14:m>
                <a:r>
                  <a:rPr lang="zh-CN" altLang="zh-CN" sz="1867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将输出缩放到合适的图像灰度</a:t>
                </a:r>
                <a:endParaRPr lang="en-US" altLang="zh-CN" sz="1867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marR="6773" indent="-342900">
                  <a:lnSpc>
                    <a:spcPct val="150000"/>
                  </a:lnSpc>
                  <a:spcBef>
                    <a:spcPts val="580"/>
                  </a:spcBef>
                  <a:buFont typeface="Wingdings" panose="05000000000000000000" pitchFamily="2" charset="2"/>
                  <a:buChar char="n"/>
                </a:pPr>
                <a:r>
                  <a:rPr lang="zh-CN" altLang="zh-CN" sz="1867" dirty="0">
                    <a:solidFill>
                      <a:srgbClr val="000066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当输入像素值</a:t>
                </a:r>
                <a14:m>
                  <m:oMath xmlns:m="http://schemas.openxmlformats.org/officeDocument/2006/math">
                    <m:r>
                      <a:rPr lang="en-US" altLang="zh-CN" sz="1867" i="1" dirty="0">
                        <a:solidFill>
                          <a:srgbClr val="000066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𝑣</m:t>
                    </m:r>
                    <m:r>
                      <a:rPr lang="en-US" altLang="zh-CN" sz="1867">
                        <a:solidFill>
                          <a:srgbClr val="000066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=0</m:t>
                    </m:r>
                  </m:oMath>
                </a14:m>
                <a:r>
                  <a:rPr lang="zh-CN" altLang="zh-CN" sz="1867" dirty="0">
                    <a:solidFill>
                      <a:srgbClr val="000066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时，减</a:t>
                </a:r>
                <a:r>
                  <a:rPr lang="en-US" altLang="zh-CN" sz="1867" dirty="0">
                    <a:solidFill>
                      <a:srgbClr val="000066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1</a:t>
                </a:r>
                <a:r>
                  <a:rPr lang="zh-CN" altLang="zh-CN" sz="1867" dirty="0">
                    <a:solidFill>
                      <a:srgbClr val="000066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的作用使得输出像素值为将变为</a:t>
                </a:r>
                <a:r>
                  <a:rPr lang="en-US" altLang="zh-CN" sz="1867" dirty="0">
                    <a:solidFill>
                      <a:srgbClr val="000066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0</a:t>
                </a:r>
              </a:p>
              <a:p>
                <a:pPr marL="342900" marR="6773" indent="-342900">
                  <a:lnSpc>
                    <a:spcPct val="150000"/>
                  </a:lnSpc>
                  <a:spcBef>
                    <a:spcPts val="580"/>
                  </a:spcBef>
                  <a:buFont typeface="Wingdings" panose="05000000000000000000" pitchFamily="2" charset="2"/>
                  <a:buChar char="n"/>
                </a:pPr>
                <a:r>
                  <a:rPr lang="zh-CN" altLang="zh-CN" sz="1867" dirty="0">
                    <a:solidFill>
                      <a:srgbClr val="000066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动态范围压缩和扩张的级别由参数</a:t>
                </a:r>
                <a14:m>
                  <m:oMath xmlns:m="http://schemas.openxmlformats.org/officeDocument/2006/math">
                    <m:r>
                      <a:rPr lang="en-US" altLang="zh-CN" sz="1867" i="1">
                        <a:solidFill>
                          <a:srgbClr val="000066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𝛼</m:t>
                    </m:r>
                  </m:oMath>
                </a14:m>
                <a:r>
                  <a:rPr lang="zh-CN" altLang="zh-CN" sz="1867" dirty="0">
                    <a:solidFill>
                      <a:srgbClr val="000066"/>
                    </a:solidFill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决定</a:t>
                </a:r>
                <a:endParaRPr lang="zh-CN" altLang="en-US" sz="1867" dirty="0">
                  <a:solidFill>
                    <a:srgbClr val="000066"/>
                  </a:solidFill>
                  <a:latin typeface="Cambria Math" panose="020405030504060302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7D39106-4E38-4314-B89F-1D3E036AD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897" y="1513211"/>
                <a:ext cx="7480738" cy="1488484"/>
              </a:xfrm>
              <a:prstGeom prst="rect">
                <a:avLst/>
              </a:prstGeom>
              <a:blipFill>
                <a:blip r:embed="rId6"/>
                <a:stretch>
                  <a:fillRect l="-570" b="-61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89382" y="969601"/>
            <a:ext cx="1665841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幂律变换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087084" y="1543468"/>
                <a:ext cx="4382814" cy="11771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6773">
                  <a:lnSpc>
                    <a:spcPct val="150000"/>
                  </a:lnSpc>
                  <a:spcBef>
                    <a:spcPts val="580"/>
                  </a:spcBef>
                  <a:spcAft>
                    <a:spcPts val="333"/>
                  </a:spcAft>
                </a:pPr>
                <a:r>
                  <a:rPr lang="zh-CN" altLang="zh-CN" sz="2133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将输入像素值提升至固定的幂次</a:t>
                </a:r>
              </a:p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𝑀</m:t>
                      </m:r>
                      <m:d>
                        <m:dPr>
                          <m:ctrlPr>
                            <a:rPr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𝛾</m:t>
                          </m:r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084" y="1543468"/>
                <a:ext cx="4382814" cy="1177182"/>
              </a:xfrm>
              <a:prstGeom prst="rect">
                <a:avLst/>
              </a:prstGeom>
              <a:blipFill>
                <a:blip r:embed="rId3"/>
                <a:stretch>
                  <a:fillRect l="-16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965443" y="2793819"/>
                <a:ext cx="6717619" cy="19016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6773">
                  <a:lnSpc>
                    <a:spcPct val="200000"/>
                  </a:lnSpc>
                  <a:spcBef>
                    <a:spcPts val="580"/>
                  </a:spcBef>
                  <a:spcAft>
                    <a:spcPts val="333"/>
                  </a:spcAft>
                  <a:buFont typeface="Arial" panose="020B0604020202020204" pitchFamily="34" charset="0"/>
                  <a:buChar char="•"/>
                </a:pPr>
                <a:r>
                  <a:rPr lang="zh-CN" altLang="zh-CN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当参数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>
                        <a:solidFill>
                          <a:srgbClr val="000066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γ</m:t>
                    </m:r>
                    <m:r>
                      <a:rPr lang="en-US" altLang="zh-CN">
                        <a:solidFill>
                          <a:srgbClr val="000066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&gt;1</m:t>
                    </m:r>
                  </m:oMath>
                </a14:m>
                <a:r>
                  <a:rPr lang="zh-CN" altLang="zh-CN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时，增强高亮度区域像素的对比度</a:t>
                </a:r>
                <a:r>
                  <a:rPr lang="zh-CN" altLang="en-US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（指数变化）</a:t>
                </a:r>
                <a:endParaRPr lang="en-US" altLang="zh-CN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R="6773">
                  <a:lnSpc>
                    <a:spcPct val="200000"/>
                  </a:lnSpc>
                  <a:spcBef>
                    <a:spcPts val="580"/>
                  </a:spcBef>
                  <a:spcAft>
                    <a:spcPts val="333"/>
                  </a:spcAft>
                  <a:buFont typeface="Arial" panose="020B0604020202020204" pitchFamily="34" charset="0"/>
                  <a:buChar char="•"/>
                </a:pPr>
                <a:r>
                  <a:rPr lang="zh-CN" altLang="zh-CN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当参数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>
                        <a:solidFill>
                          <a:srgbClr val="000066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γ</m:t>
                    </m:r>
                    <m:r>
                      <a:rPr lang="en-US" altLang="zh-CN">
                        <a:solidFill>
                          <a:srgbClr val="000066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&lt;1</m:t>
                    </m:r>
                  </m:oMath>
                </a14:m>
                <a:r>
                  <a:rPr lang="zh-CN" altLang="zh-CN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</a:t>
                </a:r>
                <a:r>
                  <a:rPr lang="zh-CN" altLang="en-US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zh-CN" altLang="zh-CN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作用相反</a:t>
                </a:r>
                <a:r>
                  <a:rPr lang="zh-CN" altLang="en-US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zh-CN" altLang="zh-CN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对数变</a:t>
                </a:r>
                <a:r>
                  <a:rPr lang="zh-CN" altLang="en-US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换）</a:t>
                </a:r>
                <a:endParaRPr lang="en-US" altLang="zh-CN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R="6773">
                  <a:lnSpc>
                    <a:spcPct val="200000"/>
                  </a:lnSpc>
                  <a:spcBef>
                    <a:spcPts val="580"/>
                  </a:spcBef>
                  <a:spcAft>
                    <a:spcPts val="333"/>
                  </a:spcAft>
                  <a:buFont typeface="Arial" panose="020B0604020202020204" pitchFamily="34" charset="0"/>
                  <a:buChar char="•"/>
                </a:pPr>
                <a:r>
                  <a:rPr lang="zh-CN" altLang="zh-CN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参数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>
                        <a:solidFill>
                          <a:srgbClr val="000066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c</m:t>
                    </m:r>
                  </m:oMath>
                </a14:m>
                <a:r>
                  <a:rPr lang="zh-CN" altLang="zh-CN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执行灰度范围伸缩</a:t>
                </a:r>
                <a:endParaRPr lang="zh-CN" altLang="en-US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443" y="2793819"/>
                <a:ext cx="6717619" cy="1901611"/>
              </a:xfrm>
              <a:prstGeom prst="rect">
                <a:avLst/>
              </a:prstGeom>
              <a:blipFill>
                <a:blip r:embed="rId4"/>
                <a:stretch>
                  <a:fillRect l="-544" b="-4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096" y="1155031"/>
            <a:ext cx="3166203" cy="233440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9593" y="3665483"/>
            <a:ext cx="2703208" cy="267256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9B1F5B0-47BF-4802-819B-1FC172E01A23}"/>
              </a:ext>
            </a:extLst>
          </p:cNvPr>
          <p:cNvSpPr txBox="1"/>
          <p:nvPr/>
        </p:nvSpPr>
        <p:spPr>
          <a:xfrm>
            <a:off x="143422" y="167230"/>
            <a:ext cx="6270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图像点运算：基本灰度级变换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846886" y="958784"/>
            <a:ext cx="1665841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基本原理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308100" y="1470954"/>
                <a:ext cx="9202245" cy="31926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6773">
                  <a:lnSpc>
                    <a:spcPct val="150000"/>
                  </a:lnSpc>
                  <a:spcBef>
                    <a:spcPts val="580"/>
                  </a:spcBef>
                </a:pPr>
                <a:r>
                  <a:rPr lang="zh-CN" altLang="en-US" sz="20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利用图像的直方图，设计灰度级变换，实现图像的对比度增强</a:t>
                </a:r>
                <a:endParaRPr lang="en-US" altLang="zh-CN" sz="2000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R="6773">
                  <a:lnSpc>
                    <a:spcPct val="150000"/>
                  </a:lnSpc>
                  <a:spcBef>
                    <a:spcPts val="580"/>
                  </a:spcBef>
                </a:pPr>
                <a:r>
                  <a:rPr lang="en-US" altLang="zh-CN" sz="2000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Q1</a:t>
                </a:r>
                <a:r>
                  <a:rPr lang="zh-CN" altLang="en-US" sz="2000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：如何根据图像的直方图，判断图像对比度的好坏？</a:t>
                </a:r>
                <a:endParaRPr lang="en-US" altLang="zh-CN" sz="2000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marR="6773" lvl="2" indent="-342900">
                  <a:lnSpc>
                    <a:spcPct val="150000"/>
                  </a:lnSpc>
                  <a:spcBef>
                    <a:spcPts val="580"/>
                  </a:spcBef>
                  <a:buFont typeface="Wingdings" panose="05000000000000000000" pitchFamily="2" charset="2"/>
                  <a:buChar char="ü"/>
                </a:pPr>
                <a:r>
                  <a:rPr lang="zh-CN" altLang="en-US" sz="2000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对比度好的图像具有“宽”的直方图，并且趋于平坦</a:t>
                </a:r>
                <a:endParaRPr lang="en-US" altLang="zh-CN" sz="2000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R="6773">
                  <a:lnSpc>
                    <a:spcPct val="150000"/>
                  </a:lnSpc>
                  <a:spcBef>
                    <a:spcPts val="580"/>
                  </a:spcBef>
                </a:pPr>
                <a:r>
                  <a:rPr lang="en-US" altLang="zh-CN" sz="2000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Q2</a:t>
                </a:r>
                <a:r>
                  <a:rPr lang="zh-CN" altLang="en-US" sz="2000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：如何根据图像已有的直方图，设计灰度级变换，实现直方图的修改？</a:t>
                </a:r>
                <a:endParaRPr lang="en-US" altLang="zh-CN" sz="2000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marR="6773" lvl="2" indent="-342900">
                  <a:lnSpc>
                    <a:spcPct val="150000"/>
                  </a:lnSpc>
                  <a:spcBef>
                    <a:spcPts val="580"/>
                  </a:spcBef>
                  <a:buFont typeface="Wingdings" panose="05000000000000000000" pitchFamily="2" charset="2"/>
                  <a:buChar char="ü"/>
                </a:pPr>
                <a:r>
                  <a:rPr lang="zh-CN" altLang="en-US" sz="2000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找到一个变换</a:t>
                </a:r>
                <a:r>
                  <a:rPr lang="en-US" altLang="zh-CN" sz="2000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nor/>
                      </m:rPr>
                      <a:rPr lang="en-US" altLang="zh-CN" sz="20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sz="2000"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altLang="zh-CN" sz="2000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	</a:t>
                </a:r>
              </a:p>
              <a:p>
                <a:pPr marL="0" marR="6773" lvl="1">
                  <a:lnSpc>
                    <a:spcPct val="150000"/>
                  </a:lnSpc>
                  <a:spcBef>
                    <a:spcPts val="580"/>
                  </a:spcBef>
                </a:pPr>
                <a:r>
                  <a:rPr lang="zh-CN" altLang="en-US" sz="2000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使得“窄”的图像直方图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zh-CN" altLang="en-US" sz="2000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变换成“宽”的直方图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zh-CN" altLang="en-US" sz="2000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8100" y="1470954"/>
                <a:ext cx="9202245" cy="3192669"/>
              </a:xfrm>
              <a:prstGeom prst="rect">
                <a:avLst/>
              </a:prstGeom>
              <a:blipFill>
                <a:blip r:embed="rId3"/>
                <a:stretch>
                  <a:fillRect l="-729" b="-24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74BB0D9F-5D32-41EA-B8F1-44286C7C253A}"/>
              </a:ext>
            </a:extLst>
          </p:cNvPr>
          <p:cNvSpPr txBox="1"/>
          <p:nvPr/>
        </p:nvSpPr>
        <p:spPr>
          <a:xfrm>
            <a:off x="143422" y="151464"/>
            <a:ext cx="6270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图像点运算：基于直方图的变换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C54947D-86E6-4F6B-A786-33FFA5B9F3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561" y="4947040"/>
            <a:ext cx="1536330" cy="1440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43EDE93-A526-4DEB-ABB1-E7582D4DDC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531" y="4947040"/>
            <a:ext cx="1440000" cy="1440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E72B137-D78E-4A5A-9107-2BCD7F353F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5978"/>
          <a:stretch/>
        </p:blipFill>
        <p:spPr>
          <a:xfrm>
            <a:off x="7409875" y="4947040"/>
            <a:ext cx="1536567" cy="14400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12C6B9C-38B7-43CB-A796-08B18E1439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3447" y="4947040"/>
            <a:ext cx="1440000" cy="1440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831029" y="1045808"/>
                <a:ext cx="2837081" cy="5195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6773">
                  <a:lnSpc>
                    <a:spcPct val="128000"/>
                  </a:lnSpc>
                  <a:spcBef>
                    <a:spcPts val="580"/>
                  </a:spcBef>
                </a:pPr>
                <a:r>
                  <a:rPr lang="zh-CN" altLang="en-US" sz="2400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求变换：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𝑠</m:t>
                    </m:r>
                    <m:r>
                      <m:rPr>
                        <m:nor/>
                      </m:rP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M</m:t>
                    </m:r>
                    <m:d>
                      <m:dPr>
                        <m:ctrlPr>
                          <a:rPr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029" y="1045808"/>
                <a:ext cx="2837081" cy="519501"/>
              </a:xfrm>
              <a:prstGeom prst="rect">
                <a:avLst/>
              </a:prstGeom>
              <a:blipFill>
                <a:blip r:embed="rId3"/>
                <a:stretch>
                  <a:fillRect l="-3219" b="-270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3114083" y="2307557"/>
                <a:ext cx="4773208" cy="5638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trlPr>
                          <a:rPr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sup>
                      <m:e>
                        <m:sSub>
                          <m:sSubPr>
                            <m:ctrlPr>
                              <a:rPr lang="zh-CN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sub>
                        </m:sSub>
                        <m:d>
                          <m:dPr>
                            <m:ctrlPr>
                              <a:rPr lang="zh-CN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𝑑𝑦</m:t>
                        </m:r>
                      </m:e>
                    </m:nary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trlPr>
                          <a:rPr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𝑣</m:t>
                        </m:r>
                      </m:sup>
                      <m:e>
                        <m:sSub>
                          <m:sSubPr>
                            <m:ctrlPr>
                              <a:rPr lang="zh-CN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sub>
                        </m:sSub>
                        <m:d>
                          <m:dPr>
                            <m:ctrlPr>
                              <a:rPr lang="zh-CN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083" y="2307557"/>
                <a:ext cx="4773208" cy="5638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/>
            </p:nvSpPr>
            <p:spPr>
              <a:xfrm>
                <a:off x="2617786" y="3137641"/>
                <a:ext cx="6323105" cy="5638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333"/>
                  </a:spcAft>
                </a:pPr>
                <a14:m>
                  <m:oMath xmlns:m="http://schemas.openxmlformats.org/officeDocument/2006/math">
                    <m:r>
                      <a:rPr lang="en-US" altLang="zh-CN" sz="24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altLang="zh-CN" sz="24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zh-CN" sz="24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nary>
                      <m:naryPr>
                        <m:ctrlPr>
                          <a:rPr lang="zh-CN" altLang="zh-CN" sz="24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24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4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sup>
                      <m:e>
                        <m:sSub>
                          <m:sSubPr>
                            <m:ctrlPr>
                              <a:rPr lang="zh-CN" altLang="zh-CN" sz="24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sub>
                        </m:sSub>
                        <m:d>
                          <m:dPr>
                            <m:ctrlPr>
                              <a:rPr lang="zh-CN" altLang="zh-CN" sz="24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sz="24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𝑑𝑦</m:t>
                        </m:r>
                      </m:e>
                    </m:nary>
                  </m:oMath>
                </a14:m>
                <a:r>
                  <a:rPr lang="zh-CN" altLang="zh-CN" sz="2400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CN" sz="24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zh-CN" sz="24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nary>
                      <m:naryPr>
                        <m:ctrlPr>
                          <a:rPr lang="zh-CN" altLang="zh-CN" sz="24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24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4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𝑣</m:t>
                        </m:r>
                      </m:sup>
                      <m:e>
                        <m:sSub>
                          <m:sSubPr>
                            <m:ctrlPr>
                              <a:rPr lang="zh-CN" altLang="zh-CN" sz="24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sub>
                        </m:sSub>
                        <m:d>
                          <m:dPr>
                            <m:ctrlPr>
                              <a:rPr lang="zh-CN" altLang="zh-CN" sz="24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24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zh-CN" altLang="zh-CN" sz="2400" kern="100" dirty="0">
                  <a:latin typeface="Calibri" panose="020F050202020403020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7786" y="3137641"/>
                <a:ext cx="6323105" cy="563872"/>
              </a:xfrm>
              <a:prstGeom prst="rect">
                <a:avLst/>
              </a:prstGeom>
              <a:blipFill>
                <a:blip r:embed="rId5"/>
                <a:stretch>
                  <a:fillRect t="-4348" b="-10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831029" y="1772307"/>
            <a:ext cx="9012059" cy="4725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6773">
              <a:lnSpc>
                <a:spcPct val="128000"/>
              </a:lnSpc>
              <a:spcBef>
                <a:spcPts val="580"/>
              </a:spcBef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变换前后的像素间明暗关系不变（非递减单调），可用累计直方图表达为：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/>
            </p:nvSpPr>
            <p:spPr>
              <a:xfrm>
                <a:off x="3114083" y="3967726"/>
                <a:ext cx="47732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083" y="3967726"/>
                <a:ext cx="4773208" cy="461665"/>
              </a:xfrm>
              <a:prstGeom prst="rect">
                <a:avLst/>
              </a:prstGeom>
              <a:blipFill>
                <a:blip r:embed="rId6"/>
                <a:stretch>
                  <a:fillRect l="-383" b="-1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/>
              <p:cNvSpPr txBox="1"/>
              <p:nvPr/>
            </p:nvSpPr>
            <p:spPr>
              <a:xfrm>
                <a:off x="5576651" y="4641578"/>
                <a:ext cx="47732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sSup>
                      <m:sSupPr>
                        <m:ctrlPr>
                          <a:rPr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𝑣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6651" y="4641578"/>
                <a:ext cx="4773208" cy="461665"/>
              </a:xfrm>
              <a:prstGeom prst="rect">
                <a:avLst/>
              </a:prstGeom>
              <a:blipFill>
                <a:blip r:embed="rId7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/>
          <p:cNvSpPr/>
          <p:nvPr/>
        </p:nvSpPr>
        <p:spPr>
          <a:xfrm>
            <a:off x="788987" y="4662129"/>
            <a:ext cx="9012059" cy="420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6182" marR="6773">
              <a:spcBef>
                <a:spcPts val="580"/>
              </a:spcBef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若严格单调，则由反函数定理：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C80DFF5-12B7-49D7-B89A-C4B7D0A0E4D7}"/>
              </a:ext>
            </a:extLst>
          </p:cNvPr>
          <p:cNvSpPr txBox="1"/>
          <p:nvPr/>
        </p:nvSpPr>
        <p:spPr>
          <a:xfrm>
            <a:off x="143422" y="151464"/>
            <a:ext cx="6270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图像点运算：基于直方图的变换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99A4A4C-B6EA-465E-B16D-03863D437B22}"/>
              </a:ext>
            </a:extLst>
          </p:cNvPr>
          <p:cNvSpPr txBox="1"/>
          <p:nvPr/>
        </p:nvSpPr>
        <p:spPr>
          <a:xfrm>
            <a:off x="936133" y="4060059"/>
            <a:ext cx="20908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累计直方图相等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36679" y="957073"/>
            <a:ext cx="2488182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连续直方图均衡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404471" y="1470954"/>
                <a:ext cx="9379143" cy="11505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6773">
                  <a:lnSpc>
                    <a:spcPct val="128000"/>
                  </a:lnSpc>
                  <a:spcBef>
                    <a:spcPts val="580"/>
                  </a:spcBef>
                </a:pPr>
                <a:r>
                  <a:rPr lang="zh-CN" altLang="en-US" sz="2133" b="1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目标直方图：均匀分布，所有灰度级拥有相同的像素个数</a:t>
                </a:r>
                <a:endParaRPr lang="en-US" altLang="zh-CN" sz="2133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R="6773">
                  <a:lnSpc>
                    <a:spcPct val="128000"/>
                  </a:lnSpc>
                  <a:spcBef>
                    <a:spcPts val="580"/>
                  </a:spcBef>
                </a:pPr>
                <a:r>
                  <a:rPr lang="zh-CN" altLang="zh-CN" sz="2133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若灰度等级范围是</a:t>
                </a:r>
                <a14:m>
                  <m:oMath xmlns:m="http://schemas.openxmlformats.org/officeDocument/2006/math">
                    <m:r>
                      <a:rPr lang="en-US" altLang="zh-CN" sz="2133">
                        <a:solidFill>
                          <a:srgbClr val="000066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[0,</m:t>
                    </m:r>
                    <m:r>
                      <a:rPr lang="en-US" altLang="zh-CN" sz="2133" i="1">
                        <a:solidFill>
                          <a:srgbClr val="000066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𝐿</m:t>
                    </m:r>
                    <m:r>
                      <a:rPr lang="en-US" altLang="zh-CN" sz="2133">
                        <a:solidFill>
                          <a:srgbClr val="000066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−1]</m:t>
                    </m:r>
                  </m:oMath>
                </a14:m>
                <a:r>
                  <a:rPr lang="zh-CN" altLang="zh-CN" sz="2133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133" i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133" i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𝑝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133" i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s</m:t>
                        </m:r>
                      </m:sub>
                    </m:sSub>
                    <m:d>
                      <m:dPr>
                        <m:ctrlPr>
                          <a:rPr lang="zh-CN" altLang="zh-CN" sz="2133" i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133" i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e>
                    </m:d>
                    <m:r>
                      <a:rPr lang="en-US" altLang="zh-CN" sz="2133">
                        <a:solidFill>
                          <a:srgbClr val="000066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zh-CN" altLang="zh-CN" sz="2133" i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fPr>
                      <m:num>
                        <m:r>
                          <a:rPr lang="en-US" altLang="zh-CN" sz="2133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2133" i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𝐿</m:t>
                        </m:r>
                        <m:r>
                          <a:rPr lang="en-US" altLang="zh-CN" sz="2133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−1</m:t>
                        </m:r>
                      </m:den>
                    </m:f>
                  </m:oMath>
                </a14:m>
                <a:r>
                  <a:rPr lang="zh-CN" altLang="zh-CN" sz="2133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。我们有</a:t>
                </a:r>
                <a:endParaRPr lang="zh-CN" altLang="en-US" sz="2133" b="1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471" y="1470954"/>
                <a:ext cx="9379143" cy="1150571"/>
              </a:xfrm>
              <a:prstGeom prst="rect">
                <a:avLst/>
              </a:prstGeom>
              <a:blipFill>
                <a:blip r:embed="rId3"/>
                <a:stretch>
                  <a:fillRect l="-780" b="-3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344819" y="2854934"/>
                <a:ext cx="3953475" cy="7978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6773">
                  <a:spcBef>
                    <a:spcPts val="580"/>
                  </a:spcBef>
                  <a:spcAft>
                    <a:spcPts val="333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zh-CN" sz="20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</m:sup>
                        <m:e>
                          <m:f>
                            <m:fPr>
                              <m:ctrlPr>
                                <a:rPr lang="zh-CN" altLang="zh-CN" sz="200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00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  <m:r>
                                <a:rPr lang="en-US" altLang="zh-CN" sz="200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den>
                          </m:f>
                          <m:r>
                            <a:rPr lang="en-US" altLang="zh-CN" sz="20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𝑑𝑦</m:t>
                          </m:r>
                        </m:e>
                      </m:nary>
                      <m:r>
                        <a:rPr lang="en-US" altLang="zh-CN" sz="2000" i="1" kern="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zh-CN" sz="20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200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00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00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0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sz="2000" i="1" kern="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zh-CN" altLang="zh-CN" sz="2000" kern="100" dirty="0">
                  <a:latin typeface="Calibri" panose="020F050202020403020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819" y="2854934"/>
                <a:ext cx="3953475" cy="7978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4DA7D738-0798-4284-A24F-1D0A6D94BED1}"/>
              </a:ext>
            </a:extLst>
          </p:cNvPr>
          <p:cNvSpPr txBox="1"/>
          <p:nvPr/>
        </p:nvSpPr>
        <p:spPr>
          <a:xfrm>
            <a:off x="143422" y="167230"/>
            <a:ext cx="6270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图像点运算：基于直方图的变换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5360C58-CF84-47C2-B982-9B23FDBC01D7}"/>
                  </a:ext>
                </a:extLst>
              </p:cNvPr>
              <p:cNvSpPr txBox="1"/>
              <p:nvPr/>
            </p:nvSpPr>
            <p:spPr>
              <a:xfrm>
                <a:off x="5622255" y="2874170"/>
                <a:ext cx="2800678" cy="7593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i="1" kern="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altLang="zh-CN" sz="2000" i="1" kern="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zh-CN" sz="20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𝐿</m:t>
                          </m:r>
                          <m:r>
                            <a:rPr lang="en-US" altLang="zh-CN" sz="20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e>
                      </m:d>
                      <m:nary>
                        <m:naryPr>
                          <m:ctrlPr>
                            <a:rPr lang="zh-CN" altLang="zh-CN" sz="20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0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200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00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zh-CN" sz="200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000" i="1" kern="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5360C58-CF84-47C2-B982-9B23FDBC0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2255" y="2874170"/>
                <a:ext cx="2800678" cy="7593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7161999A-94DC-43C1-A3B5-7158A9AC4236}"/>
              </a:ext>
            </a:extLst>
          </p:cNvPr>
          <p:cNvSpPr txBox="1"/>
          <p:nvPr/>
        </p:nvSpPr>
        <p:spPr>
          <a:xfrm>
            <a:off x="4630129" y="3069191"/>
            <a:ext cx="1107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输出灰度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DA2A5E-EF6F-4DD5-A061-6A428C1A389C}"/>
              </a:ext>
            </a:extLst>
          </p:cNvPr>
          <p:cNvSpPr/>
          <p:nvPr/>
        </p:nvSpPr>
        <p:spPr>
          <a:xfrm>
            <a:off x="689914" y="3728216"/>
            <a:ext cx="5381102" cy="5124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6773" indent="-342900">
              <a:lnSpc>
                <a:spcPct val="128000"/>
              </a:lnSpc>
              <a:spcBef>
                <a:spcPts val="580"/>
              </a:spcBef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离散直方图均衡</a:t>
            </a:r>
            <a:r>
              <a:rPr lang="zh-CN" altLang="en-US" sz="2133" b="1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化（积分变求和）</a:t>
            </a:r>
            <a:endParaRPr lang="zh-CN" altLang="en-US" sz="1867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A1AECB9-F738-4385-AA62-151E794B1AD2}"/>
                  </a:ext>
                </a:extLst>
              </p:cNvPr>
              <p:cNvSpPr txBox="1"/>
              <p:nvPr/>
            </p:nvSpPr>
            <p:spPr>
              <a:xfrm>
                <a:off x="1404471" y="4365137"/>
                <a:ext cx="9966374" cy="13980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zh-CN" altLang="zh-CN" sz="2000" kern="1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输入</a:t>
                </a:r>
                <a:r>
                  <a:rPr lang="zh-CN" altLang="en-US" sz="2000" kern="1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图像</a:t>
                </a:r>
                <a:r>
                  <a:rPr lang="zh-CN" altLang="zh-CN" sz="2000" kern="1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累积直方图</a:t>
                </a:r>
                <a:r>
                  <a:rPr lang="zh-CN" altLang="en-US" sz="2000" kern="1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：</a:t>
                </a:r>
                <a:r>
                  <a:rPr lang="en-US" altLang="zh-CN" sz="2000" kern="1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nary>
                      <m:naryPr>
                        <m:chr m:val="∑"/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  <m:e>
                        <m:f>
                          <m:fPr>
                            <m:ctrlPr>
                              <a:rPr lang="zh-CN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zh-CN" sz="200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200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𝑀𝑁</m:t>
                            </m:r>
                          </m:den>
                        </m:f>
                      </m:e>
                    </m:nary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=0,1,...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zh-CN" altLang="zh-CN" sz="2000" kern="1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，此时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𝑀𝑁</m:t>
                        </m:r>
                      </m:den>
                    </m:f>
                  </m:oMath>
                </a14:m>
                <a:endParaRPr lang="zh-CN" altLang="zh-CN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333"/>
                  </a:spcAft>
                </a:pPr>
                <a:r>
                  <a:rPr lang="zh-CN" altLang="en-US" sz="2000" kern="1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均衡化输出图像灰度：</a:t>
                </a:r>
                <a:r>
                  <a:rPr lang="en-US" altLang="zh-CN" sz="2000" kern="100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𝐿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nary>
                      <m:naryPr>
                        <m:chr m:val="∑"/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  <m:e>
                        <m:f>
                          <m:fPr>
                            <m:ctrlPr>
                              <a:rPr lang="zh-CN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zh-CN" sz="200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200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0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𝑀𝑁</m:t>
                            </m:r>
                          </m:den>
                        </m:f>
                      </m:e>
                    </m:nary>
                    <m:r>
                      <a:rPr lang="en-US" altLang="zh-CN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𝐿</m:t>
                        </m:r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  <m:sSub>
                      <m:sSubPr>
                        <m:ctrlPr>
                          <a:rPr lang="zh-CN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20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zh-CN" altLang="zh-CN" sz="2000" kern="1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A1AECB9-F738-4385-AA62-151E794B1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471" y="4365137"/>
                <a:ext cx="9966374" cy="1398075"/>
              </a:xfrm>
              <a:prstGeom prst="rect">
                <a:avLst/>
              </a:prstGeom>
              <a:blipFill>
                <a:blip r:embed="rId6"/>
                <a:stretch>
                  <a:fillRect l="-612" t="-21397" b="-414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片 13">
            <a:extLst>
              <a:ext uri="{FF2B5EF4-FFF2-40B4-BE49-F238E27FC236}">
                <a16:creationId xmlns:a16="http://schemas.microsoft.com/office/drawing/2014/main" id="{16F941A2-811D-45C9-A000-8F5C84F4B422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94384" y="1565877"/>
            <a:ext cx="3239028" cy="1289914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7DB585C0-D100-47E3-9766-368F5D3B864E}"/>
              </a:ext>
            </a:extLst>
          </p:cNvPr>
          <p:cNvSpPr txBox="1"/>
          <p:nvPr/>
        </p:nvSpPr>
        <p:spPr>
          <a:xfrm>
            <a:off x="6651607" y="5659063"/>
            <a:ext cx="48437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灰度范围 </a:t>
            </a:r>
            <a:r>
              <a:rPr lang="en-US" altLang="zh-CN" sz="14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* </a:t>
            </a:r>
            <a:r>
              <a:rPr lang="zh-CN" altLang="en-US" sz="14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比输入灰度小的像素个数占全图像素个数的比例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69652" y="1004974"/>
            <a:ext cx="3310522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基于离散直方图的变换</a:t>
            </a:r>
          </a:p>
        </p:txBody>
      </p:sp>
      <p:sp>
        <p:nvSpPr>
          <p:cNvPr id="7" name="矩形 6"/>
          <p:cNvSpPr/>
          <p:nvPr/>
        </p:nvSpPr>
        <p:spPr>
          <a:xfrm>
            <a:off x="926352" y="1544255"/>
            <a:ext cx="5530229" cy="4725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6182" marR="6773">
              <a:lnSpc>
                <a:spcPct val="128000"/>
              </a:lnSpc>
              <a:spcBef>
                <a:spcPts val="580"/>
              </a:spcBef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离散直方图均衡化算法可描述为：</a:t>
            </a:r>
            <a:endParaRPr lang="zh-CN" altLang="en-US" sz="1867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2358132" y="2135474"/>
                <a:ext cx="8110857" cy="23466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200000"/>
                  </a:lnSpc>
                </a:pPr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（</a:t>
                </a:r>
                <a:r>
                  <a:rPr lang="en-US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1</a:t>
                </a:r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）统计图像中灰度级为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的像素个数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，</a:t>
                </a:r>
                <a:endParaRPr lang="zh-CN" altLang="zh-CN" kern="100" dirty="0">
                  <a:latin typeface="+mn-ea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200000"/>
                  </a:lnSpc>
                  <a:spcAft>
                    <a:spcPts val="333"/>
                  </a:spcAft>
                </a:pPr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（</a:t>
                </a:r>
                <a:r>
                  <a:rPr lang="en-US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2</a:t>
                </a:r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）计算直方图：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endParaRPr lang="zh-CN" altLang="zh-CN" kern="100" dirty="0">
                  <a:latin typeface="+mn-ea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200000"/>
                  </a:lnSpc>
                  <a:spcAft>
                    <a:spcPts val="333"/>
                  </a:spcAft>
                </a:pPr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（</a:t>
                </a:r>
                <a:r>
                  <a:rPr lang="en-US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3</a:t>
                </a:r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）计算累计直方图：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zh-CN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sub>
                        </m:sSub>
                        <m:d>
                          <m:dPr>
                            <m:ctrlPr>
                              <a:rPr lang="zh-CN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</m:d>
                      </m:e>
                    </m:nary>
                  </m:oMath>
                </a14:m>
                <a:endParaRPr lang="zh-CN" altLang="zh-CN" kern="100" dirty="0">
                  <a:latin typeface="+mn-ea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200000"/>
                  </a:lnSpc>
                  <a:spcAft>
                    <a:spcPts val="333"/>
                  </a:spcAft>
                </a:pPr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（</a:t>
                </a:r>
                <a:r>
                  <a:rPr lang="en-US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4</a:t>
                </a:r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）</a:t>
                </a:r>
                <a:r>
                  <a:rPr lang="zh-CN" altLang="en-US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计算输出灰度并</a:t>
                </a:r>
                <a:r>
                  <a:rPr lang="zh-CN" altLang="zh-CN" kern="100" dirty="0">
                    <a:solidFill>
                      <a:srgbClr val="000000"/>
                    </a:solidFill>
                    <a:latin typeface="+mn-ea"/>
                    <a:cs typeface="Times New Roman" panose="02020603050405020304" pitchFamily="18" charset="0"/>
                  </a:rPr>
                  <a:t>取整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𝑖𝑛𝑡</m:t>
                        </m:r>
                      </m:fName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</m:e>
                    </m:func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−1)×</m:t>
                    </m:r>
                    <m:sSub>
                      <m:sSubPr>
                        <m:ctrlPr>
                          <a:rPr lang="zh-CN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+0.5]</m:t>
                    </m:r>
                  </m:oMath>
                </a14:m>
                <a:endParaRPr lang="zh-CN" altLang="zh-CN" kern="100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8132" y="2135474"/>
                <a:ext cx="8110857" cy="2346604"/>
              </a:xfrm>
              <a:prstGeom prst="rect">
                <a:avLst/>
              </a:prstGeom>
              <a:blipFill>
                <a:blip r:embed="rId3"/>
                <a:stretch>
                  <a:fillRect l="-677" b="-31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42011B18-FE86-4270-9686-D0CB80648BA1}"/>
              </a:ext>
            </a:extLst>
          </p:cNvPr>
          <p:cNvSpPr txBox="1"/>
          <p:nvPr/>
        </p:nvSpPr>
        <p:spPr>
          <a:xfrm>
            <a:off x="143422" y="167230"/>
            <a:ext cx="6270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图像点运算：基于直方图的变换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57850" y="1011335"/>
            <a:ext cx="2762295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连续直方图规定化</a:t>
            </a:r>
          </a:p>
        </p:txBody>
      </p:sp>
      <p:sp>
        <p:nvSpPr>
          <p:cNvPr id="7" name="矩形 6"/>
          <p:cNvSpPr/>
          <p:nvPr/>
        </p:nvSpPr>
        <p:spPr>
          <a:xfrm>
            <a:off x="1119352" y="1752784"/>
            <a:ext cx="9128234" cy="1041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6773">
              <a:lnSpc>
                <a:spcPct val="150000"/>
              </a:lnSpc>
              <a:spcBef>
                <a:spcPts val="580"/>
              </a:spcBef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输出图像具有指定分布的直方图形状</a:t>
            </a:r>
            <a:endParaRPr lang="en-US" altLang="zh-CN" sz="2133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6773" indent="-342900">
              <a:lnSpc>
                <a:spcPct val="150000"/>
              </a:lnSpc>
              <a:spcBef>
                <a:spcPts val="580"/>
              </a:spcBef>
              <a:buFont typeface="Wingdings" panose="05000000000000000000" pitchFamily="2" charset="2"/>
              <a:buChar char="ü"/>
            </a:pPr>
            <a:r>
              <a:rPr lang="zh-CN" altLang="en-US" sz="1867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输出图像</a:t>
            </a:r>
            <a:r>
              <a:rPr lang="en-US" altLang="zh-CN" sz="1867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PDF</a:t>
            </a:r>
            <a:r>
              <a:rPr lang="zh-CN" altLang="en-US" sz="1867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满足均匀分布的直方图均衡并不一定取得较好的增强结果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9C7474E-6862-4FB8-B66E-E3A3D60D8D5A}"/>
              </a:ext>
            </a:extLst>
          </p:cNvPr>
          <p:cNvSpPr txBox="1"/>
          <p:nvPr/>
        </p:nvSpPr>
        <p:spPr>
          <a:xfrm>
            <a:off x="143422" y="167230"/>
            <a:ext cx="6270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图像点运算：基于直方图的变换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C42E0F9-3205-482A-A5FE-AA3F204B0A24}"/>
                  </a:ext>
                </a:extLst>
              </p:cNvPr>
              <p:cNvSpPr txBox="1"/>
              <p:nvPr/>
            </p:nvSpPr>
            <p:spPr>
              <a:xfrm>
                <a:off x="2521916" y="2887039"/>
                <a:ext cx="6323105" cy="5638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333"/>
                  </a:spcAft>
                </a:pPr>
                <a14:m>
                  <m:oMath xmlns:m="http://schemas.openxmlformats.org/officeDocument/2006/math">
                    <m:r>
                      <a:rPr lang="en-US" altLang="zh-CN" sz="2400" i="1" kern="1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altLang="zh-CN" sz="2400" i="1" kern="1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 kern="1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zh-CN" sz="2400" i="1" kern="1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nary>
                      <m:naryPr>
                        <m:ctrlPr>
                          <a:rPr lang="zh-CN" altLang="zh-CN" sz="24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24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4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sup>
                      <m:e>
                        <m:sSub>
                          <m:sSubPr>
                            <m:ctrlPr>
                              <a:rPr lang="zh-CN" altLang="zh-CN" sz="24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sub>
                        </m:sSub>
                        <m:d>
                          <m:dPr>
                            <m:ctrlPr>
                              <a:rPr lang="zh-CN" altLang="zh-CN" sz="24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sz="24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𝑑𝑦</m:t>
                        </m:r>
                      </m:e>
                    </m:nary>
                  </m:oMath>
                </a14:m>
                <a:r>
                  <a:rPr lang="en-US" altLang="zh-CN" sz="2400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altLang="zh-CN" sz="2400" kern="1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CN" sz="24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zh-CN" sz="24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nary>
                      <m:naryPr>
                        <m:ctrlPr>
                          <a:rPr lang="zh-CN" altLang="zh-CN" sz="24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24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4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𝑣</m:t>
                        </m:r>
                      </m:sup>
                      <m:e>
                        <m:sSub>
                          <m:sSubPr>
                            <m:ctrlPr>
                              <a:rPr lang="zh-CN" altLang="zh-CN" sz="24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sub>
                        </m:sSub>
                        <m:d>
                          <m:dPr>
                            <m:ctrlPr>
                              <a:rPr lang="zh-CN" altLang="zh-CN" sz="24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kern="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2400" i="1" kern="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zh-CN" altLang="zh-CN" sz="2400" kern="100" dirty="0">
                  <a:latin typeface="Calibri" panose="020F050202020403020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C42E0F9-3205-482A-A5FE-AA3F204B0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916" y="2887039"/>
                <a:ext cx="6323105" cy="5638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99A0927-A86C-458F-B32F-CA4671019CE8}"/>
                  </a:ext>
                </a:extLst>
              </p:cNvPr>
              <p:cNvSpPr txBox="1"/>
              <p:nvPr/>
            </p:nvSpPr>
            <p:spPr>
              <a:xfrm>
                <a:off x="3917286" y="4353424"/>
                <a:ext cx="477320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sSup>
                      <m:sSupPr>
                        <m:ctrlPr>
                          <a:rPr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−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𝑣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99A0927-A86C-458F-B32F-CA4671019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7286" y="4353424"/>
                <a:ext cx="4773208" cy="461665"/>
              </a:xfrm>
              <a:prstGeom prst="rect">
                <a:avLst/>
              </a:prstGeom>
              <a:blipFill>
                <a:blip r:embed="rId4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591DE4A9-23DB-4B2F-B127-AC9C785192E9}"/>
              </a:ext>
            </a:extLst>
          </p:cNvPr>
          <p:cNvSpPr txBox="1"/>
          <p:nvPr/>
        </p:nvSpPr>
        <p:spPr>
          <a:xfrm>
            <a:off x="1480023" y="3891725"/>
            <a:ext cx="6095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利用累计直方图相等公式，计算反函数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1"/>
              <p:cNvSpPr>
                <a:spLocks noChangeArrowheads="1"/>
              </p:cNvSpPr>
              <p:nvPr/>
            </p:nvSpPr>
            <p:spPr bwMode="auto">
              <a:xfrm>
                <a:off x="867374" y="1389499"/>
                <a:ext cx="9852207" cy="43824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121920" tIns="60960" rIns="121920" bIns="60960" numCol="1" anchor="ctr" anchorCtr="0" compatLnSpc="1">
                <a:spAutoFit/>
              </a:bodyPr>
              <a:lstStyle/>
              <a:p>
                <a:pPr lvl="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给定一幅图像其灰度级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取值范围</a:t>
                </a:r>
                <a:r>
                  <a:rPr lang="en-US" altLang="zh-CN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[0,1,...7]</a:t>
                </a:r>
                <a:r>
                  <a:rPr lang="zh-CN" altLang="en-US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，原始图像各灰度级像素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如下表</a:t>
                </a:r>
                <a:endParaRPr lang="en-US" altLang="zh-CN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0" algn="ctr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          </a:t>
                </a:r>
                <a:r>
                  <a:rPr lang="zh-CN" altLang="en-US" dirty="0">
                    <a:latin typeface="+mn-ea"/>
                  </a:rPr>
                  <a:t>表</a:t>
                </a:r>
                <a:r>
                  <a:rPr lang="en-US" altLang="zh-CN" dirty="0">
                    <a:latin typeface="+mn-ea"/>
                  </a:rPr>
                  <a:t>1 </a:t>
                </a:r>
                <a:r>
                  <a:rPr lang="zh-CN" altLang="en-US" dirty="0">
                    <a:latin typeface="+mn-ea"/>
                  </a:rPr>
                  <a:t>原始图像各灰度级像素个数统计表</a:t>
                </a:r>
                <a:endParaRPr lang="en-US" altLang="zh-CN" dirty="0">
                  <a:latin typeface="+mn-ea"/>
                </a:endParaRPr>
              </a:p>
              <a:p>
                <a:pPr algn="ctr" defTabSz="121917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dirty="0">
                  <a:latin typeface="+mn-ea"/>
                </a:endParaRPr>
              </a:p>
              <a:p>
                <a:pPr defTabSz="121917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CN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defTabSz="121917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CN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defTabSz="121917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计算直方图均衡化的结果，并画出增强前后直方图。若该图中一个局部块的灰度矩阵为</a:t>
                </a:r>
                <a:endParaRPr lang="en-US" altLang="zh-CN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defTabSz="121917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CN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defTabSz="121917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defTabSz="121917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altLang="zh-CN" dirty="0">
                  <a:solidFill>
                    <a:srgbClr val="0000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defTabSz="1219170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dirty="0">
                    <a:solidFill>
                      <a:srgbClr val="0000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给出直方图均衡化后的矩阵？</a:t>
                </a:r>
              </a:p>
            </p:txBody>
          </p:sp>
        </mc:Choice>
        <mc:Fallback xmlns="">
          <p:sp>
            <p:nvSpPr>
              <p:cNvPr id="5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7374" y="1389499"/>
                <a:ext cx="9852207" cy="4382482"/>
              </a:xfrm>
              <a:prstGeom prst="rect">
                <a:avLst/>
              </a:prstGeom>
              <a:blipFill>
                <a:blip r:embed="rId3"/>
                <a:stretch>
                  <a:fillRect l="-1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491276" y="903485"/>
            <a:ext cx="3310522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基于离散直方图的变换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0157654"/>
                  </p:ext>
                </p:extLst>
              </p:nvPr>
            </p:nvGraphicFramePr>
            <p:xfrm>
              <a:off x="2941374" y="2402706"/>
              <a:ext cx="6960647" cy="109474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31795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803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033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8033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8033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8033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80336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580336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580336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</a:tblGrid>
                  <a:tr h="489373">
                    <a:tc>
                      <a:txBody>
                        <a:bodyPr/>
                        <a:lstStyle/>
                        <a:p>
                          <a:pPr indent="29337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zh-CN" sz="1200" kern="0" dirty="0">
                              <a:effectLst/>
                            </a:rPr>
                            <a:t>列出原始图像灰度级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ker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1200" ker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en-US" sz="1200" kern="0" dirty="0">
                              <a:effectLst/>
                            </a:rPr>
                            <a:t>0</a:t>
                          </a:r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en-US" sz="1200" kern="0" dirty="0">
                              <a:effectLst/>
                            </a:rPr>
                            <a:t>1</a:t>
                          </a:r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en-US" sz="1200" kern="0" dirty="0">
                              <a:effectLst/>
                            </a:rPr>
                            <a:t>2</a:t>
                          </a:r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en-US" sz="1200" kern="0" dirty="0">
                              <a:effectLst/>
                            </a:rPr>
                            <a:t>3</a:t>
                          </a:r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en-US" sz="1200" kern="0" dirty="0">
                              <a:effectLst/>
                            </a:rPr>
                            <a:t>4</a:t>
                          </a:r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en-US" sz="1200" kern="0" dirty="0">
                              <a:effectLst/>
                            </a:rPr>
                            <a:t>5</a:t>
                          </a:r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en-US" sz="1200" kern="0" dirty="0">
                              <a:effectLst/>
                            </a:rPr>
                            <a:t>6</a:t>
                          </a:r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en-US" sz="1200" kern="0" dirty="0">
                              <a:effectLst/>
                            </a:rPr>
                            <a:t>7</a:t>
                          </a:r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05367">
                    <a:tc>
                      <a:txBody>
                        <a:bodyPr/>
                        <a:lstStyle/>
                        <a:p>
                          <a:pPr indent="29337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zh-CN" sz="1200" kern="0" dirty="0">
                              <a:effectLst/>
                            </a:rPr>
                            <a:t>统计原始图像各灰度级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ker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200" ker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kern="0" dirty="0">
                              <a:effectLst/>
                            </a:rPr>
                            <a:t>790</a:t>
                          </a:r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kern="0" dirty="0">
                              <a:effectLst/>
                            </a:rPr>
                            <a:t>1023</a:t>
                          </a:r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kern="0" dirty="0">
                              <a:effectLst/>
                            </a:rPr>
                            <a:t>850</a:t>
                          </a:r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kern="0" dirty="0">
                              <a:effectLst/>
                            </a:rPr>
                            <a:t>656</a:t>
                          </a:r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kern="0" dirty="0">
                              <a:effectLst/>
                            </a:rPr>
                            <a:t>329</a:t>
                          </a:r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kern="0" dirty="0">
                              <a:effectLst/>
                            </a:rPr>
                            <a:t>245</a:t>
                          </a:r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kern="0" dirty="0">
                              <a:effectLst/>
                            </a:rPr>
                            <a:t>122</a:t>
                          </a:r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kern="0" dirty="0">
                              <a:effectLst/>
                            </a:rPr>
                            <a:t>81</a:t>
                          </a:r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0157654"/>
                  </p:ext>
                </p:extLst>
              </p:nvPr>
            </p:nvGraphicFramePr>
            <p:xfrm>
              <a:off x="2941374" y="2402706"/>
              <a:ext cx="6960647" cy="109474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31795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803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033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8033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58033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58033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580336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580336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580336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</a:tblGrid>
                  <a:tr h="48937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0" marB="0" anchor="ctr">
                        <a:blipFill>
                          <a:blip r:embed="rId4"/>
                          <a:stretch>
                            <a:fillRect l="-262" t="-1250" r="-200525" b="-12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en-US" sz="1200" kern="0" dirty="0">
                              <a:effectLst/>
                            </a:rPr>
                            <a:t>0</a:t>
                          </a:r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en-US" sz="1200" kern="0" dirty="0">
                              <a:effectLst/>
                            </a:rPr>
                            <a:t>1</a:t>
                          </a:r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en-US" sz="1200" kern="0" dirty="0">
                              <a:effectLst/>
                            </a:rPr>
                            <a:t>2</a:t>
                          </a:r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en-US" sz="1200" kern="0" dirty="0">
                              <a:effectLst/>
                            </a:rPr>
                            <a:t>3</a:t>
                          </a:r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en-US" sz="1200" kern="0" dirty="0">
                              <a:effectLst/>
                            </a:rPr>
                            <a:t>4</a:t>
                          </a:r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en-US" sz="1200" kern="0" dirty="0">
                              <a:effectLst/>
                            </a:rPr>
                            <a:t>5</a:t>
                          </a:r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en-US" sz="1200" kern="0" dirty="0">
                              <a:effectLst/>
                            </a:rPr>
                            <a:t>6</a:t>
                          </a:r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en-US" sz="1200" kern="0" dirty="0">
                              <a:effectLst/>
                            </a:rPr>
                            <a:t>7</a:t>
                          </a:r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0536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0" marB="0" anchor="ctr">
                        <a:blipFill>
                          <a:blip r:embed="rId4"/>
                          <a:stretch>
                            <a:fillRect l="-262" t="-81000" r="-200525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kern="0" dirty="0">
                              <a:effectLst/>
                            </a:rPr>
                            <a:t>790</a:t>
                          </a:r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kern="0" dirty="0">
                              <a:effectLst/>
                            </a:rPr>
                            <a:t>1023</a:t>
                          </a:r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kern="0" dirty="0">
                              <a:effectLst/>
                            </a:rPr>
                            <a:t>850</a:t>
                          </a:r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kern="0" dirty="0">
                              <a:effectLst/>
                            </a:rPr>
                            <a:t>656</a:t>
                          </a:r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kern="0" dirty="0">
                              <a:effectLst/>
                            </a:rPr>
                            <a:t>329</a:t>
                          </a:r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kern="0" dirty="0">
                              <a:effectLst/>
                            </a:rPr>
                            <a:t>245</a:t>
                          </a:r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kern="0" dirty="0">
                              <a:effectLst/>
                            </a:rPr>
                            <a:t>122</a:t>
                          </a:r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1200" kern="0" dirty="0">
                              <a:effectLst/>
                            </a:rPr>
                            <a:t>81</a:t>
                          </a:r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844373"/>
              </p:ext>
            </p:extLst>
          </p:nvPr>
        </p:nvGraphicFramePr>
        <p:xfrm>
          <a:off x="5120734" y="4102028"/>
          <a:ext cx="1882140" cy="11057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0</a:t>
                      </a:r>
                      <a:endParaRPr lang="zh-CN" sz="14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3</a:t>
                      </a:r>
                      <a:endParaRPr lang="zh-CN" sz="14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7</a:t>
                      </a:r>
                      <a:endParaRPr lang="zh-CN" sz="14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06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3</a:t>
                      </a:r>
                      <a:endParaRPr lang="zh-CN" sz="14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2</a:t>
                      </a:r>
                      <a:endParaRPr lang="zh-CN" sz="14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4</a:t>
                      </a:r>
                      <a:endParaRPr lang="zh-CN" sz="14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1</a:t>
                      </a:r>
                      <a:endParaRPr lang="zh-CN" sz="14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6</a:t>
                      </a:r>
                      <a:endParaRPr lang="zh-CN" sz="14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5</a:t>
                      </a:r>
                      <a:endParaRPr lang="zh-CN" sz="14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8664223" y="233505"/>
            <a:ext cx="1789295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直方图变换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214D5D-F99E-42DF-833C-6E4F04EEB84A}"/>
              </a:ext>
            </a:extLst>
          </p:cNvPr>
          <p:cNvSpPr txBox="1"/>
          <p:nvPr/>
        </p:nvSpPr>
        <p:spPr>
          <a:xfrm>
            <a:off x="143422" y="167230"/>
            <a:ext cx="6270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图像点运算：基于直方图的变换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33799" y="861942"/>
            <a:ext cx="3310522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基于离散直方图的变换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333" y="1017464"/>
            <a:ext cx="6430695" cy="543345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A473102-51F4-43E2-A39A-657E011C9761}"/>
              </a:ext>
            </a:extLst>
          </p:cNvPr>
          <p:cNvSpPr txBox="1"/>
          <p:nvPr/>
        </p:nvSpPr>
        <p:spPr>
          <a:xfrm>
            <a:off x="143422" y="151464"/>
            <a:ext cx="6270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图像点运算：基于直方图的变换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491FB42-015A-442D-8E00-6059D74761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132028"/>
              </p:ext>
            </p:extLst>
          </p:nvPr>
        </p:nvGraphicFramePr>
        <p:xfrm>
          <a:off x="1147990" y="1576406"/>
          <a:ext cx="1882140" cy="11057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380">
                  <a:extLst>
                    <a:ext uri="{9D8B030D-6E8A-4147-A177-3AD203B41FA5}">
                      <a16:colId xmlns:a16="http://schemas.microsoft.com/office/drawing/2014/main" val="3591134671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2405049669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2570498524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0</a:t>
                      </a:r>
                      <a:endParaRPr lang="zh-CN" sz="14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3</a:t>
                      </a:r>
                      <a:endParaRPr lang="zh-CN" sz="14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7</a:t>
                      </a:r>
                      <a:endParaRPr lang="zh-CN" sz="14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3348213950"/>
                  </a:ext>
                </a:extLst>
              </a:tr>
              <a:tr h="36406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3</a:t>
                      </a:r>
                      <a:endParaRPr lang="zh-CN" sz="14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2</a:t>
                      </a:r>
                      <a:endParaRPr lang="zh-CN" sz="14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4</a:t>
                      </a:r>
                      <a:endParaRPr lang="zh-CN" sz="14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005457959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200" kern="0">
                          <a:effectLst/>
                        </a:rPr>
                        <a:t>1</a:t>
                      </a:r>
                      <a:endParaRPr lang="zh-CN" sz="14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6</a:t>
                      </a:r>
                      <a:endParaRPr lang="zh-CN" sz="14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200" kern="0" dirty="0">
                          <a:effectLst/>
                        </a:rPr>
                        <a:t>5</a:t>
                      </a:r>
                      <a:endParaRPr lang="zh-CN" sz="14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420567926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B34E9B63-0F71-40BE-8965-F9D2911C7F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5380073"/>
                  </p:ext>
                </p:extLst>
              </p:nvPr>
            </p:nvGraphicFramePr>
            <p:xfrm>
              <a:off x="235244" y="3138724"/>
              <a:ext cx="4899730" cy="109474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503808">
                      <a:extLst>
                        <a:ext uri="{9D8B030D-6E8A-4147-A177-3AD203B41FA5}">
                          <a16:colId xmlns:a16="http://schemas.microsoft.com/office/drawing/2014/main" val="3176398490"/>
                        </a:ext>
                      </a:extLst>
                    </a:gridCol>
                    <a:gridCol w="451039">
                      <a:extLst>
                        <a:ext uri="{9D8B030D-6E8A-4147-A177-3AD203B41FA5}">
                          <a16:colId xmlns:a16="http://schemas.microsoft.com/office/drawing/2014/main" val="3770315804"/>
                        </a:ext>
                      </a:extLst>
                    </a:gridCol>
                    <a:gridCol w="493829">
                      <a:extLst>
                        <a:ext uri="{9D8B030D-6E8A-4147-A177-3AD203B41FA5}">
                          <a16:colId xmlns:a16="http://schemas.microsoft.com/office/drawing/2014/main" val="4062779821"/>
                        </a:ext>
                      </a:extLst>
                    </a:gridCol>
                    <a:gridCol w="408509">
                      <a:extLst>
                        <a:ext uri="{9D8B030D-6E8A-4147-A177-3AD203B41FA5}">
                          <a16:colId xmlns:a16="http://schemas.microsoft.com/office/drawing/2014/main" val="2304214706"/>
                        </a:ext>
                      </a:extLst>
                    </a:gridCol>
                    <a:gridCol w="408509">
                      <a:extLst>
                        <a:ext uri="{9D8B030D-6E8A-4147-A177-3AD203B41FA5}">
                          <a16:colId xmlns:a16="http://schemas.microsoft.com/office/drawing/2014/main" val="512434716"/>
                        </a:ext>
                      </a:extLst>
                    </a:gridCol>
                    <a:gridCol w="408509">
                      <a:extLst>
                        <a:ext uri="{9D8B030D-6E8A-4147-A177-3AD203B41FA5}">
                          <a16:colId xmlns:a16="http://schemas.microsoft.com/office/drawing/2014/main" val="3196729291"/>
                        </a:ext>
                      </a:extLst>
                    </a:gridCol>
                    <a:gridCol w="408509">
                      <a:extLst>
                        <a:ext uri="{9D8B030D-6E8A-4147-A177-3AD203B41FA5}">
                          <a16:colId xmlns:a16="http://schemas.microsoft.com/office/drawing/2014/main" val="1487808777"/>
                        </a:ext>
                      </a:extLst>
                    </a:gridCol>
                    <a:gridCol w="408509">
                      <a:extLst>
                        <a:ext uri="{9D8B030D-6E8A-4147-A177-3AD203B41FA5}">
                          <a16:colId xmlns:a16="http://schemas.microsoft.com/office/drawing/2014/main" val="2139585243"/>
                        </a:ext>
                      </a:extLst>
                    </a:gridCol>
                    <a:gridCol w="408509">
                      <a:extLst>
                        <a:ext uri="{9D8B030D-6E8A-4147-A177-3AD203B41FA5}">
                          <a16:colId xmlns:a16="http://schemas.microsoft.com/office/drawing/2014/main" val="2812730280"/>
                        </a:ext>
                      </a:extLst>
                    </a:gridCol>
                  </a:tblGrid>
                  <a:tr h="489373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zh-CN" sz="1200" kern="0" dirty="0">
                              <a:effectLst/>
                            </a:rPr>
                            <a:t>灰度级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ker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1200" ker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en-US" sz="900" kern="0" dirty="0">
                              <a:effectLst/>
                            </a:rPr>
                            <a:t>0</a:t>
                          </a:r>
                          <a:endParaRPr lang="zh-CN" sz="10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en-US" sz="900" kern="0" dirty="0">
                              <a:effectLst/>
                            </a:rPr>
                            <a:t>1</a:t>
                          </a:r>
                          <a:endParaRPr lang="zh-CN" sz="10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en-US" sz="900" kern="0" dirty="0">
                              <a:effectLst/>
                            </a:rPr>
                            <a:t>2</a:t>
                          </a:r>
                          <a:endParaRPr lang="zh-CN" sz="10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en-US" sz="900" kern="0" dirty="0">
                              <a:effectLst/>
                            </a:rPr>
                            <a:t>3</a:t>
                          </a:r>
                          <a:endParaRPr lang="zh-CN" sz="10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en-US" sz="900" kern="0" dirty="0">
                              <a:effectLst/>
                            </a:rPr>
                            <a:t>4</a:t>
                          </a:r>
                          <a:endParaRPr lang="zh-CN" sz="10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en-US" sz="900" kern="0" dirty="0">
                              <a:effectLst/>
                            </a:rPr>
                            <a:t>5</a:t>
                          </a:r>
                          <a:endParaRPr lang="zh-CN" sz="10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en-US" sz="900" kern="0" dirty="0">
                              <a:effectLst/>
                            </a:rPr>
                            <a:t>6</a:t>
                          </a:r>
                          <a:endParaRPr lang="zh-CN" sz="10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en-US" sz="900" kern="0" dirty="0">
                              <a:effectLst/>
                            </a:rPr>
                            <a:t>7</a:t>
                          </a:r>
                          <a:endParaRPr lang="zh-CN" sz="10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extLst>
                      <a:ext uri="{0D108BD9-81ED-4DB2-BD59-A6C34878D82A}">
                        <a16:rowId xmlns:a16="http://schemas.microsoft.com/office/drawing/2014/main" val="1352653671"/>
                      </a:ext>
                    </a:extLst>
                  </a:tr>
                  <a:tr h="605367">
                    <a:tc>
                      <a:txBody>
                        <a:bodyPr/>
                        <a:lstStyle/>
                        <a:p>
                          <a:pPr marL="0"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zh-CN" sz="1200" kern="0" dirty="0">
                              <a:effectLst/>
                            </a:rPr>
                            <a:t>灰度级</a:t>
                          </a:r>
                          <a:r>
                            <a:rPr lang="zh-CN" altLang="en-US" sz="1200" kern="0" dirty="0">
                              <a:effectLst/>
                            </a:rPr>
                            <a:t>像素个数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zh-CN" sz="12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ker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1200" ker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endParaRPr lang="zh-CN" sz="14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kern="0" dirty="0">
                              <a:effectLst/>
                            </a:rPr>
                            <a:t>790</a:t>
                          </a:r>
                          <a:endParaRPr lang="zh-CN" sz="10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kern="0" dirty="0">
                              <a:effectLst/>
                            </a:rPr>
                            <a:t>1023</a:t>
                          </a:r>
                          <a:endParaRPr lang="zh-CN" sz="10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kern="0" dirty="0">
                              <a:effectLst/>
                            </a:rPr>
                            <a:t>850</a:t>
                          </a:r>
                          <a:endParaRPr lang="zh-CN" sz="10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kern="0" dirty="0">
                              <a:effectLst/>
                            </a:rPr>
                            <a:t>656</a:t>
                          </a:r>
                          <a:endParaRPr lang="zh-CN" sz="10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kern="0" dirty="0">
                              <a:effectLst/>
                            </a:rPr>
                            <a:t>329</a:t>
                          </a:r>
                          <a:endParaRPr lang="zh-CN" sz="10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kern="0" dirty="0">
                              <a:effectLst/>
                            </a:rPr>
                            <a:t>245</a:t>
                          </a:r>
                          <a:endParaRPr lang="zh-CN" sz="10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kern="0" dirty="0">
                              <a:effectLst/>
                            </a:rPr>
                            <a:t>122</a:t>
                          </a:r>
                          <a:endParaRPr lang="zh-CN" sz="10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kern="0" dirty="0">
                              <a:effectLst/>
                            </a:rPr>
                            <a:t>81</a:t>
                          </a:r>
                          <a:endParaRPr lang="zh-CN" sz="10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extLst>
                      <a:ext uri="{0D108BD9-81ED-4DB2-BD59-A6C34878D82A}">
                        <a16:rowId xmlns:a16="http://schemas.microsoft.com/office/drawing/2014/main" val="7495445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B34E9B63-0F71-40BE-8965-F9D2911C7F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5380073"/>
                  </p:ext>
                </p:extLst>
              </p:nvPr>
            </p:nvGraphicFramePr>
            <p:xfrm>
              <a:off x="235244" y="3138724"/>
              <a:ext cx="4899730" cy="109474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503808">
                      <a:extLst>
                        <a:ext uri="{9D8B030D-6E8A-4147-A177-3AD203B41FA5}">
                          <a16:colId xmlns:a16="http://schemas.microsoft.com/office/drawing/2014/main" val="3176398490"/>
                        </a:ext>
                      </a:extLst>
                    </a:gridCol>
                    <a:gridCol w="451039">
                      <a:extLst>
                        <a:ext uri="{9D8B030D-6E8A-4147-A177-3AD203B41FA5}">
                          <a16:colId xmlns:a16="http://schemas.microsoft.com/office/drawing/2014/main" val="3770315804"/>
                        </a:ext>
                      </a:extLst>
                    </a:gridCol>
                    <a:gridCol w="493829">
                      <a:extLst>
                        <a:ext uri="{9D8B030D-6E8A-4147-A177-3AD203B41FA5}">
                          <a16:colId xmlns:a16="http://schemas.microsoft.com/office/drawing/2014/main" val="4062779821"/>
                        </a:ext>
                      </a:extLst>
                    </a:gridCol>
                    <a:gridCol w="408509">
                      <a:extLst>
                        <a:ext uri="{9D8B030D-6E8A-4147-A177-3AD203B41FA5}">
                          <a16:colId xmlns:a16="http://schemas.microsoft.com/office/drawing/2014/main" val="2304214706"/>
                        </a:ext>
                      </a:extLst>
                    </a:gridCol>
                    <a:gridCol w="408509">
                      <a:extLst>
                        <a:ext uri="{9D8B030D-6E8A-4147-A177-3AD203B41FA5}">
                          <a16:colId xmlns:a16="http://schemas.microsoft.com/office/drawing/2014/main" val="512434716"/>
                        </a:ext>
                      </a:extLst>
                    </a:gridCol>
                    <a:gridCol w="408509">
                      <a:extLst>
                        <a:ext uri="{9D8B030D-6E8A-4147-A177-3AD203B41FA5}">
                          <a16:colId xmlns:a16="http://schemas.microsoft.com/office/drawing/2014/main" val="3196729291"/>
                        </a:ext>
                      </a:extLst>
                    </a:gridCol>
                    <a:gridCol w="408509">
                      <a:extLst>
                        <a:ext uri="{9D8B030D-6E8A-4147-A177-3AD203B41FA5}">
                          <a16:colId xmlns:a16="http://schemas.microsoft.com/office/drawing/2014/main" val="1487808777"/>
                        </a:ext>
                      </a:extLst>
                    </a:gridCol>
                    <a:gridCol w="408509">
                      <a:extLst>
                        <a:ext uri="{9D8B030D-6E8A-4147-A177-3AD203B41FA5}">
                          <a16:colId xmlns:a16="http://schemas.microsoft.com/office/drawing/2014/main" val="2139585243"/>
                        </a:ext>
                      </a:extLst>
                    </a:gridCol>
                    <a:gridCol w="408509">
                      <a:extLst>
                        <a:ext uri="{9D8B030D-6E8A-4147-A177-3AD203B41FA5}">
                          <a16:colId xmlns:a16="http://schemas.microsoft.com/office/drawing/2014/main" val="2812730280"/>
                        </a:ext>
                      </a:extLst>
                    </a:gridCol>
                  </a:tblGrid>
                  <a:tr h="48937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0" marB="0" anchor="ctr">
                        <a:blipFill>
                          <a:blip r:embed="rId4"/>
                          <a:stretch>
                            <a:fillRect l="-405" t="-1235" r="-226721" b="-1259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en-US" sz="900" kern="0" dirty="0">
                              <a:effectLst/>
                            </a:rPr>
                            <a:t>0</a:t>
                          </a:r>
                          <a:endParaRPr lang="zh-CN" sz="10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en-US" sz="900" kern="0" dirty="0">
                              <a:effectLst/>
                            </a:rPr>
                            <a:t>1</a:t>
                          </a:r>
                          <a:endParaRPr lang="zh-CN" sz="10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en-US" sz="900" kern="0" dirty="0">
                              <a:effectLst/>
                            </a:rPr>
                            <a:t>2</a:t>
                          </a:r>
                          <a:endParaRPr lang="zh-CN" sz="10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en-US" sz="900" kern="0" dirty="0">
                              <a:effectLst/>
                            </a:rPr>
                            <a:t>3</a:t>
                          </a:r>
                          <a:endParaRPr lang="zh-CN" sz="10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en-US" sz="900" kern="0" dirty="0">
                              <a:effectLst/>
                            </a:rPr>
                            <a:t>4</a:t>
                          </a:r>
                          <a:endParaRPr lang="zh-CN" sz="10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en-US" sz="900" kern="0" dirty="0">
                              <a:effectLst/>
                            </a:rPr>
                            <a:t>5</a:t>
                          </a:r>
                          <a:endParaRPr lang="zh-CN" sz="10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en-US" sz="900" kern="0" dirty="0">
                              <a:effectLst/>
                            </a:rPr>
                            <a:t>6</a:t>
                          </a:r>
                          <a:endParaRPr lang="zh-CN" sz="10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250"/>
                            </a:spcAft>
                            <a:buNone/>
                          </a:pPr>
                          <a:r>
                            <a:rPr lang="en-US" sz="900" kern="0" dirty="0">
                              <a:effectLst/>
                            </a:rPr>
                            <a:t>7</a:t>
                          </a:r>
                          <a:endParaRPr lang="zh-CN" sz="10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extLst>
                      <a:ext uri="{0D108BD9-81ED-4DB2-BD59-A6C34878D82A}">
                        <a16:rowId xmlns:a16="http://schemas.microsoft.com/office/drawing/2014/main" val="1352653671"/>
                      </a:ext>
                    </a:extLst>
                  </a:tr>
                  <a:tr h="60536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0" marB="0" anchor="ctr">
                        <a:blipFill>
                          <a:blip r:embed="rId4"/>
                          <a:stretch>
                            <a:fillRect l="-405" t="-82000" r="-226721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kern="0" dirty="0">
                              <a:effectLst/>
                            </a:rPr>
                            <a:t>790</a:t>
                          </a:r>
                          <a:endParaRPr lang="zh-CN" sz="10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kern="0" dirty="0">
                              <a:effectLst/>
                            </a:rPr>
                            <a:t>1023</a:t>
                          </a:r>
                          <a:endParaRPr lang="zh-CN" sz="10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kern="0" dirty="0">
                              <a:effectLst/>
                            </a:rPr>
                            <a:t>850</a:t>
                          </a:r>
                          <a:endParaRPr lang="zh-CN" sz="10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kern="0" dirty="0">
                              <a:effectLst/>
                            </a:rPr>
                            <a:t>656</a:t>
                          </a:r>
                          <a:endParaRPr lang="zh-CN" sz="10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kern="0" dirty="0">
                              <a:effectLst/>
                            </a:rPr>
                            <a:t>329</a:t>
                          </a:r>
                          <a:endParaRPr lang="zh-CN" sz="10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kern="0" dirty="0">
                              <a:effectLst/>
                            </a:rPr>
                            <a:t>245</a:t>
                          </a:r>
                          <a:endParaRPr lang="zh-CN" sz="10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kern="0" dirty="0">
                              <a:effectLst/>
                            </a:rPr>
                            <a:t>122</a:t>
                          </a:r>
                          <a:endParaRPr lang="zh-CN" sz="10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tc>
                      <a:txBody>
                        <a:bodyPr/>
                        <a:lstStyle/>
                        <a:p>
                          <a:pPr indent="0" algn="ctr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900" kern="0" dirty="0">
                              <a:effectLst/>
                            </a:rPr>
                            <a:t>81</a:t>
                          </a:r>
                          <a:endParaRPr lang="zh-CN" sz="1000" kern="100" dirty="0">
                            <a:effectLst/>
                            <a:latin typeface="Calibri" panose="020F0502020204030204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0" marB="0" anchor="ctr"/>
                    </a:tc>
                    <a:extLst>
                      <a:ext uri="{0D108BD9-81ED-4DB2-BD59-A6C34878D82A}">
                        <a16:rowId xmlns:a16="http://schemas.microsoft.com/office/drawing/2014/main" val="749544569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33077" y="851089"/>
            <a:ext cx="3310522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基于离散直方图的变换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522451"/>
              </p:ext>
            </p:extLst>
          </p:nvPr>
        </p:nvGraphicFramePr>
        <p:xfrm>
          <a:off x="6734120" y="4750492"/>
          <a:ext cx="1882140" cy="13030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74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900" kern="0" dirty="0">
                          <a:effectLst/>
                        </a:rPr>
                        <a:t>0</a:t>
                      </a:r>
                      <a:endParaRPr lang="zh-CN" sz="19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900" kern="0" dirty="0">
                          <a:effectLst/>
                        </a:rPr>
                        <a:t>3</a:t>
                      </a:r>
                      <a:endParaRPr lang="zh-CN" sz="19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900" kern="0">
                          <a:effectLst/>
                        </a:rPr>
                        <a:t>7</a:t>
                      </a:r>
                      <a:endParaRPr lang="zh-CN" sz="19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74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900" kern="0">
                          <a:effectLst/>
                        </a:rPr>
                        <a:t>3</a:t>
                      </a:r>
                      <a:endParaRPr lang="zh-CN" sz="19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900" kern="0" dirty="0">
                          <a:effectLst/>
                        </a:rPr>
                        <a:t>2</a:t>
                      </a:r>
                      <a:endParaRPr lang="zh-CN" sz="19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900" kern="0" dirty="0">
                          <a:effectLst/>
                        </a:rPr>
                        <a:t>4</a:t>
                      </a:r>
                      <a:endParaRPr lang="zh-CN" sz="19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74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900" kern="0">
                          <a:effectLst/>
                        </a:rPr>
                        <a:t>1</a:t>
                      </a:r>
                      <a:endParaRPr lang="zh-CN" sz="19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900" kern="0" dirty="0">
                          <a:effectLst/>
                        </a:rPr>
                        <a:t>6</a:t>
                      </a:r>
                      <a:endParaRPr lang="zh-CN" sz="19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900" kern="0" dirty="0">
                          <a:effectLst/>
                        </a:rPr>
                        <a:t>5</a:t>
                      </a:r>
                      <a:endParaRPr lang="zh-CN" sz="19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298942"/>
              </p:ext>
            </p:extLst>
          </p:nvPr>
        </p:nvGraphicFramePr>
        <p:xfrm>
          <a:off x="2845175" y="4750492"/>
          <a:ext cx="1882140" cy="13030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7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74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900" kern="0" dirty="0">
                          <a:effectLst/>
                        </a:rPr>
                        <a:t>1</a:t>
                      </a:r>
                      <a:endParaRPr lang="zh-CN" sz="19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900" kern="0" dirty="0">
                          <a:effectLst/>
                        </a:rPr>
                        <a:t>6</a:t>
                      </a:r>
                      <a:endParaRPr lang="zh-CN" sz="19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900" kern="0">
                          <a:effectLst/>
                        </a:rPr>
                        <a:t>7</a:t>
                      </a:r>
                      <a:endParaRPr lang="zh-CN" sz="19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74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900" kern="0">
                          <a:effectLst/>
                        </a:rPr>
                        <a:t>6</a:t>
                      </a:r>
                      <a:endParaRPr lang="zh-CN" sz="19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900" kern="0" dirty="0">
                          <a:effectLst/>
                        </a:rPr>
                        <a:t>5</a:t>
                      </a:r>
                      <a:endParaRPr lang="zh-CN" sz="19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900" kern="0" dirty="0">
                          <a:effectLst/>
                        </a:rPr>
                        <a:t>6</a:t>
                      </a:r>
                      <a:endParaRPr lang="zh-CN" sz="19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747"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900" kern="0">
                          <a:effectLst/>
                        </a:rPr>
                        <a:t>3</a:t>
                      </a:r>
                      <a:endParaRPr lang="zh-CN" sz="19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900" kern="0">
                          <a:effectLst/>
                        </a:rPr>
                        <a:t>7</a:t>
                      </a:r>
                      <a:endParaRPr lang="zh-CN" sz="1900" kern="10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50000"/>
                        </a:lnSpc>
                        <a:spcAft>
                          <a:spcPts val="250"/>
                        </a:spcAft>
                        <a:buNone/>
                      </a:pPr>
                      <a:r>
                        <a:rPr lang="en-US" sz="1900" kern="0" dirty="0">
                          <a:effectLst/>
                        </a:rPr>
                        <a:t>7</a:t>
                      </a:r>
                      <a:endParaRPr lang="zh-CN" sz="1900" kern="100" dirty="0">
                        <a:effectLst/>
                        <a:latin typeface="Calibri" panose="020F050202020403020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8434" name="图片 42" descr="图片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4" t="1123" r="374" b="1352"/>
          <a:stretch>
            <a:fillRect/>
          </a:stretch>
        </p:blipFill>
        <p:spPr bwMode="auto">
          <a:xfrm>
            <a:off x="2146156" y="1836523"/>
            <a:ext cx="378895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3" name="图片 46" descr="图片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" t="1669" r="998" b="906"/>
          <a:stretch>
            <a:fillRect/>
          </a:stretch>
        </p:blipFill>
        <p:spPr bwMode="auto">
          <a:xfrm>
            <a:off x="6256891" y="1836523"/>
            <a:ext cx="3709561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564279" y="1400478"/>
            <a:ext cx="6051981" cy="410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anchor="ctr" anchorCtr="0" compatLnSpc="1">
            <a:spAutoFit/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8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增强前后直方图对比如下图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2322232" y="4087692"/>
            <a:ext cx="6677025" cy="410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anchor="ctr" anchorCtr="0" compatLnSpc="1">
            <a:spAutoFit/>
          </a:bodyPr>
          <a:lstStyle/>
          <a:p>
            <a:pPr algn="ctr" defTabSz="12191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8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增强前后的图像块矩阵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1CD35F2-E2D8-49BA-B75C-3F2F1975057D}"/>
              </a:ext>
            </a:extLst>
          </p:cNvPr>
          <p:cNvSpPr txBox="1"/>
          <p:nvPr/>
        </p:nvSpPr>
        <p:spPr>
          <a:xfrm>
            <a:off x="143422" y="151464"/>
            <a:ext cx="6270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图像点运算：基于直方图的变换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715956" y="978736"/>
            <a:ext cx="3310522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80990" indent="-380990">
              <a:buFont typeface="Wingdings" panose="05000000000000000000" pitchFamily="2" charset="2"/>
              <a:buChar char="p"/>
            </a:pPr>
            <a:r>
              <a:rPr lang="zh-CN" altLang="en-US" sz="2133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基于离散直方图的变换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36135" y="1550829"/>
            <a:ext cx="10763683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讨论：</a:t>
            </a:r>
            <a:endParaRPr lang="en-US" altLang="zh-CN" sz="200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en-US" altLang="zh-CN" sz="1050" b="1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Q1. 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为什么离散直方图均衡化通常不会产生完全平坦直方图的图像？</a:t>
            </a:r>
            <a:endParaRPr lang="en-US" altLang="zh-CN" sz="105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 smtClean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Q2. </a:t>
            </a: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由于离散近似，直方图规定化通常不能使增强图像完全符合规定直方图，只能近似。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C00FDC0-4012-454F-B4C3-247AB762C479}"/>
              </a:ext>
            </a:extLst>
          </p:cNvPr>
          <p:cNvSpPr txBox="1"/>
          <p:nvPr/>
        </p:nvSpPr>
        <p:spPr>
          <a:xfrm>
            <a:off x="143422" y="151464"/>
            <a:ext cx="6270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图像点运算：基于直方图的变换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3A034EEB-1D08-48A1-8EA5-93F15B689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920" y="1391189"/>
            <a:ext cx="8202341" cy="4628229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77C49F1D-C20C-4D49-A1CF-9A4F67C7A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52" y="3791607"/>
            <a:ext cx="3000375" cy="27432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98E353EB-C82B-44E9-B7E6-3D7DDEC33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420" y="3455504"/>
            <a:ext cx="1012606" cy="499597"/>
          </a:xfrm>
          <a:prstGeom prst="rect">
            <a:avLst/>
          </a:prstGeom>
        </p:spPr>
      </p:pic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E9E6EF19-2A0D-4B41-9987-721C5A8F3A4D}"/>
              </a:ext>
            </a:extLst>
          </p:cNvPr>
          <p:cNvCxnSpPr>
            <a:cxnSpLocks/>
          </p:cNvCxnSpPr>
          <p:nvPr/>
        </p:nvCxnSpPr>
        <p:spPr>
          <a:xfrm>
            <a:off x="8744607" y="3316014"/>
            <a:ext cx="126124" cy="210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034BBDC2-8DF9-45A2-90A8-DD2E1E4A3A34}"/>
              </a:ext>
            </a:extLst>
          </p:cNvPr>
          <p:cNvSpPr txBox="1"/>
          <p:nvPr/>
        </p:nvSpPr>
        <p:spPr>
          <a:xfrm>
            <a:off x="858041" y="1325364"/>
            <a:ext cx="3607647" cy="233243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R="6773" lvl="1" indent="-457200">
              <a:lnSpc>
                <a:spcPct val="128000"/>
              </a:lnSpc>
              <a:spcBef>
                <a:spcPts val="580"/>
              </a:spcBef>
              <a:buFont typeface="+mj-lt"/>
              <a:buAutoNum type="arabicPeriod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旋转变换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6773" lvl="1" indent="-457200">
              <a:lnSpc>
                <a:spcPct val="128000"/>
              </a:lnSpc>
              <a:spcBef>
                <a:spcPts val="580"/>
              </a:spcBef>
              <a:buFont typeface="+mj-lt"/>
              <a:buAutoNum type="arabicPeriod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欧式变换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6773" lvl="1" indent="-457200">
              <a:lnSpc>
                <a:spcPct val="128000"/>
              </a:lnSpc>
              <a:spcBef>
                <a:spcPts val="580"/>
              </a:spcBef>
              <a:buFont typeface="+mj-lt"/>
              <a:buAutoNum type="arabicPeriod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相似变换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6773" lvl="1" indent="-457200">
              <a:lnSpc>
                <a:spcPct val="128000"/>
              </a:lnSpc>
              <a:spcBef>
                <a:spcPts val="580"/>
              </a:spcBef>
              <a:buFont typeface="+mj-lt"/>
              <a:buAutoNum type="arabicPeriod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仿射变换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6773" lvl="1" indent="-457200">
              <a:lnSpc>
                <a:spcPct val="128000"/>
              </a:lnSpc>
              <a:spcBef>
                <a:spcPts val="580"/>
              </a:spcBef>
              <a:buFont typeface="+mj-lt"/>
              <a:buAutoNum type="arabicPeriod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射影变换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6A107A5-7856-4B3C-A5D6-124244CA6B99}"/>
              </a:ext>
            </a:extLst>
          </p:cNvPr>
          <p:cNvSpPr txBox="1"/>
          <p:nvPr/>
        </p:nvSpPr>
        <p:spPr>
          <a:xfrm>
            <a:off x="246505" y="96262"/>
            <a:ext cx="45683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32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图像几何运算</a:t>
            </a:r>
          </a:p>
        </p:txBody>
      </p:sp>
    </p:spTree>
    <p:extLst>
      <p:ext uri="{BB962C8B-B14F-4D97-AF65-F5344CB8AC3E}">
        <p14:creationId xmlns:p14="http://schemas.microsoft.com/office/powerpoint/2010/main" val="13761570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199A0713-F3F3-4EC1-B984-BC76F9731EC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19548" y="162318"/>
            <a:ext cx="6922546" cy="527542"/>
          </a:xfrm>
          <a:noFill/>
        </p:spPr>
        <p:txBody>
          <a:bodyPr/>
          <a:lstStyle/>
          <a:p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图像几何运算</a:t>
            </a:r>
            <a:r>
              <a:rPr lang="en-US" altLang="zh-CN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线性几何变换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7">
                <a:extLst>
                  <a:ext uri="{FF2B5EF4-FFF2-40B4-BE49-F238E27FC236}">
                    <a16:creationId xmlns:a16="http://schemas.microsoft.com/office/drawing/2014/main" id="{E2C48051-1245-4465-9E73-A8FF300512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7916" y="1418110"/>
                <a:ext cx="10354052" cy="2677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457200" indent="-457200">
                  <a:spcBef>
                    <a:spcPct val="50000"/>
                  </a:spcBef>
                  <a:buFont typeface="Wingdings" panose="05000000000000000000" pitchFamily="2" charset="2"/>
                  <a:buChar char="n"/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维空间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ℝⁿ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中的点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 ∈ ℝⁿ 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经过变换映射到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400" dirty="0" smtClean="0"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维空间 </a:t>
                </a:r>
                <a:r>
                  <a:rPr lang="en-US" altLang="zh-CN" sz="2400" dirty="0" smtClean="0"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x′ ∈ ℝⁿ</a:t>
                </a:r>
              </a:p>
              <a:p>
                <a:pPr marL="457200" indent="-457200">
                  <a:spcBef>
                    <a:spcPct val="50000"/>
                  </a:spcBef>
                  <a:buFont typeface="Wingdings" panose="05000000000000000000" pitchFamily="2" charset="2"/>
                  <a:buChar char="n"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这个变换可表达为如下的矩阵形式</a:t>
                </a:r>
              </a:p>
              <a:p>
                <a:pPr algn="ctr">
                  <a:spcBef>
                    <a:spcPct val="50000"/>
                  </a:spcBef>
                </a:pPr>
                <a:r>
                  <a:rPr lang="en-US" altLang="zh-CN" sz="2400" dirty="0" smtClean="0"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x′ = </a:t>
                </a:r>
                <a:r>
                  <a:rPr lang="en-US" altLang="zh-CN" sz="2400" dirty="0" err="1" smtClean="0"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Hx</a:t>
                </a:r>
                <a:endParaRPr lang="en-US" altLang="zh-CN" sz="2400" dirty="0" smtClean="0">
                  <a:latin typeface="Cambria Math" panose="020405030504060302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457200">
                  <a:spcBef>
                    <a:spcPct val="50000"/>
                  </a:spcBef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其中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∈ </m:t>
                    </m:r>
                    <m:sSup>
                      <m:sSup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400" dirty="0" smtClean="0"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是一个可逆矩阵</a:t>
                </a:r>
              </a:p>
              <a:p>
                <a:pPr marL="457200" indent="-457200">
                  <a:spcBef>
                    <a:spcPct val="50000"/>
                  </a:spcBef>
                  <a:buFont typeface="Wingdings" panose="05000000000000000000" pitchFamily="2" charset="2"/>
                  <a:buChar char="n"/>
                </a:pPr>
                <a:r>
                  <a:rPr lang="zh-CN" altLang="en-US" sz="2400" dirty="0" smtClean="0"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我们称上式表达的变换为一个线性几何变换</a:t>
                </a:r>
                <a:endParaRPr lang="zh-CN" altLang="en-US" sz="2400" dirty="0">
                  <a:latin typeface="Cambria Math" panose="020405030504060302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Rectangle 7">
                <a:extLst>
                  <a:ext uri="{FF2B5EF4-FFF2-40B4-BE49-F238E27FC236}">
                    <a16:creationId xmlns:a16="http://schemas.microsoft.com/office/drawing/2014/main" id="{E2C48051-1245-4465-9E73-A8FF300512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7916" y="1418110"/>
                <a:ext cx="10354052" cy="2677656"/>
              </a:xfrm>
              <a:prstGeom prst="rect">
                <a:avLst/>
              </a:prstGeom>
              <a:blipFill>
                <a:blip r:embed="rId2"/>
                <a:stretch>
                  <a:fillRect l="-765" t="-2050" b="-432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09425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AC90B1F4-841A-4E21-A4FC-749788FAF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744" y="914400"/>
            <a:ext cx="961561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r>
              <a:rPr lang="zh-CN" altLang="en-US" dirty="0">
                <a:latin typeface="+mn-ea"/>
              </a:rPr>
              <a:t>旋转变换（正交变换的一种）</a:t>
            </a:r>
            <a:endParaRPr lang="en-US" altLang="zh-CN" dirty="0">
              <a:latin typeface="+mn-ea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77B4F0C-B378-49E3-B006-A30C4AC4BAC5}"/>
              </a:ext>
            </a:extLst>
          </p:cNvPr>
          <p:cNvCxnSpPr/>
          <p:nvPr/>
        </p:nvCxnSpPr>
        <p:spPr>
          <a:xfrm flipV="1">
            <a:off x="1233566" y="3918367"/>
            <a:ext cx="2127492" cy="32628"/>
          </a:xfrm>
          <a:prstGeom prst="straightConnector1">
            <a:avLst/>
          </a:prstGeom>
          <a:noFill/>
          <a:ln w="25400" cap="flat" cmpd="sng" algn="ctr">
            <a:solidFill>
              <a:srgbClr val="5B9BD5"/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9587755F-07E7-4D1C-9B98-8074D9C09604}"/>
              </a:ext>
            </a:extLst>
          </p:cNvPr>
          <p:cNvCxnSpPr/>
          <p:nvPr/>
        </p:nvCxnSpPr>
        <p:spPr>
          <a:xfrm flipH="1" flipV="1">
            <a:off x="1527887" y="2437691"/>
            <a:ext cx="889" cy="1862635"/>
          </a:xfrm>
          <a:prstGeom prst="straightConnector1">
            <a:avLst/>
          </a:prstGeom>
          <a:noFill/>
          <a:ln w="25400" cap="flat" cmpd="sng" algn="ctr">
            <a:solidFill>
              <a:srgbClr val="5B9BD5"/>
            </a:solidFill>
            <a:prstDash val="solid"/>
            <a:miter lim="800000"/>
            <a:tailEnd type="triangle" w="lg" len="lg"/>
          </a:ln>
          <a:effectLst/>
        </p:spPr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01E0CF07-4E9A-49E6-B947-78FCACFDE4DA}"/>
              </a:ext>
            </a:extLst>
          </p:cNvPr>
          <p:cNvSpPr txBox="1"/>
          <p:nvPr/>
        </p:nvSpPr>
        <p:spPr>
          <a:xfrm>
            <a:off x="1176509" y="3890751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zh-CN" altLang="en-US" sz="1800" b="1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8CF8D4E-1C52-4A88-9E57-1AA4D643AD71}"/>
              </a:ext>
            </a:extLst>
          </p:cNvPr>
          <p:cNvSpPr txBox="1"/>
          <p:nvPr/>
        </p:nvSpPr>
        <p:spPr>
          <a:xfrm>
            <a:off x="3318194" y="3602994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1800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4E4DD64-9A07-44C1-923B-AB1AEEADE340}"/>
              </a:ext>
            </a:extLst>
          </p:cNvPr>
          <p:cNvSpPr txBox="1"/>
          <p:nvPr/>
        </p:nvSpPr>
        <p:spPr>
          <a:xfrm>
            <a:off x="1358610" y="2068359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8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zh-CN" altLang="en-US" sz="1800" i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E648E2DE-A0B8-43C5-9B6C-BB1D8A4CAD54}"/>
              </a:ext>
            </a:extLst>
          </p:cNvPr>
          <p:cNvSpPr/>
          <p:nvPr/>
        </p:nvSpPr>
        <p:spPr>
          <a:xfrm>
            <a:off x="2799477" y="3273502"/>
            <a:ext cx="72000" cy="71437"/>
          </a:xfrm>
          <a:prstGeom prst="ellipse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74AAE2F0-8A98-4175-8C45-257A2795A4CD}"/>
              </a:ext>
            </a:extLst>
          </p:cNvPr>
          <p:cNvCxnSpPr>
            <a:endCxn id="26" idx="2"/>
          </p:cNvCxnSpPr>
          <p:nvPr/>
        </p:nvCxnSpPr>
        <p:spPr>
          <a:xfrm flipV="1">
            <a:off x="1503128" y="3309221"/>
            <a:ext cx="1296349" cy="636762"/>
          </a:xfrm>
          <a:prstGeom prst="line">
            <a:avLst/>
          </a:prstGeom>
          <a:noFill/>
          <a:ln w="9525" cap="flat" cmpd="sng" algn="ctr">
            <a:solidFill>
              <a:srgbClr val="5B9BD5"/>
            </a:solidFill>
            <a:prstDash val="dash"/>
            <a:miter lim="800000"/>
          </a:ln>
          <a:effectLst/>
        </p:spPr>
      </p:cxnSp>
      <p:sp>
        <p:nvSpPr>
          <p:cNvPr id="28" name="椭圆 27">
            <a:extLst>
              <a:ext uri="{FF2B5EF4-FFF2-40B4-BE49-F238E27FC236}">
                <a16:creationId xmlns:a16="http://schemas.microsoft.com/office/drawing/2014/main" id="{57FC86A9-7723-4CEF-B6FD-C99A6BDB1248}"/>
              </a:ext>
            </a:extLst>
          </p:cNvPr>
          <p:cNvSpPr/>
          <p:nvPr/>
        </p:nvSpPr>
        <p:spPr>
          <a:xfrm>
            <a:off x="2366089" y="2768665"/>
            <a:ext cx="72000" cy="71437"/>
          </a:xfrm>
          <a:prstGeom prst="ellipse">
            <a:avLst/>
          </a:prstGeom>
          <a:solidFill>
            <a:srgbClr val="5B9BD5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0E549B5-6E58-4DE5-88BF-68F32A564339}"/>
              </a:ext>
            </a:extLst>
          </p:cNvPr>
          <p:cNvCxnSpPr>
            <a:endCxn id="28" idx="3"/>
          </p:cNvCxnSpPr>
          <p:nvPr/>
        </p:nvCxnSpPr>
        <p:spPr>
          <a:xfrm flipV="1">
            <a:off x="1527887" y="2829640"/>
            <a:ext cx="848746" cy="1093951"/>
          </a:xfrm>
          <a:prstGeom prst="line">
            <a:avLst/>
          </a:prstGeom>
          <a:noFill/>
          <a:ln w="9525" cap="flat" cmpd="sng" algn="ctr">
            <a:solidFill>
              <a:srgbClr val="5B9BD5"/>
            </a:solidFill>
            <a:prstDash val="dash"/>
            <a:miter lim="800000"/>
          </a:ln>
          <a:effectLst/>
        </p:spPr>
      </p:cxnSp>
      <p:graphicFrame>
        <p:nvGraphicFramePr>
          <p:cNvPr id="30" name="Object 6">
            <a:extLst>
              <a:ext uri="{FF2B5EF4-FFF2-40B4-BE49-F238E27FC236}">
                <a16:creationId xmlns:a16="http://schemas.microsoft.com/office/drawing/2014/main" id="{F28DD2A1-069B-4D4B-BBDE-D220C5618E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2149269"/>
              </p:ext>
            </p:extLst>
          </p:nvPr>
        </p:nvGraphicFramePr>
        <p:xfrm>
          <a:off x="2876468" y="3092535"/>
          <a:ext cx="26670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4" name="Equation" r:id="rId3" imgW="139680" imgH="139680" progId="Equation.DSMT4">
                  <p:embed/>
                </p:oleObj>
              </mc:Choice>
              <mc:Fallback>
                <p:oleObj name="Equation" r:id="rId3" imgW="139680" imgH="139680" progId="Equation.DSMT4">
                  <p:embed/>
                  <p:pic>
                    <p:nvPicPr>
                      <p:cNvPr id="30" name="Object 6">
                        <a:extLst>
                          <a:ext uri="{FF2B5EF4-FFF2-40B4-BE49-F238E27FC236}">
                            <a16:creationId xmlns:a16="http://schemas.microsoft.com/office/drawing/2014/main" id="{F28DD2A1-069B-4D4B-BBDE-D220C5618E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6468" y="3092535"/>
                        <a:ext cx="266700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6">
            <a:extLst>
              <a:ext uri="{FF2B5EF4-FFF2-40B4-BE49-F238E27FC236}">
                <a16:creationId xmlns:a16="http://schemas.microsoft.com/office/drawing/2014/main" id="{25EE13A5-C9B1-44B2-915E-B754F5CA4D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0064210"/>
              </p:ext>
            </p:extLst>
          </p:nvPr>
        </p:nvGraphicFramePr>
        <p:xfrm>
          <a:off x="2374818" y="2482935"/>
          <a:ext cx="360363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5" name="Equation" r:id="rId5" imgW="164880" imgH="203040" progId="Equation.DSMT4">
                  <p:embed/>
                </p:oleObj>
              </mc:Choice>
              <mc:Fallback>
                <p:oleObj name="Equation" r:id="rId5" imgW="164880" imgH="203040" progId="Equation.DSMT4">
                  <p:embed/>
                  <p:pic>
                    <p:nvPicPr>
                      <p:cNvPr id="31" name="Object 6">
                        <a:extLst>
                          <a:ext uri="{FF2B5EF4-FFF2-40B4-BE49-F238E27FC236}">
                            <a16:creationId xmlns:a16="http://schemas.microsoft.com/office/drawing/2014/main" id="{25EE13A5-C9B1-44B2-915E-B754F5CA4D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4818" y="2482935"/>
                        <a:ext cx="360363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6">
            <a:extLst>
              <a:ext uri="{FF2B5EF4-FFF2-40B4-BE49-F238E27FC236}">
                <a16:creationId xmlns:a16="http://schemas.microsoft.com/office/drawing/2014/main" id="{F836C6F0-3804-46CB-A297-7D3A7525C2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8895598"/>
              </p:ext>
            </p:extLst>
          </p:nvPr>
        </p:nvGraphicFramePr>
        <p:xfrm>
          <a:off x="1726629" y="3562270"/>
          <a:ext cx="168470" cy="2339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" name="Equation" r:id="rId7" imgW="126720" imgH="177480" progId="Equation.DSMT4">
                  <p:embed/>
                </p:oleObj>
              </mc:Choice>
              <mc:Fallback>
                <p:oleObj name="Equation" r:id="rId7" imgW="126720" imgH="177480" progId="Equation.DSMT4">
                  <p:embed/>
                  <p:pic>
                    <p:nvPicPr>
                      <p:cNvPr id="32" name="Object 6">
                        <a:extLst>
                          <a:ext uri="{FF2B5EF4-FFF2-40B4-BE49-F238E27FC236}">
                            <a16:creationId xmlns:a16="http://schemas.microsoft.com/office/drawing/2014/main" id="{F836C6F0-3804-46CB-A297-7D3A7525C2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6629" y="3562270"/>
                        <a:ext cx="168470" cy="2339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弧形 32">
            <a:extLst>
              <a:ext uri="{FF2B5EF4-FFF2-40B4-BE49-F238E27FC236}">
                <a16:creationId xmlns:a16="http://schemas.microsoft.com/office/drawing/2014/main" id="{23A663EF-6BE9-4B85-A20F-2C536B77DDE9}"/>
              </a:ext>
            </a:extLst>
          </p:cNvPr>
          <p:cNvSpPr/>
          <p:nvPr/>
        </p:nvSpPr>
        <p:spPr>
          <a:xfrm rot="20705250">
            <a:off x="1704013" y="3529906"/>
            <a:ext cx="320532" cy="225784"/>
          </a:xfrm>
          <a:prstGeom prst="arc">
            <a:avLst>
              <a:gd name="adj1" fmla="val 16200000"/>
              <a:gd name="adj2" fmla="val 2866197"/>
            </a:avLst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E7BD712-3DA1-4550-BBDE-B3BF0818B1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9814278"/>
              </p:ext>
            </p:extLst>
          </p:nvPr>
        </p:nvGraphicFramePr>
        <p:xfrm>
          <a:off x="4189832" y="1784101"/>
          <a:ext cx="2408756" cy="841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7" name="Equation" r:id="rId9" imgW="1651000" imgH="508000" progId="Equation.DSMT4">
                  <p:embed/>
                </p:oleObj>
              </mc:Choice>
              <mc:Fallback>
                <p:oleObj name="Equation" r:id="rId9" imgW="1651000" imgH="5080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BE7BD712-3DA1-4550-BBDE-B3BF0818B1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9832" y="1784101"/>
                        <a:ext cx="2408756" cy="8410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31DD1714-EA8B-45B9-81BF-330045FCA14F}"/>
              </a:ext>
            </a:extLst>
          </p:cNvPr>
          <p:cNvGrpSpPr/>
          <p:nvPr/>
        </p:nvGrpSpPr>
        <p:grpSpPr>
          <a:xfrm>
            <a:off x="860796" y="4772355"/>
            <a:ext cx="9441938" cy="1501601"/>
            <a:chOff x="860796" y="4664997"/>
            <a:chExt cx="9441938" cy="1501601"/>
          </a:xfrm>
        </p:grpSpPr>
        <p:graphicFrame>
          <p:nvGraphicFramePr>
            <p:cNvPr id="38" name="对象 37">
              <a:extLst>
                <a:ext uri="{FF2B5EF4-FFF2-40B4-BE49-F238E27FC236}">
                  <a16:creationId xmlns:a16="http://schemas.microsoft.com/office/drawing/2014/main" id="{00AC7EE1-DD4B-4725-8586-CD519F3C05E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88379" y="5334086"/>
            <a:ext cx="3820921" cy="832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8" name="Equation" r:id="rId11" imgW="2450880" imgH="482400" progId="Equation.DSMT4">
                    <p:embed/>
                  </p:oleObj>
                </mc:Choice>
                <mc:Fallback>
                  <p:oleObj name="Equation" r:id="rId11" imgW="2450880" imgH="482400" progId="Equation.DSMT4">
                    <p:embed/>
                    <p:pic>
                      <p:nvPicPr>
                        <p:cNvPr id="38" name="对象 37">
                          <a:extLst>
                            <a:ext uri="{FF2B5EF4-FFF2-40B4-BE49-F238E27FC236}">
                              <a16:creationId xmlns:a16="http://schemas.microsoft.com/office/drawing/2014/main" id="{00AC7EE1-DD4B-4725-8586-CD519F3C05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8379" y="5334086"/>
                          <a:ext cx="3820921" cy="83251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" name="Rectangle 7">
              <a:extLst>
                <a:ext uri="{FF2B5EF4-FFF2-40B4-BE49-F238E27FC236}">
                  <a16:creationId xmlns:a16="http://schemas.microsoft.com/office/drawing/2014/main" id="{E2C48051-1245-4465-9E73-A8FF30051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796" y="4664997"/>
              <a:ext cx="9441938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可以表达</a:t>
              </a:r>
              <a:r>
                <a:rPr lang="en-US" altLang="zh-CN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维旋转的矩阵形式如下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26EF9495-19E8-47C6-B9A6-08293C85B724}"/>
              </a:ext>
            </a:extLst>
          </p:cNvPr>
          <p:cNvGrpSpPr/>
          <p:nvPr/>
        </p:nvGrpSpPr>
        <p:grpSpPr>
          <a:xfrm>
            <a:off x="7474387" y="2702804"/>
            <a:ext cx="1751925" cy="1558794"/>
            <a:chOff x="7474387" y="2702804"/>
            <a:chExt cx="1751925" cy="1558794"/>
          </a:xfrm>
        </p:grpSpPr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CF3DD5FF-48BE-4BA5-AE6D-B055AEC4963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474387" y="3429000"/>
            <a:ext cx="1751925" cy="8325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49" name="Equation" r:id="rId13" imgW="1129810" imgH="482391" progId="Equation.DSMT4">
                    <p:embed/>
                  </p:oleObj>
                </mc:Choice>
                <mc:Fallback>
                  <p:oleObj name="Equation" r:id="rId13" imgW="1129810" imgH="482391" progId="Equation.DSMT4">
                    <p:embed/>
                    <p:pic>
                      <p:nvPicPr>
                        <p:cNvPr id="36" name="对象 35">
                          <a:extLst>
                            <a:ext uri="{FF2B5EF4-FFF2-40B4-BE49-F238E27FC236}">
                              <a16:creationId xmlns:a16="http://schemas.microsoft.com/office/drawing/2014/main" id="{CF3DD5FF-48BE-4BA5-AE6D-B055AEC4963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74387" y="3429000"/>
                          <a:ext cx="1751925" cy="83259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" name="AutoShape 37">
              <a:extLst>
                <a:ext uri="{FF2B5EF4-FFF2-40B4-BE49-F238E27FC236}">
                  <a16:creationId xmlns:a16="http://schemas.microsoft.com/office/drawing/2014/main" id="{E8B740DE-851D-45B0-A4FE-8F199B1A487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7968506" y="2942792"/>
              <a:ext cx="688328" cy="208352"/>
            </a:xfrm>
            <a:prstGeom prst="rightArrow">
              <a:avLst>
                <a:gd name="adj1" fmla="val 50000"/>
                <a:gd name="adj2" fmla="val 50002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CD5C3C8-B527-4684-A0A2-CD04CE178146}"/>
              </a:ext>
            </a:extLst>
          </p:cNvPr>
          <p:cNvGrpSpPr/>
          <p:nvPr/>
        </p:nvGrpSpPr>
        <p:grpSpPr>
          <a:xfrm>
            <a:off x="6786059" y="1460302"/>
            <a:ext cx="2831617" cy="1164823"/>
            <a:chOff x="6786059" y="1460302"/>
            <a:chExt cx="2831617" cy="1164823"/>
          </a:xfrm>
        </p:grpSpPr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698A92DC-9F8C-46D3-8615-3F1A274C400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02158" y="1826136"/>
            <a:ext cx="1778572" cy="7989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0" name="Equation" r:id="rId15" imgW="1803400" imgH="736600" progId="Equation.DSMT4">
                    <p:embed/>
                  </p:oleObj>
                </mc:Choice>
                <mc:Fallback>
                  <p:oleObj name="Equation" r:id="rId15" imgW="1803400" imgH="736600" progId="Equation.DSMT4">
                    <p:embed/>
                    <p:pic>
                      <p:nvPicPr>
                        <p:cNvPr id="34" name="对象 33">
                          <a:extLst>
                            <a:ext uri="{FF2B5EF4-FFF2-40B4-BE49-F238E27FC236}">
                              <a16:creationId xmlns:a16="http://schemas.microsoft.com/office/drawing/2014/main" id="{698A92DC-9F8C-46D3-8615-3F1A274C400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02158" y="1826136"/>
                          <a:ext cx="1778572" cy="79898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" name="AutoShape 37">
              <a:extLst>
                <a:ext uri="{FF2B5EF4-FFF2-40B4-BE49-F238E27FC236}">
                  <a16:creationId xmlns:a16="http://schemas.microsoft.com/office/drawing/2014/main" id="{7B89BAEC-8FA2-490A-B0FF-D61B8E711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6059" y="2110150"/>
              <a:ext cx="688328" cy="208352"/>
            </a:xfrm>
            <a:prstGeom prst="rightArrow">
              <a:avLst>
                <a:gd name="adj1" fmla="val 50000"/>
                <a:gd name="adj2" fmla="val 50002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Rectangle 7">
              <a:extLst>
                <a:ext uri="{FF2B5EF4-FFF2-40B4-BE49-F238E27FC236}">
                  <a16:creationId xmlns:a16="http://schemas.microsoft.com/office/drawing/2014/main" id="{748B7135-E8A0-4D39-99F1-AC82AE7BC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17865" y="1460302"/>
              <a:ext cx="2299811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齐次形式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85177EF-513D-48C3-B25D-0F2568F0FDAB}"/>
              </a:ext>
            </a:extLst>
          </p:cNvPr>
          <p:cNvGrpSpPr/>
          <p:nvPr/>
        </p:nvGrpSpPr>
        <p:grpSpPr>
          <a:xfrm>
            <a:off x="6765324" y="5638943"/>
            <a:ext cx="1929189" cy="400652"/>
            <a:chOff x="6765324" y="5531585"/>
            <a:chExt cx="1929189" cy="400652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F071CCEA-DCA1-4D07-99B6-7142FBB123D4}"/>
                </a:ext>
              </a:extLst>
            </p:cNvPr>
            <p:cNvSpPr/>
            <p:nvPr/>
          </p:nvSpPr>
          <p:spPr bwMode="auto">
            <a:xfrm>
              <a:off x="6765324" y="5531585"/>
              <a:ext cx="1186624" cy="400652"/>
            </a:xfrm>
            <a:prstGeom prst="rect">
              <a:avLst/>
            </a:prstGeom>
            <a:solidFill>
              <a:srgbClr val="0070C0">
                <a:alpha val="41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AutoShape 37">
              <a:extLst>
                <a:ext uri="{FF2B5EF4-FFF2-40B4-BE49-F238E27FC236}">
                  <a16:creationId xmlns:a16="http://schemas.microsoft.com/office/drawing/2014/main" id="{B824023B-B2E1-4409-92AD-219AFF2F9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6185" y="5627735"/>
              <a:ext cx="688328" cy="208352"/>
            </a:xfrm>
            <a:prstGeom prst="rightArrow">
              <a:avLst>
                <a:gd name="adj1" fmla="val 50000"/>
                <a:gd name="adj2" fmla="val 50002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0" name="文本框 12">
            <a:extLst>
              <a:ext uri="{FF2B5EF4-FFF2-40B4-BE49-F238E27FC236}">
                <a16:creationId xmlns:a16="http://schemas.microsoft.com/office/drawing/2014/main" id="{096403D9-928D-43BD-B4DF-F9D0976B3B77}"/>
              </a:ext>
            </a:extLst>
          </p:cNvPr>
          <p:cNvSpPr txBox="1"/>
          <p:nvPr/>
        </p:nvSpPr>
        <p:spPr>
          <a:xfrm>
            <a:off x="7041707" y="4314265"/>
            <a:ext cx="4993573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just"/>
            <a:r>
              <a:rPr lang="en-US" altLang="zh-CN" sz="2000" dirty="0" smtClean="0">
                <a:solidFill>
                  <a:srgbClr val="FFFF00"/>
                </a:solidFill>
                <a:cs typeface="Times New Roman" panose="02020603050405020304" pitchFamily="18" charset="0"/>
              </a:rPr>
              <a:t>2</a:t>
            </a:r>
            <a:r>
              <a:rPr lang="zh-CN" altLang="en-US" sz="2000" dirty="0" smtClean="0">
                <a:solidFill>
                  <a:srgbClr val="FFFF00"/>
                </a:solidFill>
                <a:cs typeface="Times New Roman" panose="02020603050405020304" pitchFamily="18" charset="0"/>
              </a:rPr>
              <a:t>维旋转变换的自由度是</a:t>
            </a:r>
            <a:r>
              <a:rPr lang="en-US" altLang="zh-CN" sz="2000" dirty="0" smtClean="0">
                <a:solidFill>
                  <a:srgbClr val="FFFF00"/>
                </a:solidFill>
                <a:cs typeface="Times New Roman" panose="02020603050405020304" pitchFamily="18" charset="0"/>
              </a:rPr>
              <a:t> 1</a:t>
            </a:r>
            <a:r>
              <a:rPr lang="zh-CN" altLang="en-US" sz="2000" dirty="0" smtClean="0">
                <a:solidFill>
                  <a:srgbClr val="FFFF00"/>
                </a:solidFill>
                <a:cs typeface="Times New Roman" panose="02020603050405020304" pitchFamily="18" charset="0"/>
              </a:rPr>
              <a:t>，角度</a:t>
            </a:r>
            <a:endParaRPr lang="en-US" altLang="zh-CN" sz="2000" dirty="0">
              <a:solidFill>
                <a:srgbClr val="FFFF00"/>
              </a:solidFill>
              <a:cs typeface="Times New Roman" panose="02020603050405020304" pitchFamily="18" charset="0"/>
            </a:endParaRPr>
          </a:p>
        </p:txBody>
      </p:sp>
      <p:sp>
        <p:nvSpPr>
          <p:cNvPr id="41" name="Rectangle 2">
            <a:extLst>
              <a:ext uri="{FF2B5EF4-FFF2-40B4-BE49-F238E27FC236}">
                <a16:creationId xmlns:a16="http://schemas.microsoft.com/office/drawing/2014/main" id="{A81C08AD-2145-44B9-A80D-5541A24F9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548" y="162318"/>
            <a:ext cx="6922546" cy="52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华文细黑" panose="02010600040101010101" pitchFamily="2" charset="-122"/>
                <a:ea typeface="+mj-ea"/>
                <a:cs typeface="+mj-cs"/>
              </a:defRPr>
            </a:lvl1pPr>
            <a:lvl2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2pPr>
            <a:lvl3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3pPr>
            <a:lvl4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4pPr>
            <a:lvl5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5pPr>
            <a:lvl6pPr marL="609570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6pPr>
            <a:lvl7pPr marL="121913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7pPr>
            <a:lvl8pPr marL="182870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8pPr>
            <a:lvl9pPr marL="2438278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9pPr>
          </a:lstStyle>
          <a:p>
            <a:r>
              <a:rPr lang="en-US" altLang="zh-CN" sz="2800" b="1" dirty="0">
                <a:solidFill>
                  <a:srgbClr val="0C4379"/>
                </a:solidFill>
                <a:latin typeface="+mn-ea"/>
                <a:ea typeface="+mn-ea"/>
              </a:rPr>
              <a:t>6</a:t>
            </a:r>
            <a:r>
              <a:rPr lang="zh-CN" altLang="en-US" sz="2800" b="1" dirty="0">
                <a:solidFill>
                  <a:srgbClr val="0C4379"/>
                </a:solidFill>
                <a:latin typeface="+mn-ea"/>
                <a:ea typeface="+mn-ea"/>
              </a:rPr>
              <a:t> 图像几何运算</a:t>
            </a:r>
            <a:r>
              <a:rPr lang="en-US" altLang="zh-CN" sz="2800" b="1" dirty="0">
                <a:solidFill>
                  <a:srgbClr val="0C4379"/>
                </a:solidFill>
                <a:latin typeface="+mn-ea"/>
                <a:ea typeface="+mn-ea"/>
              </a:rPr>
              <a:t>-</a:t>
            </a:r>
            <a:r>
              <a:rPr lang="zh-CN" altLang="en-US" sz="2800" b="1" dirty="0">
                <a:solidFill>
                  <a:srgbClr val="0C4379"/>
                </a:solidFill>
                <a:latin typeface="+mn-ea"/>
                <a:ea typeface="+mn-ea"/>
              </a:rPr>
              <a:t>线性几何变换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7">
            <a:extLst>
              <a:ext uri="{FF2B5EF4-FFF2-40B4-BE49-F238E27FC236}">
                <a16:creationId xmlns:a16="http://schemas.microsoft.com/office/drawing/2014/main" id="{4E47D3D2-014A-4690-B4E3-955D5D77C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8996" y="1555943"/>
            <a:ext cx="1031561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对于矩阵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.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,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表达一个平面内的具有反射的旋转</a:t>
            </a:r>
          </a:p>
        </p:txBody>
      </p:sp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D648B77E-2A95-4AB1-BC0D-4C8BF770F0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7258566"/>
              </p:ext>
            </p:extLst>
          </p:nvPr>
        </p:nvGraphicFramePr>
        <p:xfrm>
          <a:off x="3584319" y="1589733"/>
          <a:ext cx="21971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0" name="Equation" r:id="rId3" imgW="1409400" imgH="253800" progId="Equation.DSMT4">
                  <p:embed/>
                </p:oleObj>
              </mc:Choice>
              <mc:Fallback>
                <p:oleObj name="Equation" r:id="rId3" imgW="1409400" imgH="25380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D648B77E-2A95-4AB1-BC0D-4C8BF770F0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4319" y="1589733"/>
                        <a:ext cx="2197100" cy="4381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C5F8667B-2D62-41D6-98DF-A11DAC8605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6371193"/>
              </p:ext>
            </p:extLst>
          </p:nvPr>
        </p:nvGraphicFramePr>
        <p:xfrm>
          <a:off x="2423590" y="1584715"/>
          <a:ext cx="455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1" name="Equation" r:id="rId5" imgW="291960" imgH="228600" progId="Equation.DSMT4">
                  <p:embed/>
                </p:oleObj>
              </mc:Choice>
              <mc:Fallback>
                <p:oleObj name="Equation" r:id="rId5" imgW="291960" imgH="22860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C5F8667B-2D62-41D6-98DF-A11DAC8605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0" y="1584715"/>
                        <a:ext cx="455613" cy="3937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212CB707-8E12-4C37-81E3-F9326DE2CB3D}"/>
              </a:ext>
            </a:extLst>
          </p:cNvPr>
          <p:cNvGrpSpPr/>
          <p:nvPr/>
        </p:nvGrpSpPr>
        <p:grpSpPr>
          <a:xfrm>
            <a:off x="1145851" y="2214775"/>
            <a:ext cx="3359227" cy="3081306"/>
            <a:chOff x="1145851" y="2214775"/>
            <a:chExt cx="3359227" cy="3081306"/>
          </a:xfrm>
        </p:grpSpPr>
        <p:sp>
          <p:nvSpPr>
            <p:cNvPr id="47" name="Rectangle 7">
              <a:extLst>
                <a:ext uri="{FF2B5EF4-FFF2-40B4-BE49-F238E27FC236}">
                  <a16:creationId xmlns:a16="http://schemas.microsoft.com/office/drawing/2014/main" id="{9D34CB86-8F78-464C-83C8-604B07931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851" y="2214775"/>
              <a:ext cx="1840307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An example 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D2F1EAF5-C532-4D26-8D1B-DAFD55EE7D1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9255" y="2763041"/>
              <a:ext cx="2642971" cy="1979637"/>
            </a:xfrm>
            <a:prstGeom prst="rect">
              <a:avLst/>
            </a:prstGeom>
          </p:spPr>
        </p:pic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81459C4-9EB5-4284-8701-1019C4440D69}"/>
                </a:ext>
              </a:extLst>
            </p:cNvPr>
            <p:cNvCxnSpPr/>
            <p:nvPr/>
          </p:nvCxnSpPr>
          <p:spPr>
            <a:xfrm>
              <a:off x="1239255" y="2763041"/>
              <a:ext cx="2955924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5B9BD5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29C1ED06-35EF-4BAB-AC08-9971D96C73E1}"/>
                </a:ext>
              </a:extLst>
            </p:cNvPr>
            <p:cNvCxnSpPr/>
            <p:nvPr/>
          </p:nvCxnSpPr>
          <p:spPr>
            <a:xfrm>
              <a:off x="1239255" y="2763040"/>
              <a:ext cx="0" cy="2401971"/>
            </a:xfrm>
            <a:prstGeom prst="straightConnector1">
              <a:avLst/>
            </a:prstGeom>
            <a:noFill/>
            <a:ln w="19050" cap="flat" cmpd="sng" algn="ctr">
              <a:solidFill>
                <a:srgbClr val="5B9BD5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3ECCD881-29D9-4955-ABDC-C1B45E479B7D}"/>
                </a:ext>
              </a:extLst>
            </p:cNvPr>
            <p:cNvSpPr txBox="1"/>
            <p:nvPr/>
          </p:nvSpPr>
          <p:spPr>
            <a:xfrm>
              <a:off x="4179348" y="2578970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i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endParaRPr lang="zh-CN" altLang="en-US" sz="18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782177F8-8019-4933-B915-18702D02361E}"/>
                </a:ext>
              </a:extLst>
            </p:cNvPr>
            <p:cNvSpPr txBox="1"/>
            <p:nvPr/>
          </p:nvSpPr>
          <p:spPr>
            <a:xfrm>
              <a:off x="1239255" y="492674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800" i="1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endParaRPr lang="zh-CN" altLang="en-US" sz="1800" i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1C7CD595-4D4C-47F8-9468-963BAC4A13F1}"/>
                </a:ext>
              </a:extLst>
            </p:cNvPr>
            <p:cNvCxnSpPr/>
            <p:nvPr/>
          </p:nvCxnSpPr>
          <p:spPr>
            <a:xfrm>
              <a:off x="2089788" y="3846989"/>
              <a:ext cx="990956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5B9BD5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6F7761A9-567E-4D24-9E8D-89D0D9EF7CA4}"/>
                </a:ext>
              </a:extLst>
            </p:cNvPr>
            <p:cNvCxnSpPr/>
            <p:nvPr/>
          </p:nvCxnSpPr>
          <p:spPr>
            <a:xfrm>
              <a:off x="2089788" y="3846988"/>
              <a:ext cx="356404" cy="703661"/>
            </a:xfrm>
            <a:prstGeom prst="straightConnector1">
              <a:avLst/>
            </a:prstGeom>
            <a:noFill/>
            <a:ln w="19050" cap="flat" cmpd="sng" algn="ctr">
              <a:solidFill>
                <a:srgbClr val="5B9BD5"/>
              </a:solidFill>
              <a:prstDash val="solid"/>
              <a:miter lim="800000"/>
              <a:tailEnd type="triangle"/>
            </a:ln>
            <a:effectLst/>
          </p:spPr>
        </p:cxn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025F1D5-98C1-43FA-88F4-5B2FE46B5889}"/>
              </a:ext>
            </a:extLst>
          </p:cNvPr>
          <p:cNvGrpSpPr/>
          <p:nvPr/>
        </p:nvGrpSpPr>
        <p:grpSpPr>
          <a:xfrm>
            <a:off x="4966142" y="2336586"/>
            <a:ext cx="3255836" cy="3936457"/>
            <a:chOff x="4966142" y="2336586"/>
            <a:chExt cx="3255836" cy="3936457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423610EE-4079-4D21-B7B0-EB850281027B}"/>
                </a:ext>
              </a:extLst>
            </p:cNvPr>
            <p:cNvGrpSpPr/>
            <p:nvPr/>
          </p:nvGrpSpPr>
          <p:grpSpPr>
            <a:xfrm>
              <a:off x="4966142" y="2336586"/>
              <a:ext cx="3255836" cy="3936457"/>
              <a:chOff x="4966142" y="2336586"/>
              <a:chExt cx="3255836" cy="3936457"/>
            </a:xfrm>
          </p:grpSpPr>
          <p:pic>
            <p:nvPicPr>
              <p:cNvPr id="65" name="图片 64">
                <a:extLst>
                  <a:ext uri="{FF2B5EF4-FFF2-40B4-BE49-F238E27FC236}">
                    <a16:creationId xmlns:a16="http://schemas.microsoft.com/office/drawing/2014/main" id="{575D9A43-F767-4B58-96CA-92F6A9B4F0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66142" y="2336586"/>
                <a:ext cx="3255836" cy="3014091"/>
              </a:xfrm>
              <a:prstGeom prst="rect">
                <a:avLst/>
              </a:prstGeom>
            </p:spPr>
          </p:pic>
          <p:cxnSp>
            <p:nvCxnSpPr>
              <p:cNvPr id="66" name="直接箭头连接符 65">
                <a:extLst>
                  <a:ext uri="{FF2B5EF4-FFF2-40B4-BE49-F238E27FC236}">
                    <a16:creationId xmlns:a16="http://schemas.microsoft.com/office/drawing/2014/main" id="{3EB6C9C0-45EF-43CA-84DF-D62EA9A7F41E}"/>
                  </a:ext>
                </a:extLst>
              </p:cNvPr>
              <p:cNvCxnSpPr/>
              <p:nvPr/>
            </p:nvCxnSpPr>
            <p:spPr>
              <a:xfrm>
                <a:off x="6206804" y="3730880"/>
                <a:ext cx="1058910" cy="577932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5B9BD5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67" name="直接箭头连接符 66">
                <a:extLst>
                  <a:ext uri="{FF2B5EF4-FFF2-40B4-BE49-F238E27FC236}">
                    <a16:creationId xmlns:a16="http://schemas.microsoft.com/office/drawing/2014/main" id="{B73F031E-0AB4-477E-9943-F5C87BF7DE70}"/>
                  </a:ext>
                </a:extLst>
              </p:cNvPr>
              <p:cNvCxnSpPr/>
              <p:nvPr/>
            </p:nvCxnSpPr>
            <p:spPr>
              <a:xfrm flipH="1">
                <a:off x="6086996" y="3730880"/>
                <a:ext cx="119808" cy="792245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5B9BD5"/>
                </a:solidFill>
                <a:prstDash val="solid"/>
                <a:miter lim="800000"/>
                <a:tailEnd type="triangle"/>
              </a:ln>
              <a:effectLst/>
            </p:spPr>
          </p:cxnSp>
          <p:graphicFrame>
            <p:nvGraphicFramePr>
              <p:cNvPr id="8" name="对象 7">
                <a:extLst>
                  <a:ext uri="{FF2B5EF4-FFF2-40B4-BE49-F238E27FC236}">
                    <a16:creationId xmlns:a16="http://schemas.microsoft.com/office/drawing/2014/main" id="{4427E7A7-5320-4CF7-A120-FCB1D5C987C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487436" y="5277924"/>
              <a:ext cx="1391981" cy="9951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22" name="Equation" r:id="rId9" imgW="1307880" imgH="838080" progId="Equation.DSMT4">
                      <p:embed/>
                    </p:oleObj>
                  </mc:Choice>
                  <mc:Fallback>
                    <p:oleObj name="Equation" r:id="rId9" imgW="1307880" imgH="838080" progId="Equation.DSMT4">
                      <p:embed/>
                      <p:pic>
                        <p:nvPicPr>
                          <p:cNvPr id="8" name="对象 7">
                            <a:extLst>
                              <a:ext uri="{FF2B5EF4-FFF2-40B4-BE49-F238E27FC236}">
                                <a16:creationId xmlns:a16="http://schemas.microsoft.com/office/drawing/2014/main" id="{4427E7A7-5320-4CF7-A120-FCB1D5C987C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87436" y="5277924"/>
                            <a:ext cx="1391981" cy="995119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77" name="对象 76">
              <a:extLst>
                <a:ext uri="{FF2B5EF4-FFF2-40B4-BE49-F238E27FC236}">
                  <a16:creationId xmlns:a16="http://schemas.microsoft.com/office/drawing/2014/main" id="{680A1ED4-13F1-42D7-8267-C0F5D41290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965593" y="5615933"/>
            <a:ext cx="946064" cy="333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3" name="Equation" r:id="rId11" imgW="799920" imgH="253800" progId="Equation.DSMT4">
                    <p:embed/>
                  </p:oleObj>
                </mc:Choice>
                <mc:Fallback>
                  <p:oleObj name="Equation" r:id="rId11" imgW="799920" imgH="253800" progId="Equation.DSMT4">
                    <p:embed/>
                    <p:pic>
                      <p:nvPicPr>
                        <p:cNvPr id="77" name="对象 76">
                          <a:extLst>
                            <a:ext uri="{FF2B5EF4-FFF2-40B4-BE49-F238E27FC236}">
                              <a16:creationId xmlns:a16="http://schemas.microsoft.com/office/drawing/2014/main" id="{680A1ED4-13F1-42D7-8267-C0F5D41290B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65593" y="5615933"/>
                          <a:ext cx="946064" cy="33337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9CF24F9-A02A-4D9F-AF3F-1D8C24436C04}"/>
              </a:ext>
            </a:extLst>
          </p:cNvPr>
          <p:cNvGrpSpPr/>
          <p:nvPr/>
        </p:nvGrpSpPr>
        <p:grpSpPr>
          <a:xfrm>
            <a:off x="8469444" y="2290060"/>
            <a:ext cx="3285514" cy="3982983"/>
            <a:chOff x="8469444" y="2290060"/>
            <a:chExt cx="3285514" cy="3982983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DFFCD0D0-17F4-498B-9FD6-8405A8EAEB36}"/>
                </a:ext>
              </a:extLst>
            </p:cNvPr>
            <p:cNvGrpSpPr/>
            <p:nvPr/>
          </p:nvGrpSpPr>
          <p:grpSpPr>
            <a:xfrm>
              <a:off x="8469444" y="2290060"/>
              <a:ext cx="3265535" cy="3982983"/>
              <a:chOff x="8469444" y="2290060"/>
              <a:chExt cx="3265535" cy="3982983"/>
            </a:xfrm>
          </p:grpSpPr>
          <p:pic>
            <p:nvPicPr>
              <p:cNvPr id="71" name="图片 70">
                <a:extLst>
                  <a:ext uri="{FF2B5EF4-FFF2-40B4-BE49-F238E27FC236}">
                    <a16:creationId xmlns:a16="http://schemas.microsoft.com/office/drawing/2014/main" id="{FCFE6A0D-76FF-45A4-9A5C-9FFC4FBF4D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69444" y="2290060"/>
                <a:ext cx="3265535" cy="3023070"/>
              </a:xfrm>
              <a:prstGeom prst="rect">
                <a:avLst/>
              </a:prstGeom>
            </p:spPr>
          </p:pic>
          <p:cxnSp>
            <p:nvCxnSpPr>
              <p:cNvPr id="72" name="直接箭头连接符 71">
                <a:extLst>
                  <a:ext uri="{FF2B5EF4-FFF2-40B4-BE49-F238E27FC236}">
                    <a16:creationId xmlns:a16="http://schemas.microsoft.com/office/drawing/2014/main" id="{0CD39D25-C1A7-41E7-9218-C2B3D27418D3}"/>
                  </a:ext>
                </a:extLst>
              </p:cNvPr>
              <p:cNvCxnSpPr/>
              <p:nvPr/>
            </p:nvCxnSpPr>
            <p:spPr>
              <a:xfrm flipH="1" flipV="1">
                <a:off x="9535607" y="3624723"/>
                <a:ext cx="815580" cy="478631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5B9BD5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73" name="直接箭头连接符 72">
                <a:extLst>
                  <a:ext uri="{FF2B5EF4-FFF2-40B4-BE49-F238E27FC236}">
                    <a16:creationId xmlns:a16="http://schemas.microsoft.com/office/drawing/2014/main" id="{7E7B7C80-31DB-411B-8F4F-3038B33E687C}"/>
                  </a:ext>
                </a:extLst>
              </p:cNvPr>
              <p:cNvCxnSpPr/>
              <p:nvPr/>
            </p:nvCxnSpPr>
            <p:spPr>
              <a:xfrm flipH="1">
                <a:off x="9751111" y="4103354"/>
                <a:ext cx="600076" cy="464344"/>
              </a:xfrm>
              <a:prstGeom prst="straightConnector1">
                <a:avLst/>
              </a:prstGeom>
              <a:noFill/>
              <a:ln w="19050" cap="flat" cmpd="sng" algn="ctr">
                <a:solidFill>
                  <a:srgbClr val="5B9BD5"/>
                </a:solidFill>
                <a:prstDash val="solid"/>
                <a:miter lim="800000"/>
                <a:tailEnd type="triangle"/>
              </a:ln>
              <a:effectLst/>
            </p:spPr>
          </p:cxnSp>
          <p:graphicFrame>
            <p:nvGraphicFramePr>
              <p:cNvPr id="10" name="对象 9">
                <a:extLst>
                  <a:ext uri="{FF2B5EF4-FFF2-40B4-BE49-F238E27FC236}">
                    <a16:creationId xmlns:a16="http://schemas.microsoft.com/office/drawing/2014/main" id="{69BEA936-4F3F-4C7B-BF5E-639E03FDD50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147862" y="5350677"/>
              <a:ext cx="1387209" cy="9223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24" name="Equation" r:id="rId14" imgW="1409400" imgH="838080" progId="Equation.DSMT4">
                      <p:embed/>
                    </p:oleObj>
                  </mc:Choice>
                  <mc:Fallback>
                    <p:oleObj name="Equation" r:id="rId14" imgW="1409400" imgH="838080" progId="Equation.DSMT4">
                      <p:embed/>
                      <p:pic>
                        <p:nvPicPr>
                          <p:cNvPr id="10" name="对象 9">
                            <a:extLst>
                              <a:ext uri="{FF2B5EF4-FFF2-40B4-BE49-F238E27FC236}">
                                <a16:creationId xmlns:a16="http://schemas.microsoft.com/office/drawing/2014/main" id="{69BEA936-4F3F-4C7B-BF5E-639E03FDD50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147862" y="5350677"/>
                            <a:ext cx="1387209" cy="922366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78" name="对象 77">
              <a:extLst>
                <a:ext uri="{FF2B5EF4-FFF2-40B4-BE49-F238E27FC236}">
                  <a16:creationId xmlns:a16="http://schemas.microsoft.com/office/drawing/2014/main" id="{4C212477-45E3-4631-8F82-79457A5F989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621247" y="5615933"/>
            <a:ext cx="1133711" cy="354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5" name="Equation" r:id="rId16" imgW="901440" imgH="253800" progId="Equation.DSMT4">
                    <p:embed/>
                  </p:oleObj>
                </mc:Choice>
                <mc:Fallback>
                  <p:oleObj name="Equation" r:id="rId16" imgW="901440" imgH="253800" progId="Equation.DSMT4">
                    <p:embed/>
                    <p:pic>
                      <p:nvPicPr>
                        <p:cNvPr id="78" name="对象 77">
                          <a:extLst>
                            <a:ext uri="{FF2B5EF4-FFF2-40B4-BE49-F238E27FC236}">
                              <a16:creationId xmlns:a16="http://schemas.microsoft.com/office/drawing/2014/main" id="{4C212477-45E3-4631-8F82-79457A5F989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21247" y="5615933"/>
                          <a:ext cx="1133711" cy="35436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" name="Rectangle 2">
            <a:extLst>
              <a:ext uri="{FF2B5EF4-FFF2-40B4-BE49-F238E27FC236}">
                <a16:creationId xmlns:a16="http://schemas.microsoft.com/office/drawing/2014/main" id="{2EC9101B-AF51-4454-B678-E3016338D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548" y="162318"/>
            <a:ext cx="6922546" cy="52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华文细黑" panose="02010600040101010101" pitchFamily="2" charset="-122"/>
                <a:ea typeface="+mj-ea"/>
                <a:cs typeface="+mj-cs"/>
              </a:defRPr>
            </a:lvl1pPr>
            <a:lvl2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2pPr>
            <a:lvl3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3pPr>
            <a:lvl4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4pPr>
            <a:lvl5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5pPr>
            <a:lvl6pPr marL="609570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6pPr>
            <a:lvl7pPr marL="121913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7pPr>
            <a:lvl8pPr marL="182870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8pPr>
            <a:lvl9pPr marL="2438278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9pPr>
          </a:lstStyle>
          <a:p>
            <a:r>
              <a:rPr lang="en-US" altLang="zh-CN" sz="2800" b="1" dirty="0">
                <a:solidFill>
                  <a:srgbClr val="0C4379"/>
                </a:solidFill>
                <a:latin typeface="+mn-ea"/>
                <a:ea typeface="+mn-ea"/>
              </a:rPr>
              <a:t>6</a:t>
            </a:r>
            <a:r>
              <a:rPr lang="zh-CN" altLang="en-US" sz="2800" b="1" dirty="0">
                <a:solidFill>
                  <a:srgbClr val="0C4379"/>
                </a:solidFill>
                <a:latin typeface="+mn-ea"/>
                <a:ea typeface="+mn-ea"/>
              </a:rPr>
              <a:t> 图像几何运算</a:t>
            </a:r>
            <a:r>
              <a:rPr lang="en-US" altLang="zh-CN" sz="2800" b="1" dirty="0">
                <a:solidFill>
                  <a:srgbClr val="0C4379"/>
                </a:solidFill>
                <a:latin typeface="+mn-ea"/>
                <a:ea typeface="+mn-ea"/>
              </a:rPr>
              <a:t>-</a:t>
            </a:r>
            <a:r>
              <a:rPr lang="zh-CN" altLang="en-US" sz="2800" b="1" dirty="0">
                <a:solidFill>
                  <a:srgbClr val="0C4379"/>
                </a:solidFill>
                <a:latin typeface="+mn-ea"/>
                <a:ea typeface="+mn-ea"/>
              </a:rPr>
              <a:t>线性几何变换</a:t>
            </a: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0BD1D10F-08B2-4799-96D6-BE0060C6F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744" y="914400"/>
            <a:ext cx="961561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r>
              <a:rPr lang="zh-CN" altLang="en-US" dirty="0">
                <a:latin typeface="+mn-ea"/>
              </a:rPr>
              <a:t>旋转变换（正交变换）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32364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7">
            <a:extLst>
              <a:ext uri="{FF2B5EF4-FFF2-40B4-BE49-F238E27FC236}">
                <a16:creationId xmlns:a16="http://schemas.microsoft.com/office/drawing/2014/main" id="{4E47D3D2-014A-4690-B4E3-955D5D77C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141" y="1749911"/>
            <a:ext cx="1031561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的齐次坐标是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向量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C90B1F4-841A-4E21-A4FC-749788FAF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4" y="1140311"/>
            <a:ext cx="11103932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关于齐次坐标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7">
            <a:extLst>
              <a:ext uri="{FF2B5EF4-FFF2-40B4-BE49-F238E27FC236}">
                <a16:creationId xmlns:a16="http://schemas.microsoft.com/office/drawing/2014/main" id="{5ECC2293-9640-414C-A94D-0FEA06671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143" y="2246835"/>
            <a:ext cx="757056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0, 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是一个无穷远点，在数字图像处理中暂不考虑此情况。</a:t>
            </a:r>
          </a:p>
        </p:txBody>
      </p:sp>
      <p:sp>
        <p:nvSpPr>
          <p:cNvPr id="31" name="Rectangle 7">
            <a:extLst>
              <a:ext uri="{FF2B5EF4-FFF2-40B4-BE49-F238E27FC236}">
                <a16:creationId xmlns:a16="http://schemas.microsoft.com/office/drawing/2014/main" id="{647B7CF4-F106-4EEF-8337-748415A2B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141" y="2854755"/>
            <a:ext cx="8500945" cy="861774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的齐次坐标 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不是唯一的。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50000"/>
              </a:spcBef>
            </a:pP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也是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的齐次坐标，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3" name="Rectangle 7">
            <a:extLst>
              <a:ext uri="{FF2B5EF4-FFF2-40B4-BE49-F238E27FC236}">
                <a16:creationId xmlns:a16="http://schemas.microsoft.com/office/drawing/2014/main" id="{E2F42AC5-E765-42CE-8E92-3104C8408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141" y="4145656"/>
            <a:ext cx="107578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对于非无穷远点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具有唯一的归一化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齐次坐标</a:t>
            </a:r>
            <a:r>
              <a:rPr lang="en-US" altLang="zh-C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1)</a:t>
            </a:r>
            <a:r>
              <a:rPr lang="en-US" altLang="zh-CN" sz="20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82CDCECB-1E25-4CD1-BDBB-B9B81964E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548" y="162318"/>
            <a:ext cx="6922546" cy="52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华文细黑" panose="02010600040101010101" pitchFamily="2" charset="-122"/>
                <a:ea typeface="+mj-ea"/>
                <a:cs typeface="+mj-cs"/>
              </a:defRPr>
            </a:lvl1pPr>
            <a:lvl2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2pPr>
            <a:lvl3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3pPr>
            <a:lvl4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4pPr>
            <a:lvl5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5pPr>
            <a:lvl6pPr marL="609570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6pPr>
            <a:lvl7pPr marL="121913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7pPr>
            <a:lvl8pPr marL="182870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8pPr>
            <a:lvl9pPr marL="2438278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9pPr>
          </a:lstStyle>
          <a:p>
            <a:r>
              <a:rPr lang="en-US" altLang="zh-CN" sz="2800" b="1" dirty="0">
                <a:solidFill>
                  <a:srgbClr val="0C4379"/>
                </a:solidFill>
                <a:latin typeface="+mn-ea"/>
                <a:ea typeface="+mn-ea"/>
              </a:rPr>
              <a:t>6</a:t>
            </a:r>
            <a:r>
              <a:rPr lang="zh-CN" altLang="en-US" sz="2800" b="1" dirty="0">
                <a:solidFill>
                  <a:srgbClr val="0C4379"/>
                </a:solidFill>
                <a:latin typeface="+mn-ea"/>
                <a:ea typeface="+mn-ea"/>
              </a:rPr>
              <a:t> 图像几何运算</a:t>
            </a:r>
            <a:r>
              <a:rPr lang="en-US" altLang="zh-CN" sz="2800" b="1" dirty="0">
                <a:solidFill>
                  <a:srgbClr val="0C4379"/>
                </a:solidFill>
                <a:latin typeface="+mn-ea"/>
                <a:ea typeface="+mn-ea"/>
              </a:rPr>
              <a:t>-</a:t>
            </a:r>
            <a:r>
              <a:rPr lang="zh-CN" altLang="en-US" sz="2800" b="1" dirty="0">
                <a:solidFill>
                  <a:srgbClr val="0C4379"/>
                </a:solidFill>
                <a:latin typeface="+mn-ea"/>
                <a:ea typeface="+mn-ea"/>
              </a:rPr>
              <a:t>齐次坐标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4FB924-9701-4C24-9020-29762CAD73F4}"/>
              </a:ext>
            </a:extLst>
          </p:cNvPr>
          <p:cNvSpPr txBox="1"/>
          <p:nvPr/>
        </p:nvSpPr>
        <p:spPr>
          <a:xfrm>
            <a:off x="2340864" y="4770688"/>
            <a:ext cx="6896988" cy="188295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200" dirty="0">
                <a:solidFill>
                  <a:srgbClr val="FF0000"/>
                </a:solidFill>
              </a:rPr>
              <a:t>扩展阅读：</a:t>
            </a:r>
            <a:r>
              <a:rPr lang="en-US" altLang="zh-CN" sz="1200" dirty="0">
                <a:solidFill>
                  <a:srgbClr val="FF0000"/>
                </a:solidFill>
              </a:rPr>
              <a:t>《</a:t>
            </a:r>
            <a:r>
              <a:rPr lang="zh-CN" altLang="en-US" sz="1200" dirty="0">
                <a:solidFill>
                  <a:srgbClr val="FF0000"/>
                </a:solidFill>
              </a:rPr>
              <a:t>计算机视觉</a:t>
            </a:r>
            <a:r>
              <a:rPr lang="en-US" altLang="zh-CN" sz="1200" dirty="0">
                <a:solidFill>
                  <a:srgbClr val="FF0000"/>
                </a:solidFill>
              </a:rPr>
              <a:t>》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FF0000"/>
                </a:solidFill>
              </a:rPr>
              <a:t>在欧几里得几何中，平行线永不相交。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FF0000"/>
                </a:solidFill>
              </a:rPr>
              <a:t>但在射影几何中，为了统一处理几何关系（比如透视投影、相机成像），引入了无穷远点的概念：</a:t>
            </a:r>
            <a:endParaRPr lang="en-US" altLang="zh-CN" sz="1200" dirty="0">
              <a:solidFill>
                <a:srgbClr val="FF0000"/>
              </a:solidFill>
            </a:endParaRPr>
          </a:p>
          <a:p>
            <a:pPr marL="628650" lvl="1" indent="-1714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sz="1200" dirty="0">
                <a:solidFill>
                  <a:srgbClr val="FF0000"/>
                </a:solidFill>
              </a:rPr>
              <a:t>所有相互平行的直线在无穷远处相交于同一个无穷远点。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FF0000"/>
                </a:solidFill>
              </a:rPr>
              <a:t>这样，射影几何中“任意两条直线都相交于一点”（包括平行线），使得数学表达更简洁、统一。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C6BBC61E-8495-4E64-B535-C2D9280B539A}"/>
              </a:ext>
            </a:extLst>
          </p:cNvPr>
          <p:cNvCxnSpPr>
            <a:cxnSpLocks/>
          </p:cNvCxnSpPr>
          <p:nvPr/>
        </p:nvCxnSpPr>
        <p:spPr>
          <a:xfrm>
            <a:off x="8460712" y="2452415"/>
            <a:ext cx="777140" cy="3265274"/>
          </a:xfrm>
          <a:prstGeom prst="bentConnector3">
            <a:avLst>
              <a:gd name="adj1" fmla="val 238338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729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AC90B1F4-841A-4E21-A4FC-749788FAF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744" y="914400"/>
            <a:ext cx="11103932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r>
              <a:rPr lang="zh-CN" altLang="en-US" sz="2400" b="1" dirty="0">
                <a:latin typeface="+mn-ea"/>
              </a:rPr>
              <a:t>齐次坐标和非齐次坐标可互相转换</a:t>
            </a:r>
            <a:endParaRPr lang="en-US" altLang="zh-CN" sz="2400" b="1" dirty="0">
              <a:latin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6212D59-2AE3-4442-9F97-9EEA7B63576A}"/>
              </a:ext>
            </a:extLst>
          </p:cNvPr>
          <p:cNvGrpSpPr/>
          <p:nvPr/>
        </p:nvGrpSpPr>
        <p:grpSpPr>
          <a:xfrm>
            <a:off x="689283" y="1524000"/>
            <a:ext cx="10552176" cy="2098312"/>
            <a:chOff x="819912" y="2219897"/>
            <a:chExt cx="10552176" cy="2098312"/>
          </a:xfrm>
        </p:grpSpPr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37C0FE24-AA3D-43FF-9A47-A860766CC49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99327" y="2876270"/>
            <a:ext cx="546100" cy="873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17" name="Equation" r:id="rId3" imgW="330120" imgH="482400" progId="Equation.DSMT4">
                    <p:embed/>
                  </p:oleObj>
                </mc:Choice>
                <mc:Fallback>
                  <p:oleObj name="Equation" r:id="rId3" imgW="330120" imgH="48240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37C0FE24-AA3D-43FF-9A47-A860766CC49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9327" y="2876270"/>
                          <a:ext cx="546100" cy="8731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D1C55051-ECDF-4BD2-833A-D1565AD3BF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900" y="3902205"/>
              <a:ext cx="293599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>
                <a:spcBef>
                  <a:spcPct val="50000"/>
                </a:spcBef>
              </a:pPr>
              <a:r>
                <a: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non-homogeneous coordinate</a:t>
              </a:r>
              <a:endPara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E1BE10C8-AC42-45F4-B376-D42AEE3D53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15146" y="2695032"/>
            <a:ext cx="546100" cy="1285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18" name="Equation" r:id="rId5" imgW="330120" imgH="711000" progId="Equation.DSMT4">
                    <p:embed/>
                  </p:oleObj>
                </mc:Choice>
                <mc:Fallback>
                  <p:oleObj name="Equation" r:id="rId5" imgW="330120" imgH="71100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E1BE10C8-AC42-45F4-B376-D42AEE3D53C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15146" y="2695032"/>
                          <a:ext cx="546100" cy="128587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Rectangle 7">
              <a:extLst>
                <a:ext uri="{FF2B5EF4-FFF2-40B4-BE49-F238E27FC236}">
                  <a16:creationId xmlns:a16="http://schemas.microsoft.com/office/drawing/2014/main" id="{8B658655-9795-4993-9817-FF3095A5CA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0485" y="3897230"/>
              <a:ext cx="3686773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>
                <a:spcBef>
                  <a:spcPct val="50000"/>
                </a:spcBef>
              </a:pPr>
              <a:r>
                <a: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normalized homogeneous coordinate</a:t>
              </a:r>
              <a:endPara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18D117E7-7175-4371-BE6C-EF57A24064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753282" y="2630022"/>
            <a:ext cx="1512888" cy="1285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19" name="Equation" r:id="rId7" imgW="914400" imgH="711000" progId="Equation.DSMT4">
                    <p:embed/>
                  </p:oleObj>
                </mc:Choice>
                <mc:Fallback>
                  <p:oleObj name="Equation" r:id="rId7" imgW="914400" imgH="71100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18D117E7-7175-4371-BE6C-EF57A240646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53282" y="2630022"/>
                          <a:ext cx="1512888" cy="128587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Rectangle 7">
              <a:extLst>
                <a:ext uri="{FF2B5EF4-FFF2-40B4-BE49-F238E27FC236}">
                  <a16:creationId xmlns:a16="http://schemas.microsoft.com/office/drawing/2014/main" id="{2E16878D-8935-43E9-90D2-59E63EC3FD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3343" y="3897230"/>
              <a:ext cx="259000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>
                <a:spcBef>
                  <a:spcPct val="50000"/>
                </a:spcBef>
              </a:pPr>
              <a:r>
                <a: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homogeneous coordinate</a:t>
              </a:r>
              <a:endPara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Rectangle 7">
              <a:extLst>
                <a:ext uri="{FF2B5EF4-FFF2-40B4-BE49-F238E27FC236}">
                  <a16:creationId xmlns:a16="http://schemas.microsoft.com/office/drawing/2014/main" id="{E07F4F3B-BFF4-4A0C-9EFB-15AFC6C58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738" y="2222717"/>
              <a:ext cx="6373843" cy="3693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>
                <a:spcBef>
                  <a:spcPct val="50000"/>
                </a:spcBef>
              </a:pPr>
              <a:r>
                <a:rPr lang="zh-CN" altLang="en-US" sz="1800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非齐次坐标到齐次坐标</a:t>
              </a:r>
              <a:endParaRPr lang="zh-C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D1F1DB3-D59B-477F-AB97-EEB0B4D58AF7}"/>
                </a:ext>
              </a:extLst>
            </p:cNvPr>
            <p:cNvSpPr/>
            <p:nvPr/>
          </p:nvSpPr>
          <p:spPr bwMode="auto">
            <a:xfrm>
              <a:off x="819912" y="2219897"/>
              <a:ext cx="10552176" cy="2098312"/>
            </a:xfrm>
            <a:prstGeom prst="rect">
              <a:avLst/>
            </a:prstGeom>
            <a:noFill/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4" name="AutoShape 37">
              <a:extLst>
                <a:ext uri="{FF2B5EF4-FFF2-40B4-BE49-F238E27FC236}">
                  <a16:creationId xmlns:a16="http://schemas.microsoft.com/office/drawing/2014/main" id="{74A2968C-9838-4458-85A7-8AFCFC483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2807" y="3246777"/>
              <a:ext cx="592270" cy="208352"/>
            </a:xfrm>
            <a:prstGeom prst="rightArrow">
              <a:avLst>
                <a:gd name="adj1" fmla="val 50000"/>
                <a:gd name="adj2" fmla="val 50002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DA47E57-9B26-476A-864A-2CC1C1811254}"/>
                </a:ext>
              </a:extLst>
            </p:cNvPr>
            <p:cNvSpPr/>
            <p:nvPr/>
          </p:nvSpPr>
          <p:spPr bwMode="auto">
            <a:xfrm>
              <a:off x="4471162" y="2660166"/>
              <a:ext cx="6302290" cy="1605786"/>
            </a:xfrm>
            <a:prstGeom prst="rect">
              <a:avLst/>
            </a:prstGeom>
            <a:noFill/>
            <a:ln w="9525" cap="flat" cmpd="sng" algn="ctr">
              <a:solidFill>
                <a:schemeClr val="accent2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C02943CC-60E7-405F-8F48-A7FAEA289AF8}"/>
                </a:ext>
              </a:extLst>
            </p:cNvPr>
            <p:cNvSpPr/>
            <p:nvPr/>
          </p:nvSpPr>
          <p:spPr bwMode="auto">
            <a:xfrm>
              <a:off x="948863" y="2648205"/>
              <a:ext cx="2806981" cy="1605786"/>
            </a:xfrm>
            <a:prstGeom prst="rect">
              <a:avLst/>
            </a:prstGeom>
            <a:noFill/>
            <a:ln w="9525" cap="flat" cmpd="sng" algn="ctr">
              <a:solidFill>
                <a:schemeClr val="accent2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C4BA8EAA-E7CE-49F9-AD62-275C4EE017EC}"/>
              </a:ext>
            </a:extLst>
          </p:cNvPr>
          <p:cNvGrpSpPr/>
          <p:nvPr/>
        </p:nvGrpSpPr>
        <p:grpSpPr>
          <a:xfrm>
            <a:off x="689283" y="3677804"/>
            <a:ext cx="10552176" cy="1983763"/>
            <a:chOff x="819912" y="4373701"/>
            <a:chExt cx="10552176" cy="1983763"/>
          </a:xfrm>
        </p:grpSpPr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B3170138-219E-4DFD-A84C-2989B782A66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02598" y="4765285"/>
            <a:ext cx="1258888" cy="1285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20" name="Equation" r:id="rId9" imgW="761760" imgH="711000" progId="Equation.DSMT4">
                    <p:embed/>
                  </p:oleObj>
                </mc:Choice>
                <mc:Fallback>
                  <p:oleObj name="Equation" r:id="rId9" imgW="761760" imgH="71100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B3170138-219E-4DFD-A84C-2989B782A66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2598" y="4765285"/>
                          <a:ext cx="1258888" cy="128587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F0AD3F0B-6B12-483E-9283-F07FCE68A59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19787" y="4889988"/>
            <a:ext cx="923925" cy="871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21" name="Equation" r:id="rId11" imgW="558720" imgH="482400" progId="Equation.DSMT4">
                    <p:embed/>
                  </p:oleObj>
                </mc:Choice>
                <mc:Fallback>
                  <p:oleObj name="Equation" r:id="rId11" imgW="558720" imgH="48240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F0AD3F0B-6B12-483E-9283-F07FCE68A59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19787" y="4889988"/>
                          <a:ext cx="923925" cy="8715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Rectangle 7">
              <a:extLst>
                <a:ext uri="{FF2B5EF4-FFF2-40B4-BE49-F238E27FC236}">
                  <a16:creationId xmlns:a16="http://schemas.microsoft.com/office/drawing/2014/main" id="{12642999-6950-455E-B763-F9B130BFDF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0422" y="5921986"/>
              <a:ext cx="259000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>
                <a:spcBef>
                  <a:spcPct val="50000"/>
                </a:spcBef>
              </a:pPr>
              <a:r>
                <a: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homogeneous coordinate</a:t>
              </a:r>
              <a:endPara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C2FBD41C-2429-47F2-B4F9-F06CF3954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6248" y="5851700"/>
              <a:ext cx="293599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>
                <a:spcBef>
                  <a:spcPct val="50000"/>
                </a:spcBef>
              </a:pPr>
              <a:r>
                <a: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non-homogeneous coordinate</a:t>
              </a:r>
              <a:endPara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Rectangle 7">
              <a:extLst>
                <a:ext uri="{FF2B5EF4-FFF2-40B4-BE49-F238E27FC236}">
                  <a16:creationId xmlns:a16="http://schemas.microsoft.com/office/drawing/2014/main" id="{0AB793E5-BF69-4A90-909C-244050C53D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92" y="4373701"/>
              <a:ext cx="6373843" cy="3693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zh-CN" altLang="en-US" sz="1800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齐次坐标到非齐次坐标</a:t>
              </a:r>
              <a:endParaRPr lang="zh-CN" altLang="en-US" sz="1800" dirty="0">
                <a:solidFill>
                  <a:schemeClr val="bg1"/>
                </a:solidFill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161426AF-27F9-4D5B-A7AE-75AA754BE3B7}"/>
                </a:ext>
              </a:extLst>
            </p:cNvPr>
            <p:cNvSpPr/>
            <p:nvPr/>
          </p:nvSpPr>
          <p:spPr bwMode="auto">
            <a:xfrm>
              <a:off x="819912" y="4373701"/>
              <a:ext cx="10552176" cy="1983763"/>
            </a:xfrm>
            <a:prstGeom prst="rect">
              <a:avLst/>
            </a:prstGeom>
            <a:noFill/>
            <a:ln w="9525" cap="flat" cmpd="sng" algn="ctr">
              <a:solidFill>
                <a:schemeClr val="accent2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7" name="AutoShape 37">
              <a:extLst>
                <a:ext uri="{FF2B5EF4-FFF2-40B4-BE49-F238E27FC236}">
                  <a16:creationId xmlns:a16="http://schemas.microsoft.com/office/drawing/2014/main" id="{0F9808F8-100B-435C-A718-CA2137138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5844" y="5377088"/>
              <a:ext cx="688328" cy="208352"/>
            </a:xfrm>
            <a:prstGeom prst="rightArrow">
              <a:avLst>
                <a:gd name="adj1" fmla="val 50000"/>
                <a:gd name="adj2" fmla="val 50002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96FB6F31-80E3-402C-8891-586D9525BDF1}"/>
                </a:ext>
              </a:extLst>
            </p:cNvPr>
            <p:cNvSpPr/>
            <p:nvPr/>
          </p:nvSpPr>
          <p:spPr bwMode="auto">
            <a:xfrm>
              <a:off x="941900" y="4776193"/>
              <a:ext cx="2806981" cy="1515125"/>
            </a:xfrm>
            <a:prstGeom prst="rect">
              <a:avLst/>
            </a:prstGeom>
            <a:noFill/>
            <a:ln w="9525" cap="flat" cmpd="sng" algn="ctr">
              <a:solidFill>
                <a:schemeClr val="accent2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3B922DED-A680-46FB-BB36-03FEB5EB4E56}"/>
                </a:ext>
              </a:extLst>
            </p:cNvPr>
            <p:cNvSpPr/>
            <p:nvPr/>
          </p:nvSpPr>
          <p:spPr bwMode="auto">
            <a:xfrm>
              <a:off x="4471162" y="4790337"/>
              <a:ext cx="3880409" cy="1500981"/>
            </a:xfrm>
            <a:prstGeom prst="rect">
              <a:avLst/>
            </a:prstGeom>
            <a:noFill/>
            <a:ln w="9525" cap="flat" cmpd="sng" algn="ctr">
              <a:solidFill>
                <a:schemeClr val="accent2">
                  <a:lumMod val="50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31" name="Rectangle 2">
            <a:extLst>
              <a:ext uri="{FF2B5EF4-FFF2-40B4-BE49-F238E27FC236}">
                <a16:creationId xmlns:a16="http://schemas.microsoft.com/office/drawing/2014/main" id="{985C12A3-97CA-48CE-B5DD-442C6DD684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548" y="162318"/>
            <a:ext cx="6922546" cy="52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华文细黑" panose="02010600040101010101" pitchFamily="2" charset="-122"/>
                <a:ea typeface="+mj-ea"/>
                <a:cs typeface="+mj-cs"/>
              </a:defRPr>
            </a:lvl1pPr>
            <a:lvl2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2pPr>
            <a:lvl3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3pPr>
            <a:lvl4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4pPr>
            <a:lvl5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5pPr>
            <a:lvl6pPr marL="609570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6pPr>
            <a:lvl7pPr marL="121913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7pPr>
            <a:lvl8pPr marL="182870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8pPr>
            <a:lvl9pPr marL="2438278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9pPr>
          </a:lstStyle>
          <a:p>
            <a:r>
              <a:rPr lang="en-US" altLang="zh-CN" sz="2800" b="1" dirty="0">
                <a:solidFill>
                  <a:srgbClr val="0C4379"/>
                </a:solidFill>
                <a:latin typeface="+mn-ea"/>
                <a:ea typeface="+mn-ea"/>
              </a:rPr>
              <a:t>6</a:t>
            </a:r>
            <a:r>
              <a:rPr lang="zh-CN" altLang="en-US" sz="2800" b="1" dirty="0">
                <a:solidFill>
                  <a:srgbClr val="0C4379"/>
                </a:solidFill>
                <a:latin typeface="+mn-ea"/>
                <a:ea typeface="+mn-ea"/>
              </a:rPr>
              <a:t> 图像几何运算</a:t>
            </a:r>
            <a:r>
              <a:rPr lang="en-US" altLang="zh-CN" sz="2800" b="1" dirty="0">
                <a:solidFill>
                  <a:srgbClr val="0C4379"/>
                </a:solidFill>
                <a:latin typeface="+mn-ea"/>
                <a:ea typeface="+mn-ea"/>
              </a:rPr>
              <a:t>-2D</a:t>
            </a:r>
            <a:r>
              <a:rPr lang="zh-CN" altLang="en-US" sz="2800" b="1" dirty="0">
                <a:solidFill>
                  <a:srgbClr val="0C4379"/>
                </a:solidFill>
                <a:latin typeface="+mn-ea"/>
                <a:ea typeface="+mn-ea"/>
              </a:rPr>
              <a:t>线性几何变换</a:t>
            </a:r>
          </a:p>
        </p:txBody>
      </p:sp>
    </p:spTree>
    <p:extLst>
      <p:ext uri="{BB962C8B-B14F-4D97-AF65-F5344CB8AC3E}">
        <p14:creationId xmlns:p14="http://schemas.microsoft.com/office/powerpoint/2010/main" val="2018169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AC90B1F4-841A-4E21-A4FC-749788FAF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743" y="914399"/>
            <a:ext cx="10583981" cy="1101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FontTx/>
              <a:buChar char="•"/>
            </a:pPr>
            <a:r>
              <a:rPr lang="zh-CN" altLang="en-US" sz="2400" b="1" dirty="0">
                <a:latin typeface="+mn-ea"/>
              </a:rPr>
              <a:t>欧式变换</a:t>
            </a:r>
            <a:r>
              <a:rPr lang="en-US" altLang="zh-CN" sz="2400" b="1" dirty="0">
                <a:latin typeface="+mn-ea"/>
              </a:rPr>
              <a:t>(</a:t>
            </a:r>
            <a:r>
              <a:rPr lang="zh-CN" altLang="en-US" sz="2400" b="1" dirty="0">
                <a:latin typeface="+mn-ea"/>
              </a:rPr>
              <a:t>正交变换的一种</a:t>
            </a:r>
            <a:r>
              <a:rPr lang="en-US" altLang="zh-CN" sz="2400" b="1" dirty="0">
                <a:latin typeface="+mn-ea"/>
              </a:rPr>
              <a:t>)</a:t>
            </a:r>
          </a:p>
          <a:p>
            <a:pPr lvl="1" algn="just">
              <a:lnSpc>
                <a:spcPct val="150000"/>
              </a:lnSpc>
            </a:pPr>
            <a:r>
              <a:rPr lang="zh-CN" altLang="en-US" sz="2200" dirty="0">
                <a:latin typeface="+mn-ea"/>
              </a:rPr>
              <a:t>在旋转变换基础上，增加平移变换就是欧式变换</a:t>
            </a:r>
            <a:endParaRPr lang="en-US" altLang="zh-CN" sz="2200" dirty="0">
              <a:latin typeface="+mn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C7BA514-592C-4229-915F-591FDDC52FFF}"/>
              </a:ext>
            </a:extLst>
          </p:cNvPr>
          <p:cNvGrpSpPr/>
          <p:nvPr/>
        </p:nvGrpSpPr>
        <p:grpSpPr>
          <a:xfrm>
            <a:off x="1013196" y="4256208"/>
            <a:ext cx="10400328" cy="1844809"/>
            <a:chOff x="1013196" y="3786054"/>
            <a:chExt cx="10400328" cy="1844809"/>
          </a:xfrm>
        </p:grpSpPr>
        <p:graphicFrame>
          <p:nvGraphicFramePr>
            <p:cNvPr id="38" name="对象 37">
              <a:extLst>
                <a:ext uri="{FF2B5EF4-FFF2-40B4-BE49-F238E27FC236}">
                  <a16:creationId xmlns:a16="http://schemas.microsoft.com/office/drawing/2014/main" id="{00AC7EE1-DD4B-4725-8586-CD519F3C05E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11575" y="4799013"/>
            <a:ext cx="3821113" cy="831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63" name="Equation" r:id="rId3" imgW="2450880" imgH="482400" progId="Equation.DSMT4">
                    <p:embed/>
                  </p:oleObj>
                </mc:Choice>
                <mc:Fallback>
                  <p:oleObj name="Equation" r:id="rId3" imgW="2450880" imgH="482400" progId="Equation.DSMT4">
                    <p:embed/>
                    <p:pic>
                      <p:nvPicPr>
                        <p:cNvPr id="38" name="对象 37">
                          <a:extLst>
                            <a:ext uri="{FF2B5EF4-FFF2-40B4-BE49-F238E27FC236}">
                              <a16:creationId xmlns:a16="http://schemas.microsoft.com/office/drawing/2014/main" id="{00AC7EE1-DD4B-4725-8586-CD519F3C05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1575" y="4799013"/>
                          <a:ext cx="3821113" cy="8318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" name="Rectangle 7">
              <a:extLst>
                <a:ext uri="{FF2B5EF4-FFF2-40B4-BE49-F238E27FC236}">
                  <a16:creationId xmlns:a16="http://schemas.microsoft.com/office/drawing/2014/main" id="{E2C48051-1245-4465-9E73-A8FF30051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196" y="3786054"/>
              <a:ext cx="1040032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>
                <a:spcBef>
                  <a:spcPct val="50000"/>
                </a:spcBef>
              </a:pPr>
              <a:r>
                <a:rPr lang="en-US" altLang="zh-CN" sz="2000" b="1" dirty="0">
                  <a:latin typeface="+mn-ea"/>
                </a:rPr>
                <a:t>2D </a:t>
              </a:r>
              <a:r>
                <a:rPr lang="zh-CN" altLang="en-US" sz="2000" b="1" dirty="0">
                  <a:latin typeface="+mn-ea"/>
                </a:rPr>
                <a:t>欧式变换矩阵的形式如下：</a:t>
              </a:r>
            </a:p>
          </p:txBody>
        </p:sp>
      </p:grp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AB22227-47B1-496B-B72D-77845A12F5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63451" y="2319970"/>
          <a:ext cx="3044561" cy="13348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4" name="Equation" r:id="rId5" imgW="1841500" imgH="736600" progId="Equation.DSMT4">
                  <p:embed/>
                </p:oleObj>
              </mc:Choice>
              <mc:Fallback>
                <p:oleObj name="Equation" r:id="rId5" imgW="1841500" imgH="7366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8AB22227-47B1-496B-B72D-77845A12F5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3451" y="2319970"/>
                        <a:ext cx="3044561" cy="13348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7A7BF937-A578-4033-BAC4-E9F2BE8912C9}"/>
              </a:ext>
            </a:extLst>
          </p:cNvPr>
          <p:cNvGrpSpPr/>
          <p:nvPr/>
        </p:nvGrpSpPr>
        <p:grpSpPr>
          <a:xfrm>
            <a:off x="5407672" y="2233819"/>
            <a:ext cx="2906891" cy="1134652"/>
            <a:chOff x="5407672" y="2233819"/>
            <a:chExt cx="2906891" cy="1134652"/>
          </a:xfrm>
        </p:grpSpPr>
        <p:sp>
          <p:nvSpPr>
            <p:cNvPr id="46" name="AutoShape 37">
              <a:extLst>
                <a:ext uri="{FF2B5EF4-FFF2-40B4-BE49-F238E27FC236}">
                  <a16:creationId xmlns:a16="http://schemas.microsoft.com/office/drawing/2014/main" id="{E8B740DE-851D-45B0-A4FE-8F199B1A4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7672" y="2851457"/>
              <a:ext cx="688328" cy="208352"/>
            </a:xfrm>
            <a:prstGeom prst="rightArrow">
              <a:avLst>
                <a:gd name="adj1" fmla="val 50000"/>
                <a:gd name="adj2" fmla="val 50002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13F3848F-B711-42F9-AD02-64EF362076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233876" y="2562668"/>
            <a:ext cx="1661969" cy="8058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65" name="Equation" r:id="rId7" imgW="1104840" imgH="482400" progId="Equation.DSMT4">
                    <p:embed/>
                  </p:oleObj>
                </mc:Choice>
                <mc:Fallback>
                  <p:oleObj name="Equation" r:id="rId7" imgW="1104840" imgH="48240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13F3848F-B711-42F9-AD02-64EF3620767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33876" y="2562668"/>
                          <a:ext cx="1661969" cy="80580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B837875A-325B-416F-BA79-88096F9748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4752" y="2233819"/>
              <a:ext cx="2299811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 dirty="0">
                  <a:latin typeface="+mn-ea"/>
                </a:rPr>
                <a:t>齐次形式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CAAD249B-C727-413E-840E-589EFDF57FCD}"/>
              </a:ext>
            </a:extLst>
          </p:cNvPr>
          <p:cNvSpPr txBox="1"/>
          <p:nvPr/>
        </p:nvSpPr>
        <p:spPr>
          <a:xfrm>
            <a:off x="6102885" y="3619475"/>
            <a:ext cx="5243819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just"/>
            <a:r>
              <a:rPr lang="en-US" altLang="zh-CN" sz="2000" dirty="0">
                <a:solidFill>
                  <a:srgbClr val="FFFF00"/>
                </a:solidFill>
              </a:rPr>
              <a:t>2</a:t>
            </a:r>
            <a:r>
              <a:rPr lang="zh-CN" altLang="en-US" sz="2000" dirty="0">
                <a:solidFill>
                  <a:srgbClr val="FFFF00"/>
                </a:solidFill>
              </a:rPr>
              <a:t>维欧式变换的自由度是</a:t>
            </a:r>
            <a:r>
              <a:rPr lang="en-US" altLang="zh-CN" sz="2000" dirty="0" smtClean="0">
                <a:solidFill>
                  <a:srgbClr val="FFFF00"/>
                </a:solidFill>
              </a:rPr>
              <a:t>3</a:t>
            </a:r>
            <a:r>
              <a:rPr lang="zh-CN" altLang="en-US" sz="2000" dirty="0">
                <a:solidFill>
                  <a:srgbClr val="FFFF00"/>
                </a:solidFill>
              </a:rPr>
              <a:t>，</a:t>
            </a:r>
            <a:r>
              <a:rPr lang="en-US" altLang="zh-CN" sz="2000" dirty="0">
                <a:solidFill>
                  <a:srgbClr val="FFFF00"/>
                </a:solidFill>
              </a:rPr>
              <a:t>1</a:t>
            </a:r>
            <a:r>
              <a:rPr lang="zh-CN" altLang="en-US" sz="2000" dirty="0" smtClean="0">
                <a:solidFill>
                  <a:srgbClr val="FFFF00"/>
                </a:solidFill>
              </a:rPr>
              <a:t>角度，</a:t>
            </a:r>
            <a:r>
              <a:rPr lang="en-US" altLang="zh-CN" sz="2000" dirty="0" smtClean="0">
                <a:solidFill>
                  <a:srgbClr val="FFFF00"/>
                </a:solidFill>
              </a:rPr>
              <a:t>2</a:t>
            </a:r>
            <a:r>
              <a:rPr lang="zh-CN" altLang="en-US" sz="2000" dirty="0" smtClean="0">
                <a:solidFill>
                  <a:srgbClr val="FFFF00"/>
                </a:solidFill>
              </a:rPr>
              <a:t>平移</a:t>
            </a:r>
            <a:endParaRPr lang="en-US" altLang="zh-CN" sz="2000" dirty="0">
              <a:solidFill>
                <a:srgbClr val="FFFF00"/>
              </a:solidFill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AC5AB842-2E8C-4069-B31F-BB06625A6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548" y="162318"/>
            <a:ext cx="6922546" cy="52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华文细黑" panose="02010600040101010101" pitchFamily="2" charset="-122"/>
                <a:ea typeface="+mj-ea"/>
                <a:cs typeface="+mj-cs"/>
              </a:defRPr>
            </a:lvl1pPr>
            <a:lvl2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2pPr>
            <a:lvl3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3pPr>
            <a:lvl4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4pPr>
            <a:lvl5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5pPr>
            <a:lvl6pPr marL="609570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6pPr>
            <a:lvl7pPr marL="121913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7pPr>
            <a:lvl8pPr marL="182870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8pPr>
            <a:lvl9pPr marL="2438278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9pPr>
          </a:lstStyle>
          <a:p>
            <a:r>
              <a:rPr lang="en-US" altLang="zh-CN" sz="2800" b="1" dirty="0">
                <a:solidFill>
                  <a:srgbClr val="0C4379"/>
                </a:solidFill>
                <a:latin typeface="+mn-ea"/>
                <a:ea typeface="+mn-ea"/>
              </a:rPr>
              <a:t>6</a:t>
            </a:r>
            <a:r>
              <a:rPr lang="zh-CN" altLang="en-US" sz="2800" b="1" dirty="0">
                <a:solidFill>
                  <a:srgbClr val="0C4379"/>
                </a:solidFill>
                <a:latin typeface="+mn-ea"/>
                <a:ea typeface="+mn-ea"/>
              </a:rPr>
              <a:t> 图像几何运算</a:t>
            </a:r>
            <a:r>
              <a:rPr lang="en-US" altLang="zh-CN" sz="2800" b="1" dirty="0">
                <a:solidFill>
                  <a:srgbClr val="0C4379"/>
                </a:solidFill>
                <a:latin typeface="+mn-ea"/>
                <a:ea typeface="+mn-ea"/>
              </a:rPr>
              <a:t>-2D</a:t>
            </a:r>
            <a:r>
              <a:rPr lang="zh-CN" altLang="en-US" sz="2800" b="1" dirty="0">
                <a:solidFill>
                  <a:srgbClr val="0C4379"/>
                </a:solidFill>
                <a:latin typeface="+mn-ea"/>
                <a:ea typeface="+mn-ea"/>
              </a:rPr>
              <a:t>线性几何变换</a:t>
            </a:r>
          </a:p>
        </p:txBody>
      </p:sp>
    </p:spTree>
    <p:extLst>
      <p:ext uri="{BB962C8B-B14F-4D97-AF65-F5344CB8AC3E}">
        <p14:creationId xmlns:p14="http://schemas.microsoft.com/office/powerpoint/2010/main" val="1339250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AC90B1F4-841A-4E21-A4FC-749788FAF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744" y="914400"/>
            <a:ext cx="10787592" cy="1168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buFontTx/>
              <a:buChar char="•"/>
            </a:pPr>
            <a:r>
              <a:rPr lang="zh-CN" altLang="en-US" sz="2400" b="1" dirty="0">
                <a:latin typeface="+mn-ea"/>
              </a:rPr>
              <a:t>相似变换</a:t>
            </a:r>
            <a:endParaRPr lang="en-US" altLang="zh-CN" sz="2400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+mn-ea"/>
              </a:rPr>
              <a:t>在欧式变化基础上，加入缩放变换，就得到相似变换</a:t>
            </a:r>
            <a:endParaRPr lang="en-US" altLang="zh-CN" sz="3200" dirty="0">
              <a:latin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F47F308-1200-40A2-AF28-C9F4B5A36E87}"/>
              </a:ext>
            </a:extLst>
          </p:cNvPr>
          <p:cNvGrpSpPr/>
          <p:nvPr/>
        </p:nvGrpSpPr>
        <p:grpSpPr>
          <a:xfrm>
            <a:off x="1013196" y="4404288"/>
            <a:ext cx="10400328" cy="1777437"/>
            <a:chOff x="1013196" y="3797160"/>
            <a:chExt cx="10400328" cy="1777437"/>
          </a:xfrm>
        </p:grpSpPr>
        <p:graphicFrame>
          <p:nvGraphicFramePr>
            <p:cNvPr id="38" name="对象 37">
              <a:extLst>
                <a:ext uri="{FF2B5EF4-FFF2-40B4-BE49-F238E27FC236}">
                  <a16:creationId xmlns:a16="http://schemas.microsoft.com/office/drawing/2014/main" id="{00AC7EE1-DD4B-4725-8586-CD519F3C05E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79763" y="4742747"/>
            <a:ext cx="4454525" cy="831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7" name="Equation" r:id="rId3" imgW="2857320" imgH="482400" progId="Equation.DSMT4">
                    <p:embed/>
                  </p:oleObj>
                </mc:Choice>
                <mc:Fallback>
                  <p:oleObj name="Equation" r:id="rId3" imgW="2857320" imgH="482400" progId="Equation.DSMT4">
                    <p:embed/>
                    <p:pic>
                      <p:nvPicPr>
                        <p:cNvPr id="38" name="对象 37">
                          <a:extLst>
                            <a:ext uri="{FF2B5EF4-FFF2-40B4-BE49-F238E27FC236}">
                              <a16:creationId xmlns:a16="http://schemas.microsoft.com/office/drawing/2014/main" id="{00AC7EE1-DD4B-4725-8586-CD519F3C05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9763" y="4742747"/>
                          <a:ext cx="4454525" cy="8318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" name="Rectangle 7">
              <a:extLst>
                <a:ext uri="{FF2B5EF4-FFF2-40B4-BE49-F238E27FC236}">
                  <a16:creationId xmlns:a16="http://schemas.microsoft.com/office/drawing/2014/main" id="{E2C48051-1245-4465-9E73-A8FF30051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196" y="3797160"/>
              <a:ext cx="1040032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>
                <a:spcBef>
                  <a:spcPct val="50000"/>
                </a:spcBef>
              </a:pPr>
              <a:r>
                <a:rPr lang="en-US" altLang="zh-CN" sz="2000" b="1" dirty="0">
                  <a:latin typeface="+mn-ea"/>
                </a:rPr>
                <a:t>2D </a:t>
              </a:r>
              <a:r>
                <a:rPr lang="zh-CN" altLang="en-US" sz="2000" b="1" dirty="0">
                  <a:latin typeface="+mn-ea"/>
                </a:rPr>
                <a:t>相似变换矩阵形式如下：</a:t>
              </a:r>
            </a:p>
          </p:txBody>
        </p:sp>
      </p:grp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5134967-8327-4F81-9EA6-4C1D6306E3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3629300"/>
              </p:ext>
            </p:extLst>
          </p:nvPr>
        </p:nvGraphicFramePr>
        <p:xfrm>
          <a:off x="1682750" y="2474113"/>
          <a:ext cx="3805238" cy="1300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8" name="Equation" r:id="rId5" imgW="2387520" imgH="736560" progId="Equation.DSMT4">
                  <p:embed/>
                </p:oleObj>
              </mc:Choice>
              <mc:Fallback>
                <p:oleObj name="Equation" r:id="rId5" imgW="2387520" imgH="7365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F5134967-8327-4F81-9EA6-4C1D6306E3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750" y="2474113"/>
                        <a:ext cx="3805238" cy="13001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A02F8444-40F9-4329-9C8B-C40273640802}"/>
              </a:ext>
            </a:extLst>
          </p:cNvPr>
          <p:cNvGrpSpPr/>
          <p:nvPr/>
        </p:nvGrpSpPr>
        <p:grpSpPr>
          <a:xfrm>
            <a:off x="5568761" y="2359687"/>
            <a:ext cx="3042401" cy="1161315"/>
            <a:chOff x="5568761" y="2359687"/>
            <a:chExt cx="3042401" cy="1161315"/>
          </a:xfrm>
        </p:grpSpPr>
        <p:sp>
          <p:nvSpPr>
            <p:cNvPr id="46" name="AutoShape 37">
              <a:extLst>
                <a:ext uri="{FF2B5EF4-FFF2-40B4-BE49-F238E27FC236}">
                  <a16:creationId xmlns:a16="http://schemas.microsoft.com/office/drawing/2014/main" id="{E8B740DE-851D-45B0-A4FE-8F199B1A4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8761" y="3020018"/>
              <a:ext cx="688328" cy="208352"/>
            </a:xfrm>
            <a:prstGeom prst="rightArrow">
              <a:avLst>
                <a:gd name="adj1" fmla="val 50000"/>
                <a:gd name="adj2" fmla="val 50002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zh-CN" altLang="en-US" sz="2400" dirty="0">
                <a:latin typeface="+mn-ea"/>
              </a:endParaRP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13F3848F-B711-42F9-AD02-64EF362076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37862" y="2714552"/>
            <a:ext cx="2273300" cy="806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89" name="Equation" r:id="rId7" imgW="1511280" imgH="482400" progId="Equation.DSMT4">
                    <p:embed/>
                  </p:oleObj>
                </mc:Choice>
                <mc:Fallback>
                  <p:oleObj name="Equation" r:id="rId7" imgW="1511280" imgH="48240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13F3848F-B711-42F9-AD02-64EF3620767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37862" y="2714552"/>
                          <a:ext cx="2273300" cy="8064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307A19B6-D163-4540-86BD-BB2F007B1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0574" y="2359687"/>
              <a:ext cx="2299811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 dirty="0">
                  <a:latin typeface="+mn-ea"/>
                </a:rPr>
                <a:t>齐次形式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0BA08E24-1746-4EF5-B43B-31279B7FB1A2}"/>
              </a:ext>
            </a:extLst>
          </p:cNvPr>
          <p:cNvSpPr txBox="1"/>
          <p:nvPr/>
        </p:nvSpPr>
        <p:spPr>
          <a:xfrm>
            <a:off x="6102885" y="3619475"/>
            <a:ext cx="5761830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just"/>
            <a:r>
              <a:rPr lang="en-US" altLang="zh-CN" sz="2000" dirty="0" smtClean="0">
                <a:solidFill>
                  <a:srgbClr val="FFFF00"/>
                </a:solidFill>
                <a:cs typeface="Times New Roman" panose="02020603050405020304" pitchFamily="18" charset="0"/>
              </a:rPr>
              <a:t>2</a:t>
            </a:r>
            <a:r>
              <a:rPr lang="zh-CN" altLang="en-US" sz="2000" dirty="0" smtClean="0">
                <a:solidFill>
                  <a:srgbClr val="FFFF00"/>
                </a:solidFill>
                <a:cs typeface="Times New Roman" panose="02020603050405020304" pitchFamily="18" charset="0"/>
              </a:rPr>
              <a:t>维相似变换的自由度是</a:t>
            </a:r>
            <a:r>
              <a:rPr lang="en-US" altLang="zh-CN" sz="2000" dirty="0" smtClean="0">
                <a:solidFill>
                  <a:srgbClr val="FFFF00"/>
                </a:solidFill>
                <a:cs typeface="Times New Roman" panose="02020603050405020304" pitchFamily="18" charset="0"/>
              </a:rPr>
              <a:t>4</a:t>
            </a:r>
            <a:r>
              <a:rPr lang="zh-CN" altLang="en-US" sz="2000" dirty="0" smtClean="0">
                <a:solidFill>
                  <a:srgbClr val="FFFF00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000" dirty="0" smtClean="0">
                <a:solidFill>
                  <a:srgbClr val="FFFF00"/>
                </a:solidFill>
                <a:cs typeface="Times New Roman" panose="02020603050405020304" pitchFamily="18" charset="0"/>
              </a:rPr>
              <a:t>1</a:t>
            </a:r>
            <a:r>
              <a:rPr lang="zh-CN" altLang="en-US" sz="2000" dirty="0" smtClean="0">
                <a:solidFill>
                  <a:srgbClr val="FFFF00"/>
                </a:solidFill>
                <a:cs typeface="Times New Roman" panose="02020603050405020304" pitchFamily="18" charset="0"/>
              </a:rPr>
              <a:t>角度、</a:t>
            </a:r>
            <a:r>
              <a:rPr lang="en-US" altLang="zh-CN" sz="2000" dirty="0" smtClean="0">
                <a:solidFill>
                  <a:srgbClr val="FFFF00"/>
                </a:solidFill>
                <a:cs typeface="Times New Roman" panose="02020603050405020304" pitchFamily="18" charset="0"/>
              </a:rPr>
              <a:t>2</a:t>
            </a:r>
            <a:r>
              <a:rPr lang="zh-CN" altLang="en-US" sz="2000" dirty="0" smtClean="0">
                <a:solidFill>
                  <a:srgbClr val="FFFF00"/>
                </a:solidFill>
                <a:cs typeface="Times New Roman" panose="02020603050405020304" pitchFamily="18" charset="0"/>
              </a:rPr>
              <a:t>平移、</a:t>
            </a:r>
            <a:r>
              <a:rPr lang="en-US" altLang="zh-CN" sz="2000" dirty="0" smtClean="0">
                <a:solidFill>
                  <a:srgbClr val="FFFF00"/>
                </a:solidFill>
                <a:cs typeface="Times New Roman" panose="02020603050405020304" pitchFamily="18" charset="0"/>
              </a:rPr>
              <a:t>1</a:t>
            </a:r>
            <a:r>
              <a:rPr lang="zh-CN" altLang="en-US" sz="2000" dirty="0" smtClean="0">
                <a:solidFill>
                  <a:srgbClr val="FFFF00"/>
                </a:solidFill>
                <a:cs typeface="Times New Roman" panose="02020603050405020304" pitchFamily="18" charset="0"/>
              </a:rPr>
              <a:t>尺度</a:t>
            </a:r>
            <a:endParaRPr lang="en-US" altLang="zh-CN" sz="2000" dirty="0">
              <a:solidFill>
                <a:srgbClr val="FFFF00"/>
              </a:solidFill>
              <a:cs typeface="Times New Roman" panose="02020603050405020304" pitchFamily="18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91BB141B-9C95-447C-8C25-4811BF570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548" y="162318"/>
            <a:ext cx="6922546" cy="52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华文细黑" panose="02010600040101010101" pitchFamily="2" charset="-122"/>
                <a:ea typeface="+mj-ea"/>
                <a:cs typeface="+mj-cs"/>
              </a:defRPr>
            </a:lvl1pPr>
            <a:lvl2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2pPr>
            <a:lvl3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3pPr>
            <a:lvl4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4pPr>
            <a:lvl5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5pPr>
            <a:lvl6pPr marL="609570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6pPr>
            <a:lvl7pPr marL="121913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7pPr>
            <a:lvl8pPr marL="182870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8pPr>
            <a:lvl9pPr marL="2438278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9pPr>
          </a:lstStyle>
          <a:p>
            <a:r>
              <a:rPr lang="en-US" altLang="zh-CN" sz="2800" b="1" dirty="0">
                <a:solidFill>
                  <a:srgbClr val="0C4379"/>
                </a:solidFill>
                <a:latin typeface="+mn-ea"/>
                <a:ea typeface="+mn-ea"/>
              </a:rPr>
              <a:t>6</a:t>
            </a:r>
            <a:r>
              <a:rPr lang="zh-CN" altLang="en-US" sz="2800" b="1" dirty="0">
                <a:solidFill>
                  <a:srgbClr val="0C4379"/>
                </a:solidFill>
                <a:latin typeface="+mn-ea"/>
                <a:ea typeface="+mn-ea"/>
              </a:rPr>
              <a:t> 图像几何运算</a:t>
            </a:r>
            <a:r>
              <a:rPr lang="en-US" altLang="zh-CN" sz="2800" b="1" dirty="0">
                <a:solidFill>
                  <a:srgbClr val="0C4379"/>
                </a:solidFill>
                <a:latin typeface="+mn-ea"/>
                <a:ea typeface="+mn-ea"/>
              </a:rPr>
              <a:t>-2D</a:t>
            </a:r>
            <a:r>
              <a:rPr lang="zh-CN" altLang="en-US" sz="2800" b="1" dirty="0">
                <a:solidFill>
                  <a:srgbClr val="0C4379"/>
                </a:solidFill>
                <a:latin typeface="+mn-ea"/>
                <a:ea typeface="+mn-ea"/>
              </a:rPr>
              <a:t>线性几何变换</a:t>
            </a:r>
          </a:p>
        </p:txBody>
      </p:sp>
    </p:spTree>
    <p:extLst>
      <p:ext uri="{BB962C8B-B14F-4D97-AF65-F5344CB8AC3E}">
        <p14:creationId xmlns:p14="http://schemas.microsoft.com/office/powerpoint/2010/main" val="1396803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AC90B1F4-841A-4E21-A4FC-749788FAF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744" y="914400"/>
            <a:ext cx="795813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r>
              <a:rPr lang="zh-CN" altLang="en-US" sz="2400" b="1" dirty="0">
                <a:latin typeface="+mn-ea"/>
              </a:rPr>
              <a:t>仿射变换</a:t>
            </a:r>
            <a:endParaRPr lang="en-US" altLang="zh-CN" sz="2400" b="1" dirty="0">
              <a:latin typeface="+mn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048A106-D77F-4D57-846C-DFC6DD9C8CE0}"/>
              </a:ext>
            </a:extLst>
          </p:cNvPr>
          <p:cNvGrpSpPr/>
          <p:nvPr/>
        </p:nvGrpSpPr>
        <p:grpSpPr>
          <a:xfrm>
            <a:off x="1013195" y="4330869"/>
            <a:ext cx="10707413" cy="1441450"/>
            <a:chOff x="1013195" y="3938457"/>
            <a:chExt cx="10707413" cy="1441450"/>
          </a:xfrm>
        </p:grpSpPr>
        <p:graphicFrame>
          <p:nvGraphicFramePr>
            <p:cNvPr id="38" name="对象 37">
              <a:extLst>
                <a:ext uri="{FF2B5EF4-FFF2-40B4-BE49-F238E27FC236}">
                  <a16:creationId xmlns:a16="http://schemas.microsoft.com/office/drawing/2014/main" id="{00AC7EE1-DD4B-4725-8586-CD519F3C05E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60137" y="4548057"/>
            <a:ext cx="2930525" cy="831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58" name="Equation" r:id="rId3" imgW="1879560" imgH="482400" progId="Equation.DSMT4">
                    <p:embed/>
                  </p:oleObj>
                </mc:Choice>
                <mc:Fallback>
                  <p:oleObj name="Equation" r:id="rId3" imgW="1879560" imgH="482400" progId="Equation.DSMT4">
                    <p:embed/>
                    <p:pic>
                      <p:nvPicPr>
                        <p:cNvPr id="38" name="对象 37">
                          <a:extLst>
                            <a:ext uri="{FF2B5EF4-FFF2-40B4-BE49-F238E27FC236}">
                              <a16:creationId xmlns:a16="http://schemas.microsoft.com/office/drawing/2014/main" id="{00AC7EE1-DD4B-4725-8586-CD519F3C05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0137" y="4548057"/>
                          <a:ext cx="2930525" cy="8318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" name="Rectangle 7">
              <a:extLst>
                <a:ext uri="{FF2B5EF4-FFF2-40B4-BE49-F238E27FC236}">
                  <a16:creationId xmlns:a16="http://schemas.microsoft.com/office/drawing/2014/main" id="{E2C48051-1245-4465-9E73-A8FF30051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3195" y="3938457"/>
              <a:ext cx="1070741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仿射变换矩阵形式如下：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4A8D800D-5D35-4538-BE28-AC69485F4981}"/>
              </a:ext>
            </a:extLst>
          </p:cNvPr>
          <p:cNvGrpSpPr/>
          <p:nvPr/>
        </p:nvGrpSpPr>
        <p:grpSpPr>
          <a:xfrm>
            <a:off x="948595" y="1580025"/>
            <a:ext cx="3915848" cy="2164923"/>
            <a:chOff x="948595" y="1580025"/>
            <a:chExt cx="3915848" cy="2164923"/>
          </a:xfrm>
        </p:grpSpPr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F5134967-8327-4F81-9EA6-4C1D6306E38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89075" y="1580025"/>
            <a:ext cx="2427288" cy="1300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59" name="Equation" r:id="rId5" imgW="1523880" imgH="736560" progId="Equation.DSMT4">
                    <p:embed/>
                  </p:oleObj>
                </mc:Choice>
                <mc:Fallback>
                  <p:oleObj name="Equation" r:id="rId5" imgW="1523880" imgH="73656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F5134967-8327-4F81-9EA6-4C1D6306E38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9075" y="1580025"/>
                          <a:ext cx="2427288" cy="130016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CB1F68B6-0912-48F9-87E6-43240D17A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595" y="3048264"/>
              <a:ext cx="391584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where,                    , det(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)&gt;0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236FE8EE-F19D-4F6D-8D93-9200E73D13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41898" y="2892461"/>
            <a:ext cx="1455738" cy="852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60" name="Equation" r:id="rId7" imgW="914400" imgH="482400" progId="Equation.DSMT4">
                    <p:embed/>
                  </p:oleObj>
                </mc:Choice>
                <mc:Fallback>
                  <p:oleObj name="Equation" r:id="rId7" imgW="914400" imgH="48240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236FE8EE-F19D-4F6D-8D93-9200E73D13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1898" y="2892461"/>
                          <a:ext cx="1455738" cy="85248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F5F03C6-0CF0-4FE1-BE66-4A2320BEF356}"/>
              </a:ext>
            </a:extLst>
          </p:cNvPr>
          <p:cNvGrpSpPr/>
          <p:nvPr/>
        </p:nvGrpSpPr>
        <p:grpSpPr>
          <a:xfrm>
            <a:off x="5407672" y="1882129"/>
            <a:ext cx="4217591" cy="1248421"/>
            <a:chOff x="5407672" y="1882129"/>
            <a:chExt cx="4217591" cy="1248421"/>
          </a:xfrm>
        </p:grpSpPr>
        <p:sp>
          <p:nvSpPr>
            <p:cNvPr id="46" name="AutoShape 37">
              <a:extLst>
                <a:ext uri="{FF2B5EF4-FFF2-40B4-BE49-F238E27FC236}">
                  <a16:creationId xmlns:a16="http://schemas.microsoft.com/office/drawing/2014/main" id="{E8B740DE-851D-45B0-A4FE-8F199B1A4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7672" y="2625635"/>
              <a:ext cx="688328" cy="208352"/>
            </a:xfrm>
            <a:prstGeom prst="rightArrow">
              <a:avLst>
                <a:gd name="adj1" fmla="val 50000"/>
                <a:gd name="adj2" fmla="val 50002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13F3848F-B711-42F9-AD02-64EF362076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453188" y="2324100"/>
            <a:ext cx="1662112" cy="806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61" name="Equation" r:id="rId9" imgW="1104840" imgH="482400" progId="Equation.DSMT4">
                    <p:embed/>
                  </p:oleObj>
                </mc:Choice>
                <mc:Fallback>
                  <p:oleObj name="Equation" r:id="rId9" imgW="1104840" imgH="48240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13F3848F-B711-42F9-AD02-64EF3620767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53188" y="2324100"/>
                          <a:ext cx="1662112" cy="8064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2E54E3CA-FA62-4FA7-BB15-EAA19EA42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2580" y="2496492"/>
              <a:ext cx="147268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det(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)&gt;0</a:t>
              </a:r>
              <a:endParaRPr lang="zh-CN" altLang="en-US" sz="2400" dirty="0">
                <a:ea typeface="宋体" panose="02010600030101010101" pitchFamily="2" charset="-122"/>
              </a:endParaRPr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9E03638B-7036-4050-BAF1-F1DB15D1E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7548" y="1882129"/>
              <a:ext cx="2299811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 dirty="0">
                  <a:latin typeface="+mn-ea"/>
                </a:rPr>
                <a:t>齐次形式</a:t>
              </a: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C6B01E53-BCDE-4B7A-BECA-5C6372319FFF}"/>
              </a:ext>
            </a:extLst>
          </p:cNvPr>
          <p:cNvSpPr txBox="1"/>
          <p:nvPr/>
        </p:nvSpPr>
        <p:spPr>
          <a:xfrm>
            <a:off x="5366182" y="3464221"/>
            <a:ext cx="5808985" cy="4001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just"/>
            <a:r>
              <a:rPr lang="en-US" altLang="zh-CN" sz="2000" dirty="0" smtClean="0">
                <a:solidFill>
                  <a:srgbClr val="FFFF00"/>
                </a:solidFill>
              </a:rPr>
              <a:t>2</a:t>
            </a:r>
            <a:r>
              <a:rPr lang="zh-CN" altLang="en-US" sz="2000" dirty="0" smtClean="0">
                <a:solidFill>
                  <a:srgbClr val="FFFF00"/>
                </a:solidFill>
              </a:rPr>
              <a:t>维仿射变换的自由度是</a:t>
            </a:r>
            <a:r>
              <a:rPr lang="en-US" altLang="zh-CN" sz="2000" dirty="0" smtClean="0">
                <a:solidFill>
                  <a:srgbClr val="FFFF00"/>
                </a:solidFill>
              </a:rPr>
              <a:t>6</a:t>
            </a:r>
            <a:endParaRPr lang="en-US" altLang="zh-CN" sz="2000" dirty="0">
              <a:solidFill>
                <a:srgbClr val="FFFF00"/>
              </a:solidFill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CFFC401-9532-4F24-A7E5-579BB0FCE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548" y="162318"/>
            <a:ext cx="6922546" cy="52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华文细黑" panose="02010600040101010101" pitchFamily="2" charset="-122"/>
                <a:ea typeface="+mj-ea"/>
                <a:cs typeface="+mj-cs"/>
              </a:defRPr>
            </a:lvl1pPr>
            <a:lvl2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2pPr>
            <a:lvl3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3pPr>
            <a:lvl4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4pPr>
            <a:lvl5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5pPr>
            <a:lvl6pPr marL="609570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6pPr>
            <a:lvl7pPr marL="121913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7pPr>
            <a:lvl8pPr marL="182870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8pPr>
            <a:lvl9pPr marL="2438278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9pPr>
          </a:lstStyle>
          <a:p>
            <a:r>
              <a:rPr lang="en-US" altLang="zh-CN" sz="2800" b="1" dirty="0">
                <a:solidFill>
                  <a:srgbClr val="0C4379"/>
                </a:solidFill>
                <a:latin typeface="+mn-ea"/>
                <a:ea typeface="+mn-ea"/>
              </a:rPr>
              <a:t>6</a:t>
            </a:r>
            <a:r>
              <a:rPr lang="zh-CN" altLang="en-US" sz="2800" b="1" dirty="0">
                <a:solidFill>
                  <a:srgbClr val="0C4379"/>
                </a:solidFill>
                <a:latin typeface="+mn-ea"/>
                <a:ea typeface="+mn-ea"/>
              </a:rPr>
              <a:t> 图像几何运算</a:t>
            </a:r>
            <a:r>
              <a:rPr lang="en-US" altLang="zh-CN" sz="2800" b="1" dirty="0">
                <a:solidFill>
                  <a:srgbClr val="0C4379"/>
                </a:solidFill>
                <a:latin typeface="+mn-ea"/>
                <a:ea typeface="+mn-ea"/>
              </a:rPr>
              <a:t>-2D</a:t>
            </a:r>
            <a:r>
              <a:rPr lang="zh-CN" altLang="en-US" sz="2800" b="1" dirty="0">
                <a:solidFill>
                  <a:srgbClr val="0C4379"/>
                </a:solidFill>
                <a:latin typeface="+mn-ea"/>
                <a:ea typeface="+mn-ea"/>
              </a:rPr>
              <a:t>线性几何变换</a:t>
            </a:r>
          </a:p>
        </p:txBody>
      </p:sp>
    </p:spTree>
    <p:extLst>
      <p:ext uri="{BB962C8B-B14F-4D97-AF65-F5344CB8AC3E}">
        <p14:creationId xmlns:p14="http://schemas.microsoft.com/office/powerpoint/2010/main" val="4057335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D2FD390F-B1AD-4CBC-AF7A-0D8CD47C0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1055" y="1072794"/>
            <a:ext cx="1975885" cy="68367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456304F-D4CF-4C0A-B3FD-FAE0EF9FB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0225" y="988089"/>
            <a:ext cx="1975885" cy="81061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2CF9B13-0C75-4233-B57E-3E9A9D0AF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3579" y="2153417"/>
            <a:ext cx="19050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F4FF35A-9C70-42D8-9162-36B200338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7804" y="3485204"/>
            <a:ext cx="287655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3322B97-D387-40EB-A47C-0B7F13AF8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11" y="2153417"/>
            <a:ext cx="19050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B4F1814C-BE0B-46D4-A3A3-A34DA706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099" y="3485204"/>
            <a:ext cx="2486025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A76BE39F-978A-4ABA-8148-8B6FE9F17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5463" y="2153417"/>
            <a:ext cx="19050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5FA504B8-1869-4998-810C-81BBEBD35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4951" y="3485204"/>
            <a:ext cx="2486025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190B5ECF-FDFB-443F-B55A-A4D82978C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7452" y="2153417"/>
            <a:ext cx="19050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DED9B15F-343F-47F9-A7A9-BECEFB1BA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6940" y="3485204"/>
            <a:ext cx="2486025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2845769E-0282-462B-BC83-086119162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099" y="4943364"/>
            <a:ext cx="19050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1B0963D3-00F9-4E82-B50F-878D0309E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877" y="4990989"/>
            <a:ext cx="2486025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F7270FD2-C0B5-4DCC-AE4E-5CAB6104F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0483" y="4659063"/>
            <a:ext cx="5216191" cy="164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34FAC02F-E39C-43BD-9C89-F85328F86CE7}"/>
              </a:ext>
            </a:extLst>
          </p:cNvPr>
          <p:cNvSpPr txBox="1"/>
          <p:nvPr/>
        </p:nvSpPr>
        <p:spPr>
          <a:xfrm>
            <a:off x="477578" y="1530049"/>
            <a:ext cx="66302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平移、缩放（尺度）、旋转、翻转、斜切（剪切），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个自由度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B2D88A5-F2B0-4578-9424-FFC429802187}"/>
              </a:ext>
            </a:extLst>
          </p:cNvPr>
          <p:cNvSpPr txBox="1"/>
          <p:nvPr/>
        </p:nvSpPr>
        <p:spPr>
          <a:xfrm>
            <a:off x="326951" y="82491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仿射变换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9CA68AAB-8E28-433F-A5AD-6A3B6763F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548" y="162318"/>
            <a:ext cx="6922546" cy="52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华文细黑" panose="02010600040101010101" pitchFamily="2" charset="-122"/>
                <a:ea typeface="+mj-ea"/>
                <a:cs typeface="+mj-cs"/>
              </a:defRPr>
            </a:lvl1pPr>
            <a:lvl2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2pPr>
            <a:lvl3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3pPr>
            <a:lvl4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4pPr>
            <a:lvl5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5pPr>
            <a:lvl6pPr marL="609570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6pPr>
            <a:lvl7pPr marL="121913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7pPr>
            <a:lvl8pPr marL="182870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8pPr>
            <a:lvl9pPr marL="2438278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9pPr>
          </a:lstStyle>
          <a:p>
            <a:r>
              <a:rPr lang="en-US" altLang="zh-CN" sz="2800" b="1" dirty="0">
                <a:solidFill>
                  <a:srgbClr val="0C4379"/>
                </a:solidFill>
                <a:latin typeface="+mn-ea"/>
                <a:ea typeface="+mn-ea"/>
              </a:rPr>
              <a:t>6</a:t>
            </a:r>
            <a:r>
              <a:rPr lang="zh-CN" altLang="en-US" sz="2800" b="1" dirty="0">
                <a:solidFill>
                  <a:srgbClr val="0C4379"/>
                </a:solidFill>
                <a:latin typeface="+mn-ea"/>
                <a:ea typeface="+mn-ea"/>
              </a:rPr>
              <a:t> 图像几何运算</a:t>
            </a:r>
            <a:r>
              <a:rPr lang="en-US" altLang="zh-CN" sz="2800" b="1" dirty="0">
                <a:solidFill>
                  <a:srgbClr val="0C4379"/>
                </a:solidFill>
                <a:latin typeface="+mn-ea"/>
                <a:ea typeface="+mn-ea"/>
              </a:rPr>
              <a:t>-2D</a:t>
            </a:r>
            <a:r>
              <a:rPr lang="zh-CN" altLang="en-US" sz="2800" b="1" dirty="0">
                <a:solidFill>
                  <a:srgbClr val="0C4379"/>
                </a:solidFill>
                <a:latin typeface="+mn-ea"/>
                <a:ea typeface="+mn-ea"/>
              </a:rPr>
              <a:t>线性几何变换</a:t>
            </a:r>
          </a:p>
        </p:txBody>
      </p:sp>
    </p:spTree>
    <p:extLst>
      <p:ext uri="{BB962C8B-B14F-4D97-AF65-F5344CB8AC3E}">
        <p14:creationId xmlns:p14="http://schemas.microsoft.com/office/powerpoint/2010/main" val="21757614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AC90B1F4-841A-4E21-A4FC-749788FAF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744" y="914400"/>
            <a:ext cx="795813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r>
              <a:rPr lang="zh-CN" altLang="en-US" sz="2400" b="1" dirty="0">
                <a:latin typeface="+mn-ea"/>
              </a:rPr>
              <a:t>射影变换</a:t>
            </a:r>
            <a:endParaRPr lang="en-US" altLang="zh-CN" sz="2400" b="1" dirty="0">
              <a:latin typeface="+mn-ea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5134967-8327-4F81-9EA6-4C1D6306E3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38275" y="1557338"/>
          <a:ext cx="2379963" cy="12669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4" name="Equation" r:id="rId3" imgW="1587240" imgH="761760" progId="Equation.DSMT4">
                  <p:embed/>
                </p:oleObj>
              </mc:Choice>
              <mc:Fallback>
                <p:oleObj name="Equation" r:id="rId3" imgW="1587240" imgH="76176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F5134967-8327-4F81-9EA6-4C1D6306E3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8275" y="1557338"/>
                        <a:ext cx="2379963" cy="12669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B836BB9D-5E88-4C26-8402-9A331EC33EA1}"/>
              </a:ext>
            </a:extLst>
          </p:cNvPr>
          <p:cNvGrpSpPr/>
          <p:nvPr/>
        </p:nvGrpSpPr>
        <p:grpSpPr>
          <a:xfrm>
            <a:off x="948595" y="1524000"/>
            <a:ext cx="4496616" cy="2076777"/>
            <a:chOff x="948595" y="1524000"/>
            <a:chExt cx="4496616" cy="2076777"/>
          </a:xfrm>
        </p:grpSpPr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CB1F68B6-0912-48F9-87E6-43240D17A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595" y="3200667"/>
              <a:ext cx="449661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>
                <a:spcBef>
                  <a:spcPct val="50000"/>
                </a:spcBef>
              </a:pPr>
              <a:r>
                <a:rPr lang="en-US" altLang="zh-CN" sz="20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非奇异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n-US" altLang="zh-CN" sz="2000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是      相关的缩放因子</a:t>
              </a:r>
              <a:endParaRPr lang="zh-CN" altLang="en-US" sz="20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3D2A4BAA-8984-4E78-93EB-6147BAE2BE89}"/>
                </a:ext>
              </a:extLst>
            </p:cNvPr>
            <p:cNvSpPr/>
            <p:nvPr/>
          </p:nvSpPr>
          <p:spPr bwMode="auto">
            <a:xfrm>
              <a:off x="2223162" y="1524000"/>
              <a:ext cx="1105082" cy="1309987"/>
            </a:xfrm>
            <a:prstGeom prst="rect">
              <a:avLst/>
            </a:prstGeom>
            <a:solidFill>
              <a:srgbClr val="0070C0">
                <a:alpha val="41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13" name="Rectangle 7">
              <a:extLst>
                <a:ext uri="{FF2B5EF4-FFF2-40B4-BE49-F238E27FC236}">
                  <a16:creationId xmlns:a16="http://schemas.microsoft.com/office/drawing/2014/main" id="{B16CC370-9C4F-46CC-AB8C-E95B3F78E3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7200" y="2749761"/>
              <a:ext cx="52713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endParaRPr lang="zh-CN" altLang="en-US" sz="24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711027A2-0F99-4A2A-B50E-4A357DE9D79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3813655"/>
                </p:ext>
              </p:extLst>
            </p:nvPr>
          </p:nvGraphicFramePr>
          <p:xfrm>
            <a:off x="2706943" y="3218103"/>
            <a:ext cx="24765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75" name="Equation" r:id="rId5" imgW="164880" imgH="203040" progId="Equation.DSMT4">
                    <p:embed/>
                  </p:oleObj>
                </mc:Choice>
                <mc:Fallback>
                  <p:oleObj name="Equation" r:id="rId5" imgW="164880" imgH="20304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711027A2-0F99-4A2A-B50E-4A357DE9D79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6943" y="3218103"/>
                          <a:ext cx="247650" cy="3397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" name="Rectangle 7">
            <a:extLst>
              <a:ext uri="{FF2B5EF4-FFF2-40B4-BE49-F238E27FC236}">
                <a16:creationId xmlns:a16="http://schemas.microsoft.com/office/drawing/2014/main" id="{E2C48051-1245-4465-9E73-A8FF30051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196" y="4259737"/>
            <a:ext cx="10400328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zh-CN" altLang="en-US" sz="2600" dirty="0">
                <a:ea typeface="宋体" panose="02010600030101010101" pitchFamily="2" charset="-122"/>
              </a:rPr>
              <a:t>射影变换</a:t>
            </a:r>
            <a:r>
              <a:rPr lang="zh-CN" altLang="en-US" sz="2600" dirty="0" smtClean="0">
                <a:ea typeface="宋体" panose="02010600030101010101" pitchFamily="2" charset="-122"/>
              </a:rPr>
              <a:t>矩阵：</a:t>
            </a:r>
            <a:endParaRPr lang="zh-CN" altLang="en-US" sz="2600" dirty="0">
              <a:ea typeface="宋体" panose="02010600030101010101" pitchFamily="2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A2F9E17-EB2E-4DB4-9438-6F777C8DF4BC}"/>
              </a:ext>
            </a:extLst>
          </p:cNvPr>
          <p:cNvGrpSpPr/>
          <p:nvPr/>
        </p:nvGrpSpPr>
        <p:grpSpPr>
          <a:xfrm>
            <a:off x="5751836" y="2115647"/>
            <a:ext cx="4272705" cy="901161"/>
            <a:chOff x="5751836" y="2115647"/>
            <a:chExt cx="4272705" cy="901161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A27159F9-9060-420C-A5DC-FA50356AD6AE}"/>
                </a:ext>
              </a:extLst>
            </p:cNvPr>
            <p:cNvGrpSpPr/>
            <p:nvPr/>
          </p:nvGrpSpPr>
          <p:grpSpPr>
            <a:xfrm>
              <a:off x="5751836" y="2555143"/>
              <a:ext cx="4272705" cy="461665"/>
              <a:chOff x="5751836" y="2555143"/>
              <a:chExt cx="4272705" cy="461665"/>
            </a:xfrm>
          </p:grpSpPr>
          <p:sp>
            <p:nvSpPr>
              <p:cNvPr id="46" name="AutoShape 37">
                <a:extLst>
                  <a:ext uri="{FF2B5EF4-FFF2-40B4-BE49-F238E27FC236}">
                    <a16:creationId xmlns:a16="http://schemas.microsoft.com/office/drawing/2014/main" id="{E8B740DE-851D-45B0-A4FE-8F199B1A48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51836" y="2698962"/>
                <a:ext cx="688328" cy="208352"/>
              </a:xfrm>
              <a:prstGeom prst="rightArrow">
                <a:avLst>
                  <a:gd name="adj1" fmla="val 50000"/>
                  <a:gd name="adj2" fmla="val 50002"/>
                </a:avLst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6" name="对象 5">
                <a:extLst>
                  <a:ext uri="{FF2B5EF4-FFF2-40B4-BE49-F238E27FC236}">
                    <a16:creationId xmlns:a16="http://schemas.microsoft.com/office/drawing/2014/main" id="{13F3848F-B711-42F9-AD02-64EF3620767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486140" y="2565400"/>
              <a:ext cx="1127125" cy="403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76" name="Equation" r:id="rId7" imgW="749160" imgH="241200" progId="Equation.DSMT4">
                      <p:embed/>
                    </p:oleObj>
                  </mc:Choice>
                  <mc:Fallback>
                    <p:oleObj name="Equation" r:id="rId7" imgW="749160" imgH="241200" progId="Equation.DSMT4">
                      <p:embed/>
                      <p:pic>
                        <p:nvPicPr>
                          <p:cNvPr id="6" name="对象 5">
                            <a:extLst>
                              <a:ext uri="{FF2B5EF4-FFF2-40B4-BE49-F238E27FC236}">
                                <a16:creationId xmlns:a16="http://schemas.microsoft.com/office/drawing/2014/main" id="{13F3848F-B711-42F9-AD02-64EF3620767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486140" y="2565400"/>
                            <a:ext cx="1127125" cy="403225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" name="Rectangle 7">
                <a:extLst>
                  <a:ext uri="{FF2B5EF4-FFF2-40B4-BE49-F238E27FC236}">
                    <a16:creationId xmlns:a16="http://schemas.microsoft.com/office/drawing/2014/main" id="{2E54E3CA-FA62-4FA7-BB15-EAA19EA42A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96769" y="2555143"/>
                <a:ext cx="2527772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just">
                  <a:spcBef>
                    <a:spcPct val="5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2400" b="1" i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H </a:t>
                </a:r>
                <a:r>
                  <a:rPr lang="zh-CN" altLang="en-US" sz="2400" dirty="0">
                    <a:latin typeface="+mn-ea"/>
                    <a:cs typeface="Times New Roman" panose="02020603050405020304" pitchFamily="18" charset="0"/>
                  </a:rPr>
                  <a:t>非奇异</a:t>
                </a:r>
                <a:endParaRPr lang="zh-CN" altLang="en-US" sz="2400" dirty="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7" name="Rectangle 7">
              <a:extLst>
                <a:ext uri="{FF2B5EF4-FFF2-40B4-BE49-F238E27FC236}">
                  <a16:creationId xmlns:a16="http://schemas.microsoft.com/office/drawing/2014/main" id="{5F860152-E42A-4BE7-BDA6-FA8D0EA66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0164" y="2115647"/>
              <a:ext cx="2299811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 dirty="0">
                  <a:latin typeface="+mn-ea"/>
                </a:rPr>
                <a:t>齐次形式</a:t>
              </a:r>
            </a:p>
          </p:txBody>
        </p:sp>
      </p:grpSp>
      <p:sp>
        <p:nvSpPr>
          <p:cNvPr id="20" name="Rectangle 2">
            <a:extLst>
              <a:ext uri="{FF2B5EF4-FFF2-40B4-BE49-F238E27FC236}">
                <a16:creationId xmlns:a16="http://schemas.microsoft.com/office/drawing/2014/main" id="{0084E59A-72FE-4D6F-91BC-7C64E0A5C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548" y="162318"/>
            <a:ext cx="6922546" cy="52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华文细黑" panose="02010600040101010101" pitchFamily="2" charset="-122"/>
                <a:ea typeface="+mj-ea"/>
                <a:cs typeface="+mj-cs"/>
              </a:defRPr>
            </a:lvl1pPr>
            <a:lvl2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2pPr>
            <a:lvl3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3pPr>
            <a:lvl4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4pPr>
            <a:lvl5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5pPr>
            <a:lvl6pPr marL="609570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6pPr>
            <a:lvl7pPr marL="121913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7pPr>
            <a:lvl8pPr marL="182870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8pPr>
            <a:lvl9pPr marL="2438278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9pPr>
          </a:lstStyle>
          <a:p>
            <a:r>
              <a:rPr lang="en-US" altLang="zh-CN" sz="2800" b="1" dirty="0">
                <a:solidFill>
                  <a:srgbClr val="0C4379"/>
                </a:solidFill>
                <a:latin typeface="+mn-ea"/>
                <a:ea typeface="+mn-ea"/>
              </a:rPr>
              <a:t>6</a:t>
            </a:r>
            <a:r>
              <a:rPr lang="zh-CN" altLang="en-US" sz="2800" b="1" dirty="0">
                <a:solidFill>
                  <a:srgbClr val="0C4379"/>
                </a:solidFill>
                <a:latin typeface="+mn-ea"/>
                <a:ea typeface="+mn-ea"/>
              </a:rPr>
              <a:t> 图像几何运算</a:t>
            </a:r>
            <a:r>
              <a:rPr lang="en-US" altLang="zh-CN" sz="2800" b="1" dirty="0">
                <a:solidFill>
                  <a:srgbClr val="0C4379"/>
                </a:solidFill>
                <a:latin typeface="+mn-ea"/>
                <a:ea typeface="+mn-ea"/>
              </a:rPr>
              <a:t>-2D</a:t>
            </a:r>
            <a:r>
              <a:rPr lang="zh-CN" altLang="en-US" sz="2800" b="1" dirty="0">
                <a:solidFill>
                  <a:srgbClr val="0C4379"/>
                </a:solidFill>
                <a:latin typeface="+mn-ea"/>
                <a:ea typeface="+mn-ea"/>
              </a:rPr>
              <a:t>线性几何变换</a:t>
            </a: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00AC7EE1-DD4B-4725-8586-CD519F3C05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6110856"/>
              </p:ext>
            </p:extLst>
          </p:nvPr>
        </p:nvGraphicFramePr>
        <p:xfrm>
          <a:off x="3397821" y="4282302"/>
          <a:ext cx="557602" cy="443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77" name="Equation" r:id="rId9" imgW="317160" imgH="228600" progId="Equation.DSMT4">
                  <p:embed/>
                </p:oleObj>
              </mc:Choice>
              <mc:Fallback>
                <p:oleObj name="Equation" r:id="rId9" imgW="317160" imgH="228600" progId="Equation.DSMT4">
                  <p:embed/>
                  <p:pic>
                    <p:nvPicPr>
                      <p:cNvPr id="38" name="对象 37">
                        <a:extLst>
                          <a:ext uri="{FF2B5EF4-FFF2-40B4-BE49-F238E27FC236}">
                            <a16:creationId xmlns:a16="http://schemas.microsoft.com/office/drawing/2014/main" id="{00AC7EE1-DD4B-4725-8586-CD519F3C05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7821" y="4282302"/>
                        <a:ext cx="557602" cy="4432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7">
            <a:extLst>
              <a:ext uri="{FF2B5EF4-FFF2-40B4-BE49-F238E27FC236}">
                <a16:creationId xmlns:a16="http://schemas.microsoft.com/office/drawing/2014/main" id="{E7CEA537-2528-4C85-9245-66E4EA796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7414" y="4220162"/>
            <a:ext cx="2908353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26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sz="2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非奇异</a:t>
            </a:r>
            <a:endParaRPr lang="zh-CN" altLang="en-US" sz="2600" dirty="0"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786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AC90B1F4-841A-4E21-A4FC-749788FAF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744" y="914400"/>
            <a:ext cx="795813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r>
              <a:rPr lang="zh-CN" altLang="en-US" sz="2800" b="1" dirty="0">
                <a:latin typeface="+mn-ea"/>
              </a:rPr>
              <a:t>射影变换</a:t>
            </a:r>
            <a:endParaRPr lang="en-US" altLang="zh-CN" sz="2800" b="1" dirty="0">
              <a:latin typeface="+mn-ea"/>
            </a:endParaRPr>
          </a:p>
        </p:txBody>
      </p:sp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00AC7EE1-DD4B-4725-8586-CD519F3C05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27498" y="2506124"/>
          <a:ext cx="217487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2" name="Equation" r:id="rId3" imgW="139680" imgH="139680" progId="Equation.DSMT4">
                  <p:embed/>
                </p:oleObj>
              </mc:Choice>
              <mc:Fallback>
                <p:oleObj name="Equation" r:id="rId3" imgW="139680" imgH="139680" progId="Equation.DSMT4">
                  <p:embed/>
                  <p:pic>
                    <p:nvPicPr>
                      <p:cNvPr id="38" name="对象 37">
                        <a:extLst>
                          <a:ext uri="{FF2B5EF4-FFF2-40B4-BE49-F238E27FC236}">
                            <a16:creationId xmlns:a16="http://schemas.microsoft.com/office/drawing/2014/main" id="{00AC7EE1-DD4B-4725-8586-CD519F3C05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7498" y="2506124"/>
                        <a:ext cx="217487" cy="2413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7">
            <a:extLst>
              <a:ext uri="{FF2B5EF4-FFF2-40B4-BE49-F238E27FC236}">
                <a16:creationId xmlns:a16="http://schemas.microsoft.com/office/drawing/2014/main" id="{CB1F68B6-0912-48F9-87E6-43240D17A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4941" y="1514898"/>
            <a:ext cx="101055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有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个数值，但是自由度（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DoF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）是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!</a:t>
            </a:r>
            <a:endParaRPr lang="zh-CN" altLang="en-US" sz="2400" baseline="30000" dirty="0">
              <a:latin typeface="+mn-ea"/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777DF4F-304B-4F76-8836-E0FC9D25BC2E}"/>
              </a:ext>
            </a:extLst>
          </p:cNvPr>
          <p:cNvGrpSpPr/>
          <p:nvPr/>
        </p:nvGrpSpPr>
        <p:grpSpPr>
          <a:xfrm>
            <a:off x="1841801" y="2626773"/>
            <a:ext cx="1294441" cy="2061187"/>
            <a:chOff x="1841801" y="2626773"/>
            <a:chExt cx="1294441" cy="2061187"/>
          </a:xfrm>
        </p:grpSpPr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45375F32-213F-4111-97B9-AA7F20FC70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46033" y="4293672"/>
            <a:ext cx="395288" cy="306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03" name="Equation" r:id="rId5" imgW="253800" imgH="177480" progId="Equation.DSMT4">
                    <p:embed/>
                  </p:oleObj>
                </mc:Choice>
                <mc:Fallback>
                  <p:oleObj name="Equation" r:id="rId5" imgW="253800" imgH="17748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45375F32-213F-4111-97B9-AA7F20FC704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6033" y="4293672"/>
                          <a:ext cx="395288" cy="30638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E5051B96-3112-4D17-B4A4-50865AA22254}"/>
                </a:ext>
              </a:extLst>
            </p:cNvPr>
            <p:cNvGrpSpPr/>
            <p:nvPr/>
          </p:nvGrpSpPr>
          <p:grpSpPr>
            <a:xfrm>
              <a:off x="1841801" y="2626773"/>
              <a:ext cx="1294441" cy="2061187"/>
              <a:chOff x="1841801" y="2626773"/>
              <a:chExt cx="1294441" cy="2061187"/>
            </a:xfrm>
          </p:grpSpPr>
          <p:cxnSp>
            <p:nvCxnSpPr>
              <p:cNvPr id="5" name="连接符: 曲线 4">
                <a:extLst>
                  <a:ext uri="{FF2B5EF4-FFF2-40B4-BE49-F238E27FC236}">
                    <a16:creationId xmlns:a16="http://schemas.microsoft.com/office/drawing/2014/main" id="{8486D2D0-617F-4A89-9FD0-01540B4D1E05}"/>
                  </a:ext>
                </a:extLst>
              </p:cNvPr>
              <p:cNvCxnSpPr>
                <a:endCxn id="19" idx="0"/>
              </p:cNvCxnSpPr>
              <p:nvPr/>
            </p:nvCxnSpPr>
            <p:spPr bwMode="auto">
              <a:xfrm rot="5400000">
                <a:off x="1962560" y="2997883"/>
                <a:ext cx="1544792" cy="802572"/>
              </a:xfrm>
              <a:prstGeom prst="curvedConnector3">
                <a:avLst>
                  <a:gd name="adj1" fmla="val 50000"/>
                </a:avLst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1" name="Rectangle 7">
                <a:extLst>
                  <a:ext uri="{FF2B5EF4-FFF2-40B4-BE49-F238E27FC236}">
                    <a16:creationId xmlns:a16="http://schemas.microsoft.com/office/drawing/2014/main" id="{7C0ABB94-5C67-4531-85E6-165760567A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4588" y="3286095"/>
                <a:ext cx="485182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»"/>
                  <a:defRPr sz="16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just">
                  <a:spcBef>
                    <a:spcPct val="50000"/>
                  </a:spcBef>
                </a:pPr>
                <a:r>
                  <a:rPr lang="en-US" altLang="zh-CN" sz="2400" b="1" i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H</a:t>
                </a:r>
                <a:endPara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矩形: 圆角 18">
                <a:extLst>
                  <a:ext uri="{FF2B5EF4-FFF2-40B4-BE49-F238E27FC236}">
                    <a16:creationId xmlns:a16="http://schemas.microsoft.com/office/drawing/2014/main" id="{64F19B82-7DB6-4866-BD4A-6E336A32BFF6}"/>
                  </a:ext>
                </a:extLst>
              </p:cNvPr>
              <p:cNvSpPr/>
              <p:nvPr/>
            </p:nvSpPr>
            <p:spPr bwMode="auto">
              <a:xfrm>
                <a:off x="1841801" y="4171565"/>
                <a:ext cx="983738" cy="516395"/>
              </a:xfrm>
              <a:prstGeom prst="roundRect">
                <a:avLst/>
              </a:prstGeom>
              <a:solidFill>
                <a:srgbClr val="002060">
                  <a:alpha val="34000"/>
                </a:srgb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</p:grp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49F483C2-7C16-482D-9C0F-A1DC42555A60}"/>
              </a:ext>
            </a:extLst>
          </p:cNvPr>
          <p:cNvGrpSpPr/>
          <p:nvPr/>
        </p:nvGrpSpPr>
        <p:grpSpPr>
          <a:xfrm>
            <a:off x="3244985" y="2626774"/>
            <a:ext cx="1876290" cy="2064471"/>
            <a:chOff x="3244985" y="2626774"/>
            <a:chExt cx="1876290" cy="2064471"/>
          </a:xfrm>
        </p:grpSpPr>
        <p:sp>
          <p:nvSpPr>
            <p:cNvPr id="18" name="Rectangle 7">
              <a:extLst>
                <a:ext uri="{FF2B5EF4-FFF2-40B4-BE49-F238E27FC236}">
                  <a16:creationId xmlns:a16="http://schemas.microsoft.com/office/drawing/2014/main" id="{8E6071B6-902F-41AD-BCB2-65719493C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1042" y="4171565"/>
              <a:ext cx="93906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>
                <a:spcBef>
                  <a:spcPct val="50000"/>
                </a:spcBef>
              </a:pPr>
              <a:r>
                <a:rPr lang="en-US" altLang="zh-CN" sz="2400" i="1" dirty="0" err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en-US" altLang="zh-CN" sz="2400" b="1" i="1" dirty="0" err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Hx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3" name="连接符: 曲线 22">
              <a:extLst>
                <a:ext uri="{FF2B5EF4-FFF2-40B4-BE49-F238E27FC236}">
                  <a16:creationId xmlns:a16="http://schemas.microsoft.com/office/drawing/2014/main" id="{069D05A8-4D5E-4282-A6E6-79A156DB92D1}"/>
                </a:ext>
              </a:extLst>
            </p:cNvPr>
            <p:cNvCxnSpPr>
              <a:stCxn id="38" idx="3"/>
              <a:endCxn id="18" idx="0"/>
            </p:cNvCxnSpPr>
            <p:nvPr/>
          </p:nvCxnSpPr>
          <p:spPr bwMode="auto">
            <a:xfrm>
              <a:off x="3244985" y="2626774"/>
              <a:ext cx="665589" cy="1544791"/>
            </a:xfrm>
            <a:prstGeom prst="curvedConnector2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6" name="Rectangle 7">
              <a:extLst>
                <a:ext uri="{FF2B5EF4-FFF2-40B4-BE49-F238E27FC236}">
                  <a16:creationId xmlns:a16="http://schemas.microsoft.com/office/drawing/2014/main" id="{C6FA2B5F-5628-43D9-99E0-CDD838D1A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4217" y="3218819"/>
              <a:ext cx="736459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>
                <a:spcBef>
                  <a:spcPct val="50000"/>
                </a:spcBef>
              </a:pPr>
              <a:r>
                <a:rPr lang="en-US" altLang="zh-CN" sz="2400" i="1" dirty="0" err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en-US" altLang="zh-CN" sz="2400" b="1" i="1" dirty="0" err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A20A2E6F-E2F0-4EB1-92ED-9A3C9BAE1B9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68825" y="3314700"/>
            <a:ext cx="552450" cy="306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04" name="Equation" r:id="rId7" imgW="355320" imgH="177480" progId="Equation.DSMT4">
                    <p:embed/>
                  </p:oleObj>
                </mc:Choice>
                <mc:Fallback>
                  <p:oleObj name="Equation" r:id="rId7" imgW="355320" imgH="177480" progId="Equation.DSMT4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A20A2E6F-E2F0-4EB1-92ED-9A3C9BAE1B9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8825" y="3314700"/>
                          <a:ext cx="552450" cy="30638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95DBBC46-5D12-4190-8C14-999F11985996}"/>
                </a:ext>
              </a:extLst>
            </p:cNvPr>
            <p:cNvSpPr/>
            <p:nvPr/>
          </p:nvSpPr>
          <p:spPr bwMode="auto">
            <a:xfrm>
              <a:off x="3332299" y="4174850"/>
              <a:ext cx="983738" cy="516395"/>
            </a:xfrm>
            <a:prstGeom prst="roundRect">
              <a:avLst/>
            </a:prstGeom>
            <a:solidFill>
              <a:srgbClr val="002060">
                <a:alpha val="34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F6049248-EF01-4EFD-B3D7-2EB51F19345B}"/>
              </a:ext>
            </a:extLst>
          </p:cNvPr>
          <p:cNvGrpSpPr/>
          <p:nvPr/>
        </p:nvGrpSpPr>
        <p:grpSpPr>
          <a:xfrm>
            <a:off x="1015590" y="4687960"/>
            <a:ext cx="4750420" cy="878029"/>
            <a:chOff x="1015590" y="4687960"/>
            <a:chExt cx="4750420" cy="878029"/>
          </a:xfrm>
        </p:grpSpPr>
        <p:sp>
          <p:nvSpPr>
            <p:cNvPr id="15" name="Rectangle 7">
              <a:extLst>
                <a:ext uri="{FF2B5EF4-FFF2-40B4-BE49-F238E27FC236}">
                  <a16:creationId xmlns:a16="http://schemas.microsoft.com/office/drawing/2014/main" id="{E7CEA537-2528-4C85-9245-66E4EA796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5590" y="5165879"/>
              <a:ext cx="4750420" cy="400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000" dirty="0">
                  <a:latin typeface="+mn-ea"/>
                  <a:cs typeface="Times New Roman" panose="02020603050405020304" pitchFamily="18" charset="0"/>
                </a:rPr>
                <a:t>实际上是同一个点</a:t>
              </a:r>
            </a:p>
          </p:txBody>
        </p: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628A9827-9B8D-4803-96C3-D0CC51C87860}"/>
                </a:ext>
              </a:extLst>
            </p:cNvPr>
            <p:cNvCxnSpPr>
              <a:stCxn id="19" idx="2"/>
              <a:endCxn id="15" idx="0"/>
            </p:cNvCxnSpPr>
            <p:nvPr/>
          </p:nvCxnSpPr>
          <p:spPr bwMode="auto">
            <a:xfrm>
              <a:off x="2333670" y="4687960"/>
              <a:ext cx="1057130" cy="47791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21122461-2E0A-448A-97C7-B3C87F20B109}"/>
                </a:ext>
              </a:extLst>
            </p:cNvPr>
            <p:cNvCxnSpPr>
              <a:stCxn id="30" idx="2"/>
              <a:endCxn id="15" idx="0"/>
            </p:cNvCxnSpPr>
            <p:nvPr/>
          </p:nvCxnSpPr>
          <p:spPr bwMode="auto">
            <a:xfrm flipH="1">
              <a:off x="3390800" y="4691245"/>
              <a:ext cx="433368" cy="47463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9930F431-0C3D-428A-8FC6-D12067759B60}"/>
              </a:ext>
            </a:extLst>
          </p:cNvPr>
          <p:cNvGrpSpPr/>
          <p:nvPr/>
        </p:nvGrpSpPr>
        <p:grpSpPr>
          <a:xfrm>
            <a:off x="5863447" y="3832007"/>
            <a:ext cx="5954415" cy="502900"/>
            <a:chOff x="5863447" y="3832007"/>
            <a:chExt cx="5954415" cy="502900"/>
          </a:xfrm>
        </p:grpSpPr>
        <p:sp>
          <p:nvSpPr>
            <p:cNvPr id="36" name="AutoShape 37">
              <a:extLst>
                <a:ext uri="{FF2B5EF4-FFF2-40B4-BE49-F238E27FC236}">
                  <a16:creationId xmlns:a16="http://schemas.microsoft.com/office/drawing/2014/main" id="{C603A2D9-E7BE-47B8-89C0-9A011948B4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3447" y="4126555"/>
              <a:ext cx="688328" cy="208352"/>
            </a:xfrm>
            <a:prstGeom prst="rightArrow">
              <a:avLst>
                <a:gd name="adj1" fmla="val 50000"/>
                <a:gd name="adj2" fmla="val 50002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" name="Rectangle 7">
              <a:extLst>
                <a:ext uri="{FF2B5EF4-FFF2-40B4-BE49-F238E27FC236}">
                  <a16:creationId xmlns:a16="http://schemas.microsoft.com/office/drawing/2014/main" id="{8B5B3D47-3840-403F-A56A-D09601BE00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2478" y="3832007"/>
              <a:ext cx="495538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just"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400" i="1" dirty="0" err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en-US" altLang="zh-CN" sz="2400" b="1" i="1" dirty="0" err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             </a:t>
              </a:r>
              <a:r>
                <a:rPr lang="zh-CN" altLang="en-US" sz="2000" dirty="0">
                  <a:latin typeface="+mn-ea"/>
                  <a:cs typeface="Times New Roman" panose="02020603050405020304" pitchFamily="18" charset="0"/>
                </a:rPr>
                <a:t>表示同一个射影变换</a:t>
              </a:r>
              <a:endParaRPr lang="zh-CN" altLang="en-US" sz="2400" dirty="0">
                <a:latin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0" name="对象 39">
              <a:extLst>
                <a:ext uri="{FF2B5EF4-FFF2-40B4-BE49-F238E27FC236}">
                  <a16:creationId xmlns:a16="http://schemas.microsoft.com/office/drawing/2014/main" id="{7D80AB7B-FC66-4DD1-80E9-DF2736F8DAC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342898" y="3870112"/>
            <a:ext cx="730250" cy="436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05" name="Equation" r:id="rId9" imgW="469800" imgH="253800" progId="Equation.DSMT4">
                    <p:embed/>
                  </p:oleObj>
                </mc:Choice>
                <mc:Fallback>
                  <p:oleObj name="Equation" r:id="rId9" imgW="469800" imgH="253800" progId="Equation.DSMT4">
                    <p:embed/>
                    <p:pic>
                      <p:nvPicPr>
                        <p:cNvPr id="40" name="对象 39">
                          <a:extLst>
                            <a:ext uri="{FF2B5EF4-FFF2-40B4-BE49-F238E27FC236}">
                              <a16:creationId xmlns:a16="http://schemas.microsoft.com/office/drawing/2014/main" id="{7D80AB7B-FC66-4DD1-80E9-DF2736F8DAC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42898" y="3870112"/>
                          <a:ext cx="730250" cy="43656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7121787-37A2-4E80-B0BD-44BC21839CEF}"/>
              </a:ext>
            </a:extLst>
          </p:cNvPr>
          <p:cNvGrpSpPr/>
          <p:nvPr/>
        </p:nvGrpSpPr>
        <p:grpSpPr>
          <a:xfrm>
            <a:off x="7698370" y="4513471"/>
            <a:ext cx="2749556" cy="972265"/>
            <a:chOff x="7702704" y="4696351"/>
            <a:chExt cx="2749556" cy="972265"/>
          </a:xfrm>
        </p:grpSpPr>
        <p:sp>
          <p:nvSpPr>
            <p:cNvPr id="41" name="AutoShape 37">
              <a:extLst>
                <a:ext uri="{FF2B5EF4-FFF2-40B4-BE49-F238E27FC236}">
                  <a16:creationId xmlns:a16="http://schemas.microsoft.com/office/drawing/2014/main" id="{34EB5414-3D03-410E-8D4B-C871C835BF9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838384" y="4826939"/>
              <a:ext cx="469528" cy="208352"/>
            </a:xfrm>
            <a:prstGeom prst="rightArrow">
              <a:avLst>
                <a:gd name="adj1" fmla="val 50000"/>
                <a:gd name="adj2" fmla="val 50002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D583381A-765B-40E5-8153-97A16C236F81}"/>
                </a:ext>
              </a:extLst>
            </p:cNvPr>
            <p:cNvSpPr txBox="1"/>
            <p:nvPr/>
          </p:nvSpPr>
          <p:spPr>
            <a:xfrm>
              <a:off x="7702704" y="5206951"/>
              <a:ext cx="2749556" cy="461665"/>
            </a:xfrm>
            <a:prstGeom prst="rect">
              <a:avLst/>
            </a:prstGeom>
            <a:solidFill>
              <a:srgbClr val="00206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’s </a:t>
              </a:r>
              <a:r>
                <a:rPr kumimoji="0" lang="en-US" altLang="zh-CN" sz="2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DoF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is 8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9" name="Rectangle 7">
            <a:extLst>
              <a:ext uri="{FF2B5EF4-FFF2-40B4-BE49-F238E27FC236}">
                <a16:creationId xmlns:a16="http://schemas.microsoft.com/office/drawing/2014/main" id="{80825932-64EB-40CF-AF66-B29C83465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1904" y="2399580"/>
            <a:ext cx="245161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 </a:t>
            </a:r>
            <a:r>
              <a:rPr lang="zh-CN" altLang="en-US" sz="2000" i="1" dirty="0">
                <a:latin typeface="+mn-ea"/>
                <a:cs typeface="Times New Roman" panose="02020603050405020304" pitchFamily="18" charset="0"/>
              </a:rPr>
              <a:t>齐次形式 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Rectangle 2">
            <a:extLst>
              <a:ext uri="{FF2B5EF4-FFF2-40B4-BE49-F238E27FC236}">
                <a16:creationId xmlns:a16="http://schemas.microsoft.com/office/drawing/2014/main" id="{8F8397CD-976A-4B45-98CB-9A88DA057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548" y="162318"/>
            <a:ext cx="6922546" cy="52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华文细黑" panose="02010600040101010101" pitchFamily="2" charset="-122"/>
                <a:ea typeface="+mj-ea"/>
                <a:cs typeface="+mj-cs"/>
              </a:defRPr>
            </a:lvl1pPr>
            <a:lvl2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2pPr>
            <a:lvl3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3pPr>
            <a:lvl4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4pPr>
            <a:lvl5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5pPr>
            <a:lvl6pPr marL="609570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6pPr>
            <a:lvl7pPr marL="121913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7pPr>
            <a:lvl8pPr marL="182870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8pPr>
            <a:lvl9pPr marL="2438278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9pPr>
          </a:lstStyle>
          <a:p>
            <a:r>
              <a:rPr lang="en-US" altLang="zh-CN" sz="2800" b="1" dirty="0">
                <a:solidFill>
                  <a:srgbClr val="0C4379"/>
                </a:solidFill>
                <a:latin typeface="+mn-ea"/>
                <a:ea typeface="+mn-ea"/>
              </a:rPr>
              <a:t>6</a:t>
            </a:r>
            <a:r>
              <a:rPr lang="zh-CN" altLang="en-US" sz="2800" b="1" dirty="0">
                <a:solidFill>
                  <a:srgbClr val="0C4379"/>
                </a:solidFill>
                <a:latin typeface="+mn-ea"/>
                <a:ea typeface="+mn-ea"/>
              </a:rPr>
              <a:t> 图像几何运算</a:t>
            </a:r>
            <a:r>
              <a:rPr lang="en-US" altLang="zh-CN" sz="2800" b="1" dirty="0">
                <a:solidFill>
                  <a:srgbClr val="0C4379"/>
                </a:solidFill>
                <a:latin typeface="+mn-ea"/>
                <a:ea typeface="+mn-ea"/>
              </a:rPr>
              <a:t>-2D</a:t>
            </a:r>
            <a:r>
              <a:rPr lang="zh-CN" altLang="en-US" sz="2800" b="1" dirty="0">
                <a:solidFill>
                  <a:srgbClr val="0C4379"/>
                </a:solidFill>
                <a:latin typeface="+mn-ea"/>
                <a:ea typeface="+mn-ea"/>
              </a:rPr>
              <a:t>线性几何变换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574B269-83A2-4EC4-ACCF-75F20EBC623A}"/>
              </a:ext>
            </a:extLst>
          </p:cNvPr>
          <p:cNvSpPr txBox="1"/>
          <p:nvPr/>
        </p:nvSpPr>
        <p:spPr>
          <a:xfrm>
            <a:off x="6494853" y="5700396"/>
            <a:ext cx="53230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latin typeface="+mn-ea"/>
                <a:cs typeface="Times New Roman" panose="02020603050405020304" pitchFamily="18" charset="0"/>
              </a:rPr>
              <a:t>通常将整个矩阵除以最后一个元素，最后一个元素为</a:t>
            </a:r>
            <a:r>
              <a:rPr lang="en-US" altLang="zh-CN" sz="1600" dirty="0">
                <a:latin typeface="+mn-ea"/>
                <a:cs typeface="Times New Roman" panose="02020603050405020304" pitchFamily="18" charset="0"/>
              </a:rPr>
              <a:t>1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45369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44D02AB3-9579-4FEC-BE9F-EEF20F4E4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219" y="1325364"/>
            <a:ext cx="6280549" cy="524743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6E073AC-E396-4EAD-B348-0271B01A8993}"/>
              </a:ext>
            </a:extLst>
          </p:cNvPr>
          <p:cNvSpPr txBox="1"/>
          <p:nvPr/>
        </p:nvSpPr>
        <p:spPr>
          <a:xfrm>
            <a:off x="2599045" y="92103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ctr"/>
            <a:r>
              <a:rPr lang="zh-CN" altLang="zh-CN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二维空间与三维空间下的线性几何变换（</a:t>
            </a:r>
            <a:r>
              <a:rPr lang="en-US" altLang="zh-CN" sz="1400" i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 </a:t>
            </a:r>
            <a:r>
              <a:rPr lang="zh-CN" altLang="zh-CN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为空间维度，</a:t>
            </a:r>
            <a:r>
              <a:rPr lang="en-US" altLang="zh-CN" sz="1400" i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 </a:t>
            </a:r>
            <a:r>
              <a:rPr lang="en-US" altLang="zh-CN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=2, 3</a:t>
            </a:r>
            <a:r>
              <a:rPr lang="zh-CN" altLang="zh-CN" sz="14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zh-CN" altLang="zh-CN" sz="1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DFA166B-4B48-459E-91E1-8F7469DD0FDA}"/>
              </a:ext>
            </a:extLst>
          </p:cNvPr>
          <p:cNvSpPr txBox="1"/>
          <p:nvPr/>
        </p:nvSpPr>
        <p:spPr>
          <a:xfrm>
            <a:off x="858041" y="1325364"/>
            <a:ext cx="3607647" cy="233243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R="6773" lvl="1" indent="-457200">
              <a:lnSpc>
                <a:spcPct val="128000"/>
              </a:lnSpc>
              <a:spcBef>
                <a:spcPts val="580"/>
              </a:spcBef>
              <a:buFont typeface="+mj-lt"/>
              <a:buAutoNum type="arabicPeriod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旋转变换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R="6773" lvl="1" indent="-457200">
              <a:lnSpc>
                <a:spcPct val="128000"/>
              </a:lnSpc>
              <a:spcBef>
                <a:spcPts val="580"/>
              </a:spcBef>
              <a:buFont typeface="+mj-lt"/>
              <a:buAutoNum type="arabicPeriod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欧式变换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6773" lvl="1" indent="-457200">
              <a:lnSpc>
                <a:spcPct val="128000"/>
              </a:lnSpc>
              <a:spcBef>
                <a:spcPts val="580"/>
              </a:spcBef>
              <a:buFont typeface="+mj-lt"/>
              <a:buAutoNum type="arabicPeriod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相似变换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6773" lvl="1" indent="-457200">
              <a:lnSpc>
                <a:spcPct val="128000"/>
              </a:lnSpc>
              <a:spcBef>
                <a:spcPts val="580"/>
              </a:spcBef>
              <a:buFont typeface="+mj-lt"/>
              <a:buAutoNum type="arabicPeriod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仿射变换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6773" lvl="1" indent="-457200">
              <a:lnSpc>
                <a:spcPct val="128000"/>
              </a:lnSpc>
              <a:spcBef>
                <a:spcPts val="580"/>
              </a:spcBef>
              <a:buFont typeface="+mj-lt"/>
              <a:buAutoNum type="arabicPeriod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射影变换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B8AC68F-7AA4-4737-8C9A-6C885B7C0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52" y="3791607"/>
            <a:ext cx="3000375" cy="2743200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F6640604-F658-42E2-A265-B0002FCDB5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548" y="162318"/>
            <a:ext cx="6922546" cy="52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华文细黑" panose="02010600040101010101" pitchFamily="2" charset="-122"/>
                <a:ea typeface="+mj-ea"/>
                <a:cs typeface="+mj-cs"/>
              </a:defRPr>
            </a:lvl1pPr>
            <a:lvl2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2pPr>
            <a:lvl3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3pPr>
            <a:lvl4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4pPr>
            <a:lvl5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5pPr>
            <a:lvl6pPr marL="609570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6pPr>
            <a:lvl7pPr marL="121913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7pPr>
            <a:lvl8pPr marL="182870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8pPr>
            <a:lvl9pPr marL="2438278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9pPr>
          </a:lstStyle>
          <a:p>
            <a:r>
              <a:rPr lang="en-US" altLang="zh-CN" sz="2800" b="1" dirty="0">
                <a:solidFill>
                  <a:srgbClr val="0C4379"/>
                </a:solidFill>
                <a:latin typeface="+mn-ea"/>
                <a:ea typeface="+mn-ea"/>
              </a:rPr>
              <a:t>6</a:t>
            </a:r>
            <a:r>
              <a:rPr lang="zh-CN" altLang="en-US" sz="2800" b="1" dirty="0">
                <a:solidFill>
                  <a:srgbClr val="0C4379"/>
                </a:solidFill>
                <a:latin typeface="+mn-ea"/>
                <a:ea typeface="+mn-ea"/>
              </a:rPr>
              <a:t> 图像几何运算</a:t>
            </a:r>
            <a:r>
              <a:rPr lang="en-US" altLang="zh-CN" sz="2800" b="1" dirty="0">
                <a:solidFill>
                  <a:srgbClr val="0C4379"/>
                </a:solidFill>
                <a:latin typeface="+mn-ea"/>
                <a:ea typeface="+mn-ea"/>
              </a:rPr>
              <a:t>-2D</a:t>
            </a:r>
            <a:r>
              <a:rPr lang="zh-CN" altLang="en-US" sz="2800" b="1" dirty="0">
                <a:solidFill>
                  <a:srgbClr val="0C4379"/>
                </a:solidFill>
                <a:latin typeface="+mn-ea"/>
                <a:ea typeface="+mn-ea"/>
              </a:rPr>
              <a:t>线性几何变换</a:t>
            </a:r>
          </a:p>
        </p:txBody>
      </p:sp>
    </p:spTree>
    <p:extLst>
      <p:ext uri="{BB962C8B-B14F-4D97-AF65-F5344CB8AC3E}">
        <p14:creationId xmlns:p14="http://schemas.microsoft.com/office/powerpoint/2010/main" val="505154836"/>
      </p:ext>
    </p:extLst>
  </p:cSld>
  <p:clrMapOvr>
    <a:masterClrMapping/>
  </p:clrMapOvr>
  <p:transition advTm="12526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40E91CF-4C18-42EB-893B-C02245857F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rcRect r="59830" b="5677"/>
          <a:stretch/>
        </p:blipFill>
        <p:spPr>
          <a:xfrm>
            <a:off x="2554192" y="1335205"/>
            <a:ext cx="1446123" cy="147428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BF75B05-529A-4306-9744-07AE66F48FB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rcRect r="59830" b="3689"/>
          <a:stretch/>
        </p:blipFill>
        <p:spPr>
          <a:xfrm>
            <a:off x="4978248" y="1297463"/>
            <a:ext cx="1446123" cy="147428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3768373-724A-45DF-A155-D3AE6B22FE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00406" y="1109287"/>
            <a:ext cx="2165505" cy="1555699"/>
          </a:xfrm>
          <a:prstGeom prst="rect">
            <a:avLst/>
          </a:prstGeom>
        </p:spPr>
      </p:pic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2EB0A4AD-17C1-4371-85EE-D89BB89EFA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30" r="620" b="8804"/>
          <a:stretch/>
        </p:blipFill>
        <p:spPr bwMode="auto">
          <a:xfrm>
            <a:off x="2876225" y="3742569"/>
            <a:ext cx="6032205" cy="2204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615E964F-8DBE-424B-8DC1-D063C4ECD4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548" y="162318"/>
            <a:ext cx="6922546" cy="52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华文细黑" panose="02010600040101010101" pitchFamily="2" charset="-122"/>
                <a:ea typeface="+mj-ea"/>
                <a:cs typeface="+mj-cs"/>
              </a:defRPr>
            </a:lvl1pPr>
            <a:lvl2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2pPr>
            <a:lvl3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3pPr>
            <a:lvl4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4pPr>
            <a:lvl5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5pPr>
            <a:lvl6pPr marL="609570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6pPr>
            <a:lvl7pPr marL="121913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7pPr>
            <a:lvl8pPr marL="182870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8pPr>
            <a:lvl9pPr marL="2438278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9pPr>
          </a:lstStyle>
          <a:p>
            <a:r>
              <a:rPr lang="en-US" altLang="zh-CN" sz="2800" b="1" dirty="0">
                <a:solidFill>
                  <a:srgbClr val="0C4379"/>
                </a:solidFill>
                <a:latin typeface="+mn-ea"/>
                <a:ea typeface="+mn-ea"/>
              </a:rPr>
              <a:t>6</a:t>
            </a:r>
            <a:r>
              <a:rPr lang="zh-CN" altLang="en-US" sz="2800" b="1" dirty="0">
                <a:solidFill>
                  <a:srgbClr val="0C4379"/>
                </a:solidFill>
                <a:latin typeface="+mn-ea"/>
                <a:ea typeface="+mn-ea"/>
              </a:rPr>
              <a:t> 图像几何运算</a:t>
            </a:r>
            <a:r>
              <a:rPr lang="en-US" altLang="zh-CN" sz="2800" b="1" dirty="0">
                <a:solidFill>
                  <a:srgbClr val="0C4379"/>
                </a:solidFill>
                <a:latin typeface="+mn-ea"/>
                <a:ea typeface="+mn-ea"/>
              </a:rPr>
              <a:t>-</a:t>
            </a:r>
            <a:r>
              <a:rPr lang="zh-CN" altLang="en-US" sz="2800" b="1" dirty="0">
                <a:solidFill>
                  <a:srgbClr val="0C4379"/>
                </a:solidFill>
                <a:latin typeface="+mn-ea"/>
                <a:ea typeface="+mn-ea"/>
              </a:rPr>
              <a:t>灰度插值</a:t>
            </a:r>
          </a:p>
        </p:txBody>
      </p:sp>
      <p:sp>
        <p:nvSpPr>
          <p:cNvPr id="2" name="矩形 1"/>
          <p:cNvSpPr/>
          <p:nvPr/>
        </p:nvSpPr>
        <p:spPr>
          <a:xfrm>
            <a:off x="2828136" y="2771752"/>
            <a:ext cx="877163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最近邻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490909" y="2766216"/>
            <a:ext cx="877163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双线性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697320" y="2771752"/>
            <a:ext cx="877163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双三次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73654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6D00ECF-6714-4D18-9512-988C6749AFA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54019" y="1102269"/>
            <a:ext cx="2119256" cy="46778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双线性插值</a:t>
            </a:r>
            <a:endParaRPr lang="zh-CN" altLang="en-US" sz="24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BF75B05-529A-4306-9744-07AE66F48F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rcRect r="59830" b="3689"/>
          <a:stretch/>
        </p:blipFill>
        <p:spPr>
          <a:xfrm>
            <a:off x="7612816" y="365125"/>
            <a:ext cx="1446123" cy="1474289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946BB2C1-74B4-4904-8852-E498CDD12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2816" y="2101678"/>
            <a:ext cx="4285640" cy="3777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5EF5D8E-60E9-46B4-93E0-80F59E4B48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965" y="1839414"/>
            <a:ext cx="6443552" cy="144782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539CAA0-D755-4370-AB22-1C351170F2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965" y="3435968"/>
            <a:ext cx="4799049" cy="131655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DC7F032-0C45-47AE-BF1D-E4F06A4FF4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965" y="4987925"/>
            <a:ext cx="6521523" cy="1128588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C81874EA-877D-41CA-BB9A-3AFFBF23C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548" y="162318"/>
            <a:ext cx="6922546" cy="52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华文细黑" panose="02010600040101010101" pitchFamily="2" charset="-122"/>
                <a:ea typeface="+mj-ea"/>
                <a:cs typeface="+mj-cs"/>
              </a:defRPr>
            </a:lvl1pPr>
            <a:lvl2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2pPr>
            <a:lvl3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3pPr>
            <a:lvl4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4pPr>
            <a:lvl5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5pPr>
            <a:lvl6pPr marL="609570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6pPr>
            <a:lvl7pPr marL="121913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7pPr>
            <a:lvl8pPr marL="182870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8pPr>
            <a:lvl9pPr marL="2438278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9pPr>
          </a:lstStyle>
          <a:p>
            <a:r>
              <a:rPr lang="en-US" altLang="zh-CN" sz="2800" b="1" dirty="0">
                <a:solidFill>
                  <a:srgbClr val="0C4379"/>
                </a:solidFill>
                <a:latin typeface="+mn-ea"/>
                <a:ea typeface="+mn-ea"/>
              </a:rPr>
              <a:t>6</a:t>
            </a:r>
            <a:r>
              <a:rPr lang="zh-CN" altLang="en-US" sz="2800" b="1" dirty="0">
                <a:solidFill>
                  <a:srgbClr val="0C4379"/>
                </a:solidFill>
                <a:latin typeface="+mn-ea"/>
                <a:ea typeface="+mn-ea"/>
              </a:rPr>
              <a:t> 图像几何运算</a:t>
            </a:r>
            <a:r>
              <a:rPr lang="en-US" altLang="zh-CN" sz="2800" b="1" dirty="0">
                <a:solidFill>
                  <a:srgbClr val="0C4379"/>
                </a:solidFill>
                <a:latin typeface="+mn-ea"/>
                <a:ea typeface="+mn-ea"/>
              </a:rPr>
              <a:t>-</a:t>
            </a:r>
            <a:r>
              <a:rPr lang="zh-CN" altLang="en-US" sz="2800" b="1" dirty="0">
                <a:solidFill>
                  <a:srgbClr val="0C4379"/>
                </a:solidFill>
                <a:latin typeface="+mn-ea"/>
                <a:ea typeface="+mn-ea"/>
              </a:rPr>
              <a:t>灰度插值</a:t>
            </a:r>
          </a:p>
        </p:txBody>
      </p:sp>
    </p:spTree>
    <p:extLst>
      <p:ext uri="{BB962C8B-B14F-4D97-AF65-F5344CB8AC3E}">
        <p14:creationId xmlns:p14="http://schemas.microsoft.com/office/powerpoint/2010/main" val="35327332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9BF75B05-529A-4306-9744-07AE66F48F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rcRect r="59830" b="3689"/>
          <a:stretch/>
        </p:blipFill>
        <p:spPr>
          <a:xfrm>
            <a:off x="7612816" y="365125"/>
            <a:ext cx="1446123" cy="1474289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946BB2C1-74B4-4904-8852-E498CDD12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2816" y="2101678"/>
            <a:ext cx="4285640" cy="3777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DC7F032-0C45-47AE-BF1D-E4F06A4FF4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726" y="2633220"/>
            <a:ext cx="6521523" cy="112858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EF86A15-2802-45CC-B711-EA11BA9D2BFF}"/>
              </a:ext>
            </a:extLst>
          </p:cNvPr>
          <p:cNvSpPr txBox="1"/>
          <p:nvPr/>
        </p:nvSpPr>
        <p:spPr>
          <a:xfrm>
            <a:off x="708726" y="1932500"/>
            <a:ext cx="6096000" cy="2951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因为选择的是相邻的四个点，所以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可简化为四个归一化距离对四个顶点的加权组合：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 3">
            <a:extLst>
              <a:ext uri="{FF2B5EF4-FFF2-40B4-BE49-F238E27FC236}">
                <a16:creationId xmlns:a16="http://schemas.microsoft.com/office/drawing/2014/main" id="{1C4908F4-84CC-43B7-9CEB-AF014299BCAF}"/>
              </a:ext>
            </a:extLst>
          </p:cNvPr>
          <p:cNvSpPr txBox="1">
            <a:spLocks/>
          </p:cNvSpPr>
          <p:nvPr/>
        </p:nvSpPr>
        <p:spPr bwMode="auto">
          <a:xfrm>
            <a:off x="554019" y="1102269"/>
            <a:ext cx="2119256" cy="467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华文细黑" panose="02010600040101010101" pitchFamily="2" charset="-122"/>
                <a:ea typeface="+mj-ea"/>
                <a:cs typeface="+mj-cs"/>
              </a:defRPr>
            </a:lvl1pPr>
            <a:lvl2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2pPr>
            <a:lvl3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3pPr>
            <a:lvl4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4pPr>
            <a:lvl5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5pPr>
            <a:lvl6pPr marL="609570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6pPr>
            <a:lvl7pPr marL="121913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7pPr>
            <a:lvl8pPr marL="182870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8pPr>
            <a:lvl9pPr marL="2438278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双线性插值</a:t>
            </a:r>
            <a:endParaRPr lang="zh-CN" altLang="en-US" sz="2400" b="1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AAA4C9B-B2C3-4F6E-A87D-CB78B2A35C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548" y="162318"/>
            <a:ext cx="6922546" cy="52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华文细黑" panose="02010600040101010101" pitchFamily="2" charset="-122"/>
                <a:ea typeface="+mj-ea"/>
                <a:cs typeface="+mj-cs"/>
              </a:defRPr>
            </a:lvl1pPr>
            <a:lvl2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2pPr>
            <a:lvl3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3pPr>
            <a:lvl4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4pPr>
            <a:lvl5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5pPr>
            <a:lvl6pPr marL="609570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6pPr>
            <a:lvl7pPr marL="121913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7pPr>
            <a:lvl8pPr marL="182870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8pPr>
            <a:lvl9pPr marL="2438278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9pPr>
          </a:lstStyle>
          <a:p>
            <a:r>
              <a:rPr lang="en-US" altLang="zh-CN" sz="2800" b="1" dirty="0">
                <a:solidFill>
                  <a:srgbClr val="0C4379"/>
                </a:solidFill>
                <a:latin typeface="+mn-ea"/>
                <a:ea typeface="+mn-ea"/>
              </a:rPr>
              <a:t>6</a:t>
            </a:r>
            <a:r>
              <a:rPr lang="zh-CN" altLang="en-US" sz="2800" b="1" dirty="0">
                <a:solidFill>
                  <a:srgbClr val="0C4379"/>
                </a:solidFill>
                <a:latin typeface="+mn-ea"/>
                <a:ea typeface="+mn-ea"/>
              </a:rPr>
              <a:t> 图像几何运算</a:t>
            </a:r>
            <a:r>
              <a:rPr lang="en-US" altLang="zh-CN" sz="2800" b="1" dirty="0">
                <a:solidFill>
                  <a:srgbClr val="0C4379"/>
                </a:solidFill>
                <a:latin typeface="+mn-ea"/>
                <a:ea typeface="+mn-ea"/>
              </a:rPr>
              <a:t>-</a:t>
            </a:r>
            <a:r>
              <a:rPr lang="zh-CN" altLang="en-US" sz="2800" b="1" dirty="0">
                <a:solidFill>
                  <a:srgbClr val="0C4379"/>
                </a:solidFill>
                <a:latin typeface="+mn-ea"/>
                <a:ea typeface="+mn-ea"/>
              </a:rPr>
              <a:t>灰度插值</a:t>
            </a:r>
          </a:p>
        </p:txBody>
      </p:sp>
    </p:spTree>
    <p:extLst>
      <p:ext uri="{BB962C8B-B14F-4D97-AF65-F5344CB8AC3E}">
        <p14:creationId xmlns:p14="http://schemas.microsoft.com/office/powerpoint/2010/main" val="29738303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11">
            <a:extLst>
              <a:ext uri="{FF2B5EF4-FFF2-40B4-BE49-F238E27FC236}">
                <a16:creationId xmlns:a16="http://schemas.microsoft.com/office/drawing/2014/main" id="{95FC6FF6-A5AB-4B04-BF42-C4C8EA9D657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29955" y="1453045"/>
            <a:ext cx="10515600" cy="7620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取逆变换后的原图像坐标中，距离最近的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个点。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24A6FD2-5DA1-459B-A740-512D22A7B8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924"/>
          <a:stretch/>
        </p:blipFill>
        <p:spPr bwMode="auto">
          <a:xfrm>
            <a:off x="1062148" y="2197396"/>
            <a:ext cx="5019675" cy="2093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6F365CE3-ED20-4804-9D14-C0616A1A5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797" y="4879030"/>
            <a:ext cx="4231758" cy="1050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6687D1EC-D280-4499-A72D-D15FD181D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1945" y="1930308"/>
            <a:ext cx="2535461" cy="2316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FD621E3-7290-40AE-BE75-368B02871D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2148" y="4375360"/>
            <a:ext cx="2914460" cy="2093748"/>
          </a:xfrm>
          <a:prstGeom prst="rect">
            <a:avLst/>
          </a:prstGeom>
        </p:spPr>
      </p:pic>
      <p:sp>
        <p:nvSpPr>
          <p:cNvPr id="10" name="标题 3">
            <a:extLst>
              <a:ext uri="{FF2B5EF4-FFF2-40B4-BE49-F238E27FC236}">
                <a16:creationId xmlns:a16="http://schemas.microsoft.com/office/drawing/2014/main" id="{C1C97E19-50CC-4E72-B98A-BB7FE39A6D1A}"/>
              </a:ext>
            </a:extLst>
          </p:cNvPr>
          <p:cNvSpPr txBox="1">
            <a:spLocks/>
          </p:cNvSpPr>
          <p:nvPr/>
        </p:nvSpPr>
        <p:spPr bwMode="auto">
          <a:xfrm>
            <a:off x="411418" y="967172"/>
            <a:ext cx="2119256" cy="467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华文细黑" panose="02010600040101010101" pitchFamily="2" charset="-122"/>
                <a:ea typeface="+mj-ea"/>
                <a:cs typeface="+mj-cs"/>
              </a:defRPr>
            </a:lvl1pPr>
            <a:lvl2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2pPr>
            <a:lvl3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3pPr>
            <a:lvl4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4pPr>
            <a:lvl5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5pPr>
            <a:lvl6pPr marL="609570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6pPr>
            <a:lvl7pPr marL="121913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7pPr>
            <a:lvl8pPr marL="182870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8pPr>
            <a:lvl9pPr marL="2438278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双三次插值</a:t>
            </a:r>
            <a:endParaRPr lang="zh-CN" altLang="en-US" sz="2400" b="1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00FDB667-F93C-4158-B533-A998E8FC6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548" y="162318"/>
            <a:ext cx="6922546" cy="527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华文细黑" panose="02010600040101010101" pitchFamily="2" charset="-122"/>
                <a:ea typeface="+mj-ea"/>
                <a:cs typeface="+mj-cs"/>
              </a:defRPr>
            </a:lvl1pPr>
            <a:lvl2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2pPr>
            <a:lvl3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3pPr>
            <a:lvl4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4pPr>
            <a:lvl5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5pPr>
            <a:lvl6pPr marL="609570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6pPr>
            <a:lvl7pPr marL="121913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7pPr>
            <a:lvl8pPr marL="182870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8pPr>
            <a:lvl9pPr marL="2438278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9pPr>
          </a:lstStyle>
          <a:p>
            <a:r>
              <a:rPr lang="en-US" altLang="zh-CN" sz="2800" b="1" dirty="0">
                <a:solidFill>
                  <a:srgbClr val="0C4379"/>
                </a:solidFill>
                <a:latin typeface="+mn-ea"/>
                <a:ea typeface="+mn-ea"/>
              </a:rPr>
              <a:t>6</a:t>
            </a:r>
            <a:r>
              <a:rPr lang="zh-CN" altLang="en-US" sz="2800" b="1" dirty="0">
                <a:solidFill>
                  <a:srgbClr val="0C4379"/>
                </a:solidFill>
                <a:latin typeface="+mn-ea"/>
                <a:ea typeface="+mn-ea"/>
              </a:rPr>
              <a:t> 图像几何运算</a:t>
            </a:r>
            <a:r>
              <a:rPr lang="en-US" altLang="zh-CN" sz="2800" b="1" dirty="0">
                <a:solidFill>
                  <a:srgbClr val="0C4379"/>
                </a:solidFill>
                <a:latin typeface="+mn-ea"/>
                <a:ea typeface="+mn-ea"/>
              </a:rPr>
              <a:t>-</a:t>
            </a:r>
            <a:r>
              <a:rPr lang="zh-CN" altLang="en-US" sz="2800" b="1" dirty="0">
                <a:solidFill>
                  <a:srgbClr val="0C4379"/>
                </a:solidFill>
                <a:latin typeface="+mn-ea"/>
                <a:ea typeface="+mn-ea"/>
              </a:rPr>
              <a:t>灰度插值</a:t>
            </a:r>
          </a:p>
        </p:txBody>
      </p:sp>
    </p:spTree>
    <p:extLst>
      <p:ext uri="{BB962C8B-B14F-4D97-AF65-F5344CB8AC3E}">
        <p14:creationId xmlns:p14="http://schemas.microsoft.com/office/powerpoint/2010/main" val="11199403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90"/>
          <a:stretch/>
        </p:blipFill>
        <p:spPr>
          <a:xfrm>
            <a:off x="1721223" y="1152605"/>
            <a:ext cx="8662893" cy="5459506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7461197" y="3957277"/>
            <a:ext cx="2935300" cy="26356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44565" y="148866"/>
            <a:ext cx="34603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3) </a:t>
            </a:r>
            <a:r>
              <a:rPr lang="zh-CN" altLang="en-US" sz="28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几何运算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4872245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b="52869"/>
          <a:stretch/>
        </p:blipFill>
        <p:spPr>
          <a:xfrm>
            <a:off x="151301" y="1888446"/>
            <a:ext cx="6487704" cy="280864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210" y="1128912"/>
            <a:ext cx="4876800" cy="48768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444565" y="148866"/>
            <a:ext cx="34603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3) </a:t>
            </a:r>
            <a:r>
              <a:rPr lang="zh-CN" altLang="en-US" sz="28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几何运算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76291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t="60648"/>
          <a:stretch/>
        </p:blipFill>
        <p:spPr>
          <a:xfrm>
            <a:off x="336097" y="1946042"/>
            <a:ext cx="5964811" cy="215607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422" y="1167333"/>
            <a:ext cx="4876800" cy="48768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44565" y="148866"/>
            <a:ext cx="34603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3) </a:t>
            </a:r>
            <a:r>
              <a:rPr lang="zh-CN" altLang="en-US" sz="28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几何运算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916369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95" y="1821396"/>
            <a:ext cx="5640986" cy="159031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9633" y="1282594"/>
            <a:ext cx="4876800" cy="48768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44565" y="148866"/>
            <a:ext cx="34603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3) </a:t>
            </a:r>
            <a:r>
              <a:rPr lang="zh-CN" altLang="en-US" sz="28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几何运算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0595361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07" y="1389537"/>
            <a:ext cx="6845617" cy="43637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0524" y="1133007"/>
            <a:ext cx="4876800" cy="48768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44565" y="148866"/>
            <a:ext cx="34603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3) </a:t>
            </a:r>
            <a:r>
              <a:rPr lang="zh-CN" altLang="en-US" sz="2800" b="1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几何运算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5857533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84C313-63A1-4511-8E1D-B8780D04C5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25158" y="1411455"/>
            <a:ext cx="10515600" cy="2820911"/>
          </a:xfrm>
        </p:spPr>
        <p:txBody>
          <a:bodyPr>
            <a:norm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OpenCV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，使用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Lena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Cameraman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图像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完成直方图均衡化，不要直接调用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equalizeHist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通过定义变换矩阵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，实现图像的平移、旋转、缩放、斜切仿射变换。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8B708B01-A0BD-43B5-9E32-0C8B083B3267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564369" y="118829"/>
            <a:ext cx="100540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华文细黑" panose="02010600040101010101" pitchFamily="2" charset="-122"/>
                <a:ea typeface="+mj-ea"/>
                <a:cs typeface="+mj-cs"/>
              </a:defRPr>
            </a:lvl1pPr>
            <a:lvl2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2pPr>
            <a:lvl3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3pPr>
            <a:lvl4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4pPr>
            <a:lvl5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5pPr>
            <a:lvl6pPr marL="609570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6pPr>
            <a:lvl7pPr marL="121913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7pPr>
            <a:lvl8pPr marL="182870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8pPr>
            <a:lvl9pPr marL="2438278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9pPr>
          </a:lstStyle>
          <a:p>
            <a:pPr algn="ctr" defTabSz="914400" eaLnBrk="1" hangingPunct="1">
              <a:lnSpc>
                <a:spcPct val="100000"/>
              </a:lnSpc>
            </a:pPr>
            <a:r>
              <a:rPr lang="zh-CN" altLang="en-US" sz="3200" b="1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作业</a:t>
            </a:r>
            <a:endParaRPr lang="zh-CN" altLang="en-US" sz="32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457607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43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BC1B49AB-1887-4CED-820C-19F3F727D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06160" y="1992003"/>
            <a:ext cx="5012617" cy="3245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EE3B876-CD25-4FFD-9BE8-4E7F5B5104ED}"/>
              </a:ext>
            </a:extLst>
          </p:cNvPr>
          <p:cNvSpPr txBox="1"/>
          <p:nvPr/>
        </p:nvSpPr>
        <p:spPr>
          <a:xfrm>
            <a:off x="3098098" y="3245597"/>
            <a:ext cx="6196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C4379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  <a:sym typeface="+mn-lt"/>
              </a:rPr>
              <a:t>携手共创未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5EEB38-AB87-421D-BD76-CC57927933C4}"/>
              </a:ext>
            </a:extLst>
          </p:cNvPr>
          <p:cNvSpPr/>
          <p:nvPr/>
        </p:nvSpPr>
        <p:spPr>
          <a:xfrm>
            <a:off x="1316748" y="2612683"/>
            <a:ext cx="4212013" cy="16326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400" b="1" kern="0" dirty="0">
                <a:solidFill>
                  <a:schemeClr val="bg1"/>
                </a:solidFill>
                <a:latin typeface="Arial" panose="020B0604020202090204"/>
                <a:ea typeface="微软雅黑" panose="020B0503020204020204" pitchFamily="34" charset="-122"/>
              </a:rPr>
              <a:t>感谢！</a:t>
            </a:r>
          </a:p>
        </p:txBody>
      </p:sp>
    </p:spTree>
    <p:extLst>
      <p:ext uri="{BB962C8B-B14F-4D97-AF65-F5344CB8AC3E}">
        <p14:creationId xmlns:p14="http://schemas.microsoft.com/office/powerpoint/2010/main" val="33839898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84C313-63A1-4511-8E1D-B8780D04C5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16598" y="1637366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通过定义变换矩阵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，实现平移、旋转、缩放、斜切仿射变换，并应用于某图像。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实现最近邻、双线性和双三次亮度插值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（计算）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&amp; OpenCV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（读图像）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不要直接调用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OpenCV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warpAffine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warpPerspective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函数！！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提交可运行的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工程和代码。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443132F3-209D-4FD2-A3D4-8D5B70AB51FE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564369" y="118829"/>
            <a:ext cx="100540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华文细黑" panose="02010600040101010101" pitchFamily="2" charset="-122"/>
                <a:ea typeface="+mj-ea"/>
                <a:cs typeface="+mj-cs"/>
              </a:defRPr>
            </a:lvl1pPr>
            <a:lvl2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2pPr>
            <a:lvl3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3pPr>
            <a:lvl4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4pPr>
            <a:lvl5pPr algn="l" defTabSz="91435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5pPr>
            <a:lvl6pPr marL="609570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6pPr>
            <a:lvl7pPr marL="121913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7pPr>
            <a:lvl8pPr marL="1828709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8pPr>
            <a:lvl9pPr marL="2438278" algn="l" defTabSz="914354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华文细黑" pitchFamily="2" charset="-122"/>
                <a:ea typeface="微软雅黑" pitchFamily="34" charset="-122"/>
              </a:defRPr>
            </a:lvl9pPr>
          </a:lstStyle>
          <a:p>
            <a:pPr algn="ctr" defTabSz="914400" eaLnBrk="1" hangingPunct="1">
              <a:lnSpc>
                <a:spcPct val="100000"/>
              </a:lnSpc>
            </a:pPr>
            <a:r>
              <a:rPr lang="zh-CN" altLang="en-US" sz="3200" b="1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作业</a:t>
            </a:r>
            <a:endParaRPr lang="zh-CN" altLang="en-US" sz="3200" b="1" dirty="0">
              <a:solidFill>
                <a:srgbClr val="0C437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888037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504072-1E8A-4935-B9C4-22855850748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altLang="zh-CN" sz="4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3 </a:t>
            </a:r>
            <a:r>
              <a:rPr lang="zh-CN" altLang="en-US" sz="4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阈值化</a:t>
            </a:r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DDC33D-D608-4A30-B02A-FCDC2B0CA3B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825625"/>
            <a:ext cx="10515600" cy="1603375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rPr>
              <a:t>观察下列图像的直方图</a:t>
            </a:r>
            <a:endParaRPr lang="en-US" altLang="zh-CN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  <a:p>
            <a:pPr>
              <a:lnSpc>
                <a:spcPct val="160000"/>
              </a:lnSpc>
            </a:pPr>
            <a:r>
              <a: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rPr>
              <a:t>如何选择最佳阈值？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AEA54C4-3EE8-4EE1-83FA-5022529369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76" y="4435967"/>
            <a:ext cx="1800000" cy="1800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E91C169-E789-49FB-88BD-B2999C608F9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1024"/>
          <a:stretch/>
        </p:blipFill>
        <p:spPr>
          <a:xfrm>
            <a:off x="2095176" y="4435967"/>
            <a:ext cx="1979317" cy="1800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6B07442-EF97-4D49-9812-1756C0C1D6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286" y="4435967"/>
            <a:ext cx="1800000" cy="1800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14E5054-0C5E-46F3-B1B0-963798689A4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0775"/>
          <a:stretch/>
        </p:blipFill>
        <p:spPr>
          <a:xfrm>
            <a:off x="6009776" y="4435967"/>
            <a:ext cx="1973779" cy="1800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6221798-59F1-4908-BDC2-CA2E2E26D45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0975"/>
          <a:stretch/>
        </p:blipFill>
        <p:spPr>
          <a:xfrm>
            <a:off x="9916349" y="4435967"/>
            <a:ext cx="1978213" cy="1800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88E1FD9-A1E4-4D30-88E7-5F046D2623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349" y="4435967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6134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>
            <a:extLst>
              <a:ext uri="{FF2B5EF4-FFF2-40B4-BE49-F238E27FC236}">
                <a16:creationId xmlns:a16="http://schemas.microsoft.com/office/drawing/2014/main" id="{7866AA4E-DEE7-494D-B3FC-339EDB061EDC}"/>
              </a:ext>
            </a:extLst>
          </p:cNvPr>
          <p:cNvGrpSpPr/>
          <p:nvPr/>
        </p:nvGrpSpPr>
        <p:grpSpPr>
          <a:xfrm>
            <a:off x="813278" y="831637"/>
            <a:ext cx="9481790" cy="5348713"/>
            <a:chOff x="813278" y="831637"/>
            <a:chExt cx="9481790" cy="5348713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979B5963-E5CA-4F9A-B311-A6D66F22AF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474" r="65498" b="73367"/>
            <a:stretch/>
          </p:blipFill>
          <p:spPr>
            <a:xfrm>
              <a:off x="813278" y="998000"/>
              <a:ext cx="4140000" cy="1833114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E6C83F06-7F4B-46D3-B522-0FB379B8A7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84935"/>
            <a:stretch/>
          </p:blipFill>
          <p:spPr>
            <a:xfrm>
              <a:off x="4780442" y="831637"/>
              <a:ext cx="1475130" cy="880396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BDD2F191-11EB-44F8-B5BB-9E724F62CE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41675" t="9700" r="44601" b="66679"/>
            <a:stretch/>
          </p:blipFill>
          <p:spPr>
            <a:xfrm>
              <a:off x="5054064" y="1413803"/>
              <a:ext cx="1050255" cy="1277495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3C5DFF23-C303-4EA0-A94A-835871090E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41675" t="35044" r="44601" b="43701"/>
            <a:stretch/>
          </p:blipFill>
          <p:spPr>
            <a:xfrm>
              <a:off x="5054064" y="2691700"/>
              <a:ext cx="1050255" cy="1149531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82E90660-D3E3-42A9-9D50-67F9839DDF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41675" t="57538" r="44601" b="23573"/>
            <a:stretch/>
          </p:blipFill>
          <p:spPr>
            <a:xfrm>
              <a:off x="5054064" y="4003578"/>
              <a:ext cx="1050255" cy="1021569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0D54795D-9C39-45DA-9DCE-31F70EFA48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41675" t="77754" r="44601" b="3357"/>
            <a:stretch/>
          </p:blipFill>
          <p:spPr>
            <a:xfrm>
              <a:off x="5054064" y="5067025"/>
              <a:ext cx="1050255" cy="1021569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DD87F2F9-5F5E-420B-91E4-A75D90AD58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64563" r="65498" b="18519"/>
            <a:stretch/>
          </p:blipFill>
          <p:spPr>
            <a:xfrm>
              <a:off x="813278" y="3792477"/>
              <a:ext cx="4140000" cy="1232670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EF35C18B-D0DE-46CD-8F33-8930233BD29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40812" r="65498" b="44339"/>
            <a:stretch/>
          </p:blipFill>
          <p:spPr>
            <a:xfrm>
              <a:off x="813278" y="2691298"/>
              <a:ext cx="4140000" cy="1081925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280806D1-FD40-41A8-AE23-8BD2263CBC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81181" r="65498" b="2280"/>
            <a:stretch/>
          </p:blipFill>
          <p:spPr>
            <a:xfrm>
              <a:off x="813278" y="4975271"/>
              <a:ext cx="4140000" cy="1205079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D2479F5D-EFD2-432F-9EED-9847822201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8145" r="591"/>
            <a:stretch/>
          </p:blipFill>
          <p:spPr>
            <a:xfrm>
              <a:off x="6254424" y="831637"/>
              <a:ext cx="4040644" cy="880396"/>
            </a:xfrm>
            <a:prstGeom prst="rect">
              <a:avLst/>
            </a:prstGeom>
          </p:spPr>
        </p:pic>
      </p:grpSp>
      <p:graphicFrame>
        <p:nvGraphicFramePr>
          <p:cNvPr id="15" name="表格 15">
            <a:extLst>
              <a:ext uri="{FF2B5EF4-FFF2-40B4-BE49-F238E27FC236}">
                <a16:creationId xmlns:a16="http://schemas.microsoft.com/office/drawing/2014/main" id="{C6F206BD-74F3-4BF8-8E33-C16166F9D4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013047"/>
              </p:ext>
            </p:extLst>
          </p:nvPr>
        </p:nvGraphicFramePr>
        <p:xfrm>
          <a:off x="935914" y="1581374"/>
          <a:ext cx="9321502" cy="4575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1832">
                  <a:extLst>
                    <a:ext uri="{9D8B030D-6E8A-4147-A177-3AD203B41FA5}">
                      <a16:colId xmlns:a16="http://schemas.microsoft.com/office/drawing/2014/main" val="2309498940"/>
                    </a:ext>
                  </a:extLst>
                </a:gridCol>
                <a:gridCol w="2108500">
                  <a:extLst>
                    <a:ext uri="{9D8B030D-6E8A-4147-A177-3AD203B41FA5}">
                      <a16:colId xmlns:a16="http://schemas.microsoft.com/office/drawing/2014/main" val="390986695"/>
                    </a:ext>
                  </a:extLst>
                </a:gridCol>
                <a:gridCol w="1436146">
                  <a:extLst>
                    <a:ext uri="{9D8B030D-6E8A-4147-A177-3AD203B41FA5}">
                      <a16:colId xmlns:a16="http://schemas.microsoft.com/office/drawing/2014/main" val="1277555231"/>
                    </a:ext>
                  </a:extLst>
                </a:gridCol>
                <a:gridCol w="3905024">
                  <a:extLst>
                    <a:ext uri="{9D8B030D-6E8A-4147-A177-3AD203B41FA5}">
                      <a16:colId xmlns:a16="http://schemas.microsoft.com/office/drawing/2014/main" val="2078385495"/>
                    </a:ext>
                  </a:extLst>
                </a:gridCol>
              </a:tblGrid>
              <a:tr h="1183341">
                <a:tc>
                  <a:txBody>
                    <a:bodyPr/>
                    <a:lstStyle/>
                    <a:p>
                      <a:endParaRPr lang="zh-CN" altLang="en-US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i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交比（长度比的比值）、共线关系。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104325"/>
                  </a:ext>
                </a:extLst>
              </a:tr>
              <a:tr h="1145690">
                <a:tc>
                  <a:txBody>
                    <a:bodyPr/>
                    <a:lstStyle/>
                    <a:p>
                      <a:endParaRPr lang="zh-CN" altLang="en-US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2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简单比、面积（体积）比、平行关系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3500740"/>
                  </a:ext>
                </a:extLst>
              </a:tr>
              <a:tr h="1118795">
                <a:tc>
                  <a:txBody>
                    <a:bodyPr/>
                    <a:lstStyle/>
                    <a:p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30000"/>
                        </a:lnSpc>
                      </a:pPr>
                      <a:r>
                        <a:rPr lang="zh-CN" altLang="en-US" sz="1200" b="1" i="0" kern="1200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相似比、角度、面积（体积）比。</a:t>
                      </a:r>
                      <a:endParaRPr lang="zh-CN" altLang="en-US" sz="1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09013"/>
                  </a:ext>
                </a:extLst>
              </a:tr>
              <a:tr h="1127760">
                <a:tc>
                  <a:txBody>
                    <a:bodyPr/>
                    <a:lstStyle/>
                    <a:p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长度、角度、面积（体积）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2739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964998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92281" y="1395538"/>
            <a:ext cx="3607647" cy="233243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5613" marR="6773" lvl="1" indent="-455613">
              <a:lnSpc>
                <a:spcPct val="128000"/>
              </a:lnSpc>
              <a:spcBef>
                <a:spcPts val="58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欧式变换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5613" marR="6773" lvl="1" indent="-455613">
              <a:lnSpc>
                <a:spcPct val="128000"/>
              </a:lnSpc>
              <a:spcBef>
                <a:spcPts val="58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相似变换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5613" marR="6773" lvl="1" indent="-455613">
              <a:lnSpc>
                <a:spcPct val="128000"/>
              </a:lnSpc>
              <a:spcBef>
                <a:spcPts val="58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仿射变换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5613" marR="6773" lvl="1" indent="-455613">
              <a:lnSpc>
                <a:spcPct val="128000"/>
              </a:lnSpc>
              <a:spcBef>
                <a:spcPts val="58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射影变换</a:t>
            </a:r>
            <a:endParaRPr lang="en-US" altLang="zh-CN" sz="2000" dirty="0">
              <a:solidFill>
                <a:srgbClr val="0000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5613" marR="6773" lvl="1" indent="-455613">
              <a:lnSpc>
                <a:spcPct val="128000"/>
              </a:lnSpc>
              <a:spcBef>
                <a:spcPts val="580"/>
              </a:spcBef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弹性变换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非刚体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A034EEB-1D08-48A1-8EA5-93F15B689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370" y="1395538"/>
            <a:ext cx="8202341" cy="4628229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77C49F1D-C20C-4D49-A1CF-9A4F67C7A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52" y="3791607"/>
            <a:ext cx="3000375" cy="274320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98E353EB-C82B-44E9-B7E6-3D7DDEC33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420" y="3455504"/>
            <a:ext cx="1012606" cy="499597"/>
          </a:xfrm>
          <a:prstGeom prst="rect">
            <a:avLst/>
          </a:prstGeom>
        </p:spPr>
      </p:pic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E9E6EF19-2A0D-4B41-9987-721C5A8F3A4D}"/>
              </a:ext>
            </a:extLst>
          </p:cNvPr>
          <p:cNvCxnSpPr>
            <a:cxnSpLocks/>
          </p:cNvCxnSpPr>
          <p:nvPr/>
        </p:nvCxnSpPr>
        <p:spPr>
          <a:xfrm>
            <a:off x="8744607" y="3316014"/>
            <a:ext cx="126124" cy="210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DC6F874C-2B28-4B84-8AD9-02FF4E8B3787}"/>
              </a:ext>
            </a:extLst>
          </p:cNvPr>
          <p:cNvSpPr txBox="1"/>
          <p:nvPr/>
        </p:nvSpPr>
        <p:spPr>
          <a:xfrm>
            <a:off x="246505" y="96262"/>
            <a:ext cx="45683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3200" b="1" dirty="0">
                <a:solidFill>
                  <a:srgbClr val="0C43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图像几何运算</a:t>
            </a:r>
          </a:p>
        </p:txBody>
      </p:sp>
    </p:spTree>
    <p:extLst>
      <p:ext uri="{BB962C8B-B14F-4D97-AF65-F5344CB8AC3E}">
        <p14:creationId xmlns:p14="http://schemas.microsoft.com/office/powerpoint/2010/main" val="3471725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24E36D71-4DCD-4848-AA96-44F7BAD44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0275" y="76200"/>
            <a:ext cx="8153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Calibri" panose="020F050202020403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altLang="zh-CN" sz="3000" kern="0" dirty="0">
                <a:ea typeface="楷体" panose="02010609060101010101" pitchFamily="49" charset="-122"/>
                <a:cs typeface="Calibri" panose="020F0502020204030204" pitchFamily="34" charset="0"/>
              </a:rPr>
              <a:t>Group and geometry</a:t>
            </a:r>
            <a:endParaRPr lang="zh-CN" altLang="en-US" sz="3000" kern="0" dirty="0"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2" name="文本框 1">
            <a:extLst>
              <a:ext uri="{FF2B5EF4-FFF2-40B4-BE49-F238E27FC236}">
                <a16:creationId xmlns:a16="http://schemas.microsoft.com/office/drawing/2014/main" id="{A216F47A-817F-4A94-BBBF-43337E8ADCA8}"/>
              </a:ext>
            </a:extLst>
          </p:cNvPr>
          <p:cNvSpPr txBox="1"/>
          <p:nvPr/>
        </p:nvSpPr>
        <p:spPr>
          <a:xfrm>
            <a:off x="843919" y="1027735"/>
            <a:ext cx="10557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zh-CN" dirty="0"/>
              <a:t>For the similarity transformation group, the basic invariant is the </a:t>
            </a:r>
            <a:r>
              <a:rPr lang="en-US" altLang="zh-CN" b="1" dirty="0">
                <a:solidFill>
                  <a:srgbClr val="C00000"/>
                </a:solidFill>
              </a:rPr>
              <a:t>similarity ratio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9C7DB105-466B-4411-B248-48C124F4189E}"/>
              </a:ext>
            </a:extLst>
          </p:cNvPr>
          <p:cNvSpPr txBox="1"/>
          <p:nvPr/>
        </p:nvSpPr>
        <p:spPr>
          <a:xfrm>
            <a:off x="810967" y="2926554"/>
            <a:ext cx="105908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 algn="just"/>
            <a:r>
              <a:rPr lang="en-US" altLang="zh-CN" dirty="0"/>
              <a:t>Before the transformation, there are four points </a:t>
            </a:r>
            <a:r>
              <a:rPr lang="en-US" altLang="zh-CN" b="1" i="1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b="1" i="1" dirty="0"/>
              <a:t>x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b="1" i="1" dirty="0"/>
              <a:t>x</a:t>
            </a:r>
            <a:r>
              <a:rPr lang="en-US" altLang="zh-CN" baseline="-25000" dirty="0"/>
              <a:t>3</a:t>
            </a:r>
            <a:r>
              <a:rPr lang="en-US" altLang="zh-CN" dirty="0"/>
              <a:t> and </a:t>
            </a:r>
            <a:r>
              <a:rPr lang="en-US" altLang="zh-CN" b="1" i="1" dirty="0"/>
              <a:t>x</a:t>
            </a:r>
            <a:r>
              <a:rPr lang="en-US" altLang="zh-CN" baseline="-25000" dirty="0"/>
              <a:t>4</a:t>
            </a:r>
            <a:r>
              <a:rPr lang="en-US" altLang="zh-CN" dirty="0"/>
              <a:t>; after the transformation, they are mapped as    ,     ,    , and</a:t>
            </a:r>
          </a:p>
          <a:p>
            <a:pPr algn="just"/>
            <a:r>
              <a:rPr lang="en-US" altLang="zh-CN" dirty="0"/>
              <a:t>If the transformation is a similarity transformation, then the similarity ratio is preserved, i.e., </a:t>
            </a:r>
            <a:endParaRPr lang="zh-CN" altLang="en-US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88E63AC-2AB3-4C3B-987E-A45B1E6468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23862" y="3331262"/>
          <a:ext cx="265112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6" name="Equation" r:id="rId3" imgW="164880" imgH="241200" progId="Equation.DSMT4">
                  <p:embed/>
                </p:oleObj>
              </mc:Choice>
              <mc:Fallback>
                <p:oleObj name="Equation" r:id="rId3" imgW="164880" imgH="2412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188E63AC-2AB3-4C3B-987E-A45B1E6468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3862" y="3331262"/>
                        <a:ext cx="265112" cy="4238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CDDA747-2E1A-473C-B9F5-33444CDE24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27216" y="3342758"/>
          <a:ext cx="306388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7" name="Equation" r:id="rId5" imgW="190440" imgH="241200" progId="Equation.DSMT4">
                  <p:embed/>
                </p:oleObj>
              </mc:Choice>
              <mc:Fallback>
                <p:oleObj name="Equation" r:id="rId5" imgW="190440" imgH="2412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CCDDA747-2E1A-473C-B9F5-33444CDE24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7216" y="3342758"/>
                        <a:ext cx="306388" cy="4238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F0F26D5-AF90-46CF-9764-C9BDCAC0CD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9411" y="3346018"/>
          <a:ext cx="285750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8" name="Equation" r:id="rId7" imgW="177480" imgH="241200" progId="Equation.DSMT4">
                  <p:embed/>
                </p:oleObj>
              </mc:Choice>
              <mc:Fallback>
                <p:oleObj name="Equation" r:id="rId7" imgW="177480" imgH="2412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BF0F26D5-AF90-46CF-9764-C9BDCAC0CD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9411" y="3346018"/>
                        <a:ext cx="285750" cy="4238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A81DD38-1833-4A84-BA0F-263DC6BA1B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33601" y="3330058"/>
          <a:ext cx="306388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9" name="Equation" r:id="rId9" imgW="190440" imgH="241200" progId="Equation.DSMT4">
                  <p:embed/>
                </p:oleObj>
              </mc:Choice>
              <mc:Fallback>
                <p:oleObj name="Equation" r:id="rId9" imgW="190440" imgH="2412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8A81DD38-1833-4A84-BA0F-263DC6BA1B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3601" y="3330058"/>
                        <a:ext cx="306388" cy="4238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A02DAED-34D7-4232-A11F-56114AD97A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4358" y="4273689"/>
          <a:ext cx="1743169" cy="963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60" name="Equation" r:id="rId11" imgW="1002865" imgH="507780" progId="Equation.DSMT4">
                  <p:embed/>
                </p:oleObj>
              </mc:Choice>
              <mc:Fallback>
                <p:oleObj name="Equation" r:id="rId11" imgW="1002865" imgH="5077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6A02DAED-34D7-4232-A11F-56114AD97A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4358" y="4273689"/>
                        <a:ext cx="1743169" cy="9630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EE119B97-3EAC-45F5-9108-1CD31785E320}"/>
              </a:ext>
            </a:extLst>
          </p:cNvPr>
          <p:cNvSpPr/>
          <p:nvPr/>
        </p:nvSpPr>
        <p:spPr bwMode="auto">
          <a:xfrm>
            <a:off x="676656" y="1550932"/>
            <a:ext cx="10552176" cy="1336640"/>
          </a:xfrm>
          <a:prstGeom prst="rect">
            <a:avLst/>
          </a:prstGeom>
          <a:noFill/>
          <a:ln w="9525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689353E-2B84-4CDC-B27D-6C79F158F5BF}"/>
              </a:ext>
            </a:extLst>
          </p:cNvPr>
          <p:cNvSpPr txBox="1"/>
          <p:nvPr/>
        </p:nvSpPr>
        <p:spPr>
          <a:xfrm>
            <a:off x="804672" y="1571523"/>
            <a:ext cx="35301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Definition</a:t>
            </a:r>
            <a:r>
              <a:rPr lang="en-US" altLang="zh-CN" dirty="0"/>
              <a:t>: Similarity ratio</a:t>
            </a:r>
            <a:endParaRPr lang="zh-CN" altLang="en-US" dirty="0"/>
          </a:p>
        </p:txBody>
      </p:sp>
      <p:sp>
        <p:nvSpPr>
          <p:cNvPr id="15" name="文本框 1">
            <a:extLst>
              <a:ext uri="{FF2B5EF4-FFF2-40B4-BE49-F238E27FC236}">
                <a16:creationId xmlns:a16="http://schemas.microsoft.com/office/drawing/2014/main" id="{2989BFE9-A82D-4A88-9DF6-4721AD742408}"/>
              </a:ext>
            </a:extLst>
          </p:cNvPr>
          <p:cNvSpPr txBox="1"/>
          <p:nvPr/>
        </p:nvSpPr>
        <p:spPr>
          <a:xfrm>
            <a:off x="843919" y="1959056"/>
            <a:ext cx="10248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zh-CN" dirty="0"/>
              <a:t>Consider four points </a:t>
            </a:r>
            <a:r>
              <a:rPr lang="en-US" altLang="zh-CN" b="1" i="1" dirty="0"/>
              <a:t>x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b="1" i="1" dirty="0"/>
              <a:t>x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b="1" i="1" dirty="0"/>
              <a:t>x</a:t>
            </a:r>
            <a:r>
              <a:rPr lang="en-US" altLang="zh-CN" baseline="-25000" dirty="0"/>
              <a:t>3</a:t>
            </a:r>
            <a:r>
              <a:rPr lang="en-US" altLang="zh-CN" dirty="0"/>
              <a:t> and </a:t>
            </a:r>
            <a:r>
              <a:rPr lang="en-US" altLang="zh-CN" b="1" i="1" dirty="0"/>
              <a:t>x</a:t>
            </a:r>
            <a:r>
              <a:rPr lang="en-US" altLang="zh-CN" baseline="-25000" dirty="0"/>
              <a:t>4</a:t>
            </a:r>
            <a:r>
              <a:rPr lang="en-US" altLang="zh-CN" dirty="0"/>
              <a:t>, the similarity ratio is</a:t>
            </a:r>
            <a:endParaRPr lang="zh-CN" altLang="en-US" dirty="0"/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F8EC9678-247C-4E98-8A65-FD56F163BB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16595" y="1794553"/>
          <a:ext cx="771525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61" name="Equation" r:id="rId13" imgW="444240" imgH="469800" progId="Equation.DSMT4">
                  <p:embed/>
                </p:oleObj>
              </mc:Choice>
              <mc:Fallback>
                <p:oleObj name="Equation" r:id="rId13" imgW="444240" imgH="4698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F8EC9678-247C-4E98-8A65-FD56F163BB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16595" y="1794553"/>
                        <a:ext cx="771525" cy="8905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62449193"/>
      </p:ext>
    </p:extLst>
  </p:cSld>
  <p:clrMapOvr>
    <a:masterClrMapping/>
  </p:clrMapOvr>
  <p:transition advTm="12526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24E36D71-4DCD-4848-AA96-44F7BAD44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0275" y="76200"/>
            <a:ext cx="8153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Calibri" panose="020F050202020403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altLang="zh-CN" sz="3000" kern="0" dirty="0">
                <a:ea typeface="楷体" panose="02010609060101010101" pitchFamily="49" charset="-122"/>
                <a:cs typeface="Calibri" panose="020F0502020204030204" pitchFamily="34" charset="0"/>
              </a:rPr>
              <a:t>Group and geometry</a:t>
            </a:r>
            <a:endParaRPr lang="zh-CN" altLang="en-US" sz="3000" kern="0" dirty="0"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2" name="文本框 1">
            <a:extLst>
              <a:ext uri="{FF2B5EF4-FFF2-40B4-BE49-F238E27FC236}">
                <a16:creationId xmlns:a16="http://schemas.microsoft.com/office/drawing/2014/main" id="{A216F47A-817F-4A94-BBBF-43337E8ADCA8}"/>
              </a:ext>
            </a:extLst>
          </p:cNvPr>
          <p:cNvSpPr txBox="1"/>
          <p:nvPr/>
        </p:nvSpPr>
        <p:spPr>
          <a:xfrm>
            <a:off x="843919" y="1027735"/>
            <a:ext cx="10557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zh-CN" dirty="0"/>
              <a:t>For the affine transformation group, the basic invariant is the </a:t>
            </a:r>
            <a:r>
              <a:rPr lang="en-US" altLang="zh-CN" b="1" dirty="0">
                <a:solidFill>
                  <a:srgbClr val="C00000"/>
                </a:solidFill>
              </a:rPr>
              <a:t>simple ratio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F27DA67-26A3-425B-AAEC-6B0998945F8A}"/>
              </a:ext>
            </a:extLst>
          </p:cNvPr>
          <p:cNvSpPr/>
          <p:nvPr/>
        </p:nvSpPr>
        <p:spPr bwMode="auto">
          <a:xfrm>
            <a:off x="676656" y="1550931"/>
            <a:ext cx="10552176" cy="2347117"/>
          </a:xfrm>
          <a:prstGeom prst="rect">
            <a:avLst/>
          </a:prstGeom>
          <a:noFill/>
          <a:ln w="9525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E00E663-7CDE-4D61-9D02-2DB08E9DBC4F}"/>
              </a:ext>
            </a:extLst>
          </p:cNvPr>
          <p:cNvSpPr txBox="1"/>
          <p:nvPr/>
        </p:nvSpPr>
        <p:spPr>
          <a:xfrm>
            <a:off x="804672" y="1571523"/>
            <a:ext cx="3172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Definition</a:t>
            </a:r>
            <a:r>
              <a:rPr lang="en-US" altLang="zh-CN" dirty="0"/>
              <a:t>: Simple ratio</a:t>
            </a:r>
            <a:endParaRPr lang="zh-CN" altLang="en-US" dirty="0"/>
          </a:p>
        </p:txBody>
      </p:sp>
      <p:sp>
        <p:nvSpPr>
          <p:cNvPr id="15" name="文本框 1">
            <a:extLst>
              <a:ext uri="{FF2B5EF4-FFF2-40B4-BE49-F238E27FC236}">
                <a16:creationId xmlns:a16="http://schemas.microsoft.com/office/drawing/2014/main" id="{2C8F3B44-5E44-43B3-AA3C-D9085D7EA76C}"/>
              </a:ext>
            </a:extLst>
          </p:cNvPr>
          <p:cNvSpPr txBox="1"/>
          <p:nvPr/>
        </p:nvSpPr>
        <p:spPr>
          <a:xfrm>
            <a:off x="843919" y="1959056"/>
            <a:ext cx="102483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zh-CN" dirty="0"/>
              <a:t>Given three collinear points </a:t>
            </a:r>
            <a:r>
              <a:rPr lang="en-US" altLang="zh-CN" b="1" i="1" dirty="0"/>
              <a:t>a</a:t>
            </a:r>
            <a:r>
              <a:rPr lang="en-US" altLang="zh-CN" dirty="0"/>
              <a:t>, </a:t>
            </a:r>
            <a:r>
              <a:rPr lang="en-US" altLang="zh-CN" b="1" i="1" dirty="0"/>
              <a:t>b</a:t>
            </a:r>
            <a:r>
              <a:rPr lang="en-US" altLang="zh-CN" dirty="0"/>
              <a:t>, and </a:t>
            </a:r>
            <a:r>
              <a:rPr lang="en-US" altLang="zh-CN" b="1" i="1" dirty="0"/>
              <a:t>c</a:t>
            </a:r>
            <a:r>
              <a:rPr lang="en-US" altLang="zh-CN" dirty="0"/>
              <a:t>, the simple ratio (</a:t>
            </a:r>
            <a:r>
              <a:rPr lang="en-US" altLang="zh-CN" b="1" i="1" dirty="0"/>
              <a:t>a</a:t>
            </a:r>
            <a:r>
              <a:rPr lang="en-US" altLang="zh-CN" dirty="0"/>
              <a:t>, </a:t>
            </a:r>
            <a:r>
              <a:rPr lang="en-US" altLang="zh-CN" b="1" i="1" dirty="0"/>
              <a:t>b</a:t>
            </a:r>
            <a:r>
              <a:rPr lang="en-US" altLang="zh-CN" dirty="0"/>
              <a:t>, </a:t>
            </a:r>
            <a:r>
              <a:rPr lang="en-US" altLang="zh-CN" b="1" i="1" dirty="0"/>
              <a:t>c</a:t>
            </a:r>
            <a:r>
              <a:rPr lang="en-US" altLang="zh-CN" dirty="0"/>
              <a:t>) is defined as:</a:t>
            </a:r>
          </a:p>
          <a:p>
            <a:endParaRPr lang="en-US" altLang="zh-CN" dirty="0"/>
          </a:p>
          <a:p>
            <a:endParaRPr lang="en-US" altLang="zh-CN" dirty="0"/>
          </a:p>
          <a:p>
            <a:pPr algn="just"/>
            <a:r>
              <a:rPr lang="en-US" altLang="zh-CN" dirty="0"/>
              <a:t>where </a:t>
            </a:r>
            <a:r>
              <a:rPr lang="en-US" altLang="zh-CN" b="1" i="1" dirty="0"/>
              <a:t>ac</a:t>
            </a:r>
            <a:r>
              <a:rPr lang="en-US" altLang="zh-CN" dirty="0"/>
              <a:t> is the signed distance from </a:t>
            </a:r>
            <a:r>
              <a:rPr lang="en-US" altLang="zh-CN" b="1" i="1" dirty="0"/>
              <a:t>a</a:t>
            </a:r>
            <a:r>
              <a:rPr lang="en-US" altLang="zh-CN" dirty="0"/>
              <a:t> to </a:t>
            </a:r>
            <a:r>
              <a:rPr lang="en-US" altLang="zh-CN" b="1" i="1" dirty="0"/>
              <a:t>c</a:t>
            </a:r>
            <a:r>
              <a:rPr lang="en-US" altLang="zh-CN" dirty="0"/>
              <a:t>, and </a:t>
            </a:r>
            <a:r>
              <a:rPr lang="en-US" altLang="zh-CN" b="1" i="1" dirty="0" err="1"/>
              <a:t>cb</a:t>
            </a:r>
            <a:r>
              <a:rPr lang="en-US" altLang="zh-CN" dirty="0"/>
              <a:t> is the signed distance from </a:t>
            </a:r>
            <a:r>
              <a:rPr lang="en-US" altLang="zh-CN" b="1" i="1" dirty="0"/>
              <a:t>c</a:t>
            </a:r>
            <a:r>
              <a:rPr lang="en-US" altLang="zh-CN" dirty="0"/>
              <a:t> to </a:t>
            </a:r>
            <a:r>
              <a:rPr lang="en-US" altLang="zh-CN" b="1" i="1" dirty="0"/>
              <a:t>b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9CC08F7D-613E-48D7-9429-106424B7D8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65779" y="2404286"/>
          <a:ext cx="1435100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2" name="Equation" r:id="rId3" imgW="825480" imgH="393480" progId="Equation.DSMT4">
                  <p:embed/>
                </p:oleObj>
              </mc:Choice>
              <mc:Fallback>
                <p:oleObj name="Equation" r:id="rId3" imgW="825480" imgH="39348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9CC08F7D-613E-48D7-9429-106424B7D8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5779" y="2404286"/>
                        <a:ext cx="1435100" cy="7461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CB285E4-F2EB-4FC6-B360-E8E1619E4926}"/>
              </a:ext>
            </a:extLst>
          </p:cNvPr>
          <p:cNvCxnSpPr/>
          <p:nvPr/>
        </p:nvCxnSpPr>
        <p:spPr bwMode="auto">
          <a:xfrm flipV="1">
            <a:off x="6096000" y="4268614"/>
            <a:ext cx="3386025" cy="917106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椭圆 20">
            <a:extLst>
              <a:ext uri="{FF2B5EF4-FFF2-40B4-BE49-F238E27FC236}">
                <a16:creationId xmlns:a16="http://schemas.microsoft.com/office/drawing/2014/main" id="{D32510CC-2A83-48DD-9427-1E092274FF18}"/>
              </a:ext>
            </a:extLst>
          </p:cNvPr>
          <p:cNvSpPr/>
          <p:nvPr/>
        </p:nvSpPr>
        <p:spPr bwMode="auto">
          <a:xfrm>
            <a:off x="6621816" y="4975029"/>
            <a:ext cx="108000" cy="108000"/>
          </a:xfrm>
          <a:prstGeom prst="ellipse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9AB65810-2C3E-4684-896C-8727B95C3802}"/>
              </a:ext>
            </a:extLst>
          </p:cNvPr>
          <p:cNvSpPr/>
          <p:nvPr/>
        </p:nvSpPr>
        <p:spPr bwMode="auto">
          <a:xfrm>
            <a:off x="7155581" y="4832738"/>
            <a:ext cx="108000" cy="108000"/>
          </a:xfrm>
          <a:prstGeom prst="ellipse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9CBB5626-106D-4E24-8856-726E1800C1BC}"/>
              </a:ext>
            </a:extLst>
          </p:cNvPr>
          <p:cNvSpPr/>
          <p:nvPr/>
        </p:nvSpPr>
        <p:spPr bwMode="auto">
          <a:xfrm>
            <a:off x="8300382" y="4525768"/>
            <a:ext cx="108000" cy="108000"/>
          </a:xfrm>
          <a:prstGeom prst="ellipse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C8788B3-3E41-4ACB-B144-9F09A80DDEDA}"/>
              </a:ext>
            </a:extLst>
          </p:cNvPr>
          <p:cNvSpPr txBox="1"/>
          <p:nvPr/>
        </p:nvSpPr>
        <p:spPr>
          <a:xfrm>
            <a:off x="6418877" y="4567364"/>
            <a:ext cx="3109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dirty="0"/>
              <a:t>a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ED6389E-3EC0-48AF-8D38-5D0AA511C6C9}"/>
              </a:ext>
            </a:extLst>
          </p:cNvPr>
          <p:cNvSpPr txBox="1"/>
          <p:nvPr/>
        </p:nvSpPr>
        <p:spPr>
          <a:xfrm>
            <a:off x="7000111" y="4421700"/>
            <a:ext cx="3109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dirty="0"/>
              <a:t>b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5CC3F7E-2D55-4D19-8382-6CF1797AAD43}"/>
              </a:ext>
            </a:extLst>
          </p:cNvPr>
          <p:cNvSpPr txBox="1"/>
          <p:nvPr/>
        </p:nvSpPr>
        <p:spPr>
          <a:xfrm>
            <a:off x="8144912" y="4155188"/>
            <a:ext cx="3109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dirty="0"/>
              <a:t>c</a:t>
            </a:r>
            <a:endParaRPr lang="zh-CN" altLang="en-US" dirty="0"/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7EC5BFC7-5C30-42BC-A203-B4C07C2F11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82025" y="3968247"/>
          <a:ext cx="19843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3" name="Equation" r:id="rId5" imgW="114120" imgH="215640" progId="Equation.DSMT4">
                  <p:embed/>
                </p:oleObj>
              </mc:Choice>
              <mc:Fallback>
                <p:oleObj name="Equation" r:id="rId5" imgW="114120" imgH="21564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7EC5BFC7-5C30-42BC-A203-B4C07C2F11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82025" y="3968247"/>
                        <a:ext cx="198437" cy="4095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0834748"/>
      </p:ext>
    </p:extLst>
  </p:cSld>
  <p:clrMapOvr>
    <a:masterClrMapping/>
  </p:clrMapOvr>
  <p:transition advTm="12526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24E36D71-4DCD-4848-AA96-44F7BAD44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0275" y="76200"/>
            <a:ext cx="8153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Calibri" panose="020F050202020403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altLang="zh-CN" sz="3000" kern="0" dirty="0">
                <a:ea typeface="楷体" panose="02010609060101010101" pitchFamily="49" charset="-122"/>
                <a:cs typeface="Calibri" panose="020F0502020204030204" pitchFamily="34" charset="0"/>
              </a:rPr>
              <a:t>Group and geometry</a:t>
            </a:r>
            <a:endParaRPr lang="zh-CN" altLang="en-US" sz="3000" kern="0" dirty="0"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2" name="文本框 1">
            <a:extLst>
              <a:ext uri="{FF2B5EF4-FFF2-40B4-BE49-F238E27FC236}">
                <a16:creationId xmlns:a16="http://schemas.microsoft.com/office/drawing/2014/main" id="{A216F47A-817F-4A94-BBBF-43337E8ADCA8}"/>
              </a:ext>
            </a:extLst>
          </p:cNvPr>
          <p:cNvSpPr txBox="1"/>
          <p:nvPr/>
        </p:nvSpPr>
        <p:spPr>
          <a:xfrm>
            <a:off x="843919" y="1027735"/>
            <a:ext cx="10557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zh-CN" dirty="0"/>
              <a:t>For the affine transformation group, the basic invariant is the </a:t>
            </a:r>
            <a:r>
              <a:rPr lang="en-US" altLang="zh-CN" b="1" dirty="0">
                <a:solidFill>
                  <a:srgbClr val="C00000"/>
                </a:solidFill>
              </a:rPr>
              <a:t>simple ratio</a:t>
            </a:r>
            <a:r>
              <a:rPr lang="en-US" altLang="zh-CN" dirty="0"/>
              <a:t> </a:t>
            </a:r>
            <a:endParaRPr lang="zh-CN" altLang="en-US" dirty="0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CB285E4-F2EB-4FC6-B360-E8E1619E4926}"/>
              </a:ext>
            </a:extLst>
          </p:cNvPr>
          <p:cNvCxnSpPr/>
          <p:nvPr/>
        </p:nvCxnSpPr>
        <p:spPr bwMode="auto">
          <a:xfrm flipV="1">
            <a:off x="592321" y="2075803"/>
            <a:ext cx="3386025" cy="917106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stealth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椭圆 20">
            <a:extLst>
              <a:ext uri="{FF2B5EF4-FFF2-40B4-BE49-F238E27FC236}">
                <a16:creationId xmlns:a16="http://schemas.microsoft.com/office/drawing/2014/main" id="{D32510CC-2A83-48DD-9427-1E092274FF18}"/>
              </a:ext>
            </a:extLst>
          </p:cNvPr>
          <p:cNvSpPr/>
          <p:nvPr/>
        </p:nvSpPr>
        <p:spPr bwMode="auto">
          <a:xfrm>
            <a:off x="1118137" y="2782218"/>
            <a:ext cx="108000" cy="108000"/>
          </a:xfrm>
          <a:prstGeom prst="ellipse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9AB65810-2C3E-4684-896C-8727B95C3802}"/>
              </a:ext>
            </a:extLst>
          </p:cNvPr>
          <p:cNvSpPr/>
          <p:nvPr/>
        </p:nvSpPr>
        <p:spPr bwMode="auto">
          <a:xfrm>
            <a:off x="1651902" y="2639927"/>
            <a:ext cx="108000" cy="108000"/>
          </a:xfrm>
          <a:prstGeom prst="ellipse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9CBB5626-106D-4E24-8856-726E1800C1BC}"/>
              </a:ext>
            </a:extLst>
          </p:cNvPr>
          <p:cNvSpPr/>
          <p:nvPr/>
        </p:nvSpPr>
        <p:spPr bwMode="auto">
          <a:xfrm>
            <a:off x="2796703" y="2332957"/>
            <a:ext cx="108000" cy="108000"/>
          </a:xfrm>
          <a:prstGeom prst="ellipse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C8788B3-3E41-4ACB-B144-9F09A80DDEDA}"/>
              </a:ext>
            </a:extLst>
          </p:cNvPr>
          <p:cNvSpPr txBox="1"/>
          <p:nvPr/>
        </p:nvSpPr>
        <p:spPr>
          <a:xfrm>
            <a:off x="915198" y="2374553"/>
            <a:ext cx="3109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dirty="0"/>
              <a:t>a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ED6389E-3EC0-48AF-8D38-5D0AA511C6C9}"/>
              </a:ext>
            </a:extLst>
          </p:cNvPr>
          <p:cNvSpPr txBox="1"/>
          <p:nvPr/>
        </p:nvSpPr>
        <p:spPr>
          <a:xfrm>
            <a:off x="1496432" y="2228889"/>
            <a:ext cx="3109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dirty="0"/>
              <a:t>b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5CC3F7E-2D55-4D19-8382-6CF1797AAD43}"/>
              </a:ext>
            </a:extLst>
          </p:cNvPr>
          <p:cNvSpPr txBox="1"/>
          <p:nvPr/>
        </p:nvSpPr>
        <p:spPr>
          <a:xfrm>
            <a:off x="2641233" y="1962377"/>
            <a:ext cx="3109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dirty="0"/>
              <a:t>c</a:t>
            </a:r>
            <a:endParaRPr lang="zh-CN" altLang="en-US" dirty="0"/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7EC5BFC7-5C30-42BC-A203-B4C07C2F11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78346" y="1775436"/>
          <a:ext cx="19843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4" name="Equation" r:id="rId3" imgW="114120" imgH="215640" progId="Equation.DSMT4">
                  <p:embed/>
                </p:oleObj>
              </mc:Choice>
              <mc:Fallback>
                <p:oleObj name="Equation" r:id="rId3" imgW="114120" imgH="21564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7EC5BFC7-5C30-42BC-A203-B4C07C2F11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8346" y="1775436"/>
                        <a:ext cx="198437" cy="4095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632849C2-6571-4C19-B8C1-A46E355CE150}"/>
              </a:ext>
            </a:extLst>
          </p:cNvPr>
          <p:cNvGrpSpPr/>
          <p:nvPr/>
        </p:nvGrpSpPr>
        <p:grpSpPr>
          <a:xfrm>
            <a:off x="3811461" y="1930065"/>
            <a:ext cx="7510589" cy="2762585"/>
            <a:chOff x="3811461" y="1930065"/>
            <a:chExt cx="7510589" cy="2762585"/>
          </a:xfrm>
        </p:grpSpPr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6BE2E33A-6732-46C1-B41B-55E47213ADEE}"/>
                </a:ext>
              </a:extLst>
            </p:cNvPr>
            <p:cNvCxnSpPr/>
            <p:nvPr/>
          </p:nvCxnSpPr>
          <p:spPr bwMode="auto">
            <a:xfrm>
              <a:off x="6231788" y="1962377"/>
              <a:ext cx="4806017" cy="2501282"/>
            </a:xfrm>
            <a:prstGeom prst="straightConnector1">
              <a:avLst/>
            </a:prstGeom>
            <a:solidFill>
              <a:schemeClr val="accent1"/>
            </a:solidFill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F9D5733A-8C89-4FB0-8190-C0A0614131A0}"/>
                </a:ext>
              </a:extLst>
            </p:cNvPr>
            <p:cNvSpPr/>
            <p:nvPr/>
          </p:nvSpPr>
          <p:spPr bwMode="auto">
            <a:xfrm>
              <a:off x="6736960" y="2193209"/>
              <a:ext cx="108000" cy="108000"/>
            </a:xfrm>
            <a:prstGeom prst="ellipse">
              <a:avLst/>
            </a:prstGeom>
            <a:solidFill>
              <a:srgbClr val="C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D09ECD18-61DD-4ACE-8DB8-297BFC0299E0}"/>
                </a:ext>
              </a:extLst>
            </p:cNvPr>
            <p:cNvSpPr/>
            <p:nvPr/>
          </p:nvSpPr>
          <p:spPr bwMode="auto">
            <a:xfrm>
              <a:off x="7648029" y="2677552"/>
              <a:ext cx="108000" cy="108000"/>
            </a:xfrm>
            <a:prstGeom prst="ellipse">
              <a:avLst/>
            </a:prstGeom>
            <a:solidFill>
              <a:srgbClr val="C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EC62DF17-4EFF-4030-97F5-BC692E3D693F}"/>
                </a:ext>
              </a:extLst>
            </p:cNvPr>
            <p:cNvSpPr/>
            <p:nvPr/>
          </p:nvSpPr>
          <p:spPr bwMode="auto">
            <a:xfrm>
              <a:off x="9976412" y="3875368"/>
              <a:ext cx="108000" cy="108000"/>
            </a:xfrm>
            <a:prstGeom prst="ellipse">
              <a:avLst/>
            </a:prstGeom>
            <a:solidFill>
              <a:srgbClr val="C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E14B8CC6-3A4A-444D-B198-62B816F6D7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058525" y="4235450"/>
            <a:ext cx="263525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05" name="Equation" r:id="rId5" imgW="152280" imgH="241200" progId="Equation.DSMT4">
                    <p:embed/>
                  </p:oleObj>
                </mc:Choice>
                <mc:Fallback>
                  <p:oleObj name="Equation" r:id="rId5" imgW="152280" imgH="241200" progId="Equation.DSMT4">
                    <p:embed/>
                    <p:pic>
                      <p:nvPicPr>
                        <p:cNvPr id="32" name="对象 31">
                          <a:extLst>
                            <a:ext uri="{FF2B5EF4-FFF2-40B4-BE49-F238E27FC236}">
                              <a16:creationId xmlns:a16="http://schemas.microsoft.com/office/drawing/2014/main" id="{E14B8CC6-3A4A-444D-B198-62B816F6D7A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58525" y="4235450"/>
                          <a:ext cx="263525" cy="4572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对象 32">
              <a:extLst>
                <a:ext uri="{FF2B5EF4-FFF2-40B4-BE49-F238E27FC236}">
                  <a16:creationId xmlns:a16="http://schemas.microsoft.com/office/drawing/2014/main" id="{CC45F662-A85A-4DF6-896B-D008630AF83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849652" y="1930065"/>
            <a:ext cx="265112" cy="385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06" name="Equation" r:id="rId7" imgW="152280" imgH="203040" progId="Equation.DSMT4">
                    <p:embed/>
                  </p:oleObj>
                </mc:Choice>
                <mc:Fallback>
                  <p:oleObj name="Equation" r:id="rId7" imgW="152280" imgH="203040" progId="Equation.DSMT4">
                    <p:embed/>
                    <p:pic>
                      <p:nvPicPr>
                        <p:cNvPr id="33" name="对象 32">
                          <a:extLst>
                            <a:ext uri="{FF2B5EF4-FFF2-40B4-BE49-F238E27FC236}">
                              <a16:creationId xmlns:a16="http://schemas.microsoft.com/office/drawing/2014/main" id="{CC45F662-A85A-4DF6-896B-D008630AF83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49652" y="1930065"/>
                          <a:ext cx="265112" cy="38576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BC235A3A-EF8E-448D-BCE4-07A58AC731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754938" y="2386013"/>
            <a:ext cx="242887" cy="385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07" name="Equation" r:id="rId9" imgW="139680" imgH="203040" progId="Equation.DSMT4">
                    <p:embed/>
                  </p:oleObj>
                </mc:Choice>
                <mc:Fallback>
                  <p:oleObj name="Equation" r:id="rId9" imgW="139680" imgH="203040" progId="Equation.DSMT4">
                    <p:embed/>
                    <p:pic>
                      <p:nvPicPr>
                        <p:cNvPr id="34" name="对象 33">
                          <a:extLst>
                            <a:ext uri="{FF2B5EF4-FFF2-40B4-BE49-F238E27FC236}">
                              <a16:creationId xmlns:a16="http://schemas.microsoft.com/office/drawing/2014/main" id="{BC235A3A-EF8E-448D-BCE4-07A58AC7316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54938" y="2386013"/>
                          <a:ext cx="242887" cy="38576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对象 34">
              <a:extLst>
                <a:ext uri="{FF2B5EF4-FFF2-40B4-BE49-F238E27FC236}">
                  <a16:creationId xmlns:a16="http://schemas.microsoft.com/office/drawing/2014/main" id="{A3BCBC20-E7B9-4C5F-9A46-9B558B258A0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34746" y="3555008"/>
            <a:ext cx="242887" cy="385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08" name="Equation" r:id="rId11" imgW="139680" imgH="203040" progId="Equation.DSMT4">
                    <p:embed/>
                  </p:oleObj>
                </mc:Choice>
                <mc:Fallback>
                  <p:oleObj name="Equation" r:id="rId11" imgW="139680" imgH="203040" progId="Equation.DSMT4">
                    <p:embed/>
                    <p:pic>
                      <p:nvPicPr>
                        <p:cNvPr id="35" name="对象 34">
                          <a:extLst>
                            <a:ext uri="{FF2B5EF4-FFF2-40B4-BE49-F238E27FC236}">
                              <a16:creationId xmlns:a16="http://schemas.microsoft.com/office/drawing/2014/main" id="{A3BCBC20-E7B9-4C5F-9A46-9B558B258A0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34746" y="3555008"/>
                          <a:ext cx="242887" cy="38576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文本框 1">
              <a:extLst>
                <a:ext uri="{FF2B5EF4-FFF2-40B4-BE49-F238E27FC236}">
                  <a16:creationId xmlns:a16="http://schemas.microsoft.com/office/drawing/2014/main" id="{54660E09-4745-4775-B27C-D62DD16F7309}"/>
                </a:ext>
              </a:extLst>
            </p:cNvPr>
            <p:cNvSpPr txBox="1"/>
            <p:nvPr/>
          </p:nvSpPr>
          <p:spPr>
            <a:xfrm>
              <a:off x="3863414" y="2638694"/>
              <a:ext cx="27757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/>
                <a:t>affine transformation</a:t>
              </a:r>
              <a:endParaRPr lang="zh-CN" altLang="en-US" dirty="0"/>
            </a:p>
          </p:txBody>
        </p:sp>
        <p:sp>
          <p:nvSpPr>
            <p:cNvPr id="37" name="AutoShape 37">
              <a:extLst>
                <a:ext uri="{FF2B5EF4-FFF2-40B4-BE49-F238E27FC236}">
                  <a16:creationId xmlns:a16="http://schemas.microsoft.com/office/drawing/2014/main" id="{B53AC167-568F-46E4-9889-18C5746771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461" y="3057884"/>
              <a:ext cx="3033499" cy="208352"/>
            </a:xfrm>
            <a:prstGeom prst="rightArrow">
              <a:avLst>
                <a:gd name="adj1" fmla="val 50000"/>
                <a:gd name="adj2" fmla="val 50002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117EC6C2-42C0-4083-B046-F03B2D6D3C88}"/>
              </a:ext>
            </a:extLst>
          </p:cNvPr>
          <p:cNvGrpSpPr/>
          <p:nvPr/>
        </p:nvGrpSpPr>
        <p:grpSpPr>
          <a:xfrm>
            <a:off x="4176783" y="3846281"/>
            <a:ext cx="3748185" cy="1402482"/>
            <a:chOff x="4176783" y="3846281"/>
            <a:chExt cx="3748185" cy="1402482"/>
          </a:xfrm>
        </p:grpSpPr>
        <p:graphicFrame>
          <p:nvGraphicFramePr>
            <p:cNvPr id="38" name="对象 37">
              <a:extLst>
                <a:ext uri="{FF2B5EF4-FFF2-40B4-BE49-F238E27FC236}">
                  <a16:creationId xmlns:a16="http://schemas.microsoft.com/office/drawing/2014/main" id="{03AD5A12-DC07-4597-A8EC-82B85B0A1CF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76783" y="4718538"/>
            <a:ext cx="2097087" cy="530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09" name="Equation" r:id="rId13" imgW="1206360" imgH="279360" progId="Equation.DSMT4">
                    <p:embed/>
                  </p:oleObj>
                </mc:Choice>
                <mc:Fallback>
                  <p:oleObj name="Equation" r:id="rId13" imgW="1206360" imgH="279360" progId="Equation.DSMT4">
                    <p:embed/>
                    <p:pic>
                      <p:nvPicPr>
                        <p:cNvPr id="38" name="对象 37">
                          <a:extLst>
                            <a:ext uri="{FF2B5EF4-FFF2-40B4-BE49-F238E27FC236}">
                              <a16:creationId xmlns:a16="http://schemas.microsoft.com/office/drawing/2014/main" id="{03AD5A12-DC07-4597-A8EC-82B85B0A1CF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783" y="4718538"/>
                          <a:ext cx="2097087" cy="5302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" name="AutoShape 37">
              <a:extLst>
                <a:ext uri="{FF2B5EF4-FFF2-40B4-BE49-F238E27FC236}">
                  <a16:creationId xmlns:a16="http://schemas.microsoft.com/office/drawing/2014/main" id="{9BA91D17-45CD-4A22-A2C4-DE20B293292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797827" y="4093509"/>
              <a:ext cx="702808" cy="208352"/>
            </a:xfrm>
            <a:prstGeom prst="rightArrow">
              <a:avLst>
                <a:gd name="adj1" fmla="val 50000"/>
                <a:gd name="adj2" fmla="val 50002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0" name="文本框 1">
              <a:extLst>
                <a:ext uri="{FF2B5EF4-FFF2-40B4-BE49-F238E27FC236}">
                  <a16:creationId xmlns:a16="http://schemas.microsoft.com/office/drawing/2014/main" id="{E5A7CBC2-7D0A-4E0B-99A5-435741A1E26D}"/>
                </a:ext>
              </a:extLst>
            </p:cNvPr>
            <p:cNvSpPr txBox="1"/>
            <p:nvPr/>
          </p:nvSpPr>
          <p:spPr>
            <a:xfrm>
              <a:off x="5149231" y="4000687"/>
              <a:ext cx="27757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2000" dirty="0"/>
                <a:t>simple ratio is preserved</a:t>
              </a:r>
              <a:endParaRPr lang="zh-CN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73309889"/>
      </p:ext>
    </p:extLst>
  </p:cSld>
  <p:clrMapOvr>
    <a:masterClrMapping/>
  </p:clrMapOvr>
  <p:transition advTm="1252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24E36D71-4DCD-4848-AA96-44F7BAD44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0275" y="76200"/>
            <a:ext cx="8153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Calibri" panose="020F050202020403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Calibri" panose="020F050202020403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Calibri" panose="020F050202020403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Calibri" panose="020F050202020403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altLang="zh-CN" sz="3000" kern="0" dirty="0">
                <a:ea typeface="楷体" panose="02010609060101010101" pitchFamily="49" charset="-122"/>
                <a:cs typeface="Calibri" panose="020F0502020204030204" pitchFamily="34" charset="0"/>
              </a:rPr>
              <a:t>Group and geometry</a:t>
            </a:r>
            <a:endParaRPr lang="zh-CN" altLang="en-US" sz="3000" kern="0" dirty="0"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2" name="文本框 1">
            <a:extLst>
              <a:ext uri="{FF2B5EF4-FFF2-40B4-BE49-F238E27FC236}">
                <a16:creationId xmlns:a16="http://schemas.microsoft.com/office/drawing/2014/main" id="{A216F47A-817F-4A94-BBBF-43337E8ADCA8}"/>
              </a:ext>
            </a:extLst>
          </p:cNvPr>
          <p:cNvSpPr txBox="1"/>
          <p:nvPr/>
        </p:nvSpPr>
        <p:spPr>
          <a:xfrm>
            <a:off x="843919" y="1027735"/>
            <a:ext cx="10557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zh-CN" dirty="0"/>
              <a:t>For the projective transformation group, the basic invariant is the </a:t>
            </a:r>
            <a:r>
              <a:rPr lang="en-US" altLang="zh-CN" b="1" dirty="0">
                <a:solidFill>
                  <a:srgbClr val="C00000"/>
                </a:solidFill>
              </a:rPr>
              <a:t>cross ratio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95322F6-C7A5-4927-B632-4056E92D2C0B}"/>
              </a:ext>
            </a:extLst>
          </p:cNvPr>
          <p:cNvSpPr/>
          <p:nvPr/>
        </p:nvSpPr>
        <p:spPr bwMode="auto">
          <a:xfrm>
            <a:off x="676656" y="1550931"/>
            <a:ext cx="10552176" cy="2258347"/>
          </a:xfrm>
          <a:prstGeom prst="rect">
            <a:avLst/>
          </a:prstGeom>
          <a:noFill/>
          <a:ln w="9525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A21D840-4F6A-4616-BDD8-03DD458012C5}"/>
              </a:ext>
            </a:extLst>
          </p:cNvPr>
          <p:cNvSpPr txBox="1"/>
          <p:nvPr/>
        </p:nvSpPr>
        <p:spPr>
          <a:xfrm>
            <a:off x="804672" y="1571523"/>
            <a:ext cx="2935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Definition</a:t>
            </a:r>
            <a:r>
              <a:rPr lang="en-US" altLang="zh-CN" dirty="0"/>
              <a:t>: cross ratio</a:t>
            </a:r>
            <a:endParaRPr lang="zh-CN" altLang="en-US" dirty="0"/>
          </a:p>
        </p:txBody>
      </p:sp>
      <p:sp>
        <p:nvSpPr>
          <p:cNvPr id="31" name="文本框 1">
            <a:extLst>
              <a:ext uri="{FF2B5EF4-FFF2-40B4-BE49-F238E27FC236}">
                <a16:creationId xmlns:a16="http://schemas.microsoft.com/office/drawing/2014/main" id="{D9E2B163-4FF2-48FD-AF77-447137DAED0A}"/>
              </a:ext>
            </a:extLst>
          </p:cNvPr>
          <p:cNvSpPr txBox="1"/>
          <p:nvPr/>
        </p:nvSpPr>
        <p:spPr>
          <a:xfrm>
            <a:off x="843919" y="1959056"/>
            <a:ext cx="102483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zh-CN" dirty="0"/>
              <a:t>Given four </a:t>
            </a:r>
            <a:r>
              <a:rPr lang="en-US" altLang="zh-CN" b="1" dirty="0"/>
              <a:t>collinear</a:t>
            </a:r>
            <a:r>
              <a:rPr lang="en-US" altLang="zh-CN" dirty="0"/>
              <a:t> points </a:t>
            </a:r>
            <a:r>
              <a:rPr lang="en-US" altLang="zh-CN" b="1" i="1" dirty="0"/>
              <a:t>a</a:t>
            </a:r>
            <a:r>
              <a:rPr lang="en-US" altLang="zh-CN" dirty="0"/>
              <a:t>, </a:t>
            </a:r>
            <a:r>
              <a:rPr lang="en-US" altLang="zh-CN" b="1" i="1" dirty="0"/>
              <a:t>b</a:t>
            </a:r>
            <a:r>
              <a:rPr lang="en-US" altLang="zh-CN" dirty="0"/>
              <a:t>, </a:t>
            </a:r>
            <a:r>
              <a:rPr lang="en-US" altLang="zh-CN" b="1" i="1" dirty="0"/>
              <a:t>c</a:t>
            </a:r>
            <a:r>
              <a:rPr lang="en-US" altLang="zh-CN" dirty="0"/>
              <a:t>, and </a:t>
            </a:r>
            <a:r>
              <a:rPr lang="en-US" altLang="zh-CN" b="1" i="1" dirty="0"/>
              <a:t>d</a:t>
            </a:r>
            <a:r>
              <a:rPr lang="en-US" altLang="zh-CN" dirty="0"/>
              <a:t>, the cross ratio (</a:t>
            </a:r>
            <a:r>
              <a:rPr lang="en-US" altLang="zh-CN" b="1" i="1" dirty="0" err="1"/>
              <a:t>a</a:t>
            </a:r>
            <a:r>
              <a:rPr lang="en-US" altLang="zh-CN" dirty="0" err="1"/>
              <a:t>,</a:t>
            </a:r>
            <a:r>
              <a:rPr lang="en-US" altLang="zh-CN" b="1" i="1" dirty="0" err="1"/>
              <a:t>b</a:t>
            </a:r>
            <a:r>
              <a:rPr lang="en-US" altLang="zh-CN" dirty="0" err="1"/>
              <a:t>,</a:t>
            </a:r>
            <a:r>
              <a:rPr lang="en-US" altLang="zh-CN" b="1" i="1" dirty="0" err="1"/>
              <a:t>c</a:t>
            </a:r>
            <a:r>
              <a:rPr lang="en-US" altLang="zh-CN" dirty="0" err="1"/>
              <a:t>,</a:t>
            </a:r>
            <a:r>
              <a:rPr lang="en-US" altLang="zh-CN" b="1" i="1" dirty="0" err="1"/>
              <a:t>d</a:t>
            </a:r>
            <a:r>
              <a:rPr lang="en-US" altLang="zh-CN" dirty="0"/>
              <a:t>) is defined as: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4880945B-74A0-4A40-AB38-3E3DCBE193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1538" y="2424633"/>
          <a:ext cx="4346575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8" name="Equation" r:id="rId3" imgW="2501640" imgH="469800" progId="Equation.DSMT4">
                  <p:embed/>
                </p:oleObj>
              </mc:Choice>
              <mc:Fallback>
                <p:oleObj name="Equation" r:id="rId3" imgW="2501640" imgH="46980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4880945B-74A0-4A40-AB38-3E3DCBE193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1538" y="2424633"/>
                        <a:ext cx="4346575" cy="8905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文本框 1">
            <a:extLst>
              <a:ext uri="{FF2B5EF4-FFF2-40B4-BE49-F238E27FC236}">
                <a16:creationId xmlns:a16="http://schemas.microsoft.com/office/drawing/2014/main" id="{CFD1DE1B-2BAF-4047-9AC2-CBBADBF540D7}"/>
              </a:ext>
            </a:extLst>
          </p:cNvPr>
          <p:cNvSpPr txBox="1"/>
          <p:nvPr/>
        </p:nvSpPr>
        <p:spPr>
          <a:xfrm>
            <a:off x="776330" y="3310673"/>
            <a:ext cx="6274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C00000"/>
                </a:solidFill>
              </a:rPr>
              <a:t>(The cross ratio is defined based on simple ratio)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F928248-D680-44DF-AF0C-8A2AC4B1D29F}"/>
              </a:ext>
            </a:extLst>
          </p:cNvPr>
          <p:cNvGrpSpPr/>
          <p:nvPr/>
        </p:nvGrpSpPr>
        <p:grpSpPr>
          <a:xfrm>
            <a:off x="810967" y="3866948"/>
            <a:ext cx="10590863" cy="2002040"/>
            <a:chOff x="810967" y="3866948"/>
            <a:chExt cx="10590863" cy="2002040"/>
          </a:xfrm>
        </p:grpSpPr>
        <p:sp>
          <p:nvSpPr>
            <p:cNvPr id="44" name="文本框 1">
              <a:extLst>
                <a:ext uri="{FF2B5EF4-FFF2-40B4-BE49-F238E27FC236}">
                  <a16:creationId xmlns:a16="http://schemas.microsoft.com/office/drawing/2014/main" id="{CB0E0197-278C-4BB3-8814-1398F7D88041}"/>
                </a:ext>
              </a:extLst>
            </p:cNvPr>
            <p:cNvSpPr txBox="1"/>
            <p:nvPr/>
          </p:nvSpPr>
          <p:spPr>
            <a:xfrm>
              <a:off x="810967" y="3866948"/>
              <a:ext cx="1059086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 algn="just"/>
              <a:r>
                <a:rPr lang="en-US" altLang="zh-CN" dirty="0"/>
                <a:t>Before the transformation, there are four </a:t>
              </a:r>
              <a:r>
                <a:rPr lang="en-US" altLang="zh-CN" b="1" dirty="0"/>
                <a:t>collinear </a:t>
              </a:r>
              <a:r>
                <a:rPr lang="en-US" altLang="zh-CN" dirty="0"/>
                <a:t>points </a:t>
              </a:r>
              <a:r>
                <a:rPr lang="en-US" altLang="zh-CN" b="1" i="1" dirty="0"/>
                <a:t>x</a:t>
              </a:r>
              <a:r>
                <a:rPr lang="en-US" altLang="zh-CN" baseline="-25000" dirty="0"/>
                <a:t>1</a:t>
              </a:r>
              <a:r>
                <a:rPr lang="en-US" altLang="zh-CN" dirty="0"/>
                <a:t>, </a:t>
              </a:r>
              <a:r>
                <a:rPr lang="en-US" altLang="zh-CN" b="1" i="1" dirty="0"/>
                <a:t>x</a:t>
              </a:r>
              <a:r>
                <a:rPr lang="en-US" altLang="zh-CN" baseline="-25000" dirty="0"/>
                <a:t>2</a:t>
              </a:r>
              <a:r>
                <a:rPr lang="en-US" altLang="zh-CN" dirty="0"/>
                <a:t>, </a:t>
              </a:r>
              <a:r>
                <a:rPr lang="en-US" altLang="zh-CN" b="1" i="1" dirty="0"/>
                <a:t>x</a:t>
              </a:r>
              <a:r>
                <a:rPr lang="en-US" altLang="zh-CN" baseline="-25000" dirty="0"/>
                <a:t>3</a:t>
              </a:r>
              <a:r>
                <a:rPr lang="en-US" altLang="zh-CN" dirty="0"/>
                <a:t> and </a:t>
              </a:r>
              <a:r>
                <a:rPr lang="en-US" altLang="zh-CN" b="1" i="1" dirty="0"/>
                <a:t>x</a:t>
              </a:r>
              <a:r>
                <a:rPr lang="en-US" altLang="zh-CN" baseline="-25000" dirty="0"/>
                <a:t>4</a:t>
              </a:r>
              <a:r>
                <a:rPr lang="en-US" altLang="zh-CN" dirty="0"/>
                <a:t>; after the transformation, they are mapped as    ,     ,    , and</a:t>
              </a:r>
            </a:p>
            <a:p>
              <a:pPr algn="just"/>
              <a:r>
                <a:rPr lang="en-US" altLang="zh-CN" dirty="0"/>
                <a:t>If the transformation is a projective transformation, then the cross ratio is preserved, i.e., </a:t>
              </a:r>
              <a:endParaRPr lang="zh-CN" altLang="en-US" dirty="0"/>
            </a:p>
          </p:txBody>
        </p:sp>
        <p:graphicFrame>
          <p:nvGraphicFramePr>
            <p:cNvPr id="45" name="对象 44">
              <a:extLst>
                <a:ext uri="{FF2B5EF4-FFF2-40B4-BE49-F238E27FC236}">
                  <a16:creationId xmlns:a16="http://schemas.microsoft.com/office/drawing/2014/main" id="{3FFDD074-F921-4994-A843-701F6D02D34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23862" y="4271656"/>
            <a:ext cx="265112" cy="423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29" name="Equation" r:id="rId5" imgW="164880" imgH="241200" progId="Equation.DSMT4">
                    <p:embed/>
                  </p:oleObj>
                </mc:Choice>
                <mc:Fallback>
                  <p:oleObj name="Equation" r:id="rId5" imgW="164880" imgH="241200" progId="Equation.DSMT4">
                    <p:embed/>
                    <p:pic>
                      <p:nvPicPr>
                        <p:cNvPr id="45" name="对象 44">
                          <a:extLst>
                            <a:ext uri="{FF2B5EF4-FFF2-40B4-BE49-F238E27FC236}">
                              <a16:creationId xmlns:a16="http://schemas.microsoft.com/office/drawing/2014/main" id="{3FFDD074-F921-4994-A843-701F6D02D34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3862" y="4271656"/>
                          <a:ext cx="265112" cy="42386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对象 45">
              <a:extLst>
                <a:ext uri="{FF2B5EF4-FFF2-40B4-BE49-F238E27FC236}">
                  <a16:creationId xmlns:a16="http://schemas.microsoft.com/office/drawing/2014/main" id="{6323CBFF-865A-4234-9983-6BC4F9F4F19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27216" y="4283152"/>
            <a:ext cx="306388" cy="423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30" name="Equation" r:id="rId7" imgW="190440" imgH="241200" progId="Equation.DSMT4">
                    <p:embed/>
                  </p:oleObj>
                </mc:Choice>
                <mc:Fallback>
                  <p:oleObj name="Equation" r:id="rId7" imgW="190440" imgH="241200" progId="Equation.DSMT4">
                    <p:embed/>
                    <p:pic>
                      <p:nvPicPr>
                        <p:cNvPr id="46" name="对象 45">
                          <a:extLst>
                            <a:ext uri="{FF2B5EF4-FFF2-40B4-BE49-F238E27FC236}">
                              <a16:creationId xmlns:a16="http://schemas.microsoft.com/office/drawing/2014/main" id="{6323CBFF-865A-4234-9983-6BC4F9F4F19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27216" y="4283152"/>
                          <a:ext cx="306388" cy="42386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对象 46">
              <a:extLst>
                <a:ext uri="{FF2B5EF4-FFF2-40B4-BE49-F238E27FC236}">
                  <a16:creationId xmlns:a16="http://schemas.microsoft.com/office/drawing/2014/main" id="{F0B8C4B2-6B7A-45EB-991B-885E751090C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39411" y="4286412"/>
            <a:ext cx="285750" cy="423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31" name="Equation" r:id="rId9" imgW="177480" imgH="241200" progId="Equation.DSMT4">
                    <p:embed/>
                  </p:oleObj>
                </mc:Choice>
                <mc:Fallback>
                  <p:oleObj name="Equation" r:id="rId9" imgW="177480" imgH="241200" progId="Equation.DSMT4">
                    <p:embed/>
                    <p:pic>
                      <p:nvPicPr>
                        <p:cNvPr id="47" name="对象 46">
                          <a:extLst>
                            <a:ext uri="{FF2B5EF4-FFF2-40B4-BE49-F238E27FC236}">
                              <a16:creationId xmlns:a16="http://schemas.microsoft.com/office/drawing/2014/main" id="{F0B8C4B2-6B7A-45EB-991B-885E751090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39411" y="4286412"/>
                          <a:ext cx="285750" cy="42386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对象 47">
              <a:extLst>
                <a:ext uri="{FF2B5EF4-FFF2-40B4-BE49-F238E27FC236}">
                  <a16:creationId xmlns:a16="http://schemas.microsoft.com/office/drawing/2014/main" id="{5BFEDBCF-CA5A-4426-8066-FA2F132B743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933601" y="4270452"/>
            <a:ext cx="306388" cy="423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32" name="Equation" r:id="rId11" imgW="190440" imgH="241200" progId="Equation.DSMT4">
                    <p:embed/>
                  </p:oleObj>
                </mc:Choice>
                <mc:Fallback>
                  <p:oleObj name="Equation" r:id="rId11" imgW="190440" imgH="241200" progId="Equation.DSMT4">
                    <p:embed/>
                    <p:pic>
                      <p:nvPicPr>
                        <p:cNvPr id="48" name="对象 47">
                          <a:extLst>
                            <a:ext uri="{FF2B5EF4-FFF2-40B4-BE49-F238E27FC236}">
                              <a16:creationId xmlns:a16="http://schemas.microsoft.com/office/drawing/2014/main" id="{5BFEDBCF-CA5A-4426-8066-FA2F132B74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33601" y="4270452"/>
                          <a:ext cx="306388" cy="42386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对象 48">
              <a:extLst>
                <a:ext uri="{FF2B5EF4-FFF2-40B4-BE49-F238E27FC236}">
                  <a16:creationId xmlns:a16="http://schemas.microsoft.com/office/drawing/2014/main" id="{09AD85B5-6341-42F7-B46E-DEFD9F5DB9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17988" y="5338763"/>
            <a:ext cx="3354387" cy="530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33" name="Equation" r:id="rId13" imgW="1930320" imgH="279360" progId="Equation.DSMT4">
                    <p:embed/>
                  </p:oleObj>
                </mc:Choice>
                <mc:Fallback>
                  <p:oleObj name="Equation" r:id="rId13" imgW="1930320" imgH="279360" progId="Equation.DSMT4">
                    <p:embed/>
                    <p:pic>
                      <p:nvPicPr>
                        <p:cNvPr id="49" name="对象 48">
                          <a:extLst>
                            <a:ext uri="{FF2B5EF4-FFF2-40B4-BE49-F238E27FC236}">
                              <a16:creationId xmlns:a16="http://schemas.microsoft.com/office/drawing/2014/main" id="{09AD85B5-6341-42F7-B46E-DEFD9F5DB9D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7988" y="5338763"/>
                          <a:ext cx="3354387" cy="5302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05645892"/>
      </p:ext>
    </p:extLst>
  </p:cSld>
  <p:clrMapOvr>
    <a:masterClrMapping/>
  </p:clrMapOvr>
  <p:transition advTm="1252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EwNTM5NzYwMDRjMzkwZTVkZjY2ODkwMGIxNGU0OT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9e012b263547566c0442b1c037c7a2b2fa2c8da"/>
  <p:tag name="KSO_WM_NEWLAYOUT_GROUP_ID" val="layout_57"/>
  <p:tag name="KSO_WM_NEWLAYOUT_ID" val="slide_729c42b1199d7149"/>
  <p:tag name="KSO_WM_UNIT_PRESET_TEXT" val="单击此处添加标题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9e012b263547566c0442b1c037c7a2b2fa2c8da"/>
  <p:tag name="KSO_WM_NEWLAYOUT_GROUP_ID" val="layout_57"/>
  <p:tag name="KSO_WM_NEWLAYOUT_ID" val="slide_729c42b1199d7149"/>
  <p:tag name="KSO_WM_UNIT_PRESET_TEXT" val="单击此处添加标题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15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34353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3772</TotalTime>
  <Words>2832</Words>
  <Application>Microsoft Office PowerPoint</Application>
  <PresentationFormat>宽屏</PresentationFormat>
  <Paragraphs>526</Paragraphs>
  <Slides>64</Slides>
  <Notes>33</Notes>
  <HiddenSlides>1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64</vt:i4>
      </vt:variant>
    </vt:vector>
  </HeadingPairs>
  <TitlesOfParts>
    <vt:vector size="84" baseType="lpstr">
      <vt:lpstr>阿里巴巴和七个小矮人</vt:lpstr>
      <vt:lpstr>等线</vt:lpstr>
      <vt:lpstr>等线 Light</vt:lpstr>
      <vt:lpstr>仿宋_GB2312</vt:lpstr>
      <vt:lpstr>华文细黑</vt:lpstr>
      <vt:lpstr>华文中宋</vt:lpstr>
      <vt:lpstr>楷体</vt:lpstr>
      <vt:lpstr>宋体</vt:lpstr>
      <vt:lpstr>微软雅黑</vt:lpstr>
      <vt:lpstr>微软雅黑</vt:lpstr>
      <vt:lpstr>Arial</vt:lpstr>
      <vt:lpstr>Calibri</vt:lpstr>
      <vt:lpstr>Cambria Math</vt:lpstr>
      <vt:lpstr>Impact</vt:lpstr>
      <vt:lpstr>Palatino Linotype</vt:lpstr>
      <vt:lpstr>Times New Roman</vt:lpstr>
      <vt:lpstr>Wingdings</vt:lpstr>
      <vt:lpstr>Office 主题​​</vt:lpstr>
      <vt:lpstr>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 图像几何运算-线性几何变换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双线性插值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 阈值化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shaoming</cp:lastModifiedBy>
  <cp:revision>1560</cp:revision>
  <cp:lastPrinted>2024-06-12T15:31:32Z</cp:lastPrinted>
  <dcterms:created xsi:type="dcterms:W3CDTF">2024-06-12T15:31:32Z</dcterms:created>
  <dcterms:modified xsi:type="dcterms:W3CDTF">2026-10-07T09:14:52Z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CD1BC42A34C549CF40AF6366F719176F_43</vt:lpwstr>
  </property>
  <property fmtid="{D5CDD505-2E9C-101B-9397-08002B2CF9AE}" pid="3" name="KSOProductBuildVer">
    <vt:lpwstr>2052-6.7.1.8828</vt:lpwstr>
  </property>
</Properties>
</file>