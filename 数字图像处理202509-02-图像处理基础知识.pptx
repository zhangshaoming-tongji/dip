
<file path=[Content_Types].xml><?xml version="1.0" encoding="utf-8"?>
<Types xmlns="http://schemas.openxmlformats.org/package/2006/content-types">
  <Default Extension="png" ContentType="image/png"/>
  <Default Extension="bin" ContentType="image/unknown"/>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embeddings/oleObject1.bin" ContentType="application/vnd.openxmlformats-officedocument.oleObject"/>
  <Override PartName="/ppt/embeddings/oleObject2.bin" ContentType="application/vnd.openxmlformats-officedocument.oleObject"/>
  <Override PartName="/ppt/theme/themeOverride1.xml" ContentType="application/vnd.openxmlformats-officedocument.themeOverride+xml"/>
  <Override PartName="/ppt/tags/tag19.xml" ContentType="application/vnd.openxmlformats-officedocument.presentationml.tags+xml"/>
  <Override PartName="/ppt/embeddings/oleObject3.bin" ContentType="application/vnd.openxmlformats-officedocument.oleObject"/>
  <Override PartName="/ppt/tags/tag20.xml" ContentType="application/vnd.openxmlformats-officedocument.presentationml.tags+xml"/>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tags/tag31.xml" ContentType="application/vnd.openxmlformats-officedocument.presentationml.tags+xml"/>
  <Override PartName="/ppt/tags/tag32.xml" ContentType="application/vnd.openxmlformats-officedocument.presentationml.tags+xml"/>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0.bin" ContentType="application/vnd.openxmlformats-officedocument.oleObject"/>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4.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5.xml" ContentType="application/vnd.openxmlformats-officedocument.presentationml.notesSlide+xml"/>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7.xml" ContentType="application/vnd.openxmlformats-officedocument.presentationml.notesSlide+xml"/>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0.bin" ContentType="application/vnd.openxmlformats-officedocument.oleObject"/>
  <Override PartName="/ppt/tags/tag44.xml" ContentType="application/vnd.openxmlformats-officedocument.presentationml.tags+xml"/>
  <Override PartName="/ppt/tags/tag45.xml" ContentType="application/vnd.openxmlformats-officedocument.presentationml.tags+xml"/>
  <Override PartName="/ppt/notesSlides/notesSlide8.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embeddings/oleObject31.bin" ContentType="application/vnd.openxmlformats-officedocument.oleObject"/>
  <Override PartName="/ppt/tags/tag48.xml" ContentType="application/vnd.openxmlformats-officedocument.presentationml.tags+xml"/>
  <Override PartName="/ppt/tags/tag49.xml" ContentType="application/vnd.openxmlformats-officedocument.presentationml.tags+xml"/>
  <Override PartName="/ppt/embeddings/oleObject32.bin" ContentType="application/vnd.openxmlformats-officedocument.oleObject"/>
  <Override PartName="/ppt/embeddings/oleObject33.bin" ContentType="application/vnd.openxmlformats-officedocument.oleObject"/>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9.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954" r:id="rId2"/>
  </p:sldMasterIdLst>
  <p:notesMasterIdLst>
    <p:notesMasterId r:id="rId49"/>
  </p:notesMasterIdLst>
  <p:handoutMasterIdLst>
    <p:handoutMasterId r:id="rId50"/>
  </p:handoutMasterIdLst>
  <p:sldIdLst>
    <p:sldId id="265" r:id="rId3"/>
    <p:sldId id="4552" r:id="rId4"/>
    <p:sldId id="11090442" r:id="rId5"/>
    <p:sldId id="11090443" r:id="rId6"/>
    <p:sldId id="11090444" r:id="rId7"/>
    <p:sldId id="11090446" r:id="rId8"/>
    <p:sldId id="11090447" r:id="rId9"/>
    <p:sldId id="11090448" r:id="rId10"/>
    <p:sldId id="1041" r:id="rId11"/>
    <p:sldId id="1043" r:id="rId12"/>
    <p:sldId id="1040" r:id="rId13"/>
    <p:sldId id="333" r:id="rId14"/>
    <p:sldId id="504" r:id="rId15"/>
    <p:sldId id="508" r:id="rId16"/>
    <p:sldId id="11090459" r:id="rId17"/>
    <p:sldId id="11090460" r:id="rId18"/>
    <p:sldId id="11090461" r:id="rId19"/>
    <p:sldId id="1045" r:id="rId20"/>
    <p:sldId id="11090450" r:id="rId21"/>
    <p:sldId id="11090451" r:id="rId22"/>
    <p:sldId id="1032" r:id="rId23"/>
    <p:sldId id="11090454" r:id="rId24"/>
    <p:sldId id="1038" r:id="rId25"/>
    <p:sldId id="335" r:id="rId26"/>
    <p:sldId id="282" r:id="rId27"/>
    <p:sldId id="350" r:id="rId28"/>
    <p:sldId id="323" r:id="rId29"/>
    <p:sldId id="288" r:id="rId30"/>
    <p:sldId id="11090462" r:id="rId31"/>
    <p:sldId id="290" r:id="rId32"/>
    <p:sldId id="355" r:id="rId33"/>
    <p:sldId id="293" r:id="rId34"/>
    <p:sldId id="336" r:id="rId35"/>
    <p:sldId id="11090455" r:id="rId36"/>
    <p:sldId id="357" r:id="rId37"/>
    <p:sldId id="358" r:id="rId38"/>
    <p:sldId id="359" r:id="rId39"/>
    <p:sldId id="297" r:id="rId40"/>
    <p:sldId id="360" r:id="rId41"/>
    <p:sldId id="361" r:id="rId42"/>
    <p:sldId id="11090464" r:id="rId43"/>
    <p:sldId id="362" r:id="rId44"/>
    <p:sldId id="363" r:id="rId45"/>
    <p:sldId id="364" r:id="rId46"/>
    <p:sldId id="1039" r:id="rId47"/>
    <p:sldId id="11090290" r:id="rId48"/>
  </p:sldIdLst>
  <p:sldSz cx="12192000" cy="6858000"/>
  <p:notesSz cx="6797675" cy="9928225"/>
  <p:custDataLst>
    <p:tags r:id="rId5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72" userDrawn="1">
          <p15:clr>
            <a:srgbClr val="A4A3A4"/>
          </p15:clr>
        </p15:guide>
        <p15:guide id="2" pos="38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556E"/>
    <a:srgbClr val="C71437"/>
    <a:srgbClr val="114FFB"/>
    <a:srgbClr val="0C4379"/>
    <a:srgbClr val="6A798D"/>
    <a:srgbClr val="B9B9B9"/>
    <a:srgbClr val="C00000"/>
    <a:srgbClr val="FFFFFF"/>
    <a:srgbClr val="F2F2F2"/>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4" autoAdjust="0"/>
    <p:restoredTop sz="87463" autoAdjust="0"/>
  </p:normalViewPr>
  <p:slideViewPr>
    <p:cSldViewPr snapToGrid="0" showGuides="1">
      <p:cViewPr varScale="1">
        <p:scale>
          <a:sx n="85" d="100"/>
          <a:sy n="85" d="100"/>
        </p:scale>
        <p:origin x="156" y="64"/>
      </p:cViewPr>
      <p:guideLst>
        <p:guide orient="horz" pos="1972"/>
        <p:guide pos="3808"/>
      </p:guideLst>
    </p:cSldViewPr>
  </p:slideViewPr>
  <p:notesTextViewPr>
    <p:cViewPr>
      <p:scale>
        <a:sx n="100" d="100"/>
        <a:sy n="100" d="100"/>
      </p:scale>
      <p:origin x="0" y="0"/>
    </p:cViewPr>
  </p:notesTextViewPr>
  <p:sorterViewPr>
    <p:cViewPr>
      <p:scale>
        <a:sx n="160" d="100"/>
        <a:sy n="160" d="100"/>
      </p:scale>
      <p:origin x="0" y="8574"/>
    </p:cViewPr>
  </p:sorterViewPr>
  <p:notesViewPr>
    <p:cSldViewPr snapToGrid="0">
      <p:cViewPr varScale="1">
        <p:scale>
          <a:sx n="68" d="100"/>
          <a:sy n="68" d="100"/>
        </p:scale>
        <p:origin x="3696" y="22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tags" Target="tags/tag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2.wmf"/><Relationship Id="rId7" Type="http://schemas.openxmlformats.org/officeDocument/2006/relationships/image" Target="../media/image116.wmf"/><Relationship Id="rId2" Type="http://schemas.openxmlformats.org/officeDocument/2006/relationships/image" Target="../media/image111.wmf"/><Relationship Id="rId1" Type="http://schemas.openxmlformats.org/officeDocument/2006/relationships/image" Target="../media/image110.wmf"/><Relationship Id="rId6" Type="http://schemas.openxmlformats.org/officeDocument/2006/relationships/image" Target="../media/image115.wmf"/><Relationship Id="rId5" Type="http://schemas.openxmlformats.org/officeDocument/2006/relationships/image" Target="../media/image114.wmf"/><Relationship Id="rId4" Type="http://schemas.openxmlformats.org/officeDocument/2006/relationships/image" Target="../media/image1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2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 Id="rId4" Type="http://schemas.openxmlformats.org/officeDocument/2006/relationships/image" Target="../media/image13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 Id="rId5" Type="http://schemas.openxmlformats.org/officeDocument/2006/relationships/image" Target="../media/image139.wmf"/><Relationship Id="rId4" Type="http://schemas.openxmlformats.org/officeDocument/2006/relationships/image" Target="../media/image13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 Id="rId5" Type="http://schemas.openxmlformats.org/officeDocument/2006/relationships/image" Target="../media/image153.wmf"/><Relationship Id="rId4" Type="http://schemas.openxmlformats.org/officeDocument/2006/relationships/image" Target="../media/image15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57.wmf"/><Relationship Id="rId1" Type="http://schemas.openxmlformats.org/officeDocument/2006/relationships/image" Target="../media/image1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DAF3F327-32E1-4D00-A131-C26A39A88C12}" type="datetimeFigureOut">
              <a:rPr lang="zh-CN" altLang="en-US" smtClean="0"/>
              <a:t>2026-09-21</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6FE82D1B-D068-4E10-BFEA-4FF4488B701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2BE00284-16BC-4382-8B36-24E400F691F1}" type="datetimeFigureOut">
              <a:rPr lang="zh-CN" altLang="en-US" smtClean="0"/>
              <a:t>2026-09-21</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38F5CBD3-32D1-4BCD-A706-B0EA53B26FD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8F5CBD3-32D1-4BCD-A706-B0EA53B26FD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BB63919-0A8F-4BC9-87FE-C0ACD5E639DE}"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A5E6343-DF86-492E-9405-E8E1322E8033}" type="slidenum">
              <a:rPr lang="zh-CN" altLang="en-US" smtClean="0"/>
              <a:pPr/>
              <a:t>12</a:t>
            </a:fld>
            <a:endParaRPr lang="zh-CN" altLang="en-US"/>
          </a:p>
        </p:txBody>
      </p:sp>
    </p:spTree>
    <p:extLst>
      <p:ext uri="{BB962C8B-B14F-4D97-AF65-F5344CB8AC3E}">
        <p14:creationId xmlns:p14="http://schemas.microsoft.com/office/powerpoint/2010/main" val="3446859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8F5CBD3-32D1-4BCD-A706-B0EA53B26FDB}" type="slidenum">
              <a:rPr lang="zh-CN" altLang="en-US" smtClean="0"/>
              <a:t>41</a:t>
            </a:fld>
            <a:endParaRPr lang="zh-CN" altLang="en-US"/>
          </a:p>
        </p:txBody>
      </p:sp>
    </p:spTree>
    <p:extLst>
      <p:ext uri="{BB962C8B-B14F-4D97-AF65-F5344CB8AC3E}">
        <p14:creationId xmlns:p14="http://schemas.microsoft.com/office/powerpoint/2010/main" val="2656156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effectLst/>
              <a:latin typeface="Times New Roman" panose="02020603050405020304" pitchFamily="18" charset="0"/>
              <a:ea typeface="仿宋_GB2312" panose="02010609030101010101" pitchFamily="49" charset="-122"/>
              <a:cs typeface="Times New Roman" panose="02020603050405020304" pitchFamily="18" charset="0"/>
              <a:sym typeface="+mn-ea"/>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F5CBD3-32D1-4BCD-A706-B0EA53B26FDB}"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04168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369613"/>
            <a:ext cx="12192000" cy="824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Picture 4" descr="https://www.tongji.edu.cn/images/name.png"/>
          <p:cNvPicPr>
            <a:picLocks noChangeAspect="1" noChangeArrowheads="1"/>
          </p:cNvPicPr>
          <p:nvPr userDrawn="1"/>
        </p:nvPicPr>
        <p:blipFill>
          <a:blip r:embed="rId2">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9951047" y="540238"/>
            <a:ext cx="1399126" cy="482886"/>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userDrawn="1"/>
        </p:nvPicPr>
        <p:blipFill>
          <a:blip r:embed="rId3"/>
          <a:stretch>
            <a:fillRect/>
          </a:stretch>
        </p:blipFill>
        <p:spPr>
          <a:xfrm>
            <a:off x="0" y="1987296"/>
            <a:ext cx="12192000" cy="487070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8" name="Picture 4" descr="https://www.tongji.edu.cn/images/name.png"/>
          <p:cNvPicPr>
            <a:picLocks noChangeAspect="1" noChangeArrowheads="1"/>
          </p:cNvPicPr>
          <p:nvPr userDrawn="1"/>
        </p:nvPicPr>
        <p:blipFill>
          <a:blip r:embed="rId2">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9947801" y="539072"/>
            <a:ext cx="1399126" cy="482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5" name="矩形 4"/>
          <p:cNvSpPr/>
          <p:nvPr userDrawn="1"/>
        </p:nvSpPr>
        <p:spPr>
          <a:xfrm>
            <a:off x="0" y="369613"/>
            <a:ext cx="12192000" cy="824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 4" descr="https://www.tongji.edu.cn/images/name.png"/>
          <p:cNvPicPr>
            <a:picLocks noChangeAspect="1" noChangeArrowheads="1"/>
          </p:cNvPicPr>
          <p:nvPr userDrawn="1"/>
        </p:nvPicPr>
        <p:blipFill>
          <a:blip r:embed="rId2">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9951047" y="540238"/>
            <a:ext cx="1399126" cy="482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9620558-5325-4CFD-AFD0-B6863C016BE7}" type="datetimeFigureOut">
              <a:rPr lang="zh-CN" altLang="en-US" smtClean="0"/>
              <a:t>2026-09-21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4A6431-AF6F-4770-94EC-EB1259D505DA}"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矩形 1"/>
          <p:cNvSpPr/>
          <p:nvPr userDrawn="1"/>
        </p:nvSpPr>
        <p:spPr>
          <a:xfrm>
            <a:off x="1" y="0"/>
            <a:ext cx="933450" cy="685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节标题">
    <p:bg>
      <p:bgPr>
        <a:solidFill>
          <a:srgbClr val="F2F2F2"/>
        </a:solidFill>
        <a:effectLst/>
      </p:bgPr>
    </p:bg>
    <p:spTree>
      <p:nvGrpSpPr>
        <p:cNvPr id="1" name=""/>
        <p:cNvGrpSpPr/>
        <p:nvPr/>
      </p:nvGrpSpPr>
      <p:grpSpPr>
        <a:xfrm>
          <a:off x="0" y="0"/>
          <a:ext cx="0" cy="0"/>
          <a:chOff x="0" y="0"/>
          <a:chExt cx="0" cy="0"/>
        </a:xfrm>
      </p:grpSpPr>
      <p:sp>
        <p:nvSpPr>
          <p:cNvPr id="2" name="文本框 1"/>
          <p:cNvSpPr txBox="1">
            <a:spLocks noChangeArrowheads="1"/>
          </p:cNvSpPr>
          <p:nvPr userDrawn="1"/>
        </p:nvSpPr>
        <p:spPr bwMode="auto">
          <a:xfrm>
            <a:off x="1363135" y="359836"/>
            <a:ext cx="45847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zh-CN" altLang="en-US" sz="2667" b="1">
                <a:latin typeface="微软雅黑" pitchFamily="34" charset="-122"/>
              </a:rPr>
              <a:t>此处添加您的标题</a:t>
            </a:r>
            <a:endParaRPr lang="id-ID" altLang="zh-CN" sz="2667" b="1">
              <a:latin typeface="微软雅黑" pitchFamily="34" charset="-122"/>
            </a:endParaRPr>
          </a:p>
        </p:txBody>
      </p:sp>
      <p:sp>
        <p:nvSpPr>
          <p:cNvPr id="3" name="文本框 2"/>
          <p:cNvSpPr txBox="1">
            <a:spLocks noChangeArrowheads="1"/>
          </p:cNvSpPr>
          <p:nvPr userDrawn="1"/>
        </p:nvSpPr>
        <p:spPr bwMode="auto">
          <a:xfrm>
            <a:off x="1390651" y="840322"/>
            <a:ext cx="3570816" cy="29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id-ID" altLang="zh-CN" sz="1333"/>
              <a:t>Biscuit oat cake carrot cake muffin jelly</a:t>
            </a:r>
            <a:endParaRPr lang="zh-CN" altLang="en-US" sz="1333"/>
          </a:p>
        </p:txBody>
      </p:sp>
      <p:grpSp>
        <p:nvGrpSpPr>
          <p:cNvPr id="4" name="组合 8"/>
          <p:cNvGrpSpPr>
            <a:grpSpLocks/>
          </p:cNvGrpSpPr>
          <p:nvPr userDrawn="1"/>
        </p:nvGrpSpPr>
        <p:grpSpPr bwMode="auto">
          <a:xfrm>
            <a:off x="275175" y="421220"/>
            <a:ext cx="1087967" cy="666786"/>
            <a:chOff x="4353620" y="864629"/>
            <a:chExt cx="742365" cy="456068"/>
          </a:xfrm>
        </p:grpSpPr>
        <p:sp>
          <p:nvSpPr>
            <p:cNvPr id="5" name="KSO_Shape"/>
            <p:cNvSpPr>
              <a:spLocks/>
            </p:cNvSpPr>
            <p:nvPr/>
          </p:nvSpPr>
          <p:spPr bwMode="auto">
            <a:xfrm>
              <a:off x="4353620" y="866076"/>
              <a:ext cx="742365" cy="408268"/>
            </a:xfrm>
            <a:custGeom>
              <a:avLst/>
              <a:gdLst>
                <a:gd name="T0" fmla="*/ 2147483646 w 5345"/>
                <a:gd name="T1" fmla="*/ 2147483646 h 2936"/>
                <a:gd name="T2" fmla="*/ 2147483646 w 5345"/>
                <a:gd name="T3" fmla="*/ 2147483646 h 2936"/>
                <a:gd name="T4" fmla="*/ 2147483646 w 5345"/>
                <a:gd name="T5" fmla="*/ 2147483646 h 2936"/>
                <a:gd name="T6" fmla="*/ 2147483646 w 5345"/>
                <a:gd name="T7" fmla="*/ 2147483646 h 2936"/>
                <a:gd name="T8" fmla="*/ 2147483646 w 5345"/>
                <a:gd name="T9" fmla="*/ 2147483646 h 2936"/>
                <a:gd name="T10" fmla="*/ 2147483646 w 5345"/>
                <a:gd name="T11" fmla="*/ 2147483646 h 2936"/>
                <a:gd name="T12" fmla="*/ 2147483646 w 5345"/>
                <a:gd name="T13" fmla="*/ 2147483646 h 2936"/>
                <a:gd name="T14" fmla="*/ 2147483646 w 5345"/>
                <a:gd name="T15" fmla="*/ 2147483646 h 2936"/>
                <a:gd name="T16" fmla="*/ 2147483646 w 5345"/>
                <a:gd name="T17" fmla="*/ 2147483646 h 2936"/>
                <a:gd name="T18" fmla="*/ 2147483646 w 5345"/>
                <a:gd name="T19" fmla="*/ 2147483646 h 2936"/>
                <a:gd name="T20" fmla="*/ 2147483646 w 5345"/>
                <a:gd name="T21" fmla="*/ 2147483646 h 2936"/>
                <a:gd name="T22" fmla="*/ 2147483646 w 5345"/>
                <a:gd name="T23" fmla="*/ 2147483646 h 2936"/>
                <a:gd name="T24" fmla="*/ 2147483646 w 5345"/>
                <a:gd name="T25" fmla="*/ 2147483646 h 2936"/>
                <a:gd name="T26" fmla="*/ 2147483646 w 5345"/>
                <a:gd name="T27" fmla="*/ 2147483646 h 2936"/>
                <a:gd name="T28" fmla="*/ 2147483646 w 5345"/>
                <a:gd name="T29" fmla="*/ 2147483646 h 2936"/>
                <a:gd name="T30" fmla="*/ 2147483646 w 5345"/>
                <a:gd name="T31" fmla="*/ 772639970 h 2936"/>
                <a:gd name="T32" fmla="*/ 2147483646 w 5345"/>
                <a:gd name="T33" fmla="*/ 0 h 2936"/>
                <a:gd name="T34" fmla="*/ 2147483646 w 5345"/>
                <a:gd name="T35" fmla="*/ 363587807 h 2936"/>
                <a:gd name="T36" fmla="*/ 2147483646 w 5345"/>
                <a:gd name="T37" fmla="*/ 2147483646 h 2936"/>
                <a:gd name="T38" fmla="*/ 2147483646 w 5345"/>
                <a:gd name="T39" fmla="*/ 2147483646 h 2936"/>
                <a:gd name="T40" fmla="*/ 2147483646 w 5345"/>
                <a:gd name="T41" fmla="*/ 2147483646 h 2936"/>
                <a:gd name="T42" fmla="*/ 2147483646 w 5345"/>
                <a:gd name="T43" fmla="*/ 2147483646 h 2936"/>
                <a:gd name="T44" fmla="*/ 2147483646 w 5345"/>
                <a:gd name="T45" fmla="*/ 2147483646 h 2936"/>
                <a:gd name="T46" fmla="*/ 2147483646 w 5345"/>
                <a:gd name="T47" fmla="*/ 2147483646 h 2936"/>
                <a:gd name="T48" fmla="*/ 2147483646 w 5345"/>
                <a:gd name="T49" fmla="*/ 2147483646 h 2936"/>
                <a:gd name="T50" fmla="*/ 2147483646 w 5345"/>
                <a:gd name="T51" fmla="*/ 2147483646 h 2936"/>
                <a:gd name="T52" fmla="*/ 2147483646 w 5345"/>
                <a:gd name="T53" fmla="*/ 2147483646 h 2936"/>
                <a:gd name="T54" fmla="*/ 2147483646 w 5345"/>
                <a:gd name="T55" fmla="*/ 2147483646 h 2936"/>
                <a:gd name="T56" fmla="*/ 2147483646 w 5345"/>
                <a:gd name="T57" fmla="*/ 2147483646 h 2936"/>
                <a:gd name="T58" fmla="*/ 2147483646 w 5345"/>
                <a:gd name="T59" fmla="*/ 2147483646 h 2936"/>
                <a:gd name="T60" fmla="*/ 2147483646 w 5345"/>
                <a:gd name="T61" fmla="*/ 2147483646 h 2936"/>
                <a:gd name="T62" fmla="*/ 452722804 w 5345"/>
                <a:gd name="T63" fmla="*/ 2147483646 h 2936"/>
                <a:gd name="T64" fmla="*/ 90570008 w 5345"/>
                <a:gd name="T65" fmla="*/ 2147483646 h 2936"/>
                <a:gd name="T66" fmla="*/ 1629877726 w 5345"/>
                <a:gd name="T67" fmla="*/ 2147483646 h 2936"/>
                <a:gd name="T68" fmla="*/ 2147483646 w 5345"/>
                <a:gd name="T69" fmla="*/ 2147483646 h 2936"/>
                <a:gd name="T70" fmla="*/ 2147483646 w 5345"/>
                <a:gd name="T71" fmla="*/ 2147483646 h 2936"/>
                <a:gd name="T72" fmla="*/ 2147483646 w 5345"/>
                <a:gd name="T73" fmla="*/ 2147483646 h 2936"/>
                <a:gd name="T74" fmla="*/ 2147483646 w 5345"/>
                <a:gd name="T75" fmla="*/ 2147483646 h 2936"/>
                <a:gd name="T76" fmla="*/ 2147483646 w 5345"/>
                <a:gd name="T77" fmla="*/ 2147483646 h 2936"/>
                <a:gd name="T78" fmla="*/ 2147483646 w 5345"/>
                <a:gd name="T79" fmla="*/ 2147483646 h 2936"/>
                <a:gd name="T80" fmla="*/ 2147483646 w 5345"/>
                <a:gd name="T81" fmla="*/ 2147483646 h 2936"/>
                <a:gd name="T82" fmla="*/ 2147483646 w 5345"/>
                <a:gd name="T83" fmla="*/ 2147483646 h 2936"/>
                <a:gd name="T84" fmla="*/ 2147483646 w 5345"/>
                <a:gd name="T85" fmla="*/ 2147483646 h 2936"/>
                <a:gd name="T86" fmla="*/ 2147483646 w 5345"/>
                <a:gd name="T87" fmla="*/ 2147483646 h 2936"/>
                <a:gd name="T88" fmla="*/ 2147483646 w 5345"/>
                <a:gd name="T89" fmla="*/ 2147483646 h 2936"/>
                <a:gd name="T90" fmla="*/ 2147483646 w 5345"/>
                <a:gd name="T91" fmla="*/ 2147483646 h 2936"/>
                <a:gd name="T92" fmla="*/ 2147483646 w 5345"/>
                <a:gd name="T93" fmla="*/ 2147483646 h 2936"/>
                <a:gd name="T94" fmla="*/ 2147483646 w 5345"/>
                <a:gd name="T95" fmla="*/ 2147483646 h 2936"/>
                <a:gd name="T96" fmla="*/ 2147483646 w 5345"/>
                <a:gd name="T97" fmla="*/ 2147483646 h 2936"/>
                <a:gd name="T98" fmla="*/ 2147483646 w 5345"/>
                <a:gd name="T99" fmla="*/ 2147483646 h 2936"/>
                <a:gd name="T100" fmla="*/ 2147483646 w 5345"/>
                <a:gd name="T101" fmla="*/ 2147483646 h 2936"/>
                <a:gd name="T102" fmla="*/ 2147483646 w 5345"/>
                <a:gd name="T103" fmla="*/ 2147483646 h 2936"/>
                <a:gd name="T104" fmla="*/ 2147483646 w 5345"/>
                <a:gd name="T105" fmla="*/ 2147483646 h 29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345" h="2936">
                  <a:moveTo>
                    <a:pt x="4729" y="1661"/>
                  </a:moveTo>
                  <a:lnTo>
                    <a:pt x="4729" y="1661"/>
                  </a:lnTo>
                  <a:lnTo>
                    <a:pt x="4723" y="1609"/>
                  </a:lnTo>
                  <a:lnTo>
                    <a:pt x="4716" y="1558"/>
                  </a:lnTo>
                  <a:lnTo>
                    <a:pt x="4706" y="1507"/>
                  </a:lnTo>
                  <a:lnTo>
                    <a:pt x="4693" y="1458"/>
                  </a:lnTo>
                  <a:lnTo>
                    <a:pt x="4679" y="1409"/>
                  </a:lnTo>
                  <a:lnTo>
                    <a:pt x="4663" y="1361"/>
                  </a:lnTo>
                  <a:lnTo>
                    <a:pt x="4644" y="1314"/>
                  </a:lnTo>
                  <a:lnTo>
                    <a:pt x="4622" y="1268"/>
                  </a:lnTo>
                  <a:lnTo>
                    <a:pt x="4600" y="1223"/>
                  </a:lnTo>
                  <a:lnTo>
                    <a:pt x="4575" y="1181"/>
                  </a:lnTo>
                  <a:lnTo>
                    <a:pt x="4548" y="1138"/>
                  </a:lnTo>
                  <a:lnTo>
                    <a:pt x="4519" y="1098"/>
                  </a:lnTo>
                  <a:lnTo>
                    <a:pt x="4489" y="1059"/>
                  </a:lnTo>
                  <a:lnTo>
                    <a:pt x="4457" y="1021"/>
                  </a:lnTo>
                  <a:lnTo>
                    <a:pt x="4422" y="984"/>
                  </a:lnTo>
                  <a:lnTo>
                    <a:pt x="4387" y="950"/>
                  </a:lnTo>
                  <a:lnTo>
                    <a:pt x="4350" y="917"/>
                  </a:lnTo>
                  <a:lnTo>
                    <a:pt x="4312" y="886"/>
                  </a:lnTo>
                  <a:lnTo>
                    <a:pt x="4272" y="856"/>
                  </a:lnTo>
                  <a:lnTo>
                    <a:pt x="4230" y="828"/>
                  </a:lnTo>
                  <a:lnTo>
                    <a:pt x="4188" y="802"/>
                  </a:lnTo>
                  <a:lnTo>
                    <a:pt x="4144" y="778"/>
                  </a:lnTo>
                  <a:lnTo>
                    <a:pt x="4099" y="757"/>
                  </a:lnTo>
                  <a:lnTo>
                    <a:pt x="4053" y="737"/>
                  </a:lnTo>
                  <a:lnTo>
                    <a:pt x="4005" y="719"/>
                  </a:lnTo>
                  <a:lnTo>
                    <a:pt x="3957" y="703"/>
                  </a:lnTo>
                  <a:lnTo>
                    <a:pt x="3907" y="689"/>
                  </a:lnTo>
                  <a:lnTo>
                    <a:pt x="3857" y="679"/>
                  </a:lnTo>
                  <a:lnTo>
                    <a:pt x="3806" y="670"/>
                  </a:lnTo>
                  <a:lnTo>
                    <a:pt x="3754" y="663"/>
                  </a:lnTo>
                  <a:lnTo>
                    <a:pt x="3701" y="660"/>
                  </a:lnTo>
                  <a:lnTo>
                    <a:pt x="3648" y="658"/>
                  </a:lnTo>
                  <a:lnTo>
                    <a:pt x="3608" y="660"/>
                  </a:lnTo>
                  <a:lnTo>
                    <a:pt x="3566" y="661"/>
                  </a:lnTo>
                  <a:lnTo>
                    <a:pt x="3526" y="665"/>
                  </a:lnTo>
                  <a:lnTo>
                    <a:pt x="3486" y="670"/>
                  </a:lnTo>
                  <a:lnTo>
                    <a:pt x="3446" y="677"/>
                  </a:lnTo>
                  <a:lnTo>
                    <a:pt x="3407" y="686"/>
                  </a:lnTo>
                  <a:lnTo>
                    <a:pt x="3368" y="695"/>
                  </a:lnTo>
                  <a:lnTo>
                    <a:pt x="3330" y="706"/>
                  </a:lnTo>
                  <a:lnTo>
                    <a:pt x="3294" y="718"/>
                  </a:lnTo>
                  <a:lnTo>
                    <a:pt x="3257" y="732"/>
                  </a:lnTo>
                  <a:lnTo>
                    <a:pt x="3220" y="746"/>
                  </a:lnTo>
                  <a:lnTo>
                    <a:pt x="3185" y="763"/>
                  </a:lnTo>
                  <a:lnTo>
                    <a:pt x="3150" y="779"/>
                  </a:lnTo>
                  <a:lnTo>
                    <a:pt x="3116" y="798"/>
                  </a:lnTo>
                  <a:lnTo>
                    <a:pt x="3083" y="817"/>
                  </a:lnTo>
                  <a:lnTo>
                    <a:pt x="3050" y="838"/>
                  </a:lnTo>
                  <a:lnTo>
                    <a:pt x="3038" y="793"/>
                  </a:lnTo>
                  <a:lnTo>
                    <a:pt x="3024" y="750"/>
                  </a:lnTo>
                  <a:lnTo>
                    <a:pt x="3007" y="707"/>
                  </a:lnTo>
                  <a:lnTo>
                    <a:pt x="2989" y="664"/>
                  </a:lnTo>
                  <a:lnTo>
                    <a:pt x="2970" y="623"/>
                  </a:lnTo>
                  <a:lnTo>
                    <a:pt x="2949" y="583"/>
                  </a:lnTo>
                  <a:lnTo>
                    <a:pt x="2927" y="542"/>
                  </a:lnTo>
                  <a:lnTo>
                    <a:pt x="2903" y="504"/>
                  </a:lnTo>
                  <a:lnTo>
                    <a:pt x="2877" y="467"/>
                  </a:lnTo>
                  <a:lnTo>
                    <a:pt x="2850" y="430"/>
                  </a:lnTo>
                  <a:lnTo>
                    <a:pt x="2821" y="396"/>
                  </a:lnTo>
                  <a:lnTo>
                    <a:pt x="2792" y="361"/>
                  </a:lnTo>
                  <a:lnTo>
                    <a:pt x="2761" y="329"/>
                  </a:lnTo>
                  <a:lnTo>
                    <a:pt x="2728" y="297"/>
                  </a:lnTo>
                  <a:lnTo>
                    <a:pt x="2694" y="268"/>
                  </a:lnTo>
                  <a:lnTo>
                    <a:pt x="2659" y="238"/>
                  </a:lnTo>
                  <a:lnTo>
                    <a:pt x="2623" y="211"/>
                  </a:lnTo>
                  <a:lnTo>
                    <a:pt x="2586" y="185"/>
                  </a:lnTo>
                  <a:lnTo>
                    <a:pt x="2548" y="161"/>
                  </a:lnTo>
                  <a:lnTo>
                    <a:pt x="2509" y="139"/>
                  </a:lnTo>
                  <a:lnTo>
                    <a:pt x="2468" y="117"/>
                  </a:lnTo>
                  <a:lnTo>
                    <a:pt x="2427" y="97"/>
                  </a:lnTo>
                  <a:lnTo>
                    <a:pt x="2384" y="79"/>
                  </a:lnTo>
                  <a:lnTo>
                    <a:pt x="2342" y="63"/>
                  </a:lnTo>
                  <a:lnTo>
                    <a:pt x="2298" y="49"/>
                  </a:lnTo>
                  <a:lnTo>
                    <a:pt x="2253" y="36"/>
                  </a:lnTo>
                  <a:lnTo>
                    <a:pt x="2208" y="25"/>
                  </a:lnTo>
                  <a:lnTo>
                    <a:pt x="2162" y="17"/>
                  </a:lnTo>
                  <a:lnTo>
                    <a:pt x="2114" y="9"/>
                  </a:lnTo>
                  <a:lnTo>
                    <a:pt x="2067" y="4"/>
                  </a:lnTo>
                  <a:lnTo>
                    <a:pt x="2019" y="1"/>
                  </a:lnTo>
                  <a:lnTo>
                    <a:pt x="1971" y="0"/>
                  </a:lnTo>
                  <a:lnTo>
                    <a:pt x="1941" y="0"/>
                  </a:lnTo>
                  <a:lnTo>
                    <a:pt x="1913" y="1"/>
                  </a:lnTo>
                  <a:lnTo>
                    <a:pt x="1884" y="4"/>
                  </a:lnTo>
                  <a:lnTo>
                    <a:pt x="1856" y="6"/>
                  </a:lnTo>
                  <a:lnTo>
                    <a:pt x="1829" y="8"/>
                  </a:lnTo>
                  <a:lnTo>
                    <a:pt x="1800" y="13"/>
                  </a:lnTo>
                  <a:lnTo>
                    <a:pt x="1746" y="23"/>
                  </a:lnTo>
                  <a:lnTo>
                    <a:pt x="1691" y="34"/>
                  </a:lnTo>
                  <a:lnTo>
                    <a:pt x="1638" y="50"/>
                  </a:lnTo>
                  <a:lnTo>
                    <a:pt x="1587" y="68"/>
                  </a:lnTo>
                  <a:lnTo>
                    <a:pt x="1536" y="88"/>
                  </a:lnTo>
                  <a:lnTo>
                    <a:pt x="1487" y="110"/>
                  </a:lnTo>
                  <a:lnTo>
                    <a:pt x="1438" y="135"/>
                  </a:lnTo>
                  <a:lnTo>
                    <a:pt x="1392" y="161"/>
                  </a:lnTo>
                  <a:lnTo>
                    <a:pt x="1347" y="191"/>
                  </a:lnTo>
                  <a:lnTo>
                    <a:pt x="1303" y="221"/>
                  </a:lnTo>
                  <a:lnTo>
                    <a:pt x="1260" y="255"/>
                  </a:lnTo>
                  <a:lnTo>
                    <a:pt x="1220" y="290"/>
                  </a:lnTo>
                  <a:lnTo>
                    <a:pt x="1181" y="327"/>
                  </a:lnTo>
                  <a:lnTo>
                    <a:pt x="1144" y="366"/>
                  </a:lnTo>
                  <a:lnTo>
                    <a:pt x="1109" y="406"/>
                  </a:lnTo>
                  <a:lnTo>
                    <a:pt x="1076" y="448"/>
                  </a:lnTo>
                  <a:lnTo>
                    <a:pt x="1045" y="491"/>
                  </a:lnTo>
                  <a:lnTo>
                    <a:pt x="1016" y="538"/>
                  </a:lnTo>
                  <a:lnTo>
                    <a:pt x="989" y="584"/>
                  </a:lnTo>
                  <a:lnTo>
                    <a:pt x="964" y="632"/>
                  </a:lnTo>
                  <a:lnTo>
                    <a:pt x="942" y="681"/>
                  </a:lnTo>
                  <a:lnTo>
                    <a:pt x="922" y="732"/>
                  </a:lnTo>
                  <a:lnTo>
                    <a:pt x="905" y="784"/>
                  </a:lnTo>
                  <a:lnTo>
                    <a:pt x="890" y="837"/>
                  </a:lnTo>
                  <a:lnTo>
                    <a:pt x="877" y="890"/>
                  </a:lnTo>
                  <a:lnTo>
                    <a:pt x="867" y="946"/>
                  </a:lnTo>
                  <a:lnTo>
                    <a:pt x="864" y="973"/>
                  </a:lnTo>
                  <a:lnTo>
                    <a:pt x="860" y="1002"/>
                  </a:lnTo>
                  <a:lnTo>
                    <a:pt x="858" y="1030"/>
                  </a:lnTo>
                  <a:lnTo>
                    <a:pt x="855" y="1059"/>
                  </a:lnTo>
                  <a:lnTo>
                    <a:pt x="855" y="1087"/>
                  </a:lnTo>
                  <a:lnTo>
                    <a:pt x="854" y="1115"/>
                  </a:lnTo>
                  <a:lnTo>
                    <a:pt x="855" y="1150"/>
                  </a:lnTo>
                  <a:lnTo>
                    <a:pt x="857" y="1183"/>
                  </a:lnTo>
                  <a:lnTo>
                    <a:pt x="860" y="1216"/>
                  </a:lnTo>
                  <a:lnTo>
                    <a:pt x="864" y="1250"/>
                  </a:lnTo>
                  <a:lnTo>
                    <a:pt x="845" y="1249"/>
                  </a:lnTo>
                  <a:lnTo>
                    <a:pt x="801" y="1250"/>
                  </a:lnTo>
                  <a:lnTo>
                    <a:pt x="758" y="1253"/>
                  </a:lnTo>
                  <a:lnTo>
                    <a:pt x="716" y="1259"/>
                  </a:lnTo>
                  <a:lnTo>
                    <a:pt x="674" y="1266"/>
                  </a:lnTo>
                  <a:lnTo>
                    <a:pt x="633" y="1275"/>
                  </a:lnTo>
                  <a:lnTo>
                    <a:pt x="594" y="1287"/>
                  </a:lnTo>
                  <a:lnTo>
                    <a:pt x="555" y="1300"/>
                  </a:lnTo>
                  <a:lnTo>
                    <a:pt x="515" y="1316"/>
                  </a:lnTo>
                  <a:lnTo>
                    <a:pt x="479" y="1332"/>
                  </a:lnTo>
                  <a:lnTo>
                    <a:pt x="442" y="1351"/>
                  </a:lnTo>
                  <a:lnTo>
                    <a:pt x="407" y="1371"/>
                  </a:lnTo>
                  <a:lnTo>
                    <a:pt x="372" y="1393"/>
                  </a:lnTo>
                  <a:lnTo>
                    <a:pt x="339" y="1416"/>
                  </a:lnTo>
                  <a:lnTo>
                    <a:pt x="307" y="1441"/>
                  </a:lnTo>
                  <a:lnTo>
                    <a:pt x="277" y="1468"/>
                  </a:lnTo>
                  <a:lnTo>
                    <a:pt x="248" y="1496"/>
                  </a:lnTo>
                  <a:lnTo>
                    <a:pt x="219" y="1525"/>
                  </a:lnTo>
                  <a:lnTo>
                    <a:pt x="193" y="1556"/>
                  </a:lnTo>
                  <a:lnTo>
                    <a:pt x="169" y="1588"/>
                  </a:lnTo>
                  <a:lnTo>
                    <a:pt x="145" y="1621"/>
                  </a:lnTo>
                  <a:lnTo>
                    <a:pt x="122" y="1655"/>
                  </a:lnTo>
                  <a:lnTo>
                    <a:pt x="102" y="1690"/>
                  </a:lnTo>
                  <a:lnTo>
                    <a:pt x="83" y="1726"/>
                  </a:lnTo>
                  <a:lnTo>
                    <a:pt x="67" y="1764"/>
                  </a:lnTo>
                  <a:lnTo>
                    <a:pt x="51" y="1802"/>
                  </a:lnTo>
                  <a:lnTo>
                    <a:pt x="38" y="1841"/>
                  </a:lnTo>
                  <a:lnTo>
                    <a:pt x="28" y="1882"/>
                  </a:lnTo>
                  <a:lnTo>
                    <a:pt x="18" y="1923"/>
                  </a:lnTo>
                  <a:lnTo>
                    <a:pt x="10" y="1965"/>
                  </a:lnTo>
                  <a:lnTo>
                    <a:pt x="5" y="2006"/>
                  </a:lnTo>
                  <a:lnTo>
                    <a:pt x="2" y="2049"/>
                  </a:lnTo>
                  <a:lnTo>
                    <a:pt x="0" y="2092"/>
                  </a:lnTo>
                  <a:lnTo>
                    <a:pt x="2" y="2135"/>
                  </a:lnTo>
                  <a:lnTo>
                    <a:pt x="5" y="2176"/>
                  </a:lnTo>
                  <a:lnTo>
                    <a:pt x="10" y="2217"/>
                  </a:lnTo>
                  <a:lnTo>
                    <a:pt x="17" y="2257"/>
                  </a:lnTo>
                  <a:lnTo>
                    <a:pt x="25" y="2297"/>
                  </a:lnTo>
                  <a:lnTo>
                    <a:pt x="36" y="2336"/>
                  </a:lnTo>
                  <a:lnTo>
                    <a:pt x="49" y="2374"/>
                  </a:lnTo>
                  <a:lnTo>
                    <a:pt x="63" y="2411"/>
                  </a:lnTo>
                  <a:lnTo>
                    <a:pt x="79" y="2448"/>
                  </a:lnTo>
                  <a:lnTo>
                    <a:pt x="96" y="2483"/>
                  </a:lnTo>
                  <a:lnTo>
                    <a:pt x="115" y="2517"/>
                  </a:lnTo>
                  <a:lnTo>
                    <a:pt x="137" y="2552"/>
                  </a:lnTo>
                  <a:lnTo>
                    <a:pt x="159" y="2584"/>
                  </a:lnTo>
                  <a:lnTo>
                    <a:pt x="183" y="2615"/>
                  </a:lnTo>
                  <a:lnTo>
                    <a:pt x="208" y="2645"/>
                  </a:lnTo>
                  <a:lnTo>
                    <a:pt x="234" y="2674"/>
                  </a:lnTo>
                  <a:lnTo>
                    <a:pt x="262" y="2702"/>
                  </a:lnTo>
                  <a:lnTo>
                    <a:pt x="290" y="2728"/>
                  </a:lnTo>
                  <a:lnTo>
                    <a:pt x="321" y="2753"/>
                  </a:lnTo>
                  <a:lnTo>
                    <a:pt x="352" y="2777"/>
                  </a:lnTo>
                  <a:lnTo>
                    <a:pt x="385" y="2799"/>
                  </a:lnTo>
                  <a:lnTo>
                    <a:pt x="418" y="2819"/>
                  </a:lnTo>
                  <a:lnTo>
                    <a:pt x="453" y="2840"/>
                  </a:lnTo>
                  <a:lnTo>
                    <a:pt x="488" y="2856"/>
                  </a:lnTo>
                  <a:lnTo>
                    <a:pt x="525" y="2873"/>
                  </a:lnTo>
                  <a:lnTo>
                    <a:pt x="563" y="2887"/>
                  </a:lnTo>
                  <a:lnTo>
                    <a:pt x="601" y="2899"/>
                  </a:lnTo>
                  <a:lnTo>
                    <a:pt x="640" y="2909"/>
                  </a:lnTo>
                  <a:lnTo>
                    <a:pt x="679" y="2919"/>
                  </a:lnTo>
                  <a:lnTo>
                    <a:pt x="719" y="2926"/>
                  </a:lnTo>
                  <a:lnTo>
                    <a:pt x="761" y="2931"/>
                  </a:lnTo>
                  <a:lnTo>
                    <a:pt x="802" y="2934"/>
                  </a:lnTo>
                  <a:lnTo>
                    <a:pt x="802" y="2936"/>
                  </a:lnTo>
                  <a:lnTo>
                    <a:pt x="4682" y="2936"/>
                  </a:lnTo>
                  <a:lnTo>
                    <a:pt x="4682" y="2933"/>
                  </a:lnTo>
                  <a:lnTo>
                    <a:pt x="4693" y="2934"/>
                  </a:lnTo>
                  <a:lnTo>
                    <a:pt x="4706" y="2936"/>
                  </a:lnTo>
                  <a:lnTo>
                    <a:pt x="4740" y="2936"/>
                  </a:lnTo>
                  <a:lnTo>
                    <a:pt x="4772" y="2933"/>
                  </a:lnTo>
                  <a:lnTo>
                    <a:pt x="4804" y="2928"/>
                  </a:lnTo>
                  <a:lnTo>
                    <a:pt x="4836" y="2922"/>
                  </a:lnTo>
                  <a:lnTo>
                    <a:pt x="4866" y="2915"/>
                  </a:lnTo>
                  <a:lnTo>
                    <a:pt x="4896" y="2907"/>
                  </a:lnTo>
                  <a:lnTo>
                    <a:pt x="4926" y="2898"/>
                  </a:lnTo>
                  <a:lnTo>
                    <a:pt x="4955" y="2886"/>
                  </a:lnTo>
                  <a:lnTo>
                    <a:pt x="4984" y="2873"/>
                  </a:lnTo>
                  <a:lnTo>
                    <a:pt x="5011" y="2859"/>
                  </a:lnTo>
                  <a:lnTo>
                    <a:pt x="5038" y="2843"/>
                  </a:lnTo>
                  <a:lnTo>
                    <a:pt x="5063" y="2827"/>
                  </a:lnTo>
                  <a:lnTo>
                    <a:pt x="5089" y="2809"/>
                  </a:lnTo>
                  <a:lnTo>
                    <a:pt x="5113" y="2790"/>
                  </a:lnTo>
                  <a:lnTo>
                    <a:pt x="5135" y="2770"/>
                  </a:lnTo>
                  <a:lnTo>
                    <a:pt x="5158" y="2748"/>
                  </a:lnTo>
                  <a:lnTo>
                    <a:pt x="5179" y="2727"/>
                  </a:lnTo>
                  <a:lnTo>
                    <a:pt x="5199" y="2703"/>
                  </a:lnTo>
                  <a:lnTo>
                    <a:pt x="5218" y="2680"/>
                  </a:lnTo>
                  <a:lnTo>
                    <a:pt x="5236" y="2655"/>
                  </a:lnTo>
                  <a:lnTo>
                    <a:pt x="5252" y="2629"/>
                  </a:lnTo>
                  <a:lnTo>
                    <a:pt x="5268" y="2602"/>
                  </a:lnTo>
                  <a:lnTo>
                    <a:pt x="5282" y="2574"/>
                  </a:lnTo>
                  <a:lnTo>
                    <a:pt x="5295" y="2546"/>
                  </a:lnTo>
                  <a:lnTo>
                    <a:pt x="5306" y="2517"/>
                  </a:lnTo>
                  <a:lnTo>
                    <a:pt x="5316" y="2488"/>
                  </a:lnTo>
                  <a:lnTo>
                    <a:pt x="5325" y="2457"/>
                  </a:lnTo>
                  <a:lnTo>
                    <a:pt x="5332" y="2426"/>
                  </a:lnTo>
                  <a:lnTo>
                    <a:pt x="5338" y="2394"/>
                  </a:lnTo>
                  <a:lnTo>
                    <a:pt x="5341" y="2362"/>
                  </a:lnTo>
                  <a:lnTo>
                    <a:pt x="5344" y="2330"/>
                  </a:lnTo>
                  <a:lnTo>
                    <a:pt x="5345" y="2297"/>
                  </a:lnTo>
                  <a:lnTo>
                    <a:pt x="5344" y="2265"/>
                  </a:lnTo>
                  <a:lnTo>
                    <a:pt x="5341" y="2233"/>
                  </a:lnTo>
                  <a:lnTo>
                    <a:pt x="5338" y="2203"/>
                  </a:lnTo>
                  <a:lnTo>
                    <a:pt x="5333" y="2172"/>
                  </a:lnTo>
                  <a:lnTo>
                    <a:pt x="5326" y="2141"/>
                  </a:lnTo>
                  <a:lnTo>
                    <a:pt x="5318" y="2111"/>
                  </a:lnTo>
                  <a:lnTo>
                    <a:pt x="5308" y="2083"/>
                  </a:lnTo>
                  <a:lnTo>
                    <a:pt x="5296" y="2054"/>
                  </a:lnTo>
                  <a:lnTo>
                    <a:pt x="5284" y="2026"/>
                  </a:lnTo>
                  <a:lnTo>
                    <a:pt x="5271" y="2000"/>
                  </a:lnTo>
                  <a:lnTo>
                    <a:pt x="5256" y="1974"/>
                  </a:lnTo>
                  <a:lnTo>
                    <a:pt x="5241" y="1948"/>
                  </a:lnTo>
                  <a:lnTo>
                    <a:pt x="5223" y="1923"/>
                  </a:lnTo>
                  <a:lnTo>
                    <a:pt x="5205" y="1899"/>
                  </a:lnTo>
                  <a:lnTo>
                    <a:pt x="5185" y="1877"/>
                  </a:lnTo>
                  <a:lnTo>
                    <a:pt x="5165" y="1854"/>
                  </a:lnTo>
                  <a:lnTo>
                    <a:pt x="5143" y="1834"/>
                  </a:lnTo>
                  <a:lnTo>
                    <a:pt x="5121" y="1814"/>
                  </a:lnTo>
                  <a:lnTo>
                    <a:pt x="5098" y="1795"/>
                  </a:lnTo>
                  <a:lnTo>
                    <a:pt x="5074" y="1777"/>
                  </a:lnTo>
                  <a:lnTo>
                    <a:pt x="5049" y="1761"/>
                  </a:lnTo>
                  <a:lnTo>
                    <a:pt x="5023" y="1745"/>
                  </a:lnTo>
                  <a:lnTo>
                    <a:pt x="4997" y="1731"/>
                  </a:lnTo>
                  <a:lnTo>
                    <a:pt x="4969" y="1717"/>
                  </a:lnTo>
                  <a:lnTo>
                    <a:pt x="4941" y="1706"/>
                  </a:lnTo>
                  <a:lnTo>
                    <a:pt x="4913" y="1696"/>
                  </a:lnTo>
                  <a:lnTo>
                    <a:pt x="4883" y="1686"/>
                  </a:lnTo>
                  <a:lnTo>
                    <a:pt x="4853" y="1678"/>
                  </a:lnTo>
                  <a:lnTo>
                    <a:pt x="4823" y="1672"/>
                  </a:lnTo>
                  <a:lnTo>
                    <a:pt x="4792" y="1667"/>
                  </a:lnTo>
                  <a:lnTo>
                    <a:pt x="4761" y="1664"/>
                  </a:lnTo>
                  <a:lnTo>
                    <a:pt x="4729" y="1661"/>
                  </a:lnTo>
                  <a:close/>
                </a:path>
              </a:pathLst>
            </a:custGeom>
            <a:solidFill>
              <a:schemeClr val="accent2">
                <a:lumMod val="75000"/>
              </a:schemeClr>
            </a:solidFill>
            <a:ln>
              <a:noFill/>
            </a:ln>
          </p:spPr>
          <p:txBody>
            <a:bodyPr anchor="ctr">
              <a:scene3d>
                <a:camera prst="orthographicFront"/>
                <a:lightRig rig="threePt" dir="t"/>
              </a:scene3d>
              <a:sp3d>
                <a:contourClr>
                  <a:srgbClr val="FFFFFF"/>
                </a:contourClr>
              </a:sp3d>
            </a:bodyPr>
            <a:lstStyle/>
            <a:p>
              <a:pPr algn="ctr" defTabSz="914270" eaLnBrk="1" fontAlgn="auto" hangingPunct="1">
                <a:spcBef>
                  <a:spcPts val="0"/>
                </a:spcBef>
                <a:spcAft>
                  <a:spcPts val="0"/>
                </a:spcAft>
                <a:defRPr/>
              </a:pPr>
              <a:endParaRPr lang="zh-CN" altLang="en-US" sz="1867">
                <a:solidFill>
                  <a:srgbClr val="FFFFFF"/>
                </a:solidFill>
                <a:latin typeface="+mn-lt"/>
                <a:ea typeface="+mn-ea"/>
              </a:endParaRPr>
            </a:p>
          </p:txBody>
        </p:sp>
        <p:sp>
          <p:nvSpPr>
            <p:cNvPr id="6" name="文本框 5"/>
            <p:cNvSpPr txBox="1">
              <a:spLocks noChangeArrowheads="1"/>
            </p:cNvSpPr>
            <p:nvPr/>
          </p:nvSpPr>
          <p:spPr bwMode="auto">
            <a:xfrm>
              <a:off x="4508159" y="864629"/>
              <a:ext cx="433287" cy="45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en-US" altLang="zh-CN" sz="3733">
                  <a:solidFill>
                    <a:schemeClr val="bg1"/>
                  </a:solidFill>
                  <a:cs typeface="Arial" pitchFamily="34" charset="0"/>
                </a:rPr>
                <a:t>1</a:t>
              </a:r>
              <a:endParaRPr lang="zh-CN" altLang="en-US" sz="3733">
                <a:solidFill>
                  <a:schemeClr val="bg1"/>
                </a:solidFill>
                <a:cs typeface="Arial" pitchFamily="34" charset="0"/>
              </a:endParaRPr>
            </a:p>
          </p:txBody>
        </p:sp>
      </p:grpSp>
    </p:spTree>
    <p:extLst>
      <p:ext uri="{BB962C8B-B14F-4D97-AF65-F5344CB8AC3E}">
        <p14:creationId xmlns:p14="http://schemas.microsoft.com/office/powerpoint/2010/main" val="761797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节标题">
    <p:bg>
      <p:bgPr>
        <a:solidFill>
          <a:srgbClr val="F2F2F2"/>
        </a:solidFill>
        <a:effectLst/>
      </p:bgPr>
    </p:bg>
    <p:spTree>
      <p:nvGrpSpPr>
        <p:cNvPr id="1" name=""/>
        <p:cNvGrpSpPr/>
        <p:nvPr/>
      </p:nvGrpSpPr>
      <p:grpSpPr>
        <a:xfrm>
          <a:off x="0" y="0"/>
          <a:ext cx="0" cy="0"/>
          <a:chOff x="0" y="0"/>
          <a:chExt cx="0" cy="0"/>
        </a:xfrm>
      </p:grpSpPr>
      <p:sp>
        <p:nvSpPr>
          <p:cNvPr id="2" name="文本框 1"/>
          <p:cNvSpPr txBox="1">
            <a:spLocks noChangeArrowheads="1"/>
          </p:cNvSpPr>
          <p:nvPr userDrawn="1"/>
        </p:nvSpPr>
        <p:spPr bwMode="auto">
          <a:xfrm>
            <a:off x="1363135" y="359836"/>
            <a:ext cx="45847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zh-CN" altLang="en-US" sz="2667" b="1">
                <a:latin typeface="微软雅黑" pitchFamily="34" charset="-122"/>
              </a:rPr>
              <a:t>此处添加您的标题</a:t>
            </a:r>
            <a:endParaRPr lang="id-ID" altLang="zh-CN" sz="2667" b="1">
              <a:latin typeface="微软雅黑" pitchFamily="34" charset="-122"/>
            </a:endParaRPr>
          </a:p>
        </p:txBody>
      </p:sp>
      <p:sp>
        <p:nvSpPr>
          <p:cNvPr id="3" name="文本框 2"/>
          <p:cNvSpPr txBox="1">
            <a:spLocks noChangeArrowheads="1"/>
          </p:cNvSpPr>
          <p:nvPr userDrawn="1"/>
        </p:nvSpPr>
        <p:spPr bwMode="auto">
          <a:xfrm>
            <a:off x="1390651" y="840322"/>
            <a:ext cx="3570816" cy="29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id-ID" altLang="zh-CN" sz="1333"/>
              <a:t>Biscuit oat cake carrot cake muffin jelly</a:t>
            </a:r>
            <a:endParaRPr lang="zh-CN" altLang="en-US" sz="1333"/>
          </a:p>
        </p:txBody>
      </p:sp>
      <p:grpSp>
        <p:nvGrpSpPr>
          <p:cNvPr id="4" name="组合 8"/>
          <p:cNvGrpSpPr>
            <a:grpSpLocks/>
          </p:cNvGrpSpPr>
          <p:nvPr userDrawn="1"/>
        </p:nvGrpSpPr>
        <p:grpSpPr bwMode="auto">
          <a:xfrm>
            <a:off x="275175" y="421220"/>
            <a:ext cx="1087967" cy="666786"/>
            <a:chOff x="4353620" y="864629"/>
            <a:chExt cx="742365" cy="456068"/>
          </a:xfrm>
        </p:grpSpPr>
        <p:sp>
          <p:nvSpPr>
            <p:cNvPr id="5" name="KSO_Shape"/>
            <p:cNvSpPr>
              <a:spLocks/>
            </p:cNvSpPr>
            <p:nvPr/>
          </p:nvSpPr>
          <p:spPr bwMode="auto">
            <a:xfrm>
              <a:off x="4353620" y="866076"/>
              <a:ext cx="742365" cy="408268"/>
            </a:xfrm>
            <a:custGeom>
              <a:avLst/>
              <a:gdLst>
                <a:gd name="T0" fmla="*/ 2147483646 w 5345"/>
                <a:gd name="T1" fmla="*/ 2147483646 h 2936"/>
                <a:gd name="T2" fmla="*/ 2147483646 w 5345"/>
                <a:gd name="T3" fmla="*/ 2147483646 h 2936"/>
                <a:gd name="T4" fmla="*/ 2147483646 w 5345"/>
                <a:gd name="T5" fmla="*/ 2147483646 h 2936"/>
                <a:gd name="T6" fmla="*/ 2147483646 w 5345"/>
                <a:gd name="T7" fmla="*/ 2147483646 h 2936"/>
                <a:gd name="T8" fmla="*/ 2147483646 w 5345"/>
                <a:gd name="T9" fmla="*/ 2147483646 h 2936"/>
                <a:gd name="T10" fmla="*/ 2147483646 w 5345"/>
                <a:gd name="T11" fmla="*/ 2147483646 h 2936"/>
                <a:gd name="T12" fmla="*/ 2147483646 w 5345"/>
                <a:gd name="T13" fmla="*/ 2147483646 h 2936"/>
                <a:gd name="T14" fmla="*/ 2147483646 w 5345"/>
                <a:gd name="T15" fmla="*/ 2147483646 h 2936"/>
                <a:gd name="T16" fmla="*/ 2147483646 w 5345"/>
                <a:gd name="T17" fmla="*/ 2147483646 h 2936"/>
                <a:gd name="T18" fmla="*/ 2147483646 w 5345"/>
                <a:gd name="T19" fmla="*/ 2147483646 h 2936"/>
                <a:gd name="T20" fmla="*/ 2147483646 w 5345"/>
                <a:gd name="T21" fmla="*/ 2147483646 h 2936"/>
                <a:gd name="T22" fmla="*/ 2147483646 w 5345"/>
                <a:gd name="T23" fmla="*/ 2147483646 h 2936"/>
                <a:gd name="T24" fmla="*/ 2147483646 w 5345"/>
                <a:gd name="T25" fmla="*/ 2147483646 h 2936"/>
                <a:gd name="T26" fmla="*/ 2147483646 w 5345"/>
                <a:gd name="T27" fmla="*/ 2147483646 h 2936"/>
                <a:gd name="T28" fmla="*/ 2147483646 w 5345"/>
                <a:gd name="T29" fmla="*/ 2147483646 h 2936"/>
                <a:gd name="T30" fmla="*/ 2147483646 w 5345"/>
                <a:gd name="T31" fmla="*/ 772639970 h 2936"/>
                <a:gd name="T32" fmla="*/ 2147483646 w 5345"/>
                <a:gd name="T33" fmla="*/ 0 h 2936"/>
                <a:gd name="T34" fmla="*/ 2147483646 w 5345"/>
                <a:gd name="T35" fmla="*/ 363587807 h 2936"/>
                <a:gd name="T36" fmla="*/ 2147483646 w 5345"/>
                <a:gd name="T37" fmla="*/ 2147483646 h 2936"/>
                <a:gd name="T38" fmla="*/ 2147483646 w 5345"/>
                <a:gd name="T39" fmla="*/ 2147483646 h 2936"/>
                <a:gd name="T40" fmla="*/ 2147483646 w 5345"/>
                <a:gd name="T41" fmla="*/ 2147483646 h 2936"/>
                <a:gd name="T42" fmla="*/ 2147483646 w 5345"/>
                <a:gd name="T43" fmla="*/ 2147483646 h 2936"/>
                <a:gd name="T44" fmla="*/ 2147483646 w 5345"/>
                <a:gd name="T45" fmla="*/ 2147483646 h 2936"/>
                <a:gd name="T46" fmla="*/ 2147483646 w 5345"/>
                <a:gd name="T47" fmla="*/ 2147483646 h 2936"/>
                <a:gd name="T48" fmla="*/ 2147483646 w 5345"/>
                <a:gd name="T49" fmla="*/ 2147483646 h 2936"/>
                <a:gd name="T50" fmla="*/ 2147483646 w 5345"/>
                <a:gd name="T51" fmla="*/ 2147483646 h 2936"/>
                <a:gd name="T52" fmla="*/ 2147483646 w 5345"/>
                <a:gd name="T53" fmla="*/ 2147483646 h 2936"/>
                <a:gd name="T54" fmla="*/ 2147483646 w 5345"/>
                <a:gd name="T55" fmla="*/ 2147483646 h 2936"/>
                <a:gd name="T56" fmla="*/ 2147483646 w 5345"/>
                <a:gd name="T57" fmla="*/ 2147483646 h 2936"/>
                <a:gd name="T58" fmla="*/ 2147483646 w 5345"/>
                <a:gd name="T59" fmla="*/ 2147483646 h 2936"/>
                <a:gd name="T60" fmla="*/ 2147483646 w 5345"/>
                <a:gd name="T61" fmla="*/ 2147483646 h 2936"/>
                <a:gd name="T62" fmla="*/ 452722804 w 5345"/>
                <a:gd name="T63" fmla="*/ 2147483646 h 2936"/>
                <a:gd name="T64" fmla="*/ 90570008 w 5345"/>
                <a:gd name="T65" fmla="*/ 2147483646 h 2936"/>
                <a:gd name="T66" fmla="*/ 1629877726 w 5345"/>
                <a:gd name="T67" fmla="*/ 2147483646 h 2936"/>
                <a:gd name="T68" fmla="*/ 2147483646 w 5345"/>
                <a:gd name="T69" fmla="*/ 2147483646 h 2936"/>
                <a:gd name="T70" fmla="*/ 2147483646 w 5345"/>
                <a:gd name="T71" fmla="*/ 2147483646 h 2936"/>
                <a:gd name="T72" fmla="*/ 2147483646 w 5345"/>
                <a:gd name="T73" fmla="*/ 2147483646 h 2936"/>
                <a:gd name="T74" fmla="*/ 2147483646 w 5345"/>
                <a:gd name="T75" fmla="*/ 2147483646 h 2936"/>
                <a:gd name="T76" fmla="*/ 2147483646 w 5345"/>
                <a:gd name="T77" fmla="*/ 2147483646 h 2936"/>
                <a:gd name="T78" fmla="*/ 2147483646 w 5345"/>
                <a:gd name="T79" fmla="*/ 2147483646 h 2936"/>
                <a:gd name="T80" fmla="*/ 2147483646 w 5345"/>
                <a:gd name="T81" fmla="*/ 2147483646 h 2936"/>
                <a:gd name="T82" fmla="*/ 2147483646 w 5345"/>
                <a:gd name="T83" fmla="*/ 2147483646 h 2936"/>
                <a:gd name="T84" fmla="*/ 2147483646 w 5345"/>
                <a:gd name="T85" fmla="*/ 2147483646 h 2936"/>
                <a:gd name="T86" fmla="*/ 2147483646 w 5345"/>
                <a:gd name="T87" fmla="*/ 2147483646 h 2936"/>
                <a:gd name="T88" fmla="*/ 2147483646 w 5345"/>
                <a:gd name="T89" fmla="*/ 2147483646 h 2936"/>
                <a:gd name="T90" fmla="*/ 2147483646 w 5345"/>
                <a:gd name="T91" fmla="*/ 2147483646 h 2936"/>
                <a:gd name="T92" fmla="*/ 2147483646 w 5345"/>
                <a:gd name="T93" fmla="*/ 2147483646 h 2936"/>
                <a:gd name="T94" fmla="*/ 2147483646 w 5345"/>
                <a:gd name="T95" fmla="*/ 2147483646 h 2936"/>
                <a:gd name="T96" fmla="*/ 2147483646 w 5345"/>
                <a:gd name="T97" fmla="*/ 2147483646 h 2936"/>
                <a:gd name="T98" fmla="*/ 2147483646 w 5345"/>
                <a:gd name="T99" fmla="*/ 2147483646 h 2936"/>
                <a:gd name="T100" fmla="*/ 2147483646 w 5345"/>
                <a:gd name="T101" fmla="*/ 2147483646 h 2936"/>
                <a:gd name="T102" fmla="*/ 2147483646 w 5345"/>
                <a:gd name="T103" fmla="*/ 2147483646 h 2936"/>
                <a:gd name="T104" fmla="*/ 2147483646 w 5345"/>
                <a:gd name="T105" fmla="*/ 2147483646 h 29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345" h="2936">
                  <a:moveTo>
                    <a:pt x="4729" y="1661"/>
                  </a:moveTo>
                  <a:lnTo>
                    <a:pt x="4729" y="1661"/>
                  </a:lnTo>
                  <a:lnTo>
                    <a:pt x="4723" y="1609"/>
                  </a:lnTo>
                  <a:lnTo>
                    <a:pt x="4716" y="1558"/>
                  </a:lnTo>
                  <a:lnTo>
                    <a:pt x="4706" y="1507"/>
                  </a:lnTo>
                  <a:lnTo>
                    <a:pt x="4693" y="1458"/>
                  </a:lnTo>
                  <a:lnTo>
                    <a:pt x="4679" y="1409"/>
                  </a:lnTo>
                  <a:lnTo>
                    <a:pt x="4663" y="1361"/>
                  </a:lnTo>
                  <a:lnTo>
                    <a:pt x="4644" y="1314"/>
                  </a:lnTo>
                  <a:lnTo>
                    <a:pt x="4622" y="1268"/>
                  </a:lnTo>
                  <a:lnTo>
                    <a:pt x="4600" y="1223"/>
                  </a:lnTo>
                  <a:lnTo>
                    <a:pt x="4575" y="1181"/>
                  </a:lnTo>
                  <a:lnTo>
                    <a:pt x="4548" y="1138"/>
                  </a:lnTo>
                  <a:lnTo>
                    <a:pt x="4519" y="1098"/>
                  </a:lnTo>
                  <a:lnTo>
                    <a:pt x="4489" y="1059"/>
                  </a:lnTo>
                  <a:lnTo>
                    <a:pt x="4457" y="1021"/>
                  </a:lnTo>
                  <a:lnTo>
                    <a:pt x="4422" y="984"/>
                  </a:lnTo>
                  <a:lnTo>
                    <a:pt x="4387" y="950"/>
                  </a:lnTo>
                  <a:lnTo>
                    <a:pt x="4350" y="917"/>
                  </a:lnTo>
                  <a:lnTo>
                    <a:pt x="4312" y="886"/>
                  </a:lnTo>
                  <a:lnTo>
                    <a:pt x="4272" y="856"/>
                  </a:lnTo>
                  <a:lnTo>
                    <a:pt x="4230" y="828"/>
                  </a:lnTo>
                  <a:lnTo>
                    <a:pt x="4188" y="802"/>
                  </a:lnTo>
                  <a:lnTo>
                    <a:pt x="4144" y="778"/>
                  </a:lnTo>
                  <a:lnTo>
                    <a:pt x="4099" y="757"/>
                  </a:lnTo>
                  <a:lnTo>
                    <a:pt x="4053" y="737"/>
                  </a:lnTo>
                  <a:lnTo>
                    <a:pt x="4005" y="719"/>
                  </a:lnTo>
                  <a:lnTo>
                    <a:pt x="3957" y="703"/>
                  </a:lnTo>
                  <a:lnTo>
                    <a:pt x="3907" y="689"/>
                  </a:lnTo>
                  <a:lnTo>
                    <a:pt x="3857" y="679"/>
                  </a:lnTo>
                  <a:lnTo>
                    <a:pt x="3806" y="670"/>
                  </a:lnTo>
                  <a:lnTo>
                    <a:pt x="3754" y="663"/>
                  </a:lnTo>
                  <a:lnTo>
                    <a:pt x="3701" y="660"/>
                  </a:lnTo>
                  <a:lnTo>
                    <a:pt x="3648" y="658"/>
                  </a:lnTo>
                  <a:lnTo>
                    <a:pt x="3608" y="660"/>
                  </a:lnTo>
                  <a:lnTo>
                    <a:pt x="3566" y="661"/>
                  </a:lnTo>
                  <a:lnTo>
                    <a:pt x="3526" y="665"/>
                  </a:lnTo>
                  <a:lnTo>
                    <a:pt x="3486" y="670"/>
                  </a:lnTo>
                  <a:lnTo>
                    <a:pt x="3446" y="677"/>
                  </a:lnTo>
                  <a:lnTo>
                    <a:pt x="3407" y="686"/>
                  </a:lnTo>
                  <a:lnTo>
                    <a:pt x="3368" y="695"/>
                  </a:lnTo>
                  <a:lnTo>
                    <a:pt x="3330" y="706"/>
                  </a:lnTo>
                  <a:lnTo>
                    <a:pt x="3294" y="718"/>
                  </a:lnTo>
                  <a:lnTo>
                    <a:pt x="3257" y="732"/>
                  </a:lnTo>
                  <a:lnTo>
                    <a:pt x="3220" y="746"/>
                  </a:lnTo>
                  <a:lnTo>
                    <a:pt x="3185" y="763"/>
                  </a:lnTo>
                  <a:lnTo>
                    <a:pt x="3150" y="779"/>
                  </a:lnTo>
                  <a:lnTo>
                    <a:pt x="3116" y="798"/>
                  </a:lnTo>
                  <a:lnTo>
                    <a:pt x="3083" y="817"/>
                  </a:lnTo>
                  <a:lnTo>
                    <a:pt x="3050" y="838"/>
                  </a:lnTo>
                  <a:lnTo>
                    <a:pt x="3038" y="793"/>
                  </a:lnTo>
                  <a:lnTo>
                    <a:pt x="3024" y="750"/>
                  </a:lnTo>
                  <a:lnTo>
                    <a:pt x="3007" y="707"/>
                  </a:lnTo>
                  <a:lnTo>
                    <a:pt x="2989" y="664"/>
                  </a:lnTo>
                  <a:lnTo>
                    <a:pt x="2970" y="623"/>
                  </a:lnTo>
                  <a:lnTo>
                    <a:pt x="2949" y="583"/>
                  </a:lnTo>
                  <a:lnTo>
                    <a:pt x="2927" y="542"/>
                  </a:lnTo>
                  <a:lnTo>
                    <a:pt x="2903" y="504"/>
                  </a:lnTo>
                  <a:lnTo>
                    <a:pt x="2877" y="467"/>
                  </a:lnTo>
                  <a:lnTo>
                    <a:pt x="2850" y="430"/>
                  </a:lnTo>
                  <a:lnTo>
                    <a:pt x="2821" y="396"/>
                  </a:lnTo>
                  <a:lnTo>
                    <a:pt x="2792" y="361"/>
                  </a:lnTo>
                  <a:lnTo>
                    <a:pt x="2761" y="329"/>
                  </a:lnTo>
                  <a:lnTo>
                    <a:pt x="2728" y="297"/>
                  </a:lnTo>
                  <a:lnTo>
                    <a:pt x="2694" y="268"/>
                  </a:lnTo>
                  <a:lnTo>
                    <a:pt x="2659" y="238"/>
                  </a:lnTo>
                  <a:lnTo>
                    <a:pt x="2623" y="211"/>
                  </a:lnTo>
                  <a:lnTo>
                    <a:pt x="2586" y="185"/>
                  </a:lnTo>
                  <a:lnTo>
                    <a:pt x="2548" y="161"/>
                  </a:lnTo>
                  <a:lnTo>
                    <a:pt x="2509" y="139"/>
                  </a:lnTo>
                  <a:lnTo>
                    <a:pt x="2468" y="117"/>
                  </a:lnTo>
                  <a:lnTo>
                    <a:pt x="2427" y="97"/>
                  </a:lnTo>
                  <a:lnTo>
                    <a:pt x="2384" y="79"/>
                  </a:lnTo>
                  <a:lnTo>
                    <a:pt x="2342" y="63"/>
                  </a:lnTo>
                  <a:lnTo>
                    <a:pt x="2298" y="49"/>
                  </a:lnTo>
                  <a:lnTo>
                    <a:pt x="2253" y="36"/>
                  </a:lnTo>
                  <a:lnTo>
                    <a:pt x="2208" y="25"/>
                  </a:lnTo>
                  <a:lnTo>
                    <a:pt x="2162" y="17"/>
                  </a:lnTo>
                  <a:lnTo>
                    <a:pt x="2114" y="9"/>
                  </a:lnTo>
                  <a:lnTo>
                    <a:pt x="2067" y="4"/>
                  </a:lnTo>
                  <a:lnTo>
                    <a:pt x="2019" y="1"/>
                  </a:lnTo>
                  <a:lnTo>
                    <a:pt x="1971" y="0"/>
                  </a:lnTo>
                  <a:lnTo>
                    <a:pt x="1941" y="0"/>
                  </a:lnTo>
                  <a:lnTo>
                    <a:pt x="1913" y="1"/>
                  </a:lnTo>
                  <a:lnTo>
                    <a:pt x="1884" y="4"/>
                  </a:lnTo>
                  <a:lnTo>
                    <a:pt x="1856" y="6"/>
                  </a:lnTo>
                  <a:lnTo>
                    <a:pt x="1829" y="8"/>
                  </a:lnTo>
                  <a:lnTo>
                    <a:pt x="1800" y="13"/>
                  </a:lnTo>
                  <a:lnTo>
                    <a:pt x="1746" y="23"/>
                  </a:lnTo>
                  <a:lnTo>
                    <a:pt x="1691" y="34"/>
                  </a:lnTo>
                  <a:lnTo>
                    <a:pt x="1638" y="50"/>
                  </a:lnTo>
                  <a:lnTo>
                    <a:pt x="1587" y="68"/>
                  </a:lnTo>
                  <a:lnTo>
                    <a:pt x="1536" y="88"/>
                  </a:lnTo>
                  <a:lnTo>
                    <a:pt x="1487" y="110"/>
                  </a:lnTo>
                  <a:lnTo>
                    <a:pt x="1438" y="135"/>
                  </a:lnTo>
                  <a:lnTo>
                    <a:pt x="1392" y="161"/>
                  </a:lnTo>
                  <a:lnTo>
                    <a:pt x="1347" y="191"/>
                  </a:lnTo>
                  <a:lnTo>
                    <a:pt x="1303" y="221"/>
                  </a:lnTo>
                  <a:lnTo>
                    <a:pt x="1260" y="255"/>
                  </a:lnTo>
                  <a:lnTo>
                    <a:pt x="1220" y="290"/>
                  </a:lnTo>
                  <a:lnTo>
                    <a:pt x="1181" y="327"/>
                  </a:lnTo>
                  <a:lnTo>
                    <a:pt x="1144" y="366"/>
                  </a:lnTo>
                  <a:lnTo>
                    <a:pt x="1109" y="406"/>
                  </a:lnTo>
                  <a:lnTo>
                    <a:pt x="1076" y="448"/>
                  </a:lnTo>
                  <a:lnTo>
                    <a:pt x="1045" y="491"/>
                  </a:lnTo>
                  <a:lnTo>
                    <a:pt x="1016" y="538"/>
                  </a:lnTo>
                  <a:lnTo>
                    <a:pt x="989" y="584"/>
                  </a:lnTo>
                  <a:lnTo>
                    <a:pt x="964" y="632"/>
                  </a:lnTo>
                  <a:lnTo>
                    <a:pt x="942" y="681"/>
                  </a:lnTo>
                  <a:lnTo>
                    <a:pt x="922" y="732"/>
                  </a:lnTo>
                  <a:lnTo>
                    <a:pt x="905" y="784"/>
                  </a:lnTo>
                  <a:lnTo>
                    <a:pt x="890" y="837"/>
                  </a:lnTo>
                  <a:lnTo>
                    <a:pt x="877" y="890"/>
                  </a:lnTo>
                  <a:lnTo>
                    <a:pt x="867" y="946"/>
                  </a:lnTo>
                  <a:lnTo>
                    <a:pt x="864" y="973"/>
                  </a:lnTo>
                  <a:lnTo>
                    <a:pt x="860" y="1002"/>
                  </a:lnTo>
                  <a:lnTo>
                    <a:pt x="858" y="1030"/>
                  </a:lnTo>
                  <a:lnTo>
                    <a:pt x="855" y="1059"/>
                  </a:lnTo>
                  <a:lnTo>
                    <a:pt x="855" y="1087"/>
                  </a:lnTo>
                  <a:lnTo>
                    <a:pt x="854" y="1115"/>
                  </a:lnTo>
                  <a:lnTo>
                    <a:pt x="855" y="1150"/>
                  </a:lnTo>
                  <a:lnTo>
                    <a:pt x="857" y="1183"/>
                  </a:lnTo>
                  <a:lnTo>
                    <a:pt x="860" y="1216"/>
                  </a:lnTo>
                  <a:lnTo>
                    <a:pt x="864" y="1250"/>
                  </a:lnTo>
                  <a:lnTo>
                    <a:pt x="845" y="1249"/>
                  </a:lnTo>
                  <a:lnTo>
                    <a:pt x="801" y="1250"/>
                  </a:lnTo>
                  <a:lnTo>
                    <a:pt x="758" y="1253"/>
                  </a:lnTo>
                  <a:lnTo>
                    <a:pt x="716" y="1259"/>
                  </a:lnTo>
                  <a:lnTo>
                    <a:pt x="674" y="1266"/>
                  </a:lnTo>
                  <a:lnTo>
                    <a:pt x="633" y="1275"/>
                  </a:lnTo>
                  <a:lnTo>
                    <a:pt x="594" y="1287"/>
                  </a:lnTo>
                  <a:lnTo>
                    <a:pt x="555" y="1300"/>
                  </a:lnTo>
                  <a:lnTo>
                    <a:pt x="515" y="1316"/>
                  </a:lnTo>
                  <a:lnTo>
                    <a:pt x="479" y="1332"/>
                  </a:lnTo>
                  <a:lnTo>
                    <a:pt x="442" y="1351"/>
                  </a:lnTo>
                  <a:lnTo>
                    <a:pt x="407" y="1371"/>
                  </a:lnTo>
                  <a:lnTo>
                    <a:pt x="372" y="1393"/>
                  </a:lnTo>
                  <a:lnTo>
                    <a:pt x="339" y="1416"/>
                  </a:lnTo>
                  <a:lnTo>
                    <a:pt x="307" y="1441"/>
                  </a:lnTo>
                  <a:lnTo>
                    <a:pt x="277" y="1468"/>
                  </a:lnTo>
                  <a:lnTo>
                    <a:pt x="248" y="1496"/>
                  </a:lnTo>
                  <a:lnTo>
                    <a:pt x="219" y="1525"/>
                  </a:lnTo>
                  <a:lnTo>
                    <a:pt x="193" y="1556"/>
                  </a:lnTo>
                  <a:lnTo>
                    <a:pt x="169" y="1588"/>
                  </a:lnTo>
                  <a:lnTo>
                    <a:pt x="145" y="1621"/>
                  </a:lnTo>
                  <a:lnTo>
                    <a:pt x="122" y="1655"/>
                  </a:lnTo>
                  <a:lnTo>
                    <a:pt x="102" y="1690"/>
                  </a:lnTo>
                  <a:lnTo>
                    <a:pt x="83" y="1726"/>
                  </a:lnTo>
                  <a:lnTo>
                    <a:pt x="67" y="1764"/>
                  </a:lnTo>
                  <a:lnTo>
                    <a:pt x="51" y="1802"/>
                  </a:lnTo>
                  <a:lnTo>
                    <a:pt x="38" y="1841"/>
                  </a:lnTo>
                  <a:lnTo>
                    <a:pt x="28" y="1882"/>
                  </a:lnTo>
                  <a:lnTo>
                    <a:pt x="18" y="1923"/>
                  </a:lnTo>
                  <a:lnTo>
                    <a:pt x="10" y="1965"/>
                  </a:lnTo>
                  <a:lnTo>
                    <a:pt x="5" y="2006"/>
                  </a:lnTo>
                  <a:lnTo>
                    <a:pt x="2" y="2049"/>
                  </a:lnTo>
                  <a:lnTo>
                    <a:pt x="0" y="2092"/>
                  </a:lnTo>
                  <a:lnTo>
                    <a:pt x="2" y="2135"/>
                  </a:lnTo>
                  <a:lnTo>
                    <a:pt x="5" y="2176"/>
                  </a:lnTo>
                  <a:lnTo>
                    <a:pt x="10" y="2217"/>
                  </a:lnTo>
                  <a:lnTo>
                    <a:pt x="17" y="2257"/>
                  </a:lnTo>
                  <a:lnTo>
                    <a:pt x="25" y="2297"/>
                  </a:lnTo>
                  <a:lnTo>
                    <a:pt x="36" y="2336"/>
                  </a:lnTo>
                  <a:lnTo>
                    <a:pt x="49" y="2374"/>
                  </a:lnTo>
                  <a:lnTo>
                    <a:pt x="63" y="2411"/>
                  </a:lnTo>
                  <a:lnTo>
                    <a:pt x="79" y="2448"/>
                  </a:lnTo>
                  <a:lnTo>
                    <a:pt x="96" y="2483"/>
                  </a:lnTo>
                  <a:lnTo>
                    <a:pt x="115" y="2517"/>
                  </a:lnTo>
                  <a:lnTo>
                    <a:pt x="137" y="2552"/>
                  </a:lnTo>
                  <a:lnTo>
                    <a:pt x="159" y="2584"/>
                  </a:lnTo>
                  <a:lnTo>
                    <a:pt x="183" y="2615"/>
                  </a:lnTo>
                  <a:lnTo>
                    <a:pt x="208" y="2645"/>
                  </a:lnTo>
                  <a:lnTo>
                    <a:pt x="234" y="2674"/>
                  </a:lnTo>
                  <a:lnTo>
                    <a:pt x="262" y="2702"/>
                  </a:lnTo>
                  <a:lnTo>
                    <a:pt x="290" y="2728"/>
                  </a:lnTo>
                  <a:lnTo>
                    <a:pt x="321" y="2753"/>
                  </a:lnTo>
                  <a:lnTo>
                    <a:pt x="352" y="2777"/>
                  </a:lnTo>
                  <a:lnTo>
                    <a:pt x="385" y="2799"/>
                  </a:lnTo>
                  <a:lnTo>
                    <a:pt x="418" y="2819"/>
                  </a:lnTo>
                  <a:lnTo>
                    <a:pt x="453" y="2840"/>
                  </a:lnTo>
                  <a:lnTo>
                    <a:pt x="488" y="2856"/>
                  </a:lnTo>
                  <a:lnTo>
                    <a:pt x="525" y="2873"/>
                  </a:lnTo>
                  <a:lnTo>
                    <a:pt x="563" y="2887"/>
                  </a:lnTo>
                  <a:lnTo>
                    <a:pt x="601" y="2899"/>
                  </a:lnTo>
                  <a:lnTo>
                    <a:pt x="640" y="2909"/>
                  </a:lnTo>
                  <a:lnTo>
                    <a:pt x="679" y="2919"/>
                  </a:lnTo>
                  <a:lnTo>
                    <a:pt x="719" y="2926"/>
                  </a:lnTo>
                  <a:lnTo>
                    <a:pt x="761" y="2931"/>
                  </a:lnTo>
                  <a:lnTo>
                    <a:pt x="802" y="2934"/>
                  </a:lnTo>
                  <a:lnTo>
                    <a:pt x="802" y="2936"/>
                  </a:lnTo>
                  <a:lnTo>
                    <a:pt x="4682" y="2936"/>
                  </a:lnTo>
                  <a:lnTo>
                    <a:pt x="4682" y="2933"/>
                  </a:lnTo>
                  <a:lnTo>
                    <a:pt x="4693" y="2934"/>
                  </a:lnTo>
                  <a:lnTo>
                    <a:pt x="4706" y="2936"/>
                  </a:lnTo>
                  <a:lnTo>
                    <a:pt x="4740" y="2936"/>
                  </a:lnTo>
                  <a:lnTo>
                    <a:pt x="4772" y="2933"/>
                  </a:lnTo>
                  <a:lnTo>
                    <a:pt x="4804" y="2928"/>
                  </a:lnTo>
                  <a:lnTo>
                    <a:pt x="4836" y="2922"/>
                  </a:lnTo>
                  <a:lnTo>
                    <a:pt x="4866" y="2915"/>
                  </a:lnTo>
                  <a:lnTo>
                    <a:pt x="4896" y="2907"/>
                  </a:lnTo>
                  <a:lnTo>
                    <a:pt x="4926" y="2898"/>
                  </a:lnTo>
                  <a:lnTo>
                    <a:pt x="4955" y="2886"/>
                  </a:lnTo>
                  <a:lnTo>
                    <a:pt x="4984" y="2873"/>
                  </a:lnTo>
                  <a:lnTo>
                    <a:pt x="5011" y="2859"/>
                  </a:lnTo>
                  <a:lnTo>
                    <a:pt x="5038" y="2843"/>
                  </a:lnTo>
                  <a:lnTo>
                    <a:pt x="5063" y="2827"/>
                  </a:lnTo>
                  <a:lnTo>
                    <a:pt x="5089" y="2809"/>
                  </a:lnTo>
                  <a:lnTo>
                    <a:pt x="5113" y="2790"/>
                  </a:lnTo>
                  <a:lnTo>
                    <a:pt x="5135" y="2770"/>
                  </a:lnTo>
                  <a:lnTo>
                    <a:pt x="5158" y="2748"/>
                  </a:lnTo>
                  <a:lnTo>
                    <a:pt x="5179" y="2727"/>
                  </a:lnTo>
                  <a:lnTo>
                    <a:pt x="5199" y="2703"/>
                  </a:lnTo>
                  <a:lnTo>
                    <a:pt x="5218" y="2680"/>
                  </a:lnTo>
                  <a:lnTo>
                    <a:pt x="5236" y="2655"/>
                  </a:lnTo>
                  <a:lnTo>
                    <a:pt x="5252" y="2629"/>
                  </a:lnTo>
                  <a:lnTo>
                    <a:pt x="5268" y="2602"/>
                  </a:lnTo>
                  <a:lnTo>
                    <a:pt x="5282" y="2574"/>
                  </a:lnTo>
                  <a:lnTo>
                    <a:pt x="5295" y="2546"/>
                  </a:lnTo>
                  <a:lnTo>
                    <a:pt x="5306" y="2517"/>
                  </a:lnTo>
                  <a:lnTo>
                    <a:pt x="5316" y="2488"/>
                  </a:lnTo>
                  <a:lnTo>
                    <a:pt x="5325" y="2457"/>
                  </a:lnTo>
                  <a:lnTo>
                    <a:pt x="5332" y="2426"/>
                  </a:lnTo>
                  <a:lnTo>
                    <a:pt x="5338" y="2394"/>
                  </a:lnTo>
                  <a:lnTo>
                    <a:pt x="5341" y="2362"/>
                  </a:lnTo>
                  <a:lnTo>
                    <a:pt x="5344" y="2330"/>
                  </a:lnTo>
                  <a:lnTo>
                    <a:pt x="5345" y="2297"/>
                  </a:lnTo>
                  <a:lnTo>
                    <a:pt x="5344" y="2265"/>
                  </a:lnTo>
                  <a:lnTo>
                    <a:pt x="5341" y="2233"/>
                  </a:lnTo>
                  <a:lnTo>
                    <a:pt x="5338" y="2203"/>
                  </a:lnTo>
                  <a:lnTo>
                    <a:pt x="5333" y="2172"/>
                  </a:lnTo>
                  <a:lnTo>
                    <a:pt x="5326" y="2141"/>
                  </a:lnTo>
                  <a:lnTo>
                    <a:pt x="5318" y="2111"/>
                  </a:lnTo>
                  <a:lnTo>
                    <a:pt x="5308" y="2083"/>
                  </a:lnTo>
                  <a:lnTo>
                    <a:pt x="5296" y="2054"/>
                  </a:lnTo>
                  <a:lnTo>
                    <a:pt x="5284" y="2026"/>
                  </a:lnTo>
                  <a:lnTo>
                    <a:pt x="5271" y="2000"/>
                  </a:lnTo>
                  <a:lnTo>
                    <a:pt x="5256" y="1974"/>
                  </a:lnTo>
                  <a:lnTo>
                    <a:pt x="5241" y="1948"/>
                  </a:lnTo>
                  <a:lnTo>
                    <a:pt x="5223" y="1923"/>
                  </a:lnTo>
                  <a:lnTo>
                    <a:pt x="5205" y="1899"/>
                  </a:lnTo>
                  <a:lnTo>
                    <a:pt x="5185" y="1877"/>
                  </a:lnTo>
                  <a:lnTo>
                    <a:pt x="5165" y="1854"/>
                  </a:lnTo>
                  <a:lnTo>
                    <a:pt x="5143" y="1834"/>
                  </a:lnTo>
                  <a:lnTo>
                    <a:pt x="5121" y="1814"/>
                  </a:lnTo>
                  <a:lnTo>
                    <a:pt x="5098" y="1795"/>
                  </a:lnTo>
                  <a:lnTo>
                    <a:pt x="5074" y="1777"/>
                  </a:lnTo>
                  <a:lnTo>
                    <a:pt x="5049" y="1761"/>
                  </a:lnTo>
                  <a:lnTo>
                    <a:pt x="5023" y="1745"/>
                  </a:lnTo>
                  <a:lnTo>
                    <a:pt x="4997" y="1731"/>
                  </a:lnTo>
                  <a:lnTo>
                    <a:pt x="4969" y="1717"/>
                  </a:lnTo>
                  <a:lnTo>
                    <a:pt x="4941" y="1706"/>
                  </a:lnTo>
                  <a:lnTo>
                    <a:pt x="4913" y="1696"/>
                  </a:lnTo>
                  <a:lnTo>
                    <a:pt x="4883" y="1686"/>
                  </a:lnTo>
                  <a:lnTo>
                    <a:pt x="4853" y="1678"/>
                  </a:lnTo>
                  <a:lnTo>
                    <a:pt x="4823" y="1672"/>
                  </a:lnTo>
                  <a:lnTo>
                    <a:pt x="4792" y="1667"/>
                  </a:lnTo>
                  <a:lnTo>
                    <a:pt x="4761" y="1664"/>
                  </a:lnTo>
                  <a:lnTo>
                    <a:pt x="4729" y="1661"/>
                  </a:lnTo>
                  <a:close/>
                </a:path>
              </a:pathLst>
            </a:custGeom>
            <a:solidFill>
              <a:schemeClr val="accent2">
                <a:lumMod val="75000"/>
              </a:schemeClr>
            </a:solidFill>
            <a:ln>
              <a:noFill/>
            </a:ln>
          </p:spPr>
          <p:txBody>
            <a:bodyPr anchor="ctr">
              <a:scene3d>
                <a:camera prst="orthographicFront"/>
                <a:lightRig rig="threePt" dir="t"/>
              </a:scene3d>
              <a:sp3d>
                <a:contourClr>
                  <a:srgbClr val="FFFFFF"/>
                </a:contourClr>
              </a:sp3d>
            </a:bodyPr>
            <a:lstStyle/>
            <a:p>
              <a:pPr algn="ctr" defTabSz="914270" eaLnBrk="1" fontAlgn="auto" hangingPunct="1">
                <a:spcBef>
                  <a:spcPts val="0"/>
                </a:spcBef>
                <a:spcAft>
                  <a:spcPts val="0"/>
                </a:spcAft>
                <a:defRPr/>
              </a:pPr>
              <a:endParaRPr lang="zh-CN" altLang="en-US" sz="1867">
                <a:solidFill>
                  <a:srgbClr val="FFFFFF"/>
                </a:solidFill>
                <a:latin typeface="+mn-lt"/>
                <a:ea typeface="+mn-ea"/>
              </a:endParaRPr>
            </a:p>
          </p:txBody>
        </p:sp>
        <p:sp>
          <p:nvSpPr>
            <p:cNvPr id="6" name="文本框 5"/>
            <p:cNvSpPr txBox="1">
              <a:spLocks noChangeArrowheads="1"/>
            </p:cNvSpPr>
            <p:nvPr/>
          </p:nvSpPr>
          <p:spPr bwMode="auto">
            <a:xfrm>
              <a:off x="4508159" y="864629"/>
              <a:ext cx="433287" cy="45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en-US" altLang="zh-CN" sz="3733">
                  <a:solidFill>
                    <a:schemeClr val="bg1"/>
                  </a:solidFill>
                  <a:cs typeface="Arial" pitchFamily="34" charset="0"/>
                </a:rPr>
                <a:t>2</a:t>
              </a:r>
              <a:endParaRPr lang="zh-CN" altLang="en-US" sz="3733">
                <a:solidFill>
                  <a:schemeClr val="bg1"/>
                </a:solidFill>
                <a:cs typeface="Arial" pitchFamily="34" charset="0"/>
              </a:endParaRPr>
            </a:p>
          </p:txBody>
        </p:sp>
      </p:grpSp>
    </p:spTree>
    <p:extLst>
      <p:ext uri="{BB962C8B-B14F-4D97-AF65-F5344CB8AC3E}">
        <p14:creationId xmlns:p14="http://schemas.microsoft.com/office/powerpoint/2010/main" val="28392465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节标题">
    <p:bg>
      <p:bgPr>
        <a:solidFill>
          <a:srgbClr val="F2F2F2"/>
        </a:solidFill>
        <a:effectLst/>
      </p:bgPr>
    </p:bg>
    <p:spTree>
      <p:nvGrpSpPr>
        <p:cNvPr id="1" name=""/>
        <p:cNvGrpSpPr/>
        <p:nvPr/>
      </p:nvGrpSpPr>
      <p:grpSpPr>
        <a:xfrm>
          <a:off x="0" y="0"/>
          <a:ext cx="0" cy="0"/>
          <a:chOff x="0" y="0"/>
          <a:chExt cx="0" cy="0"/>
        </a:xfrm>
      </p:grpSpPr>
      <p:sp>
        <p:nvSpPr>
          <p:cNvPr id="2" name="文本框 1"/>
          <p:cNvSpPr txBox="1">
            <a:spLocks noChangeArrowheads="1"/>
          </p:cNvSpPr>
          <p:nvPr userDrawn="1"/>
        </p:nvSpPr>
        <p:spPr bwMode="auto">
          <a:xfrm>
            <a:off x="1363135" y="359836"/>
            <a:ext cx="45847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zh-CN" altLang="en-US" sz="2667" b="1">
                <a:latin typeface="微软雅黑" pitchFamily="34" charset="-122"/>
              </a:rPr>
              <a:t>此处添加您的标题</a:t>
            </a:r>
            <a:endParaRPr lang="id-ID" altLang="zh-CN" sz="2667" b="1">
              <a:latin typeface="微软雅黑" pitchFamily="34" charset="-122"/>
            </a:endParaRPr>
          </a:p>
        </p:txBody>
      </p:sp>
      <p:sp>
        <p:nvSpPr>
          <p:cNvPr id="3" name="文本框 2"/>
          <p:cNvSpPr txBox="1">
            <a:spLocks noChangeArrowheads="1"/>
          </p:cNvSpPr>
          <p:nvPr userDrawn="1"/>
        </p:nvSpPr>
        <p:spPr bwMode="auto">
          <a:xfrm>
            <a:off x="1390651" y="840322"/>
            <a:ext cx="3570816" cy="29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id-ID" altLang="zh-CN" sz="1333"/>
              <a:t>Biscuit oat cake carrot cake muffin jelly</a:t>
            </a:r>
            <a:endParaRPr lang="zh-CN" altLang="en-US" sz="1333"/>
          </a:p>
        </p:txBody>
      </p:sp>
      <p:grpSp>
        <p:nvGrpSpPr>
          <p:cNvPr id="4" name="组合 8"/>
          <p:cNvGrpSpPr>
            <a:grpSpLocks/>
          </p:cNvGrpSpPr>
          <p:nvPr userDrawn="1"/>
        </p:nvGrpSpPr>
        <p:grpSpPr bwMode="auto">
          <a:xfrm>
            <a:off x="275175" y="421220"/>
            <a:ext cx="1087967" cy="666786"/>
            <a:chOff x="4353620" y="864629"/>
            <a:chExt cx="742365" cy="456068"/>
          </a:xfrm>
        </p:grpSpPr>
        <p:sp>
          <p:nvSpPr>
            <p:cNvPr id="5" name="KSO_Shape"/>
            <p:cNvSpPr>
              <a:spLocks/>
            </p:cNvSpPr>
            <p:nvPr/>
          </p:nvSpPr>
          <p:spPr bwMode="auto">
            <a:xfrm>
              <a:off x="4353620" y="866076"/>
              <a:ext cx="742365" cy="408268"/>
            </a:xfrm>
            <a:custGeom>
              <a:avLst/>
              <a:gdLst>
                <a:gd name="T0" fmla="*/ 2147483646 w 5345"/>
                <a:gd name="T1" fmla="*/ 2147483646 h 2936"/>
                <a:gd name="T2" fmla="*/ 2147483646 w 5345"/>
                <a:gd name="T3" fmla="*/ 2147483646 h 2936"/>
                <a:gd name="T4" fmla="*/ 2147483646 w 5345"/>
                <a:gd name="T5" fmla="*/ 2147483646 h 2936"/>
                <a:gd name="T6" fmla="*/ 2147483646 w 5345"/>
                <a:gd name="T7" fmla="*/ 2147483646 h 2936"/>
                <a:gd name="T8" fmla="*/ 2147483646 w 5345"/>
                <a:gd name="T9" fmla="*/ 2147483646 h 2936"/>
                <a:gd name="T10" fmla="*/ 2147483646 w 5345"/>
                <a:gd name="T11" fmla="*/ 2147483646 h 2936"/>
                <a:gd name="T12" fmla="*/ 2147483646 w 5345"/>
                <a:gd name="T13" fmla="*/ 2147483646 h 2936"/>
                <a:gd name="T14" fmla="*/ 2147483646 w 5345"/>
                <a:gd name="T15" fmla="*/ 2147483646 h 2936"/>
                <a:gd name="T16" fmla="*/ 2147483646 w 5345"/>
                <a:gd name="T17" fmla="*/ 2147483646 h 2936"/>
                <a:gd name="T18" fmla="*/ 2147483646 w 5345"/>
                <a:gd name="T19" fmla="*/ 2147483646 h 2936"/>
                <a:gd name="T20" fmla="*/ 2147483646 w 5345"/>
                <a:gd name="T21" fmla="*/ 2147483646 h 2936"/>
                <a:gd name="T22" fmla="*/ 2147483646 w 5345"/>
                <a:gd name="T23" fmla="*/ 2147483646 h 2936"/>
                <a:gd name="T24" fmla="*/ 2147483646 w 5345"/>
                <a:gd name="T25" fmla="*/ 2147483646 h 2936"/>
                <a:gd name="T26" fmla="*/ 2147483646 w 5345"/>
                <a:gd name="T27" fmla="*/ 2147483646 h 2936"/>
                <a:gd name="T28" fmla="*/ 2147483646 w 5345"/>
                <a:gd name="T29" fmla="*/ 2147483646 h 2936"/>
                <a:gd name="T30" fmla="*/ 2147483646 w 5345"/>
                <a:gd name="T31" fmla="*/ 772639970 h 2936"/>
                <a:gd name="T32" fmla="*/ 2147483646 w 5345"/>
                <a:gd name="T33" fmla="*/ 0 h 2936"/>
                <a:gd name="T34" fmla="*/ 2147483646 w 5345"/>
                <a:gd name="T35" fmla="*/ 363587807 h 2936"/>
                <a:gd name="T36" fmla="*/ 2147483646 w 5345"/>
                <a:gd name="T37" fmla="*/ 2147483646 h 2936"/>
                <a:gd name="T38" fmla="*/ 2147483646 w 5345"/>
                <a:gd name="T39" fmla="*/ 2147483646 h 2936"/>
                <a:gd name="T40" fmla="*/ 2147483646 w 5345"/>
                <a:gd name="T41" fmla="*/ 2147483646 h 2936"/>
                <a:gd name="T42" fmla="*/ 2147483646 w 5345"/>
                <a:gd name="T43" fmla="*/ 2147483646 h 2936"/>
                <a:gd name="T44" fmla="*/ 2147483646 w 5345"/>
                <a:gd name="T45" fmla="*/ 2147483646 h 2936"/>
                <a:gd name="T46" fmla="*/ 2147483646 w 5345"/>
                <a:gd name="T47" fmla="*/ 2147483646 h 2936"/>
                <a:gd name="T48" fmla="*/ 2147483646 w 5345"/>
                <a:gd name="T49" fmla="*/ 2147483646 h 2936"/>
                <a:gd name="T50" fmla="*/ 2147483646 w 5345"/>
                <a:gd name="T51" fmla="*/ 2147483646 h 2936"/>
                <a:gd name="T52" fmla="*/ 2147483646 w 5345"/>
                <a:gd name="T53" fmla="*/ 2147483646 h 2936"/>
                <a:gd name="T54" fmla="*/ 2147483646 w 5345"/>
                <a:gd name="T55" fmla="*/ 2147483646 h 2936"/>
                <a:gd name="T56" fmla="*/ 2147483646 w 5345"/>
                <a:gd name="T57" fmla="*/ 2147483646 h 2936"/>
                <a:gd name="T58" fmla="*/ 2147483646 w 5345"/>
                <a:gd name="T59" fmla="*/ 2147483646 h 2936"/>
                <a:gd name="T60" fmla="*/ 2147483646 w 5345"/>
                <a:gd name="T61" fmla="*/ 2147483646 h 2936"/>
                <a:gd name="T62" fmla="*/ 452722804 w 5345"/>
                <a:gd name="T63" fmla="*/ 2147483646 h 2936"/>
                <a:gd name="T64" fmla="*/ 90570008 w 5345"/>
                <a:gd name="T65" fmla="*/ 2147483646 h 2936"/>
                <a:gd name="T66" fmla="*/ 1629877726 w 5345"/>
                <a:gd name="T67" fmla="*/ 2147483646 h 2936"/>
                <a:gd name="T68" fmla="*/ 2147483646 w 5345"/>
                <a:gd name="T69" fmla="*/ 2147483646 h 2936"/>
                <a:gd name="T70" fmla="*/ 2147483646 w 5345"/>
                <a:gd name="T71" fmla="*/ 2147483646 h 2936"/>
                <a:gd name="T72" fmla="*/ 2147483646 w 5345"/>
                <a:gd name="T73" fmla="*/ 2147483646 h 2936"/>
                <a:gd name="T74" fmla="*/ 2147483646 w 5345"/>
                <a:gd name="T75" fmla="*/ 2147483646 h 2936"/>
                <a:gd name="T76" fmla="*/ 2147483646 w 5345"/>
                <a:gd name="T77" fmla="*/ 2147483646 h 2936"/>
                <a:gd name="T78" fmla="*/ 2147483646 w 5345"/>
                <a:gd name="T79" fmla="*/ 2147483646 h 2936"/>
                <a:gd name="T80" fmla="*/ 2147483646 w 5345"/>
                <a:gd name="T81" fmla="*/ 2147483646 h 2936"/>
                <a:gd name="T82" fmla="*/ 2147483646 w 5345"/>
                <a:gd name="T83" fmla="*/ 2147483646 h 2936"/>
                <a:gd name="T84" fmla="*/ 2147483646 w 5345"/>
                <a:gd name="T85" fmla="*/ 2147483646 h 2936"/>
                <a:gd name="T86" fmla="*/ 2147483646 w 5345"/>
                <a:gd name="T87" fmla="*/ 2147483646 h 2936"/>
                <a:gd name="T88" fmla="*/ 2147483646 w 5345"/>
                <a:gd name="T89" fmla="*/ 2147483646 h 2936"/>
                <a:gd name="T90" fmla="*/ 2147483646 w 5345"/>
                <a:gd name="T91" fmla="*/ 2147483646 h 2936"/>
                <a:gd name="T92" fmla="*/ 2147483646 w 5345"/>
                <a:gd name="T93" fmla="*/ 2147483646 h 2936"/>
                <a:gd name="T94" fmla="*/ 2147483646 w 5345"/>
                <a:gd name="T95" fmla="*/ 2147483646 h 2936"/>
                <a:gd name="T96" fmla="*/ 2147483646 w 5345"/>
                <a:gd name="T97" fmla="*/ 2147483646 h 2936"/>
                <a:gd name="T98" fmla="*/ 2147483646 w 5345"/>
                <a:gd name="T99" fmla="*/ 2147483646 h 2936"/>
                <a:gd name="T100" fmla="*/ 2147483646 w 5345"/>
                <a:gd name="T101" fmla="*/ 2147483646 h 2936"/>
                <a:gd name="T102" fmla="*/ 2147483646 w 5345"/>
                <a:gd name="T103" fmla="*/ 2147483646 h 2936"/>
                <a:gd name="T104" fmla="*/ 2147483646 w 5345"/>
                <a:gd name="T105" fmla="*/ 2147483646 h 29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345" h="2936">
                  <a:moveTo>
                    <a:pt x="4729" y="1661"/>
                  </a:moveTo>
                  <a:lnTo>
                    <a:pt x="4729" y="1661"/>
                  </a:lnTo>
                  <a:lnTo>
                    <a:pt x="4723" y="1609"/>
                  </a:lnTo>
                  <a:lnTo>
                    <a:pt x="4716" y="1558"/>
                  </a:lnTo>
                  <a:lnTo>
                    <a:pt x="4706" y="1507"/>
                  </a:lnTo>
                  <a:lnTo>
                    <a:pt x="4693" y="1458"/>
                  </a:lnTo>
                  <a:lnTo>
                    <a:pt x="4679" y="1409"/>
                  </a:lnTo>
                  <a:lnTo>
                    <a:pt x="4663" y="1361"/>
                  </a:lnTo>
                  <a:lnTo>
                    <a:pt x="4644" y="1314"/>
                  </a:lnTo>
                  <a:lnTo>
                    <a:pt x="4622" y="1268"/>
                  </a:lnTo>
                  <a:lnTo>
                    <a:pt x="4600" y="1223"/>
                  </a:lnTo>
                  <a:lnTo>
                    <a:pt x="4575" y="1181"/>
                  </a:lnTo>
                  <a:lnTo>
                    <a:pt x="4548" y="1138"/>
                  </a:lnTo>
                  <a:lnTo>
                    <a:pt x="4519" y="1098"/>
                  </a:lnTo>
                  <a:lnTo>
                    <a:pt x="4489" y="1059"/>
                  </a:lnTo>
                  <a:lnTo>
                    <a:pt x="4457" y="1021"/>
                  </a:lnTo>
                  <a:lnTo>
                    <a:pt x="4422" y="984"/>
                  </a:lnTo>
                  <a:lnTo>
                    <a:pt x="4387" y="950"/>
                  </a:lnTo>
                  <a:lnTo>
                    <a:pt x="4350" y="917"/>
                  </a:lnTo>
                  <a:lnTo>
                    <a:pt x="4312" y="886"/>
                  </a:lnTo>
                  <a:lnTo>
                    <a:pt x="4272" y="856"/>
                  </a:lnTo>
                  <a:lnTo>
                    <a:pt x="4230" y="828"/>
                  </a:lnTo>
                  <a:lnTo>
                    <a:pt x="4188" y="802"/>
                  </a:lnTo>
                  <a:lnTo>
                    <a:pt x="4144" y="778"/>
                  </a:lnTo>
                  <a:lnTo>
                    <a:pt x="4099" y="757"/>
                  </a:lnTo>
                  <a:lnTo>
                    <a:pt x="4053" y="737"/>
                  </a:lnTo>
                  <a:lnTo>
                    <a:pt x="4005" y="719"/>
                  </a:lnTo>
                  <a:lnTo>
                    <a:pt x="3957" y="703"/>
                  </a:lnTo>
                  <a:lnTo>
                    <a:pt x="3907" y="689"/>
                  </a:lnTo>
                  <a:lnTo>
                    <a:pt x="3857" y="679"/>
                  </a:lnTo>
                  <a:lnTo>
                    <a:pt x="3806" y="670"/>
                  </a:lnTo>
                  <a:lnTo>
                    <a:pt x="3754" y="663"/>
                  </a:lnTo>
                  <a:lnTo>
                    <a:pt x="3701" y="660"/>
                  </a:lnTo>
                  <a:lnTo>
                    <a:pt x="3648" y="658"/>
                  </a:lnTo>
                  <a:lnTo>
                    <a:pt x="3608" y="660"/>
                  </a:lnTo>
                  <a:lnTo>
                    <a:pt x="3566" y="661"/>
                  </a:lnTo>
                  <a:lnTo>
                    <a:pt x="3526" y="665"/>
                  </a:lnTo>
                  <a:lnTo>
                    <a:pt x="3486" y="670"/>
                  </a:lnTo>
                  <a:lnTo>
                    <a:pt x="3446" y="677"/>
                  </a:lnTo>
                  <a:lnTo>
                    <a:pt x="3407" y="686"/>
                  </a:lnTo>
                  <a:lnTo>
                    <a:pt x="3368" y="695"/>
                  </a:lnTo>
                  <a:lnTo>
                    <a:pt x="3330" y="706"/>
                  </a:lnTo>
                  <a:lnTo>
                    <a:pt x="3294" y="718"/>
                  </a:lnTo>
                  <a:lnTo>
                    <a:pt x="3257" y="732"/>
                  </a:lnTo>
                  <a:lnTo>
                    <a:pt x="3220" y="746"/>
                  </a:lnTo>
                  <a:lnTo>
                    <a:pt x="3185" y="763"/>
                  </a:lnTo>
                  <a:lnTo>
                    <a:pt x="3150" y="779"/>
                  </a:lnTo>
                  <a:lnTo>
                    <a:pt x="3116" y="798"/>
                  </a:lnTo>
                  <a:lnTo>
                    <a:pt x="3083" y="817"/>
                  </a:lnTo>
                  <a:lnTo>
                    <a:pt x="3050" y="838"/>
                  </a:lnTo>
                  <a:lnTo>
                    <a:pt x="3038" y="793"/>
                  </a:lnTo>
                  <a:lnTo>
                    <a:pt x="3024" y="750"/>
                  </a:lnTo>
                  <a:lnTo>
                    <a:pt x="3007" y="707"/>
                  </a:lnTo>
                  <a:lnTo>
                    <a:pt x="2989" y="664"/>
                  </a:lnTo>
                  <a:lnTo>
                    <a:pt x="2970" y="623"/>
                  </a:lnTo>
                  <a:lnTo>
                    <a:pt x="2949" y="583"/>
                  </a:lnTo>
                  <a:lnTo>
                    <a:pt x="2927" y="542"/>
                  </a:lnTo>
                  <a:lnTo>
                    <a:pt x="2903" y="504"/>
                  </a:lnTo>
                  <a:lnTo>
                    <a:pt x="2877" y="467"/>
                  </a:lnTo>
                  <a:lnTo>
                    <a:pt x="2850" y="430"/>
                  </a:lnTo>
                  <a:lnTo>
                    <a:pt x="2821" y="396"/>
                  </a:lnTo>
                  <a:lnTo>
                    <a:pt x="2792" y="361"/>
                  </a:lnTo>
                  <a:lnTo>
                    <a:pt x="2761" y="329"/>
                  </a:lnTo>
                  <a:lnTo>
                    <a:pt x="2728" y="297"/>
                  </a:lnTo>
                  <a:lnTo>
                    <a:pt x="2694" y="268"/>
                  </a:lnTo>
                  <a:lnTo>
                    <a:pt x="2659" y="238"/>
                  </a:lnTo>
                  <a:lnTo>
                    <a:pt x="2623" y="211"/>
                  </a:lnTo>
                  <a:lnTo>
                    <a:pt x="2586" y="185"/>
                  </a:lnTo>
                  <a:lnTo>
                    <a:pt x="2548" y="161"/>
                  </a:lnTo>
                  <a:lnTo>
                    <a:pt x="2509" y="139"/>
                  </a:lnTo>
                  <a:lnTo>
                    <a:pt x="2468" y="117"/>
                  </a:lnTo>
                  <a:lnTo>
                    <a:pt x="2427" y="97"/>
                  </a:lnTo>
                  <a:lnTo>
                    <a:pt x="2384" y="79"/>
                  </a:lnTo>
                  <a:lnTo>
                    <a:pt x="2342" y="63"/>
                  </a:lnTo>
                  <a:lnTo>
                    <a:pt x="2298" y="49"/>
                  </a:lnTo>
                  <a:lnTo>
                    <a:pt x="2253" y="36"/>
                  </a:lnTo>
                  <a:lnTo>
                    <a:pt x="2208" y="25"/>
                  </a:lnTo>
                  <a:lnTo>
                    <a:pt x="2162" y="17"/>
                  </a:lnTo>
                  <a:lnTo>
                    <a:pt x="2114" y="9"/>
                  </a:lnTo>
                  <a:lnTo>
                    <a:pt x="2067" y="4"/>
                  </a:lnTo>
                  <a:lnTo>
                    <a:pt x="2019" y="1"/>
                  </a:lnTo>
                  <a:lnTo>
                    <a:pt x="1971" y="0"/>
                  </a:lnTo>
                  <a:lnTo>
                    <a:pt x="1941" y="0"/>
                  </a:lnTo>
                  <a:lnTo>
                    <a:pt x="1913" y="1"/>
                  </a:lnTo>
                  <a:lnTo>
                    <a:pt x="1884" y="4"/>
                  </a:lnTo>
                  <a:lnTo>
                    <a:pt x="1856" y="6"/>
                  </a:lnTo>
                  <a:lnTo>
                    <a:pt x="1829" y="8"/>
                  </a:lnTo>
                  <a:lnTo>
                    <a:pt x="1800" y="13"/>
                  </a:lnTo>
                  <a:lnTo>
                    <a:pt x="1746" y="23"/>
                  </a:lnTo>
                  <a:lnTo>
                    <a:pt x="1691" y="34"/>
                  </a:lnTo>
                  <a:lnTo>
                    <a:pt x="1638" y="50"/>
                  </a:lnTo>
                  <a:lnTo>
                    <a:pt x="1587" y="68"/>
                  </a:lnTo>
                  <a:lnTo>
                    <a:pt x="1536" y="88"/>
                  </a:lnTo>
                  <a:lnTo>
                    <a:pt x="1487" y="110"/>
                  </a:lnTo>
                  <a:lnTo>
                    <a:pt x="1438" y="135"/>
                  </a:lnTo>
                  <a:lnTo>
                    <a:pt x="1392" y="161"/>
                  </a:lnTo>
                  <a:lnTo>
                    <a:pt x="1347" y="191"/>
                  </a:lnTo>
                  <a:lnTo>
                    <a:pt x="1303" y="221"/>
                  </a:lnTo>
                  <a:lnTo>
                    <a:pt x="1260" y="255"/>
                  </a:lnTo>
                  <a:lnTo>
                    <a:pt x="1220" y="290"/>
                  </a:lnTo>
                  <a:lnTo>
                    <a:pt x="1181" y="327"/>
                  </a:lnTo>
                  <a:lnTo>
                    <a:pt x="1144" y="366"/>
                  </a:lnTo>
                  <a:lnTo>
                    <a:pt x="1109" y="406"/>
                  </a:lnTo>
                  <a:lnTo>
                    <a:pt x="1076" y="448"/>
                  </a:lnTo>
                  <a:lnTo>
                    <a:pt x="1045" y="491"/>
                  </a:lnTo>
                  <a:lnTo>
                    <a:pt x="1016" y="538"/>
                  </a:lnTo>
                  <a:lnTo>
                    <a:pt x="989" y="584"/>
                  </a:lnTo>
                  <a:lnTo>
                    <a:pt x="964" y="632"/>
                  </a:lnTo>
                  <a:lnTo>
                    <a:pt x="942" y="681"/>
                  </a:lnTo>
                  <a:lnTo>
                    <a:pt x="922" y="732"/>
                  </a:lnTo>
                  <a:lnTo>
                    <a:pt x="905" y="784"/>
                  </a:lnTo>
                  <a:lnTo>
                    <a:pt x="890" y="837"/>
                  </a:lnTo>
                  <a:lnTo>
                    <a:pt x="877" y="890"/>
                  </a:lnTo>
                  <a:lnTo>
                    <a:pt x="867" y="946"/>
                  </a:lnTo>
                  <a:lnTo>
                    <a:pt x="864" y="973"/>
                  </a:lnTo>
                  <a:lnTo>
                    <a:pt x="860" y="1002"/>
                  </a:lnTo>
                  <a:lnTo>
                    <a:pt x="858" y="1030"/>
                  </a:lnTo>
                  <a:lnTo>
                    <a:pt x="855" y="1059"/>
                  </a:lnTo>
                  <a:lnTo>
                    <a:pt x="855" y="1087"/>
                  </a:lnTo>
                  <a:lnTo>
                    <a:pt x="854" y="1115"/>
                  </a:lnTo>
                  <a:lnTo>
                    <a:pt x="855" y="1150"/>
                  </a:lnTo>
                  <a:lnTo>
                    <a:pt x="857" y="1183"/>
                  </a:lnTo>
                  <a:lnTo>
                    <a:pt x="860" y="1216"/>
                  </a:lnTo>
                  <a:lnTo>
                    <a:pt x="864" y="1250"/>
                  </a:lnTo>
                  <a:lnTo>
                    <a:pt x="845" y="1249"/>
                  </a:lnTo>
                  <a:lnTo>
                    <a:pt x="801" y="1250"/>
                  </a:lnTo>
                  <a:lnTo>
                    <a:pt x="758" y="1253"/>
                  </a:lnTo>
                  <a:lnTo>
                    <a:pt x="716" y="1259"/>
                  </a:lnTo>
                  <a:lnTo>
                    <a:pt x="674" y="1266"/>
                  </a:lnTo>
                  <a:lnTo>
                    <a:pt x="633" y="1275"/>
                  </a:lnTo>
                  <a:lnTo>
                    <a:pt x="594" y="1287"/>
                  </a:lnTo>
                  <a:lnTo>
                    <a:pt x="555" y="1300"/>
                  </a:lnTo>
                  <a:lnTo>
                    <a:pt x="515" y="1316"/>
                  </a:lnTo>
                  <a:lnTo>
                    <a:pt x="479" y="1332"/>
                  </a:lnTo>
                  <a:lnTo>
                    <a:pt x="442" y="1351"/>
                  </a:lnTo>
                  <a:lnTo>
                    <a:pt x="407" y="1371"/>
                  </a:lnTo>
                  <a:lnTo>
                    <a:pt x="372" y="1393"/>
                  </a:lnTo>
                  <a:lnTo>
                    <a:pt x="339" y="1416"/>
                  </a:lnTo>
                  <a:lnTo>
                    <a:pt x="307" y="1441"/>
                  </a:lnTo>
                  <a:lnTo>
                    <a:pt x="277" y="1468"/>
                  </a:lnTo>
                  <a:lnTo>
                    <a:pt x="248" y="1496"/>
                  </a:lnTo>
                  <a:lnTo>
                    <a:pt x="219" y="1525"/>
                  </a:lnTo>
                  <a:lnTo>
                    <a:pt x="193" y="1556"/>
                  </a:lnTo>
                  <a:lnTo>
                    <a:pt x="169" y="1588"/>
                  </a:lnTo>
                  <a:lnTo>
                    <a:pt x="145" y="1621"/>
                  </a:lnTo>
                  <a:lnTo>
                    <a:pt x="122" y="1655"/>
                  </a:lnTo>
                  <a:lnTo>
                    <a:pt x="102" y="1690"/>
                  </a:lnTo>
                  <a:lnTo>
                    <a:pt x="83" y="1726"/>
                  </a:lnTo>
                  <a:lnTo>
                    <a:pt x="67" y="1764"/>
                  </a:lnTo>
                  <a:lnTo>
                    <a:pt x="51" y="1802"/>
                  </a:lnTo>
                  <a:lnTo>
                    <a:pt x="38" y="1841"/>
                  </a:lnTo>
                  <a:lnTo>
                    <a:pt x="28" y="1882"/>
                  </a:lnTo>
                  <a:lnTo>
                    <a:pt x="18" y="1923"/>
                  </a:lnTo>
                  <a:lnTo>
                    <a:pt x="10" y="1965"/>
                  </a:lnTo>
                  <a:lnTo>
                    <a:pt x="5" y="2006"/>
                  </a:lnTo>
                  <a:lnTo>
                    <a:pt x="2" y="2049"/>
                  </a:lnTo>
                  <a:lnTo>
                    <a:pt x="0" y="2092"/>
                  </a:lnTo>
                  <a:lnTo>
                    <a:pt x="2" y="2135"/>
                  </a:lnTo>
                  <a:lnTo>
                    <a:pt x="5" y="2176"/>
                  </a:lnTo>
                  <a:lnTo>
                    <a:pt x="10" y="2217"/>
                  </a:lnTo>
                  <a:lnTo>
                    <a:pt x="17" y="2257"/>
                  </a:lnTo>
                  <a:lnTo>
                    <a:pt x="25" y="2297"/>
                  </a:lnTo>
                  <a:lnTo>
                    <a:pt x="36" y="2336"/>
                  </a:lnTo>
                  <a:lnTo>
                    <a:pt x="49" y="2374"/>
                  </a:lnTo>
                  <a:lnTo>
                    <a:pt x="63" y="2411"/>
                  </a:lnTo>
                  <a:lnTo>
                    <a:pt x="79" y="2448"/>
                  </a:lnTo>
                  <a:lnTo>
                    <a:pt x="96" y="2483"/>
                  </a:lnTo>
                  <a:lnTo>
                    <a:pt x="115" y="2517"/>
                  </a:lnTo>
                  <a:lnTo>
                    <a:pt x="137" y="2552"/>
                  </a:lnTo>
                  <a:lnTo>
                    <a:pt x="159" y="2584"/>
                  </a:lnTo>
                  <a:lnTo>
                    <a:pt x="183" y="2615"/>
                  </a:lnTo>
                  <a:lnTo>
                    <a:pt x="208" y="2645"/>
                  </a:lnTo>
                  <a:lnTo>
                    <a:pt x="234" y="2674"/>
                  </a:lnTo>
                  <a:lnTo>
                    <a:pt x="262" y="2702"/>
                  </a:lnTo>
                  <a:lnTo>
                    <a:pt x="290" y="2728"/>
                  </a:lnTo>
                  <a:lnTo>
                    <a:pt x="321" y="2753"/>
                  </a:lnTo>
                  <a:lnTo>
                    <a:pt x="352" y="2777"/>
                  </a:lnTo>
                  <a:lnTo>
                    <a:pt x="385" y="2799"/>
                  </a:lnTo>
                  <a:lnTo>
                    <a:pt x="418" y="2819"/>
                  </a:lnTo>
                  <a:lnTo>
                    <a:pt x="453" y="2840"/>
                  </a:lnTo>
                  <a:lnTo>
                    <a:pt x="488" y="2856"/>
                  </a:lnTo>
                  <a:lnTo>
                    <a:pt x="525" y="2873"/>
                  </a:lnTo>
                  <a:lnTo>
                    <a:pt x="563" y="2887"/>
                  </a:lnTo>
                  <a:lnTo>
                    <a:pt x="601" y="2899"/>
                  </a:lnTo>
                  <a:lnTo>
                    <a:pt x="640" y="2909"/>
                  </a:lnTo>
                  <a:lnTo>
                    <a:pt x="679" y="2919"/>
                  </a:lnTo>
                  <a:lnTo>
                    <a:pt x="719" y="2926"/>
                  </a:lnTo>
                  <a:lnTo>
                    <a:pt x="761" y="2931"/>
                  </a:lnTo>
                  <a:lnTo>
                    <a:pt x="802" y="2934"/>
                  </a:lnTo>
                  <a:lnTo>
                    <a:pt x="802" y="2936"/>
                  </a:lnTo>
                  <a:lnTo>
                    <a:pt x="4682" y="2936"/>
                  </a:lnTo>
                  <a:lnTo>
                    <a:pt x="4682" y="2933"/>
                  </a:lnTo>
                  <a:lnTo>
                    <a:pt x="4693" y="2934"/>
                  </a:lnTo>
                  <a:lnTo>
                    <a:pt x="4706" y="2936"/>
                  </a:lnTo>
                  <a:lnTo>
                    <a:pt x="4740" y="2936"/>
                  </a:lnTo>
                  <a:lnTo>
                    <a:pt x="4772" y="2933"/>
                  </a:lnTo>
                  <a:lnTo>
                    <a:pt x="4804" y="2928"/>
                  </a:lnTo>
                  <a:lnTo>
                    <a:pt x="4836" y="2922"/>
                  </a:lnTo>
                  <a:lnTo>
                    <a:pt x="4866" y="2915"/>
                  </a:lnTo>
                  <a:lnTo>
                    <a:pt x="4896" y="2907"/>
                  </a:lnTo>
                  <a:lnTo>
                    <a:pt x="4926" y="2898"/>
                  </a:lnTo>
                  <a:lnTo>
                    <a:pt x="4955" y="2886"/>
                  </a:lnTo>
                  <a:lnTo>
                    <a:pt x="4984" y="2873"/>
                  </a:lnTo>
                  <a:lnTo>
                    <a:pt x="5011" y="2859"/>
                  </a:lnTo>
                  <a:lnTo>
                    <a:pt x="5038" y="2843"/>
                  </a:lnTo>
                  <a:lnTo>
                    <a:pt x="5063" y="2827"/>
                  </a:lnTo>
                  <a:lnTo>
                    <a:pt x="5089" y="2809"/>
                  </a:lnTo>
                  <a:lnTo>
                    <a:pt x="5113" y="2790"/>
                  </a:lnTo>
                  <a:lnTo>
                    <a:pt x="5135" y="2770"/>
                  </a:lnTo>
                  <a:lnTo>
                    <a:pt x="5158" y="2748"/>
                  </a:lnTo>
                  <a:lnTo>
                    <a:pt x="5179" y="2727"/>
                  </a:lnTo>
                  <a:lnTo>
                    <a:pt x="5199" y="2703"/>
                  </a:lnTo>
                  <a:lnTo>
                    <a:pt x="5218" y="2680"/>
                  </a:lnTo>
                  <a:lnTo>
                    <a:pt x="5236" y="2655"/>
                  </a:lnTo>
                  <a:lnTo>
                    <a:pt x="5252" y="2629"/>
                  </a:lnTo>
                  <a:lnTo>
                    <a:pt x="5268" y="2602"/>
                  </a:lnTo>
                  <a:lnTo>
                    <a:pt x="5282" y="2574"/>
                  </a:lnTo>
                  <a:lnTo>
                    <a:pt x="5295" y="2546"/>
                  </a:lnTo>
                  <a:lnTo>
                    <a:pt x="5306" y="2517"/>
                  </a:lnTo>
                  <a:lnTo>
                    <a:pt x="5316" y="2488"/>
                  </a:lnTo>
                  <a:lnTo>
                    <a:pt x="5325" y="2457"/>
                  </a:lnTo>
                  <a:lnTo>
                    <a:pt x="5332" y="2426"/>
                  </a:lnTo>
                  <a:lnTo>
                    <a:pt x="5338" y="2394"/>
                  </a:lnTo>
                  <a:lnTo>
                    <a:pt x="5341" y="2362"/>
                  </a:lnTo>
                  <a:lnTo>
                    <a:pt x="5344" y="2330"/>
                  </a:lnTo>
                  <a:lnTo>
                    <a:pt x="5345" y="2297"/>
                  </a:lnTo>
                  <a:lnTo>
                    <a:pt x="5344" y="2265"/>
                  </a:lnTo>
                  <a:lnTo>
                    <a:pt x="5341" y="2233"/>
                  </a:lnTo>
                  <a:lnTo>
                    <a:pt x="5338" y="2203"/>
                  </a:lnTo>
                  <a:lnTo>
                    <a:pt x="5333" y="2172"/>
                  </a:lnTo>
                  <a:lnTo>
                    <a:pt x="5326" y="2141"/>
                  </a:lnTo>
                  <a:lnTo>
                    <a:pt x="5318" y="2111"/>
                  </a:lnTo>
                  <a:lnTo>
                    <a:pt x="5308" y="2083"/>
                  </a:lnTo>
                  <a:lnTo>
                    <a:pt x="5296" y="2054"/>
                  </a:lnTo>
                  <a:lnTo>
                    <a:pt x="5284" y="2026"/>
                  </a:lnTo>
                  <a:lnTo>
                    <a:pt x="5271" y="2000"/>
                  </a:lnTo>
                  <a:lnTo>
                    <a:pt x="5256" y="1974"/>
                  </a:lnTo>
                  <a:lnTo>
                    <a:pt x="5241" y="1948"/>
                  </a:lnTo>
                  <a:lnTo>
                    <a:pt x="5223" y="1923"/>
                  </a:lnTo>
                  <a:lnTo>
                    <a:pt x="5205" y="1899"/>
                  </a:lnTo>
                  <a:lnTo>
                    <a:pt x="5185" y="1877"/>
                  </a:lnTo>
                  <a:lnTo>
                    <a:pt x="5165" y="1854"/>
                  </a:lnTo>
                  <a:lnTo>
                    <a:pt x="5143" y="1834"/>
                  </a:lnTo>
                  <a:lnTo>
                    <a:pt x="5121" y="1814"/>
                  </a:lnTo>
                  <a:lnTo>
                    <a:pt x="5098" y="1795"/>
                  </a:lnTo>
                  <a:lnTo>
                    <a:pt x="5074" y="1777"/>
                  </a:lnTo>
                  <a:lnTo>
                    <a:pt x="5049" y="1761"/>
                  </a:lnTo>
                  <a:lnTo>
                    <a:pt x="5023" y="1745"/>
                  </a:lnTo>
                  <a:lnTo>
                    <a:pt x="4997" y="1731"/>
                  </a:lnTo>
                  <a:lnTo>
                    <a:pt x="4969" y="1717"/>
                  </a:lnTo>
                  <a:lnTo>
                    <a:pt x="4941" y="1706"/>
                  </a:lnTo>
                  <a:lnTo>
                    <a:pt x="4913" y="1696"/>
                  </a:lnTo>
                  <a:lnTo>
                    <a:pt x="4883" y="1686"/>
                  </a:lnTo>
                  <a:lnTo>
                    <a:pt x="4853" y="1678"/>
                  </a:lnTo>
                  <a:lnTo>
                    <a:pt x="4823" y="1672"/>
                  </a:lnTo>
                  <a:lnTo>
                    <a:pt x="4792" y="1667"/>
                  </a:lnTo>
                  <a:lnTo>
                    <a:pt x="4761" y="1664"/>
                  </a:lnTo>
                  <a:lnTo>
                    <a:pt x="4729" y="1661"/>
                  </a:lnTo>
                  <a:close/>
                </a:path>
              </a:pathLst>
            </a:custGeom>
            <a:solidFill>
              <a:schemeClr val="accent2">
                <a:lumMod val="75000"/>
              </a:schemeClr>
            </a:solidFill>
            <a:ln>
              <a:noFill/>
            </a:ln>
          </p:spPr>
          <p:txBody>
            <a:bodyPr anchor="ctr">
              <a:scene3d>
                <a:camera prst="orthographicFront"/>
                <a:lightRig rig="threePt" dir="t"/>
              </a:scene3d>
              <a:sp3d>
                <a:contourClr>
                  <a:srgbClr val="FFFFFF"/>
                </a:contourClr>
              </a:sp3d>
            </a:bodyPr>
            <a:lstStyle/>
            <a:p>
              <a:pPr algn="ctr" defTabSz="914270" eaLnBrk="1" fontAlgn="auto" hangingPunct="1">
                <a:spcBef>
                  <a:spcPts val="0"/>
                </a:spcBef>
                <a:spcAft>
                  <a:spcPts val="0"/>
                </a:spcAft>
                <a:defRPr/>
              </a:pPr>
              <a:endParaRPr lang="zh-CN" altLang="en-US" sz="1867">
                <a:solidFill>
                  <a:srgbClr val="FFFFFF"/>
                </a:solidFill>
                <a:latin typeface="+mn-lt"/>
                <a:ea typeface="+mn-ea"/>
              </a:endParaRPr>
            </a:p>
          </p:txBody>
        </p:sp>
        <p:sp>
          <p:nvSpPr>
            <p:cNvPr id="6" name="文本框 5"/>
            <p:cNvSpPr txBox="1">
              <a:spLocks noChangeArrowheads="1"/>
            </p:cNvSpPr>
            <p:nvPr/>
          </p:nvSpPr>
          <p:spPr bwMode="auto">
            <a:xfrm>
              <a:off x="4508159" y="864629"/>
              <a:ext cx="433287" cy="45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en-US" altLang="zh-CN" sz="3733">
                  <a:solidFill>
                    <a:schemeClr val="bg1"/>
                  </a:solidFill>
                  <a:cs typeface="Arial" pitchFamily="34" charset="0"/>
                </a:rPr>
                <a:t>3</a:t>
              </a:r>
              <a:endParaRPr lang="zh-CN" altLang="en-US" sz="3733">
                <a:solidFill>
                  <a:schemeClr val="bg1"/>
                </a:solidFill>
                <a:cs typeface="Arial" pitchFamily="34" charset="0"/>
              </a:endParaRPr>
            </a:p>
          </p:txBody>
        </p:sp>
      </p:grpSp>
    </p:spTree>
    <p:extLst>
      <p:ext uri="{BB962C8B-B14F-4D97-AF65-F5344CB8AC3E}">
        <p14:creationId xmlns:p14="http://schemas.microsoft.com/office/powerpoint/2010/main" val="36270640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节标题">
    <p:bg>
      <p:bgPr>
        <a:solidFill>
          <a:srgbClr val="F2F2F2"/>
        </a:solidFill>
        <a:effectLst/>
      </p:bgPr>
    </p:bg>
    <p:spTree>
      <p:nvGrpSpPr>
        <p:cNvPr id="1" name=""/>
        <p:cNvGrpSpPr/>
        <p:nvPr/>
      </p:nvGrpSpPr>
      <p:grpSpPr>
        <a:xfrm>
          <a:off x="0" y="0"/>
          <a:ext cx="0" cy="0"/>
          <a:chOff x="0" y="0"/>
          <a:chExt cx="0" cy="0"/>
        </a:xfrm>
      </p:grpSpPr>
      <p:sp>
        <p:nvSpPr>
          <p:cNvPr id="2" name="文本框 1"/>
          <p:cNvSpPr txBox="1">
            <a:spLocks noChangeArrowheads="1"/>
          </p:cNvSpPr>
          <p:nvPr userDrawn="1"/>
        </p:nvSpPr>
        <p:spPr bwMode="auto">
          <a:xfrm>
            <a:off x="1363135" y="359836"/>
            <a:ext cx="45847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zh-CN" altLang="en-US" sz="2667" b="1">
                <a:latin typeface="微软雅黑" pitchFamily="34" charset="-122"/>
              </a:rPr>
              <a:t>此处添加您的标题</a:t>
            </a:r>
            <a:endParaRPr lang="id-ID" altLang="zh-CN" sz="2667" b="1">
              <a:latin typeface="微软雅黑" pitchFamily="34" charset="-122"/>
            </a:endParaRPr>
          </a:p>
        </p:txBody>
      </p:sp>
      <p:sp>
        <p:nvSpPr>
          <p:cNvPr id="3" name="文本框 2"/>
          <p:cNvSpPr txBox="1">
            <a:spLocks noChangeArrowheads="1"/>
          </p:cNvSpPr>
          <p:nvPr userDrawn="1"/>
        </p:nvSpPr>
        <p:spPr bwMode="auto">
          <a:xfrm>
            <a:off x="1390651" y="840322"/>
            <a:ext cx="3570816" cy="29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id-ID" altLang="zh-CN" sz="1333"/>
              <a:t>Biscuit oat cake carrot cake muffin jelly</a:t>
            </a:r>
            <a:endParaRPr lang="zh-CN" altLang="en-US" sz="1333"/>
          </a:p>
        </p:txBody>
      </p:sp>
      <p:grpSp>
        <p:nvGrpSpPr>
          <p:cNvPr id="4" name="组合 8"/>
          <p:cNvGrpSpPr>
            <a:grpSpLocks/>
          </p:cNvGrpSpPr>
          <p:nvPr userDrawn="1"/>
        </p:nvGrpSpPr>
        <p:grpSpPr bwMode="auto">
          <a:xfrm>
            <a:off x="275175" y="421220"/>
            <a:ext cx="1087967" cy="666786"/>
            <a:chOff x="4353620" y="864629"/>
            <a:chExt cx="742365" cy="456068"/>
          </a:xfrm>
        </p:grpSpPr>
        <p:sp>
          <p:nvSpPr>
            <p:cNvPr id="5" name="KSO_Shape"/>
            <p:cNvSpPr>
              <a:spLocks/>
            </p:cNvSpPr>
            <p:nvPr/>
          </p:nvSpPr>
          <p:spPr bwMode="auto">
            <a:xfrm>
              <a:off x="4353620" y="866076"/>
              <a:ext cx="742365" cy="408268"/>
            </a:xfrm>
            <a:custGeom>
              <a:avLst/>
              <a:gdLst>
                <a:gd name="T0" fmla="*/ 2147483646 w 5345"/>
                <a:gd name="T1" fmla="*/ 2147483646 h 2936"/>
                <a:gd name="T2" fmla="*/ 2147483646 w 5345"/>
                <a:gd name="T3" fmla="*/ 2147483646 h 2936"/>
                <a:gd name="T4" fmla="*/ 2147483646 w 5345"/>
                <a:gd name="T5" fmla="*/ 2147483646 h 2936"/>
                <a:gd name="T6" fmla="*/ 2147483646 w 5345"/>
                <a:gd name="T7" fmla="*/ 2147483646 h 2936"/>
                <a:gd name="T8" fmla="*/ 2147483646 w 5345"/>
                <a:gd name="T9" fmla="*/ 2147483646 h 2936"/>
                <a:gd name="T10" fmla="*/ 2147483646 w 5345"/>
                <a:gd name="T11" fmla="*/ 2147483646 h 2936"/>
                <a:gd name="T12" fmla="*/ 2147483646 w 5345"/>
                <a:gd name="T13" fmla="*/ 2147483646 h 2936"/>
                <a:gd name="T14" fmla="*/ 2147483646 w 5345"/>
                <a:gd name="T15" fmla="*/ 2147483646 h 2936"/>
                <a:gd name="T16" fmla="*/ 2147483646 w 5345"/>
                <a:gd name="T17" fmla="*/ 2147483646 h 2936"/>
                <a:gd name="T18" fmla="*/ 2147483646 w 5345"/>
                <a:gd name="T19" fmla="*/ 2147483646 h 2936"/>
                <a:gd name="T20" fmla="*/ 2147483646 w 5345"/>
                <a:gd name="T21" fmla="*/ 2147483646 h 2936"/>
                <a:gd name="T22" fmla="*/ 2147483646 w 5345"/>
                <a:gd name="T23" fmla="*/ 2147483646 h 2936"/>
                <a:gd name="T24" fmla="*/ 2147483646 w 5345"/>
                <a:gd name="T25" fmla="*/ 2147483646 h 2936"/>
                <a:gd name="T26" fmla="*/ 2147483646 w 5345"/>
                <a:gd name="T27" fmla="*/ 2147483646 h 2936"/>
                <a:gd name="T28" fmla="*/ 2147483646 w 5345"/>
                <a:gd name="T29" fmla="*/ 2147483646 h 2936"/>
                <a:gd name="T30" fmla="*/ 2147483646 w 5345"/>
                <a:gd name="T31" fmla="*/ 772639970 h 2936"/>
                <a:gd name="T32" fmla="*/ 2147483646 w 5345"/>
                <a:gd name="T33" fmla="*/ 0 h 2936"/>
                <a:gd name="T34" fmla="*/ 2147483646 w 5345"/>
                <a:gd name="T35" fmla="*/ 363587807 h 2936"/>
                <a:gd name="T36" fmla="*/ 2147483646 w 5345"/>
                <a:gd name="T37" fmla="*/ 2147483646 h 2936"/>
                <a:gd name="T38" fmla="*/ 2147483646 w 5345"/>
                <a:gd name="T39" fmla="*/ 2147483646 h 2936"/>
                <a:gd name="T40" fmla="*/ 2147483646 w 5345"/>
                <a:gd name="T41" fmla="*/ 2147483646 h 2936"/>
                <a:gd name="T42" fmla="*/ 2147483646 w 5345"/>
                <a:gd name="T43" fmla="*/ 2147483646 h 2936"/>
                <a:gd name="T44" fmla="*/ 2147483646 w 5345"/>
                <a:gd name="T45" fmla="*/ 2147483646 h 2936"/>
                <a:gd name="T46" fmla="*/ 2147483646 w 5345"/>
                <a:gd name="T47" fmla="*/ 2147483646 h 2936"/>
                <a:gd name="T48" fmla="*/ 2147483646 w 5345"/>
                <a:gd name="T49" fmla="*/ 2147483646 h 2936"/>
                <a:gd name="T50" fmla="*/ 2147483646 w 5345"/>
                <a:gd name="T51" fmla="*/ 2147483646 h 2936"/>
                <a:gd name="T52" fmla="*/ 2147483646 w 5345"/>
                <a:gd name="T53" fmla="*/ 2147483646 h 2936"/>
                <a:gd name="T54" fmla="*/ 2147483646 w 5345"/>
                <a:gd name="T55" fmla="*/ 2147483646 h 2936"/>
                <a:gd name="T56" fmla="*/ 2147483646 w 5345"/>
                <a:gd name="T57" fmla="*/ 2147483646 h 2936"/>
                <a:gd name="T58" fmla="*/ 2147483646 w 5345"/>
                <a:gd name="T59" fmla="*/ 2147483646 h 2936"/>
                <a:gd name="T60" fmla="*/ 2147483646 w 5345"/>
                <a:gd name="T61" fmla="*/ 2147483646 h 2936"/>
                <a:gd name="T62" fmla="*/ 452722804 w 5345"/>
                <a:gd name="T63" fmla="*/ 2147483646 h 2936"/>
                <a:gd name="T64" fmla="*/ 90570008 w 5345"/>
                <a:gd name="T65" fmla="*/ 2147483646 h 2936"/>
                <a:gd name="T66" fmla="*/ 1629877726 w 5345"/>
                <a:gd name="T67" fmla="*/ 2147483646 h 2936"/>
                <a:gd name="T68" fmla="*/ 2147483646 w 5345"/>
                <a:gd name="T69" fmla="*/ 2147483646 h 2936"/>
                <a:gd name="T70" fmla="*/ 2147483646 w 5345"/>
                <a:gd name="T71" fmla="*/ 2147483646 h 2936"/>
                <a:gd name="T72" fmla="*/ 2147483646 w 5345"/>
                <a:gd name="T73" fmla="*/ 2147483646 h 2936"/>
                <a:gd name="T74" fmla="*/ 2147483646 w 5345"/>
                <a:gd name="T75" fmla="*/ 2147483646 h 2936"/>
                <a:gd name="T76" fmla="*/ 2147483646 w 5345"/>
                <a:gd name="T77" fmla="*/ 2147483646 h 2936"/>
                <a:gd name="T78" fmla="*/ 2147483646 w 5345"/>
                <a:gd name="T79" fmla="*/ 2147483646 h 2936"/>
                <a:gd name="T80" fmla="*/ 2147483646 w 5345"/>
                <a:gd name="T81" fmla="*/ 2147483646 h 2936"/>
                <a:gd name="T82" fmla="*/ 2147483646 w 5345"/>
                <a:gd name="T83" fmla="*/ 2147483646 h 2936"/>
                <a:gd name="T84" fmla="*/ 2147483646 w 5345"/>
                <a:gd name="T85" fmla="*/ 2147483646 h 2936"/>
                <a:gd name="T86" fmla="*/ 2147483646 w 5345"/>
                <a:gd name="T87" fmla="*/ 2147483646 h 2936"/>
                <a:gd name="T88" fmla="*/ 2147483646 w 5345"/>
                <a:gd name="T89" fmla="*/ 2147483646 h 2936"/>
                <a:gd name="T90" fmla="*/ 2147483646 w 5345"/>
                <a:gd name="T91" fmla="*/ 2147483646 h 2936"/>
                <a:gd name="T92" fmla="*/ 2147483646 w 5345"/>
                <a:gd name="T93" fmla="*/ 2147483646 h 2936"/>
                <a:gd name="T94" fmla="*/ 2147483646 w 5345"/>
                <a:gd name="T95" fmla="*/ 2147483646 h 2936"/>
                <a:gd name="T96" fmla="*/ 2147483646 w 5345"/>
                <a:gd name="T97" fmla="*/ 2147483646 h 2936"/>
                <a:gd name="T98" fmla="*/ 2147483646 w 5345"/>
                <a:gd name="T99" fmla="*/ 2147483646 h 2936"/>
                <a:gd name="T100" fmla="*/ 2147483646 w 5345"/>
                <a:gd name="T101" fmla="*/ 2147483646 h 2936"/>
                <a:gd name="T102" fmla="*/ 2147483646 w 5345"/>
                <a:gd name="T103" fmla="*/ 2147483646 h 2936"/>
                <a:gd name="T104" fmla="*/ 2147483646 w 5345"/>
                <a:gd name="T105" fmla="*/ 2147483646 h 29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345" h="2936">
                  <a:moveTo>
                    <a:pt x="4729" y="1661"/>
                  </a:moveTo>
                  <a:lnTo>
                    <a:pt x="4729" y="1661"/>
                  </a:lnTo>
                  <a:lnTo>
                    <a:pt x="4723" y="1609"/>
                  </a:lnTo>
                  <a:lnTo>
                    <a:pt x="4716" y="1558"/>
                  </a:lnTo>
                  <a:lnTo>
                    <a:pt x="4706" y="1507"/>
                  </a:lnTo>
                  <a:lnTo>
                    <a:pt x="4693" y="1458"/>
                  </a:lnTo>
                  <a:lnTo>
                    <a:pt x="4679" y="1409"/>
                  </a:lnTo>
                  <a:lnTo>
                    <a:pt x="4663" y="1361"/>
                  </a:lnTo>
                  <a:lnTo>
                    <a:pt x="4644" y="1314"/>
                  </a:lnTo>
                  <a:lnTo>
                    <a:pt x="4622" y="1268"/>
                  </a:lnTo>
                  <a:lnTo>
                    <a:pt x="4600" y="1223"/>
                  </a:lnTo>
                  <a:lnTo>
                    <a:pt x="4575" y="1181"/>
                  </a:lnTo>
                  <a:lnTo>
                    <a:pt x="4548" y="1138"/>
                  </a:lnTo>
                  <a:lnTo>
                    <a:pt x="4519" y="1098"/>
                  </a:lnTo>
                  <a:lnTo>
                    <a:pt x="4489" y="1059"/>
                  </a:lnTo>
                  <a:lnTo>
                    <a:pt x="4457" y="1021"/>
                  </a:lnTo>
                  <a:lnTo>
                    <a:pt x="4422" y="984"/>
                  </a:lnTo>
                  <a:lnTo>
                    <a:pt x="4387" y="950"/>
                  </a:lnTo>
                  <a:lnTo>
                    <a:pt x="4350" y="917"/>
                  </a:lnTo>
                  <a:lnTo>
                    <a:pt x="4312" y="886"/>
                  </a:lnTo>
                  <a:lnTo>
                    <a:pt x="4272" y="856"/>
                  </a:lnTo>
                  <a:lnTo>
                    <a:pt x="4230" y="828"/>
                  </a:lnTo>
                  <a:lnTo>
                    <a:pt x="4188" y="802"/>
                  </a:lnTo>
                  <a:lnTo>
                    <a:pt x="4144" y="778"/>
                  </a:lnTo>
                  <a:lnTo>
                    <a:pt x="4099" y="757"/>
                  </a:lnTo>
                  <a:lnTo>
                    <a:pt x="4053" y="737"/>
                  </a:lnTo>
                  <a:lnTo>
                    <a:pt x="4005" y="719"/>
                  </a:lnTo>
                  <a:lnTo>
                    <a:pt x="3957" y="703"/>
                  </a:lnTo>
                  <a:lnTo>
                    <a:pt x="3907" y="689"/>
                  </a:lnTo>
                  <a:lnTo>
                    <a:pt x="3857" y="679"/>
                  </a:lnTo>
                  <a:lnTo>
                    <a:pt x="3806" y="670"/>
                  </a:lnTo>
                  <a:lnTo>
                    <a:pt x="3754" y="663"/>
                  </a:lnTo>
                  <a:lnTo>
                    <a:pt x="3701" y="660"/>
                  </a:lnTo>
                  <a:lnTo>
                    <a:pt x="3648" y="658"/>
                  </a:lnTo>
                  <a:lnTo>
                    <a:pt x="3608" y="660"/>
                  </a:lnTo>
                  <a:lnTo>
                    <a:pt x="3566" y="661"/>
                  </a:lnTo>
                  <a:lnTo>
                    <a:pt x="3526" y="665"/>
                  </a:lnTo>
                  <a:lnTo>
                    <a:pt x="3486" y="670"/>
                  </a:lnTo>
                  <a:lnTo>
                    <a:pt x="3446" y="677"/>
                  </a:lnTo>
                  <a:lnTo>
                    <a:pt x="3407" y="686"/>
                  </a:lnTo>
                  <a:lnTo>
                    <a:pt x="3368" y="695"/>
                  </a:lnTo>
                  <a:lnTo>
                    <a:pt x="3330" y="706"/>
                  </a:lnTo>
                  <a:lnTo>
                    <a:pt x="3294" y="718"/>
                  </a:lnTo>
                  <a:lnTo>
                    <a:pt x="3257" y="732"/>
                  </a:lnTo>
                  <a:lnTo>
                    <a:pt x="3220" y="746"/>
                  </a:lnTo>
                  <a:lnTo>
                    <a:pt x="3185" y="763"/>
                  </a:lnTo>
                  <a:lnTo>
                    <a:pt x="3150" y="779"/>
                  </a:lnTo>
                  <a:lnTo>
                    <a:pt x="3116" y="798"/>
                  </a:lnTo>
                  <a:lnTo>
                    <a:pt x="3083" y="817"/>
                  </a:lnTo>
                  <a:lnTo>
                    <a:pt x="3050" y="838"/>
                  </a:lnTo>
                  <a:lnTo>
                    <a:pt x="3038" y="793"/>
                  </a:lnTo>
                  <a:lnTo>
                    <a:pt x="3024" y="750"/>
                  </a:lnTo>
                  <a:lnTo>
                    <a:pt x="3007" y="707"/>
                  </a:lnTo>
                  <a:lnTo>
                    <a:pt x="2989" y="664"/>
                  </a:lnTo>
                  <a:lnTo>
                    <a:pt x="2970" y="623"/>
                  </a:lnTo>
                  <a:lnTo>
                    <a:pt x="2949" y="583"/>
                  </a:lnTo>
                  <a:lnTo>
                    <a:pt x="2927" y="542"/>
                  </a:lnTo>
                  <a:lnTo>
                    <a:pt x="2903" y="504"/>
                  </a:lnTo>
                  <a:lnTo>
                    <a:pt x="2877" y="467"/>
                  </a:lnTo>
                  <a:lnTo>
                    <a:pt x="2850" y="430"/>
                  </a:lnTo>
                  <a:lnTo>
                    <a:pt x="2821" y="396"/>
                  </a:lnTo>
                  <a:lnTo>
                    <a:pt x="2792" y="361"/>
                  </a:lnTo>
                  <a:lnTo>
                    <a:pt x="2761" y="329"/>
                  </a:lnTo>
                  <a:lnTo>
                    <a:pt x="2728" y="297"/>
                  </a:lnTo>
                  <a:lnTo>
                    <a:pt x="2694" y="268"/>
                  </a:lnTo>
                  <a:lnTo>
                    <a:pt x="2659" y="238"/>
                  </a:lnTo>
                  <a:lnTo>
                    <a:pt x="2623" y="211"/>
                  </a:lnTo>
                  <a:lnTo>
                    <a:pt x="2586" y="185"/>
                  </a:lnTo>
                  <a:lnTo>
                    <a:pt x="2548" y="161"/>
                  </a:lnTo>
                  <a:lnTo>
                    <a:pt x="2509" y="139"/>
                  </a:lnTo>
                  <a:lnTo>
                    <a:pt x="2468" y="117"/>
                  </a:lnTo>
                  <a:lnTo>
                    <a:pt x="2427" y="97"/>
                  </a:lnTo>
                  <a:lnTo>
                    <a:pt x="2384" y="79"/>
                  </a:lnTo>
                  <a:lnTo>
                    <a:pt x="2342" y="63"/>
                  </a:lnTo>
                  <a:lnTo>
                    <a:pt x="2298" y="49"/>
                  </a:lnTo>
                  <a:lnTo>
                    <a:pt x="2253" y="36"/>
                  </a:lnTo>
                  <a:lnTo>
                    <a:pt x="2208" y="25"/>
                  </a:lnTo>
                  <a:lnTo>
                    <a:pt x="2162" y="17"/>
                  </a:lnTo>
                  <a:lnTo>
                    <a:pt x="2114" y="9"/>
                  </a:lnTo>
                  <a:lnTo>
                    <a:pt x="2067" y="4"/>
                  </a:lnTo>
                  <a:lnTo>
                    <a:pt x="2019" y="1"/>
                  </a:lnTo>
                  <a:lnTo>
                    <a:pt x="1971" y="0"/>
                  </a:lnTo>
                  <a:lnTo>
                    <a:pt x="1941" y="0"/>
                  </a:lnTo>
                  <a:lnTo>
                    <a:pt x="1913" y="1"/>
                  </a:lnTo>
                  <a:lnTo>
                    <a:pt x="1884" y="4"/>
                  </a:lnTo>
                  <a:lnTo>
                    <a:pt x="1856" y="6"/>
                  </a:lnTo>
                  <a:lnTo>
                    <a:pt x="1829" y="8"/>
                  </a:lnTo>
                  <a:lnTo>
                    <a:pt x="1800" y="13"/>
                  </a:lnTo>
                  <a:lnTo>
                    <a:pt x="1746" y="23"/>
                  </a:lnTo>
                  <a:lnTo>
                    <a:pt x="1691" y="34"/>
                  </a:lnTo>
                  <a:lnTo>
                    <a:pt x="1638" y="50"/>
                  </a:lnTo>
                  <a:lnTo>
                    <a:pt x="1587" y="68"/>
                  </a:lnTo>
                  <a:lnTo>
                    <a:pt x="1536" y="88"/>
                  </a:lnTo>
                  <a:lnTo>
                    <a:pt x="1487" y="110"/>
                  </a:lnTo>
                  <a:lnTo>
                    <a:pt x="1438" y="135"/>
                  </a:lnTo>
                  <a:lnTo>
                    <a:pt x="1392" y="161"/>
                  </a:lnTo>
                  <a:lnTo>
                    <a:pt x="1347" y="191"/>
                  </a:lnTo>
                  <a:lnTo>
                    <a:pt x="1303" y="221"/>
                  </a:lnTo>
                  <a:lnTo>
                    <a:pt x="1260" y="255"/>
                  </a:lnTo>
                  <a:lnTo>
                    <a:pt x="1220" y="290"/>
                  </a:lnTo>
                  <a:lnTo>
                    <a:pt x="1181" y="327"/>
                  </a:lnTo>
                  <a:lnTo>
                    <a:pt x="1144" y="366"/>
                  </a:lnTo>
                  <a:lnTo>
                    <a:pt x="1109" y="406"/>
                  </a:lnTo>
                  <a:lnTo>
                    <a:pt x="1076" y="448"/>
                  </a:lnTo>
                  <a:lnTo>
                    <a:pt x="1045" y="491"/>
                  </a:lnTo>
                  <a:lnTo>
                    <a:pt x="1016" y="538"/>
                  </a:lnTo>
                  <a:lnTo>
                    <a:pt x="989" y="584"/>
                  </a:lnTo>
                  <a:lnTo>
                    <a:pt x="964" y="632"/>
                  </a:lnTo>
                  <a:lnTo>
                    <a:pt x="942" y="681"/>
                  </a:lnTo>
                  <a:lnTo>
                    <a:pt x="922" y="732"/>
                  </a:lnTo>
                  <a:lnTo>
                    <a:pt x="905" y="784"/>
                  </a:lnTo>
                  <a:lnTo>
                    <a:pt x="890" y="837"/>
                  </a:lnTo>
                  <a:lnTo>
                    <a:pt x="877" y="890"/>
                  </a:lnTo>
                  <a:lnTo>
                    <a:pt x="867" y="946"/>
                  </a:lnTo>
                  <a:lnTo>
                    <a:pt x="864" y="973"/>
                  </a:lnTo>
                  <a:lnTo>
                    <a:pt x="860" y="1002"/>
                  </a:lnTo>
                  <a:lnTo>
                    <a:pt x="858" y="1030"/>
                  </a:lnTo>
                  <a:lnTo>
                    <a:pt x="855" y="1059"/>
                  </a:lnTo>
                  <a:lnTo>
                    <a:pt x="855" y="1087"/>
                  </a:lnTo>
                  <a:lnTo>
                    <a:pt x="854" y="1115"/>
                  </a:lnTo>
                  <a:lnTo>
                    <a:pt x="855" y="1150"/>
                  </a:lnTo>
                  <a:lnTo>
                    <a:pt x="857" y="1183"/>
                  </a:lnTo>
                  <a:lnTo>
                    <a:pt x="860" y="1216"/>
                  </a:lnTo>
                  <a:lnTo>
                    <a:pt x="864" y="1250"/>
                  </a:lnTo>
                  <a:lnTo>
                    <a:pt x="845" y="1249"/>
                  </a:lnTo>
                  <a:lnTo>
                    <a:pt x="801" y="1250"/>
                  </a:lnTo>
                  <a:lnTo>
                    <a:pt x="758" y="1253"/>
                  </a:lnTo>
                  <a:lnTo>
                    <a:pt x="716" y="1259"/>
                  </a:lnTo>
                  <a:lnTo>
                    <a:pt x="674" y="1266"/>
                  </a:lnTo>
                  <a:lnTo>
                    <a:pt x="633" y="1275"/>
                  </a:lnTo>
                  <a:lnTo>
                    <a:pt x="594" y="1287"/>
                  </a:lnTo>
                  <a:lnTo>
                    <a:pt x="555" y="1300"/>
                  </a:lnTo>
                  <a:lnTo>
                    <a:pt x="515" y="1316"/>
                  </a:lnTo>
                  <a:lnTo>
                    <a:pt x="479" y="1332"/>
                  </a:lnTo>
                  <a:lnTo>
                    <a:pt x="442" y="1351"/>
                  </a:lnTo>
                  <a:lnTo>
                    <a:pt x="407" y="1371"/>
                  </a:lnTo>
                  <a:lnTo>
                    <a:pt x="372" y="1393"/>
                  </a:lnTo>
                  <a:lnTo>
                    <a:pt x="339" y="1416"/>
                  </a:lnTo>
                  <a:lnTo>
                    <a:pt x="307" y="1441"/>
                  </a:lnTo>
                  <a:lnTo>
                    <a:pt x="277" y="1468"/>
                  </a:lnTo>
                  <a:lnTo>
                    <a:pt x="248" y="1496"/>
                  </a:lnTo>
                  <a:lnTo>
                    <a:pt x="219" y="1525"/>
                  </a:lnTo>
                  <a:lnTo>
                    <a:pt x="193" y="1556"/>
                  </a:lnTo>
                  <a:lnTo>
                    <a:pt x="169" y="1588"/>
                  </a:lnTo>
                  <a:lnTo>
                    <a:pt x="145" y="1621"/>
                  </a:lnTo>
                  <a:lnTo>
                    <a:pt x="122" y="1655"/>
                  </a:lnTo>
                  <a:lnTo>
                    <a:pt x="102" y="1690"/>
                  </a:lnTo>
                  <a:lnTo>
                    <a:pt x="83" y="1726"/>
                  </a:lnTo>
                  <a:lnTo>
                    <a:pt x="67" y="1764"/>
                  </a:lnTo>
                  <a:lnTo>
                    <a:pt x="51" y="1802"/>
                  </a:lnTo>
                  <a:lnTo>
                    <a:pt x="38" y="1841"/>
                  </a:lnTo>
                  <a:lnTo>
                    <a:pt x="28" y="1882"/>
                  </a:lnTo>
                  <a:lnTo>
                    <a:pt x="18" y="1923"/>
                  </a:lnTo>
                  <a:lnTo>
                    <a:pt x="10" y="1965"/>
                  </a:lnTo>
                  <a:lnTo>
                    <a:pt x="5" y="2006"/>
                  </a:lnTo>
                  <a:lnTo>
                    <a:pt x="2" y="2049"/>
                  </a:lnTo>
                  <a:lnTo>
                    <a:pt x="0" y="2092"/>
                  </a:lnTo>
                  <a:lnTo>
                    <a:pt x="2" y="2135"/>
                  </a:lnTo>
                  <a:lnTo>
                    <a:pt x="5" y="2176"/>
                  </a:lnTo>
                  <a:lnTo>
                    <a:pt x="10" y="2217"/>
                  </a:lnTo>
                  <a:lnTo>
                    <a:pt x="17" y="2257"/>
                  </a:lnTo>
                  <a:lnTo>
                    <a:pt x="25" y="2297"/>
                  </a:lnTo>
                  <a:lnTo>
                    <a:pt x="36" y="2336"/>
                  </a:lnTo>
                  <a:lnTo>
                    <a:pt x="49" y="2374"/>
                  </a:lnTo>
                  <a:lnTo>
                    <a:pt x="63" y="2411"/>
                  </a:lnTo>
                  <a:lnTo>
                    <a:pt x="79" y="2448"/>
                  </a:lnTo>
                  <a:lnTo>
                    <a:pt x="96" y="2483"/>
                  </a:lnTo>
                  <a:lnTo>
                    <a:pt x="115" y="2517"/>
                  </a:lnTo>
                  <a:lnTo>
                    <a:pt x="137" y="2552"/>
                  </a:lnTo>
                  <a:lnTo>
                    <a:pt x="159" y="2584"/>
                  </a:lnTo>
                  <a:lnTo>
                    <a:pt x="183" y="2615"/>
                  </a:lnTo>
                  <a:lnTo>
                    <a:pt x="208" y="2645"/>
                  </a:lnTo>
                  <a:lnTo>
                    <a:pt x="234" y="2674"/>
                  </a:lnTo>
                  <a:lnTo>
                    <a:pt x="262" y="2702"/>
                  </a:lnTo>
                  <a:lnTo>
                    <a:pt x="290" y="2728"/>
                  </a:lnTo>
                  <a:lnTo>
                    <a:pt x="321" y="2753"/>
                  </a:lnTo>
                  <a:lnTo>
                    <a:pt x="352" y="2777"/>
                  </a:lnTo>
                  <a:lnTo>
                    <a:pt x="385" y="2799"/>
                  </a:lnTo>
                  <a:lnTo>
                    <a:pt x="418" y="2819"/>
                  </a:lnTo>
                  <a:lnTo>
                    <a:pt x="453" y="2840"/>
                  </a:lnTo>
                  <a:lnTo>
                    <a:pt x="488" y="2856"/>
                  </a:lnTo>
                  <a:lnTo>
                    <a:pt x="525" y="2873"/>
                  </a:lnTo>
                  <a:lnTo>
                    <a:pt x="563" y="2887"/>
                  </a:lnTo>
                  <a:lnTo>
                    <a:pt x="601" y="2899"/>
                  </a:lnTo>
                  <a:lnTo>
                    <a:pt x="640" y="2909"/>
                  </a:lnTo>
                  <a:lnTo>
                    <a:pt x="679" y="2919"/>
                  </a:lnTo>
                  <a:lnTo>
                    <a:pt x="719" y="2926"/>
                  </a:lnTo>
                  <a:lnTo>
                    <a:pt x="761" y="2931"/>
                  </a:lnTo>
                  <a:lnTo>
                    <a:pt x="802" y="2934"/>
                  </a:lnTo>
                  <a:lnTo>
                    <a:pt x="802" y="2936"/>
                  </a:lnTo>
                  <a:lnTo>
                    <a:pt x="4682" y="2936"/>
                  </a:lnTo>
                  <a:lnTo>
                    <a:pt x="4682" y="2933"/>
                  </a:lnTo>
                  <a:lnTo>
                    <a:pt x="4693" y="2934"/>
                  </a:lnTo>
                  <a:lnTo>
                    <a:pt x="4706" y="2936"/>
                  </a:lnTo>
                  <a:lnTo>
                    <a:pt x="4740" y="2936"/>
                  </a:lnTo>
                  <a:lnTo>
                    <a:pt x="4772" y="2933"/>
                  </a:lnTo>
                  <a:lnTo>
                    <a:pt x="4804" y="2928"/>
                  </a:lnTo>
                  <a:lnTo>
                    <a:pt x="4836" y="2922"/>
                  </a:lnTo>
                  <a:lnTo>
                    <a:pt x="4866" y="2915"/>
                  </a:lnTo>
                  <a:lnTo>
                    <a:pt x="4896" y="2907"/>
                  </a:lnTo>
                  <a:lnTo>
                    <a:pt x="4926" y="2898"/>
                  </a:lnTo>
                  <a:lnTo>
                    <a:pt x="4955" y="2886"/>
                  </a:lnTo>
                  <a:lnTo>
                    <a:pt x="4984" y="2873"/>
                  </a:lnTo>
                  <a:lnTo>
                    <a:pt x="5011" y="2859"/>
                  </a:lnTo>
                  <a:lnTo>
                    <a:pt x="5038" y="2843"/>
                  </a:lnTo>
                  <a:lnTo>
                    <a:pt x="5063" y="2827"/>
                  </a:lnTo>
                  <a:lnTo>
                    <a:pt x="5089" y="2809"/>
                  </a:lnTo>
                  <a:lnTo>
                    <a:pt x="5113" y="2790"/>
                  </a:lnTo>
                  <a:lnTo>
                    <a:pt x="5135" y="2770"/>
                  </a:lnTo>
                  <a:lnTo>
                    <a:pt x="5158" y="2748"/>
                  </a:lnTo>
                  <a:lnTo>
                    <a:pt x="5179" y="2727"/>
                  </a:lnTo>
                  <a:lnTo>
                    <a:pt x="5199" y="2703"/>
                  </a:lnTo>
                  <a:lnTo>
                    <a:pt x="5218" y="2680"/>
                  </a:lnTo>
                  <a:lnTo>
                    <a:pt x="5236" y="2655"/>
                  </a:lnTo>
                  <a:lnTo>
                    <a:pt x="5252" y="2629"/>
                  </a:lnTo>
                  <a:lnTo>
                    <a:pt x="5268" y="2602"/>
                  </a:lnTo>
                  <a:lnTo>
                    <a:pt x="5282" y="2574"/>
                  </a:lnTo>
                  <a:lnTo>
                    <a:pt x="5295" y="2546"/>
                  </a:lnTo>
                  <a:lnTo>
                    <a:pt x="5306" y="2517"/>
                  </a:lnTo>
                  <a:lnTo>
                    <a:pt x="5316" y="2488"/>
                  </a:lnTo>
                  <a:lnTo>
                    <a:pt x="5325" y="2457"/>
                  </a:lnTo>
                  <a:lnTo>
                    <a:pt x="5332" y="2426"/>
                  </a:lnTo>
                  <a:lnTo>
                    <a:pt x="5338" y="2394"/>
                  </a:lnTo>
                  <a:lnTo>
                    <a:pt x="5341" y="2362"/>
                  </a:lnTo>
                  <a:lnTo>
                    <a:pt x="5344" y="2330"/>
                  </a:lnTo>
                  <a:lnTo>
                    <a:pt x="5345" y="2297"/>
                  </a:lnTo>
                  <a:lnTo>
                    <a:pt x="5344" y="2265"/>
                  </a:lnTo>
                  <a:lnTo>
                    <a:pt x="5341" y="2233"/>
                  </a:lnTo>
                  <a:lnTo>
                    <a:pt x="5338" y="2203"/>
                  </a:lnTo>
                  <a:lnTo>
                    <a:pt x="5333" y="2172"/>
                  </a:lnTo>
                  <a:lnTo>
                    <a:pt x="5326" y="2141"/>
                  </a:lnTo>
                  <a:lnTo>
                    <a:pt x="5318" y="2111"/>
                  </a:lnTo>
                  <a:lnTo>
                    <a:pt x="5308" y="2083"/>
                  </a:lnTo>
                  <a:lnTo>
                    <a:pt x="5296" y="2054"/>
                  </a:lnTo>
                  <a:lnTo>
                    <a:pt x="5284" y="2026"/>
                  </a:lnTo>
                  <a:lnTo>
                    <a:pt x="5271" y="2000"/>
                  </a:lnTo>
                  <a:lnTo>
                    <a:pt x="5256" y="1974"/>
                  </a:lnTo>
                  <a:lnTo>
                    <a:pt x="5241" y="1948"/>
                  </a:lnTo>
                  <a:lnTo>
                    <a:pt x="5223" y="1923"/>
                  </a:lnTo>
                  <a:lnTo>
                    <a:pt x="5205" y="1899"/>
                  </a:lnTo>
                  <a:lnTo>
                    <a:pt x="5185" y="1877"/>
                  </a:lnTo>
                  <a:lnTo>
                    <a:pt x="5165" y="1854"/>
                  </a:lnTo>
                  <a:lnTo>
                    <a:pt x="5143" y="1834"/>
                  </a:lnTo>
                  <a:lnTo>
                    <a:pt x="5121" y="1814"/>
                  </a:lnTo>
                  <a:lnTo>
                    <a:pt x="5098" y="1795"/>
                  </a:lnTo>
                  <a:lnTo>
                    <a:pt x="5074" y="1777"/>
                  </a:lnTo>
                  <a:lnTo>
                    <a:pt x="5049" y="1761"/>
                  </a:lnTo>
                  <a:lnTo>
                    <a:pt x="5023" y="1745"/>
                  </a:lnTo>
                  <a:lnTo>
                    <a:pt x="4997" y="1731"/>
                  </a:lnTo>
                  <a:lnTo>
                    <a:pt x="4969" y="1717"/>
                  </a:lnTo>
                  <a:lnTo>
                    <a:pt x="4941" y="1706"/>
                  </a:lnTo>
                  <a:lnTo>
                    <a:pt x="4913" y="1696"/>
                  </a:lnTo>
                  <a:lnTo>
                    <a:pt x="4883" y="1686"/>
                  </a:lnTo>
                  <a:lnTo>
                    <a:pt x="4853" y="1678"/>
                  </a:lnTo>
                  <a:lnTo>
                    <a:pt x="4823" y="1672"/>
                  </a:lnTo>
                  <a:lnTo>
                    <a:pt x="4792" y="1667"/>
                  </a:lnTo>
                  <a:lnTo>
                    <a:pt x="4761" y="1664"/>
                  </a:lnTo>
                  <a:lnTo>
                    <a:pt x="4729" y="1661"/>
                  </a:lnTo>
                  <a:close/>
                </a:path>
              </a:pathLst>
            </a:custGeom>
            <a:solidFill>
              <a:schemeClr val="accent2">
                <a:lumMod val="75000"/>
              </a:schemeClr>
            </a:solidFill>
            <a:ln>
              <a:noFill/>
            </a:ln>
          </p:spPr>
          <p:txBody>
            <a:bodyPr anchor="ctr">
              <a:scene3d>
                <a:camera prst="orthographicFront"/>
                <a:lightRig rig="threePt" dir="t"/>
              </a:scene3d>
              <a:sp3d>
                <a:contourClr>
                  <a:srgbClr val="FFFFFF"/>
                </a:contourClr>
              </a:sp3d>
            </a:bodyPr>
            <a:lstStyle/>
            <a:p>
              <a:pPr algn="ctr" defTabSz="914270" eaLnBrk="1" fontAlgn="auto" hangingPunct="1">
                <a:spcBef>
                  <a:spcPts val="0"/>
                </a:spcBef>
                <a:spcAft>
                  <a:spcPts val="0"/>
                </a:spcAft>
                <a:defRPr/>
              </a:pPr>
              <a:endParaRPr lang="zh-CN" altLang="en-US" sz="1867">
                <a:solidFill>
                  <a:srgbClr val="FFFFFF"/>
                </a:solidFill>
                <a:latin typeface="+mn-lt"/>
                <a:ea typeface="+mn-ea"/>
              </a:endParaRPr>
            </a:p>
          </p:txBody>
        </p:sp>
        <p:sp>
          <p:nvSpPr>
            <p:cNvPr id="6" name="文本框 5"/>
            <p:cNvSpPr txBox="1">
              <a:spLocks noChangeArrowheads="1"/>
            </p:cNvSpPr>
            <p:nvPr/>
          </p:nvSpPr>
          <p:spPr bwMode="auto">
            <a:xfrm>
              <a:off x="4508159" y="864629"/>
              <a:ext cx="433287" cy="45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eaLnBrk="1" hangingPunct="1">
                <a:defRPr/>
              </a:pPr>
              <a:r>
                <a:rPr lang="en-US" altLang="zh-CN" sz="3733">
                  <a:solidFill>
                    <a:schemeClr val="bg1"/>
                  </a:solidFill>
                  <a:cs typeface="Arial" pitchFamily="34" charset="0"/>
                </a:rPr>
                <a:t>4</a:t>
              </a:r>
              <a:endParaRPr lang="zh-CN" altLang="en-US" sz="3733">
                <a:solidFill>
                  <a:schemeClr val="bg1"/>
                </a:solidFill>
                <a:cs typeface="Arial" pitchFamily="34" charset="0"/>
              </a:endParaRPr>
            </a:p>
          </p:txBody>
        </p:sp>
      </p:grpSp>
    </p:spTree>
    <p:extLst>
      <p:ext uri="{BB962C8B-B14F-4D97-AF65-F5344CB8AC3E}">
        <p14:creationId xmlns:p14="http://schemas.microsoft.com/office/powerpoint/2010/main" val="703111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节标题">
    <p:bg>
      <p:bgPr>
        <a:solidFill>
          <a:srgbClr val="F2F2F2"/>
        </a:solidFill>
        <a:effectLst/>
      </p:bgPr>
    </p:bg>
    <p:spTree>
      <p:nvGrpSpPr>
        <p:cNvPr id="1" name=""/>
        <p:cNvGrpSpPr/>
        <p:nvPr/>
      </p:nvGrpSpPr>
      <p:grpSpPr>
        <a:xfrm>
          <a:off x="0" y="0"/>
          <a:ext cx="0" cy="0"/>
          <a:chOff x="0" y="0"/>
          <a:chExt cx="0" cy="0"/>
        </a:xfrm>
      </p:grpSpPr>
      <p:sp>
        <p:nvSpPr>
          <p:cNvPr id="2" name="文本框 1"/>
          <p:cNvSpPr txBox="1">
            <a:spLocks noChangeArrowheads="1"/>
          </p:cNvSpPr>
          <p:nvPr userDrawn="1"/>
        </p:nvSpPr>
        <p:spPr bwMode="auto">
          <a:xfrm>
            <a:off x="3630088" y="463554"/>
            <a:ext cx="4931833"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itchFamily="34" charset="0"/>
                <a:ea typeface="微软雅黑" pitchFamily="34" charset="-122"/>
              </a:defRPr>
            </a:lvl1pPr>
            <a:lvl2pPr marL="742950" indent="-285750">
              <a:defRPr sz="1300">
                <a:solidFill>
                  <a:schemeClr val="tx1"/>
                </a:solidFill>
                <a:latin typeface="Arial" pitchFamily="34" charset="0"/>
                <a:ea typeface="微软雅黑" pitchFamily="34" charset="-122"/>
              </a:defRPr>
            </a:lvl2pPr>
            <a:lvl3pPr marL="1143000" indent="-228600">
              <a:defRPr sz="1300">
                <a:solidFill>
                  <a:schemeClr val="tx1"/>
                </a:solidFill>
                <a:latin typeface="Arial" pitchFamily="34" charset="0"/>
                <a:ea typeface="微软雅黑" pitchFamily="34" charset="-122"/>
              </a:defRPr>
            </a:lvl3pPr>
            <a:lvl4pPr marL="1600200" indent="-228600">
              <a:defRPr sz="1300">
                <a:solidFill>
                  <a:schemeClr val="tx1"/>
                </a:solidFill>
                <a:latin typeface="Arial" pitchFamily="34" charset="0"/>
                <a:ea typeface="微软雅黑" pitchFamily="34" charset="-122"/>
              </a:defRPr>
            </a:lvl4pPr>
            <a:lvl5pPr marL="2057400" indent="-228600">
              <a:defRPr sz="1300">
                <a:solidFill>
                  <a:schemeClr val="tx1"/>
                </a:solidFill>
                <a:latin typeface="Arial" pitchFamily="34" charset="0"/>
                <a:ea typeface="微软雅黑" pitchFamily="34" charset="-122"/>
              </a:defRPr>
            </a:lvl5pPr>
            <a:lvl6pPr marL="2514600" indent="-228600" defTabSz="684213"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684213"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684213"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684213" fontAlgn="base">
              <a:spcBef>
                <a:spcPct val="0"/>
              </a:spcBef>
              <a:spcAft>
                <a:spcPct val="0"/>
              </a:spcAft>
              <a:defRPr sz="1300">
                <a:solidFill>
                  <a:schemeClr val="tx1"/>
                </a:solidFill>
                <a:latin typeface="Arial" pitchFamily="34" charset="0"/>
                <a:ea typeface="微软雅黑" pitchFamily="34" charset="-122"/>
              </a:defRPr>
            </a:lvl9pPr>
          </a:lstStyle>
          <a:p>
            <a:pPr algn="ctr" eaLnBrk="1" hangingPunct="1">
              <a:defRPr/>
            </a:pPr>
            <a:r>
              <a:rPr lang="en-US" altLang="zh-CN" sz="2667">
                <a:solidFill>
                  <a:srgbClr val="262626"/>
                </a:solidFill>
              </a:rPr>
              <a:t>ADD YOUR TITLE HERE</a:t>
            </a:r>
            <a:endParaRPr lang="zh-CN" altLang="en-US" sz="2667">
              <a:solidFill>
                <a:srgbClr val="262626"/>
              </a:solidFill>
            </a:endParaRPr>
          </a:p>
        </p:txBody>
      </p:sp>
      <p:sp>
        <p:nvSpPr>
          <p:cNvPr id="3" name="Content Placeholder 2"/>
          <p:cNvSpPr txBox="1">
            <a:spLocks/>
          </p:cNvSpPr>
          <p:nvPr userDrawn="1"/>
        </p:nvSpPr>
        <p:spPr>
          <a:xfrm>
            <a:off x="1691225" y="1100667"/>
            <a:ext cx="9215967" cy="423333"/>
          </a:xfrm>
          <a:prstGeom prst="rect">
            <a:avLst/>
          </a:prstGeom>
        </p:spPr>
        <p:txBody>
          <a:bodyPr/>
          <a:lstStyle>
            <a:lvl1pPr defTabSz="1087438">
              <a:defRPr sz="1300">
                <a:solidFill>
                  <a:schemeClr val="tx1"/>
                </a:solidFill>
                <a:latin typeface="Arial" pitchFamily="34" charset="0"/>
                <a:ea typeface="微软雅黑" pitchFamily="34" charset="-122"/>
              </a:defRPr>
            </a:lvl1pPr>
            <a:lvl2pPr marL="742950" indent="-285750" defTabSz="1087438">
              <a:defRPr sz="1300">
                <a:solidFill>
                  <a:schemeClr val="tx1"/>
                </a:solidFill>
                <a:latin typeface="Arial" pitchFamily="34" charset="0"/>
                <a:ea typeface="微软雅黑" pitchFamily="34" charset="-122"/>
              </a:defRPr>
            </a:lvl2pPr>
            <a:lvl3pPr marL="1143000" indent="-228600" defTabSz="1087438">
              <a:defRPr sz="1300">
                <a:solidFill>
                  <a:schemeClr val="tx1"/>
                </a:solidFill>
                <a:latin typeface="Arial" pitchFamily="34" charset="0"/>
                <a:ea typeface="微软雅黑" pitchFamily="34" charset="-122"/>
              </a:defRPr>
            </a:lvl3pPr>
            <a:lvl4pPr marL="1600200" indent="-228600" defTabSz="1087438">
              <a:defRPr sz="1300">
                <a:solidFill>
                  <a:schemeClr val="tx1"/>
                </a:solidFill>
                <a:latin typeface="Arial" pitchFamily="34" charset="0"/>
                <a:ea typeface="微软雅黑" pitchFamily="34" charset="-122"/>
              </a:defRPr>
            </a:lvl4pPr>
            <a:lvl5pPr marL="2057400" indent="-228600" defTabSz="1087438">
              <a:defRPr sz="1300">
                <a:solidFill>
                  <a:schemeClr val="tx1"/>
                </a:solidFill>
                <a:latin typeface="Arial" pitchFamily="34" charset="0"/>
                <a:ea typeface="微软雅黑" pitchFamily="34" charset="-122"/>
              </a:defRPr>
            </a:lvl5pPr>
            <a:lvl6pPr marL="2514600" indent="-228600" defTabSz="1087438" fontAlgn="base">
              <a:spcBef>
                <a:spcPct val="0"/>
              </a:spcBef>
              <a:spcAft>
                <a:spcPct val="0"/>
              </a:spcAft>
              <a:defRPr sz="1300">
                <a:solidFill>
                  <a:schemeClr val="tx1"/>
                </a:solidFill>
                <a:latin typeface="Arial" pitchFamily="34" charset="0"/>
                <a:ea typeface="微软雅黑" pitchFamily="34" charset="-122"/>
              </a:defRPr>
            </a:lvl6pPr>
            <a:lvl7pPr marL="2971800" indent="-228600" defTabSz="1087438" fontAlgn="base">
              <a:spcBef>
                <a:spcPct val="0"/>
              </a:spcBef>
              <a:spcAft>
                <a:spcPct val="0"/>
              </a:spcAft>
              <a:defRPr sz="1300">
                <a:solidFill>
                  <a:schemeClr val="tx1"/>
                </a:solidFill>
                <a:latin typeface="Arial" pitchFamily="34" charset="0"/>
                <a:ea typeface="微软雅黑" pitchFamily="34" charset="-122"/>
              </a:defRPr>
            </a:lvl7pPr>
            <a:lvl8pPr marL="3429000" indent="-228600" defTabSz="1087438" fontAlgn="base">
              <a:spcBef>
                <a:spcPct val="0"/>
              </a:spcBef>
              <a:spcAft>
                <a:spcPct val="0"/>
              </a:spcAft>
              <a:defRPr sz="1300">
                <a:solidFill>
                  <a:schemeClr val="tx1"/>
                </a:solidFill>
                <a:latin typeface="Arial" pitchFamily="34" charset="0"/>
                <a:ea typeface="微软雅黑" pitchFamily="34" charset="-122"/>
              </a:defRPr>
            </a:lvl8pPr>
            <a:lvl9pPr marL="3886200" indent="-228600" defTabSz="1087438" fontAlgn="base">
              <a:spcBef>
                <a:spcPct val="0"/>
              </a:spcBef>
              <a:spcAft>
                <a:spcPct val="0"/>
              </a:spcAft>
              <a:defRPr sz="1300">
                <a:solidFill>
                  <a:schemeClr val="tx1"/>
                </a:solidFill>
                <a:latin typeface="Arial" pitchFamily="34" charset="0"/>
                <a:ea typeface="微软雅黑" pitchFamily="34" charset="-122"/>
              </a:defRPr>
            </a:lvl9pPr>
          </a:lstStyle>
          <a:p>
            <a:pPr algn="ctr" eaLnBrk="1" hangingPunct="1">
              <a:buFont typeface="Arial" pitchFamily="34" charset="0"/>
              <a:buNone/>
              <a:defRPr/>
            </a:pPr>
            <a:r>
              <a:rPr lang="en-US" altLang="zh-CN" sz="1467">
                <a:solidFill>
                  <a:srgbClr val="262626"/>
                </a:solidFill>
                <a:latin typeface="华文细黑" pitchFamily="2" charset="-122"/>
                <a:ea typeface="华文细黑" pitchFamily="2" charset="-122"/>
                <a:cs typeface="Arial" pitchFamily="34" charset="0"/>
              </a:rPr>
              <a:t>Click here to modify the text , you may post text here . Click here to modify the text Click</a:t>
            </a:r>
          </a:p>
        </p:txBody>
      </p:sp>
      <p:cxnSp>
        <p:nvCxnSpPr>
          <p:cNvPr id="4" name="直接连接符 3"/>
          <p:cNvCxnSpPr/>
          <p:nvPr userDrawn="1"/>
        </p:nvCxnSpPr>
        <p:spPr>
          <a:xfrm>
            <a:off x="5111758" y="1054100"/>
            <a:ext cx="19685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409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5_内容与标题">
    <p:spTree>
      <p:nvGrpSpPr>
        <p:cNvPr id="1" name=""/>
        <p:cNvGrpSpPr/>
        <p:nvPr/>
      </p:nvGrpSpPr>
      <p:grpSpPr>
        <a:xfrm>
          <a:off x="0" y="0"/>
          <a:ext cx="0" cy="0"/>
          <a:chOff x="0" y="0"/>
          <a:chExt cx="0" cy="0"/>
        </a:xfrm>
      </p:grpSpPr>
      <p:pic>
        <p:nvPicPr>
          <p:cNvPr id="2" name="图片 6"/>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4810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标题幻灯片">
    <p:bg>
      <p:bgRef idx="1001">
        <a:schemeClr val="bg1"/>
      </p:bgRef>
    </p:bg>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0"/>
            <a:ext cx="12192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userDrawn="1"/>
        </p:nvSpPr>
        <p:spPr>
          <a:xfrm>
            <a:off x="0" y="1071564"/>
            <a:ext cx="12192000" cy="128587"/>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300"/>
          </a:p>
        </p:txBody>
      </p:sp>
      <p:sp>
        <p:nvSpPr>
          <p:cNvPr id="3077" name="Rectangle 5"/>
          <p:cNvSpPr>
            <a:spLocks noGrp="1" noChangeArrowheads="1"/>
          </p:cNvSpPr>
          <p:nvPr>
            <p:ph type="ctrTitle"/>
          </p:nvPr>
        </p:nvSpPr>
        <p:spPr>
          <a:xfrm>
            <a:off x="304800" y="1600200"/>
            <a:ext cx="11582400" cy="1143000"/>
          </a:xfrm>
        </p:spPr>
        <p:txBody>
          <a:bodyPr/>
          <a:lstStyle>
            <a:lvl1pPr>
              <a:defRPr sz="3000"/>
            </a:lvl1pPr>
          </a:lstStyle>
          <a:p>
            <a:r>
              <a:rPr lang="zh-CN" altLang="en-US"/>
              <a:t>单击此处编辑母版标题样式</a:t>
            </a:r>
            <a:endParaRPr lang="en-US" altLang="zh-CN"/>
          </a:p>
        </p:txBody>
      </p:sp>
      <p:sp>
        <p:nvSpPr>
          <p:cNvPr id="3078" name="Rectangle 6"/>
          <p:cNvSpPr>
            <a:spLocks noGrp="1" noChangeArrowheads="1"/>
          </p:cNvSpPr>
          <p:nvPr>
            <p:ph type="subTitle" idx="1"/>
          </p:nvPr>
        </p:nvSpPr>
        <p:spPr>
          <a:xfrm>
            <a:off x="304800" y="2743200"/>
            <a:ext cx="11582400" cy="685800"/>
          </a:xfrm>
        </p:spPr>
        <p:txBody>
          <a:bodyPr/>
          <a:lstStyle>
            <a:lvl1pPr marL="0" indent="0">
              <a:buFontTx/>
              <a:buNone/>
              <a:defRPr sz="2000" b="0"/>
            </a:lvl1pPr>
          </a:lstStyle>
          <a:p>
            <a:r>
              <a:rPr lang="zh-CN" altLang="en-US"/>
              <a:t>单击此处编辑母版副标题样式</a:t>
            </a:r>
            <a:endParaRPr lang="en-US" altLang="zh-CN"/>
          </a:p>
        </p:txBody>
      </p:sp>
    </p:spTree>
    <p:extLst>
      <p:ext uri="{BB962C8B-B14F-4D97-AF65-F5344CB8AC3E}">
        <p14:creationId xmlns:p14="http://schemas.microsoft.com/office/powerpoint/2010/main" val="3282405540"/>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5" name="文本框 42">
            <a:extLst>
              <a:ext uri="{FF2B5EF4-FFF2-40B4-BE49-F238E27FC236}">
                <a16:creationId xmlns:a16="http://schemas.microsoft.com/office/drawing/2014/main" id="{88E3641D-49CD-4188-AC53-318500DF9DB8}"/>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6" name="任意多边形 18">
            <a:extLst>
              <a:ext uri="{FF2B5EF4-FFF2-40B4-BE49-F238E27FC236}">
                <a16:creationId xmlns:a16="http://schemas.microsoft.com/office/drawing/2014/main" id="{D4C6EDE0-5084-4ABC-8A40-36C401BE6DF7}"/>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9" name="任意多边形 19">
            <a:extLst>
              <a:ext uri="{FF2B5EF4-FFF2-40B4-BE49-F238E27FC236}">
                <a16:creationId xmlns:a16="http://schemas.microsoft.com/office/drawing/2014/main" id="{6DAB7A19-C6F0-460A-B114-5C4B1436D053}"/>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11" name="任意多边形 20">
            <a:extLst>
              <a:ext uri="{FF2B5EF4-FFF2-40B4-BE49-F238E27FC236}">
                <a16:creationId xmlns:a16="http://schemas.microsoft.com/office/drawing/2014/main" id="{F899518E-9212-47C1-99D0-938259BD2C3C}"/>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12" name="任意多边形 21">
            <a:extLst>
              <a:ext uri="{FF2B5EF4-FFF2-40B4-BE49-F238E27FC236}">
                <a16:creationId xmlns:a16="http://schemas.microsoft.com/office/drawing/2014/main" id="{C18B6B64-AF79-42C3-A536-7F30EC763CD3}"/>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13" name="图片 12">
            <a:extLst>
              <a:ext uri="{FF2B5EF4-FFF2-40B4-BE49-F238E27FC236}">
                <a16:creationId xmlns:a16="http://schemas.microsoft.com/office/drawing/2014/main" id="{5F6123CB-9999-4C96-AEEC-3C26E1330A4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extLst>
      <p:ext uri="{BB962C8B-B14F-4D97-AF65-F5344CB8AC3E}">
        <p14:creationId xmlns:p14="http://schemas.microsoft.com/office/powerpoint/2010/main" val="1497106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正文页-54_2">
    <p:spTree>
      <p:nvGrpSpPr>
        <p:cNvPr id="1" name=""/>
        <p:cNvGrpSpPr/>
        <p:nvPr/>
      </p:nvGrpSpPr>
      <p:grpSpPr>
        <a:xfrm>
          <a:off x="0" y="0"/>
          <a:ext cx="0" cy="0"/>
          <a:chOff x="0" y="0"/>
          <a:chExt cx="0" cy="0"/>
        </a:xfrm>
      </p:grpSpPr>
      <p:sp>
        <p:nvSpPr>
          <p:cNvPr id="30" name="文本框 42">
            <a:extLst>
              <a:ext uri="{FF2B5EF4-FFF2-40B4-BE49-F238E27FC236}">
                <a16:creationId xmlns:a16="http://schemas.microsoft.com/office/drawing/2014/main" id="{22FA28D1-E56E-40D2-BAE3-623E3F73B320}"/>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31" name="任意多边形 18">
            <a:extLst>
              <a:ext uri="{FF2B5EF4-FFF2-40B4-BE49-F238E27FC236}">
                <a16:creationId xmlns:a16="http://schemas.microsoft.com/office/drawing/2014/main" id="{14BAE75C-13B8-432F-897F-95CA5465C83C}"/>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2" name="任意多边形 19">
            <a:extLst>
              <a:ext uri="{FF2B5EF4-FFF2-40B4-BE49-F238E27FC236}">
                <a16:creationId xmlns:a16="http://schemas.microsoft.com/office/drawing/2014/main" id="{9E98FB89-52CD-4017-9E51-F2496BD48D6E}"/>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3" name="任意多边形 20">
            <a:extLst>
              <a:ext uri="{FF2B5EF4-FFF2-40B4-BE49-F238E27FC236}">
                <a16:creationId xmlns:a16="http://schemas.microsoft.com/office/drawing/2014/main" id="{E4E979F7-A8BD-409F-A5DF-6F8B494458CC}"/>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4" name="任意多边形 21">
            <a:extLst>
              <a:ext uri="{FF2B5EF4-FFF2-40B4-BE49-F238E27FC236}">
                <a16:creationId xmlns:a16="http://schemas.microsoft.com/office/drawing/2014/main" id="{37F74AA3-55E7-4386-ACA1-3C1349BB805D}"/>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35" name="图片 34">
            <a:extLst>
              <a:ext uri="{FF2B5EF4-FFF2-40B4-BE49-F238E27FC236}">
                <a16:creationId xmlns:a16="http://schemas.microsoft.com/office/drawing/2014/main" id="{05CDC0A7-556D-49A1-AC21-BD31B9D4C09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extLst>
      <p:ext uri="{BB962C8B-B14F-4D97-AF65-F5344CB8AC3E}">
        <p14:creationId xmlns:p14="http://schemas.microsoft.com/office/powerpoint/2010/main" val="81780994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正文页-42_10">
    <p:spTree>
      <p:nvGrpSpPr>
        <p:cNvPr id="1" name=""/>
        <p:cNvGrpSpPr/>
        <p:nvPr/>
      </p:nvGrpSpPr>
      <p:grpSpPr>
        <a:xfrm>
          <a:off x="0" y="0"/>
          <a:ext cx="0" cy="0"/>
          <a:chOff x="0" y="0"/>
          <a:chExt cx="0" cy="0"/>
        </a:xfrm>
      </p:grpSpPr>
      <p:sp>
        <p:nvSpPr>
          <p:cNvPr id="27" name="文本框 42">
            <a:extLst>
              <a:ext uri="{FF2B5EF4-FFF2-40B4-BE49-F238E27FC236}">
                <a16:creationId xmlns:a16="http://schemas.microsoft.com/office/drawing/2014/main" id="{68C4AB2D-D690-412E-8242-48CEFAA64310}"/>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28" name="任意多边形 18">
            <a:extLst>
              <a:ext uri="{FF2B5EF4-FFF2-40B4-BE49-F238E27FC236}">
                <a16:creationId xmlns:a16="http://schemas.microsoft.com/office/drawing/2014/main" id="{4B078E73-F36A-4DB7-A758-1936FBEF7D8D}"/>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29" name="任意多边形 19">
            <a:extLst>
              <a:ext uri="{FF2B5EF4-FFF2-40B4-BE49-F238E27FC236}">
                <a16:creationId xmlns:a16="http://schemas.microsoft.com/office/drawing/2014/main" id="{4B8C9198-63BF-4420-8737-E3E423CC0B86}"/>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0" name="任意多边形 20">
            <a:extLst>
              <a:ext uri="{FF2B5EF4-FFF2-40B4-BE49-F238E27FC236}">
                <a16:creationId xmlns:a16="http://schemas.microsoft.com/office/drawing/2014/main" id="{A495283D-B07A-473B-899B-9360BDCD26C8}"/>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1" name="任意多边形 21">
            <a:extLst>
              <a:ext uri="{FF2B5EF4-FFF2-40B4-BE49-F238E27FC236}">
                <a16:creationId xmlns:a16="http://schemas.microsoft.com/office/drawing/2014/main" id="{D6F0365B-A1A4-4CF7-A08E-E125973FD9AC}"/>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32" name="图片 31">
            <a:extLst>
              <a:ext uri="{FF2B5EF4-FFF2-40B4-BE49-F238E27FC236}">
                <a16:creationId xmlns:a16="http://schemas.microsoft.com/office/drawing/2014/main" id="{788A5D42-5A4C-4449-8639-C08172A7D6B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extLst>
      <p:ext uri="{BB962C8B-B14F-4D97-AF65-F5344CB8AC3E}">
        <p14:creationId xmlns:p14="http://schemas.microsoft.com/office/powerpoint/2010/main" val="341690382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正文页-38_1">
    <p:spTree>
      <p:nvGrpSpPr>
        <p:cNvPr id="1" name=""/>
        <p:cNvGrpSpPr/>
        <p:nvPr/>
      </p:nvGrpSpPr>
      <p:grpSpPr>
        <a:xfrm>
          <a:off x="0" y="0"/>
          <a:ext cx="0" cy="0"/>
          <a:chOff x="0" y="0"/>
          <a:chExt cx="0" cy="0"/>
        </a:xfrm>
      </p:grpSpPr>
      <p:sp>
        <p:nvSpPr>
          <p:cNvPr id="28" name="文本框 42">
            <a:extLst>
              <a:ext uri="{FF2B5EF4-FFF2-40B4-BE49-F238E27FC236}">
                <a16:creationId xmlns:a16="http://schemas.microsoft.com/office/drawing/2014/main" id="{1B3101EB-C814-4CA4-9CB1-F5AD1F51A19A}"/>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29" name="任意多边形 18">
            <a:extLst>
              <a:ext uri="{FF2B5EF4-FFF2-40B4-BE49-F238E27FC236}">
                <a16:creationId xmlns:a16="http://schemas.microsoft.com/office/drawing/2014/main" id="{69DED505-6A76-45EB-904B-FD73CD8F5A18}"/>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0" name="任意多边形 19">
            <a:extLst>
              <a:ext uri="{FF2B5EF4-FFF2-40B4-BE49-F238E27FC236}">
                <a16:creationId xmlns:a16="http://schemas.microsoft.com/office/drawing/2014/main" id="{B0E53235-A6E9-414E-A651-B3FA52345E97}"/>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1" name="任意多边形 20">
            <a:extLst>
              <a:ext uri="{FF2B5EF4-FFF2-40B4-BE49-F238E27FC236}">
                <a16:creationId xmlns:a16="http://schemas.microsoft.com/office/drawing/2014/main" id="{86B7FE55-7DD3-4F12-80E3-D8371AC97641}"/>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2" name="任意多边形 21">
            <a:extLst>
              <a:ext uri="{FF2B5EF4-FFF2-40B4-BE49-F238E27FC236}">
                <a16:creationId xmlns:a16="http://schemas.microsoft.com/office/drawing/2014/main" id="{2DFD2B32-1EE2-4918-944C-4799380FA431}"/>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33" name="图片 32">
            <a:extLst>
              <a:ext uri="{FF2B5EF4-FFF2-40B4-BE49-F238E27FC236}">
                <a16:creationId xmlns:a16="http://schemas.microsoft.com/office/drawing/2014/main" id="{91F68077-84D8-44D5-9B41-9F8A6E0756C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extLst>
      <p:ext uri="{BB962C8B-B14F-4D97-AF65-F5344CB8AC3E}">
        <p14:creationId xmlns:p14="http://schemas.microsoft.com/office/powerpoint/2010/main" val="262137266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正文页-10004_1">
    <p:spTree>
      <p:nvGrpSpPr>
        <p:cNvPr id="1" name=""/>
        <p:cNvGrpSpPr/>
        <p:nvPr/>
      </p:nvGrpSpPr>
      <p:grpSpPr>
        <a:xfrm>
          <a:off x="0" y="0"/>
          <a:ext cx="0" cy="0"/>
          <a:chOff x="0" y="0"/>
          <a:chExt cx="0" cy="0"/>
        </a:xfrm>
      </p:grpSpPr>
      <p:sp>
        <p:nvSpPr>
          <p:cNvPr id="23" name="文本框 42">
            <a:extLst>
              <a:ext uri="{FF2B5EF4-FFF2-40B4-BE49-F238E27FC236}">
                <a16:creationId xmlns:a16="http://schemas.microsoft.com/office/drawing/2014/main" id="{1599E534-6942-4032-ADBF-879F52D45641}"/>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24" name="任意多边形 18">
            <a:extLst>
              <a:ext uri="{FF2B5EF4-FFF2-40B4-BE49-F238E27FC236}">
                <a16:creationId xmlns:a16="http://schemas.microsoft.com/office/drawing/2014/main" id="{6BECC632-7468-40AF-A285-FE60F9B4CAF0}"/>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25" name="任意多边形 19">
            <a:extLst>
              <a:ext uri="{FF2B5EF4-FFF2-40B4-BE49-F238E27FC236}">
                <a16:creationId xmlns:a16="http://schemas.microsoft.com/office/drawing/2014/main" id="{623CE73C-979C-4F33-986D-81792361793D}"/>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26" name="任意多边形 20">
            <a:extLst>
              <a:ext uri="{FF2B5EF4-FFF2-40B4-BE49-F238E27FC236}">
                <a16:creationId xmlns:a16="http://schemas.microsoft.com/office/drawing/2014/main" id="{DB2AF8F3-836A-48B7-A795-353A901D1A5D}"/>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27" name="任意多边形 21">
            <a:extLst>
              <a:ext uri="{FF2B5EF4-FFF2-40B4-BE49-F238E27FC236}">
                <a16:creationId xmlns:a16="http://schemas.microsoft.com/office/drawing/2014/main" id="{D06D1CF2-98CB-4068-BE85-2B580A400081}"/>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28" name="图片 27">
            <a:extLst>
              <a:ext uri="{FF2B5EF4-FFF2-40B4-BE49-F238E27FC236}">
                <a16:creationId xmlns:a16="http://schemas.microsoft.com/office/drawing/2014/main" id="{CD4DDC71-0C29-4BB5-A020-609388BA0B5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extLst>
      <p:ext uri="{BB962C8B-B14F-4D97-AF65-F5344CB8AC3E}">
        <p14:creationId xmlns:p14="http://schemas.microsoft.com/office/powerpoint/2010/main" val="407362259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正文页-59_1">
    <p:spTree>
      <p:nvGrpSpPr>
        <p:cNvPr id="1" name=""/>
        <p:cNvGrpSpPr/>
        <p:nvPr/>
      </p:nvGrpSpPr>
      <p:grpSpPr>
        <a:xfrm>
          <a:off x="0" y="0"/>
          <a:ext cx="0" cy="0"/>
          <a:chOff x="0" y="0"/>
          <a:chExt cx="0" cy="0"/>
        </a:xfrm>
      </p:grpSpPr>
      <p:sp>
        <p:nvSpPr>
          <p:cNvPr id="24" name="文本框 42">
            <a:extLst>
              <a:ext uri="{FF2B5EF4-FFF2-40B4-BE49-F238E27FC236}">
                <a16:creationId xmlns:a16="http://schemas.microsoft.com/office/drawing/2014/main" id="{A20C4C34-07CE-4467-95BA-69409E285EA7}"/>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25" name="任意多边形 18">
            <a:extLst>
              <a:ext uri="{FF2B5EF4-FFF2-40B4-BE49-F238E27FC236}">
                <a16:creationId xmlns:a16="http://schemas.microsoft.com/office/drawing/2014/main" id="{A1B44ACA-DAAB-4A1E-85D9-8F0C0B18D6D2}"/>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26" name="任意多边形 19">
            <a:extLst>
              <a:ext uri="{FF2B5EF4-FFF2-40B4-BE49-F238E27FC236}">
                <a16:creationId xmlns:a16="http://schemas.microsoft.com/office/drawing/2014/main" id="{D2E8B019-4D4C-46B3-971E-A08176B83E20}"/>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27" name="任意多边形 20">
            <a:extLst>
              <a:ext uri="{FF2B5EF4-FFF2-40B4-BE49-F238E27FC236}">
                <a16:creationId xmlns:a16="http://schemas.microsoft.com/office/drawing/2014/main" id="{AE65467D-7BD5-4A38-AAB8-379A7B275850}"/>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28" name="任意多边形 21">
            <a:extLst>
              <a:ext uri="{FF2B5EF4-FFF2-40B4-BE49-F238E27FC236}">
                <a16:creationId xmlns:a16="http://schemas.microsoft.com/office/drawing/2014/main" id="{D928BD86-83BE-4A91-9990-459AB8CD2D5D}"/>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29" name="图片 28">
            <a:extLst>
              <a:ext uri="{FF2B5EF4-FFF2-40B4-BE49-F238E27FC236}">
                <a16:creationId xmlns:a16="http://schemas.microsoft.com/office/drawing/2014/main" id="{22C00EA9-82CB-4F15-9DAA-85920AB9890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extLst>
      <p:ext uri="{BB962C8B-B14F-4D97-AF65-F5344CB8AC3E}">
        <p14:creationId xmlns:p14="http://schemas.microsoft.com/office/powerpoint/2010/main" val="2691601650"/>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正文页-57_4">
    <p:spTree>
      <p:nvGrpSpPr>
        <p:cNvPr id="1" name=""/>
        <p:cNvGrpSpPr/>
        <p:nvPr/>
      </p:nvGrpSpPr>
      <p:grpSpPr>
        <a:xfrm>
          <a:off x="0" y="0"/>
          <a:ext cx="0" cy="0"/>
          <a:chOff x="0" y="0"/>
          <a:chExt cx="0" cy="0"/>
        </a:xfrm>
      </p:grpSpPr>
      <p:sp>
        <p:nvSpPr>
          <p:cNvPr id="28" name="文本框 42">
            <a:extLst>
              <a:ext uri="{FF2B5EF4-FFF2-40B4-BE49-F238E27FC236}">
                <a16:creationId xmlns:a16="http://schemas.microsoft.com/office/drawing/2014/main" id="{30AEE1E8-3394-4FAF-AEE4-E8E7127839FD}"/>
              </a:ext>
            </a:extLst>
          </p:cNvPr>
          <p:cNvSpPr>
            <a:spLocks noChangeArrowheads="1"/>
          </p:cNvSpPr>
          <p:nvPr userDrawn="1"/>
        </p:nvSpPr>
        <p:spPr bwMode="auto">
          <a:xfrm>
            <a:off x="341092" y="74069"/>
            <a:ext cx="4427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912261" fontAlgn="base">
              <a:spcBef>
                <a:spcPct val="0"/>
              </a:spcBef>
              <a:spcAft>
                <a:spcPct val="0"/>
              </a:spcAft>
            </a:pPr>
            <a:r>
              <a:rPr lang="en-US" altLang="zh-CN" sz="4000" dirty="0">
                <a:solidFill>
                  <a:prstClr val="white"/>
                </a:solidFill>
                <a:latin typeface="Impact" panose="020B0806030902050204" pitchFamily="34" charset="0"/>
                <a:sym typeface="Impact" panose="020B0806030902050204" pitchFamily="34" charset="0"/>
              </a:rPr>
              <a:t>2</a:t>
            </a:r>
            <a:endParaRPr lang="zh-CN" altLang="en-US" sz="4000" dirty="0">
              <a:solidFill>
                <a:prstClr val="white"/>
              </a:solidFill>
              <a:latin typeface="Impact" panose="020B0806030902050204" pitchFamily="34" charset="0"/>
              <a:sym typeface="Impact" panose="020B0806030902050204" pitchFamily="34" charset="0"/>
            </a:endParaRPr>
          </a:p>
        </p:txBody>
      </p:sp>
      <p:sp>
        <p:nvSpPr>
          <p:cNvPr id="29" name="任意多边形 18">
            <a:extLst>
              <a:ext uri="{FF2B5EF4-FFF2-40B4-BE49-F238E27FC236}">
                <a16:creationId xmlns:a16="http://schemas.microsoft.com/office/drawing/2014/main" id="{4724DA8E-3391-4FDB-81C7-7591F11C9DAC}"/>
              </a:ext>
            </a:extLst>
          </p:cNvPr>
          <p:cNvSpPr/>
          <p:nvPr userDrawn="1"/>
        </p:nvSpPr>
        <p:spPr>
          <a:xfrm flipH="1">
            <a:off x="-3" y="748316"/>
            <a:ext cx="9024000" cy="89885"/>
          </a:xfrm>
          <a:custGeom>
            <a:avLst/>
            <a:gdLst>
              <a:gd name="connsiteX0" fmla="*/ 6515627 w 6515627"/>
              <a:gd name="connsiteY0" fmla="*/ 0 h 67414"/>
              <a:gd name="connsiteX1" fmla="*/ 67507 w 6515627"/>
              <a:gd name="connsiteY1" fmla="*/ 0 h 67414"/>
              <a:gd name="connsiteX2" fmla="*/ 0 w 6515627"/>
              <a:gd name="connsiteY2" fmla="*/ 67414 h 67414"/>
              <a:gd name="connsiteX3" fmla="*/ 6515627 w 6515627"/>
              <a:gd name="connsiteY3" fmla="*/ 67414 h 67414"/>
            </a:gdLst>
            <a:ahLst/>
            <a:cxnLst>
              <a:cxn ang="0">
                <a:pos x="connsiteX0" y="connsiteY0"/>
              </a:cxn>
              <a:cxn ang="0">
                <a:pos x="connsiteX1" y="connsiteY1"/>
              </a:cxn>
              <a:cxn ang="0">
                <a:pos x="connsiteX2" y="connsiteY2"/>
              </a:cxn>
              <a:cxn ang="0">
                <a:pos x="connsiteX3" y="connsiteY3"/>
              </a:cxn>
            </a:cxnLst>
            <a:rect l="l" t="t" r="r" b="b"/>
            <a:pathLst>
              <a:path w="6515627" h="67414">
                <a:moveTo>
                  <a:pt x="6515627" y="0"/>
                </a:moveTo>
                <a:lnTo>
                  <a:pt x="67507" y="0"/>
                </a:lnTo>
                <a:lnTo>
                  <a:pt x="0" y="67414"/>
                </a:lnTo>
                <a:lnTo>
                  <a:pt x="6515627" y="67414"/>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0" name="任意多边形 19">
            <a:extLst>
              <a:ext uri="{FF2B5EF4-FFF2-40B4-BE49-F238E27FC236}">
                <a16:creationId xmlns:a16="http://schemas.microsoft.com/office/drawing/2014/main" id="{36712E71-8664-46F3-9D45-61D327936CF1}"/>
              </a:ext>
            </a:extLst>
          </p:cNvPr>
          <p:cNvSpPr/>
          <p:nvPr userDrawn="1"/>
        </p:nvSpPr>
        <p:spPr>
          <a:xfrm flipH="1">
            <a:off x="8589796" y="-9186"/>
            <a:ext cx="3602203" cy="847388"/>
          </a:xfrm>
          <a:custGeom>
            <a:avLst/>
            <a:gdLst>
              <a:gd name="connsiteX0" fmla="*/ 2701652 w 2701652"/>
              <a:gd name="connsiteY0" fmla="*/ 0 h 502825"/>
              <a:gd name="connsiteX1" fmla="*/ 0 w 2701652"/>
              <a:gd name="connsiteY1" fmla="*/ 0 h 502825"/>
              <a:gd name="connsiteX2" fmla="*/ 0 w 2701652"/>
              <a:gd name="connsiteY2" fmla="*/ 502825 h 502825"/>
              <a:gd name="connsiteX3" fmla="*/ 2198133 w 2701652"/>
              <a:gd name="connsiteY3" fmla="*/ 502825 h 502825"/>
            </a:gdLst>
            <a:ahLst/>
            <a:cxnLst>
              <a:cxn ang="0">
                <a:pos x="connsiteX0" y="connsiteY0"/>
              </a:cxn>
              <a:cxn ang="0">
                <a:pos x="connsiteX1" y="connsiteY1"/>
              </a:cxn>
              <a:cxn ang="0">
                <a:pos x="connsiteX2" y="connsiteY2"/>
              </a:cxn>
              <a:cxn ang="0">
                <a:pos x="connsiteX3" y="connsiteY3"/>
              </a:cxn>
            </a:cxnLst>
            <a:rect l="l" t="t" r="r" b="b"/>
            <a:pathLst>
              <a:path w="2701652" h="502825">
                <a:moveTo>
                  <a:pt x="2701652" y="0"/>
                </a:moveTo>
                <a:lnTo>
                  <a:pt x="0" y="0"/>
                </a:lnTo>
                <a:lnTo>
                  <a:pt x="0" y="502825"/>
                </a:lnTo>
                <a:lnTo>
                  <a:pt x="2198133" y="502825"/>
                </a:lnTo>
                <a:close/>
              </a:path>
            </a:pathLst>
          </a:custGeom>
          <a:solidFill>
            <a:srgbClr val="376092"/>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1" name="任意多边形 20">
            <a:extLst>
              <a:ext uri="{FF2B5EF4-FFF2-40B4-BE49-F238E27FC236}">
                <a16:creationId xmlns:a16="http://schemas.microsoft.com/office/drawing/2014/main" id="{A3F03BBC-C686-4119-BE01-D2CA365A27B3}"/>
              </a:ext>
            </a:extLst>
          </p:cNvPr>
          <p:cNvSpPr/>
          <p:nvPr userDrawn="1"/>
        </p:nvSpPr>
        <p:spPr>
          <a:xfrm>
            <a:off x="9145704" y="-2169"/>
            <a:ext cx="869552" cy="535569"/>
          </a:xfrm>
          <a:custGeom>
            <a:avLst/>
            <a:gdLst>
              <a:gd name="connsiteX0" fmla="*/ 15986 w 683098"/>
              <a:gd name="connsiteY0" fmla="*/ 0 h 420730"/>
              <a:gd name="connsiteX1" fmla="*/ 667112 w 683098"/>
              <a:gd name="connsiteY1" fmla="*/ 0 h 420730"/>
              <a:gd name="connsiteX2" fmla="*/ 683098 w 683098"/>
              <a:gd name="connsiteY2" fmla="*/ 79181 h 420730"/>
              <a:gd name="connsiteX3" fmla="*/ 341549 w 683098"/>
              <a:gd name="connsiteY3" fmla="*/ 420730 h 420730"/>
              <a:gd name="connsiteX4" fmla="*/ 0 w 683098"/>
              <a:gd name="connsiteY4" fmla="*/ 79181 h 42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98" h="420730">
                <a:moveTo>
                  <a:pt x="15986" y="0"/>
                </a:moveTo>
                <a:lnTo>
                  <a:pt x="667112" y="0"/>
                </a:lnTo>
                <a:lnTo>
                  <a:pt x="683098" y="79181"/>
                </a:lnTo>
                <a:cubicBezTo>
                  <a:pt x="683098" y="267813"/>
                  <a:pt x="530181" y="420730"/>
                  <a:pt x="341549" y="420730"/>
                </a:cubicBezTo>
                <a:cubicBezTo>
                  <a:pt x="152917" y="420730"/>
                  <a:pt x="0" y="267813"/>
                  <a:pt x="0" y="79181"/>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sp>
        <p:nvSpPr>
          <p:cNvPr id="32" name="任意多边形 21">
            <a:extLst>
              <a:ext uri="{FF2B5EF4-FFF2-40B4-BE49-F238E27FC236}">
                <a16:creationId xmlns:a16="http://schemas.microsoft.com/office/drawing/2014/main" id="{207296E9-218C-4F28-B59E-4BBB4389F616}"/>
              </a:ext>
            </a:extLst>
          </p:cNvPr>
          <p:cNvSpPr/>
          <p:nvPr userDrawn="1"/>
        </p:nvSpPr>
        <p:spPr>
          <a:xfrm>
            <a:off x="9711555" y="-2169"/>
            <a:ext cx="741135" cy="192229"/>
          </a:xfrm>
          <a:custGeom>
            <a:avLst/>
            <a:gdLst>
              <a:gd name="connsiteX0" fmla="*/ 0 w 555851"/>
              <a:gd name="connsiteY0" fmla="*/ 0 h 144172"/>
              <a:gd name="connsiteX1" fmla="*/ 555851 w 555851"/>
              <a:gd name="connsiteY1" fmla="*/ 0 h 144172"/>
              <a:gd name="connsiteX2" fmla="*/ 519437 w 555851"/>
              <a:gd name="connsiteY2" fmla="*/ 44135 h 144172"/>
              <a:gd name="connsiteX3" fmla="*/ 277925 w 555851"/>
              <a:gd name="connsiteY3" fmla="*/ 144172 h 144172"/>
              <a:gd name="connsiteX4" fmla="*/ 36414 w 555851"/>
              <a:gd name="connsiteY4" fmla="*/ 44135 h 14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51" h="144172">
                <a:moveTo>
                  <a:pt x="0" y="0"/>
                </a:moveTo>
                <a:lnTo>
                  <a:pt x="555851" y="0"/>
                </a:lnTo>
                <a:lnTo>
                  <a:pt x="519437" y="44135"/>
                </a:lnTo>
                <a:cubicBezTo>
                  <a:pt x="457629" y="105943"/>
                  <a:pt x="372241" y="144172"/>
                  <a:pt x="277925" y="144172"/>
                </a:cubicBezTo>
                <a:cubicBezTo>
                  <a:pt x="183609" y="144172"/>
                  <a:pt x="98222" y="105943"/>
                  <a:pt x="36414" y="44135"/>
                </a:cubicBezTo>
                <a:close/>
              </a:path>
            </a:pathLst>
          </a:custGeom>
          <a:solidFill>
            <a:srgbClr val="FFFFFF">
              <a:alpha val="5098"/>
            </a:srgbClr>
          </a:solidFill>
          <a:ln w="12700" cap="flat" cmpd="sng" algn="ctr">
            <a:noFill/>
            <a:prstDash val="solid"/>
            <a:miter lim="800000"/>
          </a:ln>
          <a:effectLst/>
        </p:spPr>
        <p:txBody>
          <a:bodyPr rtlCol="0" anchor="ctr"/>
          <a:lstStyle/>
          <a:p>
            <a:pPr algn="ctr" defTabSz="1219170">
              <a:defRPr/>
            </a:pPr>
            <a:endParaRPr lang="zh-CN" altLang="en-US" sz="2400" kern="0">
              <a:solidFill>
                <a:prstClr val="white"/>
              </a:solidFill>
              <a:latin typeface="Arial"/>
              <a:ea typeface="微软雅黑"/>
            </a:endParaRPr>
          </a:p>
        </p:txBody>
      </p:sp>
      <p:pic>
        <p:nvPicPr>
          <p:cNvPr id="33" name="图片 32">
            <a:extLst>
              <a:ext uri="{FF2B5EF4-FFF2-40B4-BE49-F238E27FC236}">
                <a16:creationId xmlns:a16="http://schemas.microsoft.com/office/drawing/2014/main" id="{C1A12DD4-49A4-4563-AD01-27A20FC74C6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3102" y="17786"/>
            <a:ext cx="2279965" cy="813013"/>
          </a:xfrm>
          <a:prstGeom prst="rect">
            <a:avLst/>
          </a:prstGeom>
        </p:spPr>
      </p:pic>
    </p:spTree>
    <p:extLst>
      <p:ext uri="{BB962C8B-B14F-4D97-AF65-F5344CB8AC3E}">
        <p14:creationId xmlns:p14="http://schemas.microsoft.com/office/powerpoint/2010/main" val="1074611612"/>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58D13E-7247-4367-AC2D-A72A1BE37CA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50FE9E8-7A34-4CC1-BD4F-9C3EED360AC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49A6C8-94E1-44C8-B95C-D4FCB61443CE}"/>
              </a:ext>
            </a:extLst>
          </p:cNvPr>
          <p:cNvSpPr>
            <a:spLocks noGrp="1"/>
          </p:cNvSpPr>
          <p:nvPr>
            <p:ph type="dt" sz="half" idx="10"/>
          </p:nvPr>
        </p:nvSpPr>
        <p:spPr/>
        <p:txBody>
          <a:bodyPr/>
          <a:lstStyle/>
          <a:p>
            <a:fld id="{50DFAB75-46E8-4D97-A728-93EF25077506}" type="datetimeFigureOut">
              <a:rPr lang="zh-CN" altLang="en-US" smtClean="0"/>
              <a:t>2026-09-21</a:t>
            </a:fld>
            <a:endParaRPr lang="zh-CN" altLang="en-US"/>
          </a:p>
        </p:txBody>
      </p:sp>
      <p:sp>
        <p:nvSpPr>
          <p:cNvPr id="5" name="页脚占位符 4">
            <a:extLst>
              <a:ext uri="{FF2B5EF4-FFF2-40B4-BE49-F238E27FC236}">
                <a16:creationId xmlns:a16="http://schemas.microsoft.com/office/drawing/2014/main" id="{2A79B747-D807-45B1-BD61-A65C64C9D10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5E91EE1-C3F7-46D3-AF90-A7D443020BFB}"/>
              </a:ext>
            </a:extLst>
          </p:cNvPr>
          <p:cNvSpPr>
            <a:spLocks noGrp="1"/>
          </p:cNvSpPr>
          <p:nvPr>
            <p:ph type="sldNum" sz="quarter" idx="12"/>
          </p:nvPr>
        </p:nvSpPr>
        <p:spPr/>
        <p:txBody>
          <a:bodyPr/>
          <a:lstStyle/>
          <a:p>
            <a:fld id="{DFE6D722-0B96-4EE9-B40A-3F4A10FF0CFE}" type="slidenum">
              <a:rPr lang="zh-CN" altLang="en-US" smtClean="0"/>
              <a:t>‹#›</a:t>
            </a:fld>
            <a:endParaRPr lang="zh-CN" altLang="en-US"/>
          </a:p>
        </p:txBody>
      </p:sp>
    </p:spTree>
    <p:extLst>
      <p:ext uri="{BB962C8B-B14F-4D97-AF65-F5344CB8AC3E}">
        <p14:creationId xmlns:p14="http://schemas.microsoft.com/office/powerpoint/2010/main" val="2162542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620558-5325-4CFD-AFD0-B6863C016BE7}" type="datetimeFigureOut">
              <a:rPr lang="zh-CN" altLang="en-US" smtClean="0"/>
              <a:t>2026-09-21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4A6431-AF6F-4770-94EC-EB1259D505D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1" y="366190"/>
            <a:ext cx="10515600" cy="1325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838201" y="1826684"/>
            <a:ext cx="10515600" cy="4349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838201" y="6356357"/>
            <a:ext cx="2743200" cy="366183"/>
          </a:xfrm>
          <a:prstGeom prst="rect">
            <a:avLst/>
          </a:prstGeom>
        </p:spPr>
        <p:txBody>
          <a:bodyPr vert="horz" lIns="91440" tIns="45720" rIns="91440" bIns="45720" rtlCol="0" anchor="ctr"/>
          <a:lstStyle>
            <a:lvl1pPr algn="l" defTabSz="914294" eaLnBrk="1" fontAlgn="auto" hangingPunct="1">
              <a:spcBef>
                <a:spcPts val="0"/>
              </a:spcBef>
              <a:spcAft>
                <a:spcPts val="0"/>
              </a:spcAft>
              <a:defRPr sz="1200">
                <a:solidFill>
                  <a:schemeClr val="tx1">
                    <a:tint val="75000"/>
                  </a:schemeClr>
                </a:solidFill>
                <a:latin typeface="华文细黑" panose="02010600040101010101" pitchFamily="2" charset="-122"/>
                <a:ea typeface="+mn-ea"/>
              </a:defRPr>
            </a:lvl1pPr>
          </a:lstStyle>
          <a:p>
            <a:pPr>
              <a:defRPr/>
            </a:pPr>
            <a:fld id="{B688739C-4961-464E-BA3F-458A2D378A86}" type="datetimeFigureOut">
              <a:rPr lang="zh-CN" altLang="en-US"/>
              <a:pPr>
                <a:defRPr/>
              </a:pPr>
              <a:t>2026-09-21</a:t>
            </a:fld>
            <a:endParaRPr lang="zh-CN" altLang="en-US" dirty="0"/>
          </a:p>
        </p:txBody>
      </p:sp>
      <p:sp>
        <p:nvSpPr>
          <p:cNvPr id="5" name="Footer Placeholder 4"/>
          <p:cNvSpPr>
            <a:spLocks noGrp="1"/>
          </p:cNvSpPr>
          <p:nvPr>
            <p:ph type="ftr" sz="quarter" idx="3"/>
          </p:nvPr>
        </p:nvSpPr>
        <p:spPr>
          <a:xfrm>
            <a:off x="4038601" y="6356357"/>
            <a:ext cx="4114800" cy="366183"/>
          </a:xfrm>
          <a:prstGeom prst="rect">
            <a:avLst/>
          </a:prstGeom>
        </p:spPr>
        <p:txBody>
          <a:bodyPr vert="horz" lIns="91440" tIns="45720" rIns="91440" bIns="45720" rtlCol="0" anchor="ctr"/>
          <a:lstStyle>
            <a:lvl1pPr algn="ctr" defTabSz="914294" eaLnBrk="1" fontAlgn="auto" hangingPunct="1">
              <a:spcBef>
                <a:spcPts val="0"/>
              </a:spcBef>
              <a:spcAft>
                <a:spcPts val="0"/>
              </a:spcAft>
              <a:defRPr sz="1200">
                <a:solidFill>
                  <a:schemeClr val="tx1">
                    <a:tint val="75000"/>
                  </a:schemeClr>
                </a:solidFill>
                <a:latin typeface="华文细黑" panose="02010600040101010101" pitchFamily="2" charset="-122"/>
                <a:ea typeface="+mn-ea"/>
              </a:defRPr>
            </a:lvl1pPr>
          </a:lstStyle>
          <a:p>
            <a:pPr>
              <a:defRPr/>
            </a:pPr>
            <a:endParaRPr lang="zh-CN" altLang="en-US"/>
          </a:p>
        </p:txBody>
      </p:sp>
      <p:sp>
        <p:nvSpPr>
          <p:cNvPr id="6" name="Slide Number Placeholder 5"/>
          <p:cNvSpPr>
            <a:spLocks noGrp="1"/>
          </p:cNvSpPr>
          <p:nvPr>
            <p:ph type="sldNum" sz="quarter" idx="4"/>
          </p:nvPr>
        </p:nvSpPr>
        <p:spPr>
          <a:xfrm>
            <a:off x="8610601" y="6356357"/>
            <a:ext cx="2743200" cy="366183"/>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华文细黑" panose="02010600040101010101" pitchFamily="2" charset="-122"/>
              </a:defRPr>
            </a:lvl1pPr>
          </a:lstStyle>
          <a:p>
            <a:fld id="{3A11DDF8-7585-4D5A-A9E0-BA1CFD1E6C23}" type="slidenum">
              <a:rPr lang="zh-CN" altLang="en-US"/>
              <a:pPr/>
              <a:t>‹#›</a:t>
            </a:fld>
            <a:endParaRPr lang="zh-CN" altLang="en-US"/>
          </a:p>
        </p:txBody>
      </p:sp>
    </p:spTree>
    <p:extLst>
      <p:ext uri="{BB962C8B-B14F-4D97-AF65-F5344CB8AC3E}">
        <p14:creationId xmlns:p14="http://schemas.microsoft.com/office/powerpoint/2010/main" val="2690094738"/>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2"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p:titleStyle>
    <p:bodyStyle>
      <a:lvl1pPr marL="228589" indent="-228589" algn="l" defTabSz="914354" rtl="0" eaLnBrk="0" fontAlgn="base" hangingPunct="0">
        <a:lnSpc>
          <a:spcPct val="90000"/>
        </a:lnSpc>
        <a:spcBef>
          <a:spcPts val="1001"/>
        </a:spcBef>
        <a:spcAft>
          <a:spcPct val="0"/>
        </a:spcAft>
        <a:buFont typeface="Arial" panose="020B0604020202020204" pitchFamily="34" charset="0"/>
        <a:buChar char="•"/>
        <a:defRPr sz="2800" kern="1200">
          <a:solidFill>
            <a:schemeClr val="tx1"/>
          </a:solidFill>
          <a:latin typeface="华文细黑" panose="02010600040101010101" pitchFamily="2" charset="-122"/>
          <a:ea typeface="+mn-ea"/>
          <a:cs typeface="+mn-cs"/>
        </a:defRPr>
      </a:lvl1pPr>
      <a:lvl2pPr marL="685767" indent="-228589" algn="l" defTabSz="914354"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华文细黑" panose="02010600040101010101" pitchFamily="2" charset="-122"/>
          <a:ea typeface="+mn-ea"/>
          <a:cs typeface="+mn-cs"/>
        </a:defRPr>
      </a:lvl2pPr>
      <a:lvl3pPr marL="1142943" indent="-228589" algn="l" defTabSz="914354"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华文细黑" panose="02010600040101010101" pitchFamily="2" charset="-122"/>
          <a:ea typeface="+mn-ea"/>
          <a:cs typeface="+mn-cs"/>
        </a:defRPr>
      </a:lvl3pPr>
      <a:lvl4pPr marL="1600121" indent="-228589" algn="l" defTabSz="914354" rtl="0" eaLnBrk="0" fontAlgn="base" hangingPunct="0">
        <a:lnSpc>
          <a:spcPct val="90000"/>
        </a:lnSpc>
        <a:spcBef>
          <a:spcPts val="500"/>
        </a:spcBef>
        <a:spcAft>
          <a:spcPct val="0"/>
        </a:spcAft>
        <a:buFont typeface="Arial" panose="020B0604020202020204" pitchFamily="34" charset="0"/>
        <a:buChar char="•"/>
        <a:defRPr sz="1733" kern="1200">
          <a:solidFill>
            <a:schemeClr val="tx1"/>
          </a:solidFill>
          <a:latin typeface="华文细黑" panose="02010600040101010101" pitchFamily="2" charset="-122"/>
          <a:ea typeface="+mn-ea"/>
          <a:cs typeface="+mn-cs"/>
        </a:defRPr>
      </a:lvl4pPr>
      <a:lvl5pPr marL="2057298" indent="-228589" algn="l" defTabSz="914354" rtl="0" eaLnBrk="0" fontAlgn="base" hangingPunct="0">
        <a:lnSpc>
          <a:spcPct val="90000"/>
        </a:lnSpc>
        <a:spcBef>
          <a:spcPts val="500"/>
        </a:spcBef>
        <a:spcAft>
          <a:spcPct val="0"/>
        </a:spcAft>
        <a:buFont typeface="Arial" panose="020B0604020202020204" pitchFamily="34" charset="0"/>
        <a:buChar char="•"/>
        <a:defRPr sz="1733" kern="1200">
          <a:solidFill>
            <a:schemeClr val="tx1"/>
          </a:solidFill>
          <a:latin typeface="华文细黑" panose="02010600040101010101" pitchFamily="2" charset="-122"/>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notesSlide" Target="../notesSlides/notesSlide1.xml"/><Relationship Id="rId7" Type="http://schemas.openxmlformats.org/officeDocument/2006/relationships/image" Target="../media/image9.jpeg"/><Relationship Id="rId2"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8.bin"/><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3.xml"/><Relationship Id="rId4" Type="http://schemas.openxmlformats.org/officeDocument/2006/relationships/image" Target="../media/image23.emf"/></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25.png"/><Relationship Id="rId12"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3.xml"/><Relationship Id="rId6" Type="http://schemas.openxmlformats.org/officeDocument/2006/relationships/image" Target="../media/image24.png"/><Relationship Id="rId11" Type="http://schemas.openxmlformats.org/officeDocument/2006/relationships/image" Target="../media/image26.png"/><Relationship Id="rId5" Type="http://schemas.openxmlformats.org/officeDocument/2006/relationships/image" Target="../media/image29.png"/><Relationship Id="rId10" Type="http://schemas.openxmlformats.org/officeDocument/2006/relationships/image" Target="../media/image28.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13" Type="http://schemas.openxmlformats.org/officeDocument/2006/relationships/image" Target="../media/image30.png"/><Relationship Id="rId18" Type="http://schemas.openxmlformats.org/officeDocument/2006/relationships/image" Target="../media/image44.png"/><Relationship Id="rId3" Type="http://schemas.openxmlformats.org/officeDocument/2006/relationships/image" Target="../media/image35.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image" Target="../media/image46.png"/><Relationship Id="rId1" Type="http://schemas.openxmlformats.org/officeDocument/2006/relationships/slideLayout" Target="../slideLayouts/slideLayout23.xml"/><Relationship Id="rId6" Type="http://schemas.openxmlformats.org/officeDocument/2006/relationships/image" Target="../media/image48.png"/><Relationship Id="rId11" Type="http://schemas.openxmlformats.org/officeDocument/2006/relationships/image" Target="../media/image53.png"/><Relationship Id="rId15" Type="http://schemas.openxmlformats.org/officeDocument/2006/relationships/image" Target="../media/image57.png"/><Relationship Id="rId5" Type="http://schemas.openxmlformats.org/officeDocument/2006/relationships/image" Target="../media/image47.png"/><Relationship Id="rId10" Type="http://schemas.openxmlformats.org/officeDocument/2006/relationships/image" Target="../media/image52.png"/><Relationship Id="rId19" Type="http://schemas.openxmlformats.org/officeDocument/2006/relationships/image" Target="../media/image32.png"/><Relationship Id="rId9" Type="http://schemas.openxmlformats.org/officeDocument/2006/relationships/image" Target="../media/image51.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13" Type="http://schemas.openxmlformats.org/officeDocument/2006/relationships/image" Target="../media/image38.png"/><Relationship Id="rId18" Type="http://schemas.openxmlformats.org/officeDocument/2006/relationships/image" Target="../media/image42.png"/><Relationship Id="rId26" Type="http://schemas.openxmlformats.org/officeDocument/2006/relationships/image" Target="../media/image60.png"/><Relationship Id="rId3" Type="http://schemas.openxmlformats.org/officeDocument/2006/relationships/image" Target="../media/image78.png"/><Relationship Id="rId21" Type="http://schemas.openxmlformats.org/officeDocument/2006/relationships/image" Target="../media/image50.png"/><Relationship Id="rId12" Type="http://schemas.openxmlformats.org/officeDocument/2006/relationships/image" Target="../media/image37.png"/><Relationship Id="rId17" Type="http://schemas.openxmlformats.org/officeDocument/2006/relationships/image" Target="../media/image77.png"/><Relationship Id="rId25" Type="http://schemas.openxmlformats.org/officeDocument/2006/relationships/image" Target="../media/image58.png"/><Relationship Id="rId2" Type="http://schemas.openxmlformats.org/officeDocument/2006/relationships/image" Target="../media/image33.png"/><Relationship Id="rId16" Type="http://schemas.openxmlformats.org/officeDocument/2006/relationships/image" Target="../media/image41.png"/><Relationship Id="rId20" Type="http://schemas.openxmlformats.org/officeDocument/2006/relationships/image" Target="../media/image45.png"/><Relationship Id="rId1" Type="http://schemas.openxmlformats.org/officeDocument/2006/relationships/slideLayout" Target="../slideLayouts/slideLayout23.xml"/><Relationship Id="rId11" Type="http://schemas.openxmlformats.org/officeDocument/2006/relationships/image" Target="../media/image34.png"/><Relationship Id="rId24" Type="http://schemas.openxmlformats.org/officeDocument/2006/relationships/image" Target="../media/image56.png"/><Relationship Id="rId5" Type="http://schemas.openxmlformats.org/officeDocument/2006/relationships/image" Target="../media/image47.png"/><Relationship Id="rId15" Type="http://schemas.openxmlformats.org/officeDocument/2006/relationships/image" Target="../media/image40.png"/><Relationship Id="rId23" Type="http://schemas.openxmlformats.org/officeDocument/2006/relationships/image" Target="../media/image28.png"/><Relationship Id="rId10" Type="http://schemas.openxmlformats.org/officeDocument/2006/relationships/image" Target="../media/image52.png"/><Relationship Id="rId19" Type="http://schemas.openxmlformats.org/officeDocument/2006/relationships/image" Target="../media/image43.png"/><Relationship Id="rId14" Type="http://schemas.openxmlformats.org/officeDocument/2006/relationships/image" Target="../media/image39.png"/><Relationship Id="rId22" Type="http://schemas.openxmlformats.org/officeDocument/2006/relationships/image" Target="../media/image55.png"/></Relationships>
</file>

<file path=ppt/slides/_rels/slide15.xml.rels><?xml version="1.0" encoding="UTF-8" standalone="yes"?>
<Relationships xmlns="http://schemas.openxmlformats.org/package/2006/relationships"><Relationship Id="rId8" Type="http://schemas.openxmlformats.org/officeDocument/2006/relationships/image" Target="../media/image63.png"/><Relationship Id="rId7"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3.xml"/><Relationship Id="rId6" Type="http://schemas.openxmlformats.org/officeDocument/2006/relationships/image" Target="../media/image76.png"/><Relationship Id="rId5" Type="http://schemas.openxmlformats.org/officeDocument/2006/relationships/image" Target="../media/image75.png"/><Relationship Id="rId10" Type="http://schemas.openxmlformats.org/officeDocument/2006/relationships/image" Target="../media/image65.png"/><Relationship Id="rId9" Type="http://schemas.openxmlformats.org/officeDocument/2006/relationships/image" Target="../media/image64.png"/></Relationships>
</file>

<file path=ppt/slides/_rels/slide16.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80.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22.png"/><Relationship Id="rId2" Type="http://schemas.openxmlformats.org/officeDocument/2006/relationships/image" Target="../media/image66.png"/><Relationship Id="rId1" Type="http://schemas.openxmlformats.org/officeDocument/2006/relationships/slideLayout" Target="../slideLayouts/slideLayout23.xml"/><Relationship Id="rId6" Type="http://schemas.openxmlformats.org/officeDocument/2006/relationships/image" Target="../media/image70.png"/><Relationship Id="rId11" Type="http://schemas.openxmlformats.org/officeDocument/2006/relationships/image" Target="../media/image79.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1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3.xml"/><Relationship Id="rId5" Type="http://schemas.openxmlformats.org/officeDocument/2006/relationships/image" Target="../media/image85.png"/><Relationship Id="rId4" Type="http://schemas.openxmlformats.org/officeDocument/2006/relationships/image" Target="../media/image84.png"/></Relationships>
</file>

<file path=ppt/slides/_rels/slide19.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Layout" Target="../slideLayouts/slideLayout23.xml"/><Relationship Id="rId2" Type="http://schemas.openxmlformats.org/officeDocument/2006/relationships/tags" Target="../tags/tag4.xml"/><Relationship Id="rId16" Type="http://schemas.openxmlformats.org/officeDocument/2006/relationships/tags" Target="../tags/tag1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2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95.png"/><Relationship Id="rId7" Type="http://schemas.openxmlformats.org/officeDocument/2006/relationships/image" Target="../media/image99.png"/><Relationship Id="rId12" Type="http://schemas.openxmlformats.org/officeDocument/2006/relationships/image" Target="../media/image100.png"/><Relationship Id="rId2" Type="http://schemas.openxmlformats.org/officeDocument/2006/relationships/slideLayout" Target="../slideLayouts/slideLayout23.xml"/><Relationship Id="rId1" Type="http://schemas.openxmlformats.org/officeDocument/2006/relationships/vmlDrawing" Target="../drawings/vmlDrawing1.vml"/><Relationship Id="rId6" Type="http://schemas.openxmlformats.org/officeDocument/2006/relationships/image" Target="../media/image98.png"/><Relationship Id="rId11" Type="http://schemas.openxmlformats.org/officeDocument/2006/relationships/image" Target="../media/image94.wmf"/><Relationship Id="rId5" Type="http://schemas.openxmlformats.org/officeDocument/2006/relationships/image" Target="../media/image97.png"/><Relationship Id="rId10" Type="http://schemas.openxmlformats.org/officeDocument/2006/relationships/oleObject" Target="../embeddings/oleObject2.bin"/><Relationship Id="rId4" Type="http://schemas.openxmlformats.org/officeDocument/2006/relationships/image" Target="../media/image96.png"/><Relationship Id="rId9" Type="http://schemas.openxmlformats.org/officeDocument/2006/relationships/image" Target="../media/image93.wmf"/></Relationships>
</file>

<file path=ppt/slides/_rels/slide23.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slideLayout" Target="../slideLayouts/slideLayout23.xml"/><Relationship Id="rId6" Type="http://schemas.openxmlformats.org/officeDocument/2006/relationships/image" Target="../media/image105.png"/><Relationship Id="rId5" Type="http://schemas.openxmlformats.org/officeDocument/2006/relationships/image" Target="../media/image104.wmf"/><Relationship Id="rId4" Type="http://schemas.openxmlformats.org/officeDocument/2006/relationships/image" Target="../media/image103.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19.xml"/><Relationship Id="rId7" Type="http://schemas.openxmlformats.org/officeDocument/2006/relationships/image" Target="../media/image109.png"/><Relationship Id="rId2" Type="http://schemas.openxmlformats.org/officeDocument/2006/relationships/vmlDrawing" Target="../drawings/vmlDrawing2.vml"/><Relationship Id="rId1" Type="http://schemas.openxmlformats.org/officeDocument/2006/relationships/themeOverride" Target="../theme/themeOverride1.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slideLayout" Target="../slideLayouts/slideLayout24.xml"/><Relationship Id="rId9" Type="http://schemas.openxmlformats.org/officeDocument/2006/relationships/image" Target="../media/image106.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14.wmf"/><Relationship Id="rId18" Type="http://schemas.openxmlformats.org/officeDocument/2006/relationships/image" Target="../media/image117.png"/><Relationship Id="rId3" Type="http://schemas.openxmlformats.org/officeDocument/2006/relationships/slideLayout" Target="../slideLayouts/slideLayout24.xml"/><Relationship Id="rId7" Type="http://schemas.openxmlformats.org/officeDocument/2006/relationships/image" Target="../media/image111.wmf"/><Relationship Id="rId12" Type="http://schemas.openxmlformats.org/officeDocument/2006/relationships/oleObject" Target="../embeddings/oleObject8.bin"/><Relationship Id="rId17" Type="http://schemas.openxmlformats.org/officeDocument/2006/relationships/image" Target="../media/image116.wmf"/><Relationship Id="rId2" Type="http://schemas.openxmlformats.org/officeDocument/2006/relationships/tags" Target="../tags/tag20.xml"/><Relationship Id="rId16" Type="http://schemas.openxmlformats.org/officeDocument/2006/relationships/oleObject" Target="../embeddings/oleObject10.bin"/><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113.wmf"/><Relationship Id="rId5" Type="http://schemas.openxmlformats.org/officeDocument/2006/relationships/image" Target="../media/image110.wmf"/><Relationship Id="rId15" Type="http://schemas.openxmlformats.org/officeDocument/2006/relationships/image" Target="../media/image115.wmf"/><Relationship Id="rId10" Type="http://schemas.openxmlformats.org/officeDocument/2006/relationships/oleObject" Target="../embeddings/oleObject7.bin"/><Relationship Id="rId19" Type="http://schemas.openxmlformats.org/officeDocument/2006/relationships/image" Target="../media/image118.png"/><Relationship Id="rId4" Type="http://schemas.openxmlformats.org/officeDocument/2006/relationships/oleObject" Target="../embeddings/oleObject4.bin"/><Relationship Id="rId9" Type="http://schemas.openxmlformats.org/officeDocument/2006/relationships/image" Target="../media/image112.wmf"/><Relationship Id="rId14" Type="http://schemas.openxmlformats.org/officeDocument/2006/relationships/oleObject" Target="../embeddings/oleObject9.bin"/></Relationships>
</file>

<file path=ppt/slides/_rels/slide2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slideLayout" Target="../slideLayouts/slideLayout24.xml"/><Relationship Id="rId1" Type="http://schemas.openxmlformats.org/officeDocument/2006/relationships/tags" Target="../tags/tag2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23.xml"/><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tags" Target="../tags/tag25.xml"/><Relationship Id="rId7" Type="http://schemas.openxmlformats.org/officeDocument/2006/relationships/oleObject" Target="../embeddings/oleObject12.bin"/><Relationship Id="rId2" Type="http://schemas.openxmlformats.org/officeDocument/2006/relationships/tags" Target="../tags/tag24.xml"/><Relationship Id="rId1" Type="http://schemas.openxmlformats.org/officeDocument/2006/relationships/vmlDrawing" Target="../drawings/vmlDrawing4.vml"/><Relationship Id="rId6" Type="http://schemas.openxmlformats.org/officeDocument/2006/relationships/image" Target="../media/image120.wmf"/><Relationship Id="rId5" Type="http://schemas.openxmlformats.org/officeDocument/2006/relationships/oleObject" Target="../embeddings/oleObject11.bin"/><Relationship Id="rId10" Type="http://schemas.openxmlformats.org/officeDocument/2006/relationships/image" Target="../media/image122.wmf"/><Relationship Id="rId4" Type="http://schemas.openxmlformats.org/officeDocument/2006/relationships/slideLayout" Target="../slideLayouts/slideLayout26.xml"/><Relationship Id="rId9" Type="http://schemas.openxmlformats.org/officeDocument/2006/relationships/oleObject" Target="../embeddings/oleObject13.bin"/></Relationships>
</file>

<file path=ppt/slides/_rels/slide2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slideLayout" Target="../slideLayouts/slideLayout26.xml"/><Relationship Id="rId1" Type="http://schemas.openxmlformats.org/officeDocument/2006/relationships/tags" Target="../tags/tag26.xml"/></Relationships>
</file>

<file path=ppt/slides/_rels/slide30.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25.wmf"/><Relationship Id="rId3" Type="http://schemas.openxmlformats.org/officeDocument/2006/relationships/tags" Target="../tags/tag28.xml"/><Relationship Id="rId7" Type="http://schemas.openxmlformats.org/officeDocument/2006/relationships/image" Target="../media/image127.png"/><Relationship Id="rId12" Type="http://schemas.openxmlformats.org/officeDocument/2006/relationships/oleObject" Target="../embeddings/oleObject15.bin"/><Relationship Id="rId2" Type="http://schemas.openxmlformats.org/officeDocument/2006/relationships/tags" Target="../tags/tag27.xml"/><Relationship Id="rId1" Type="http://schemas.openxmlformats.org/officeDocument/2006/relationships/vmlDrawing" Target="../drawings/vmlDrawing5.vml"/><Relationship Id="rId6" Type="http://schemas.openxmlformats.org/officeDocument/2006/relationships/slideLayout" Target="../slideLayouts/slideLayout27.xml"/><Relationship Id="rId11" Type="http://schemas.openxmlformats.org/officeDocument/2006/relationships/image" Target="../media/image124.wmf"/><Relationship Id="rId5" Type="http://schemas.openxmlformats.org/officeDocument/2006/relationships/tags" Target="../tags/tag30.xml"/><Relationship Id="rId15" Type="http://schemas.openxmlformats.org/officeDocument/2006/relationships/image" Target="../media/image126.wmf"/><Relationship Id="rId10" Type="http://schemas.openxmlformats.org/officeDocument/2006/relationships/oleObject" Target="../embeddings/oleObject14.bin"/><Relationship Id="rId4" Type="http://schemas.openxmlformats.org/officeDocument/2006/relationships/tags" Target="../tags/tag29.xml"/><Relationship Id="rId9" Type="http://schemas.openxmlformats.org/officeDocument/2006/relationships/image" Target="../media/image129.emf"/><Relationship Id="rId14" Type="http://schemas.openxmlformats.org/officeDocument/2006/relationships/oleObject" Target="../embeddings/oleObject16.bin"/></Relationships>
</file>

<file path=ppt/slides/_rels/slide31.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tags" Target="../tags/tag32.xml"/><Relationship Id="rId7" Type="http://schemas.openxmlformats.org/officeDocument/2006/relationships/oleObject" Target="../embeddings/oleObject18.bin"/><Relationship Id="rId12" Type="http://schemas.openxmlformats.org/officeDocument/2006/relationships/image" Target="../media/image133.wmf"/><Relationship Id="rId2" Type="http://schemas.openxmlformats.org/officeDocument/2006/relationships/tags" Target="../tags/tag31.xml"/><Relationship Id="rId1" Type="http://schemas.openxmlformats.org/officeDocument/2006/relationships/vmlDrawing" Target="../drawings/vmlDrawing6.vml"/><Relationship Id="rId6" Type="http://schemas.openxmlformats.org/officeDocument/2006/relationships/image" Target="../media/image130.wmf"/><Relationship Id="rId11" Type="http://schemas.openxmlformats.org/officeDocument/2006/relationships/oleObject" Target="../embeddings/oleObject20.bin"/><Relationship Id="rId5" Type="http://schemas.openxmlformats.org/officeDocument/2006/relationships/oleObject" Target="../embeddings/oleObject17.bin"/><Relationship Id="rId10" Type="http://schemas.openxmlformats.org/officeDocument/2006/relationships/image" Target="../media/image132.wmf"/><Relationship Id="rId4" Type="http://schemas.openxmlformats.org/officeDocument/2006/relationships/slideLayout" Target="../slideLayouts/slideLayout27.xml"/><Relationship Id="rId9" Type="http://schemas.openxmlformats.org/officeDocument/2006/relationships/oleObject" Target="../embeddings/oleObject19.bin"/></Relationships>
</file>

<file path=ppt/slides/_rels/slide32.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134.emf"/><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notesSlide" Target="../notesSlides/notesSlide4.xml"/><Relationship Id="rId5" Type="http://schemas.openxmlformats.org/officeDocument/2006/relationships/slideLayout" Target="../slideLayouts/slideLayout28.xml"/><Relationship Id="rId4" Type="http://schemas.openxmlformats.org/officeDocument/2006/relationships/tags" Target="../tags/tag36.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137.wmf"/><Relationship Id="rId3" Type="http://schemas.openxmlformats.org/officeDocument/2006/relationships/tags" Target="../tags/tag38.xml"/><Relationship Id="rId7" Type="http://schemas.openxmlformats.org/officeDocument/2006/relationships/image" Target="../media/image141.png"/><Relationship Id="rId12" Type="http://schemas.openxmlformats.org/officeDocument/2006/relationships/oleObject" Target="../embeddings/oleObject23.bin"/><Relationship Id="rId17" Type="http://schemas.openxmlformats.org/officeDocument/2006/relationships/image" Target="../media/image139.wmf"/><Relationship Id="rId2" Type="http://schemas.openxmlformats.org/officeDocument/2006/relationships/tags" Target="../tags/tag37.xml"/><Relationship Id="rId16" Type="http://schemas.openxmlformats.org/officeDocument/2006/relationships/oleObject" Target="../embeddings/oleObject25.bin"/><Relationship Id="rId1" Type="http://schemas.openxmlformats.org/officeDocument/2006/relationships/vmlDrawing" Target="../drawings/vmlDrawing7.vml"/><Relationship Id="rId6" Type="http://schemas.openxmlformats.org/officeDocument/2006/relationships/image" Target="../media/image140.png"/><Relationship Id="rId11" Type="http://schemas.openxmlformats.org/officeDocument/2006/relationships/image" Target="../media/image136.wmf"/><Relationship Id="rId5" Type="http://schemas.openxmlformats.org/officeDocument/2006/relationships/notesSlide" Target="../notesSlides/notesSlide5.xml"/><Relationship Id="rId15" Type="http://schemas.openxmlformats.org/officeDocument/2006/relationships/image" Target="../media/image138.wmf"/><Relationship Id="rId10" Type="http://schemas.openxmlformats.org/officeDocument/2006/relationships/oleObject" Target="../embeddings/oleObject22.bin"/><Relationship Id="rId4" Type="http://schemas.openxmlformats.org/officeDocument/2006/relationships/slideLayout" Target="../slideLayouts/slideLayout28.xml"/><Relationship Id="rId9" Type="http://schemas.openxmlformats.org/officeDocument/2006/relationships/image" Target="../media/image135.wmf"/><Relationship Id="rId14" Type="http://schemas.openxmlformats.org/officeDocument/2006/relationships/oleObject" Target="../embeddings/oleObject24.bin"/></Relationships>
</file>

<file path=ppt/slides/_rels/slide34.xml.rels><?xml version="1.0" encoding="UTF-8" standalone="yes"?>
<Relationships xmlns="http://schemas.openxmlformats.org/package/2006/relationships"><Relationship Id="rId8" Type="http://schemas.openxmlformats.org/officeDocument/2006/relationships/image" Target="../media/image147.jpg"/><Relationship Id="rId3" Type="http://schemas.openxmlformats.org/officeDocument/2006/relationships/image" Target="../media/image142.jpeg"/><Relationship Id="rId7" Type="http://schemas.openxmlformats.org/officeDocument/2006/relationships/image" Target="../media/image146.png"/><Relationship Id="rId2" Type="http://schemas.openxmlformats.org/officeDocument/2006/relationships/slideLayout" Target="../slideLayouts/slideLayout28.xml"/><Relationship Id="rId1" Type="http://schemas.openxmlformats.org/officeDocument/2006/relationships/tags" Target="../tags/tag39.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148.png"/><Relationship Id="rId4"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152.wmf"/><Relationship Id="rId3" Type="http://schemas.openxmlformats.org/officeDocument/2006/relationships/tags" Target="../tags/tag43.xml"/><Relationship Id="rId7" Type="http://schemas.openxmlformats.org/officeDocument/2006/relationships/image" Target="../media/image149.wmf"/><Relationship Id="rId12" Type="http://schemas.openxmlformats.org/officeDocument/2006/relationships/oleObject" Target="../embeddings/oleObject29.bin"/><Relationship Id="rId2" Type="http://schemas.openxmlformats.org/officeDocument/2006/relationships/tags" Target="../tags/tag42.xml"/><Relationship Id="rId1" Type="http://schemas.openxmlformats.org/officeDocument/2006/relationships/vmlDrawing" Target="../drawings/vmlDrawing8.vml"/><Relationship Id="rId6" Type="http://schemas.openxmlformats.org/officeDocument/2006/relationships/oleObject" Target="../embeddings/oleObject26.bin"/><Relationship Id="rId11" Type="http://schemas.openxmlformats.org/officeDocument/2006/relationships/image" Target="../media/image151.wmf"/><Relationship Id="rId5" Type="http://schemas.openxmlformats.org/officeDocument/2006/relationships/notesSlide" Target="../notesSlides/notesSlide7.xml"/><Relationship Id="rId15" Type="http://schemas.openxmlformats.org/officeDocument/2006/relationships/image" Target="../media/image153.wmf"/><Relationship Id="rId10" Type="http://schemas.openxmlformats.org/officeDocument/2006/relationships/oleObject" Target="../embeddings/oleObject28.bin"/><Relationship Id="rId4" Type="http://schemas.openxmlformats.org/officeDocument/2006/relationships/slideLayout" Target="../slideLayouts/slideLayout28.xml"/><Relationship Id="rId9" Type="http://schemas.openxmlformats.org/officeDocument/2006/relationships/image" Target="../media/image150.wmf"/><Relationship Id="rId14" Type="http://schemas.openxmlformats.org/officeDocument/2006/relationships/oleObject" Target="../embeddings/oleObject30.bin"/></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154.png"/><Relationship Id="rId4" Type="http://schemas.openxmlformats.org/officeDocument/2006/relationships/notesSlide" Target="../notesSlides/notesSlide8.xml"/></Relationships>
</file>

<file path=ppt/slides/_rels/slide38.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vmlDrawing" Target="../drawings/vmlDrawing9.vml"/><Relationship Id="rId6" Type="http://schemas.openxmlformats.org/officeDocument/2006/relationships/image" Target="../media/image155.wmf"/><Relationship Id="rId5" Type="http://schemas.openxmlformats.org/officeDocument/2006/relationships/oleObject" Target="../embeddings/oleObject31.bin"/><Relationship Id="rId4"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tags" Target="../tags/tag49.xml"/><Relationship Id="rId7" Type="http://schemas.openxmlformats.org/officeDocument/2006/relationships/oleObject" Target="../embeddings/oleObject33.bin"/><Relationship Id="rId2" Type="http://schemas.openxmlformats.org/officeDocument/2006/relationships/tags" Target="../tags/tag48.xml"/><Relationship Id="rId1" Type="http://schemas.openxmlformats.org/officeDocument/2006/relationships/vmlDrawing" Target="../drawings/vmlDrawing10.vml"/><Relationship Id="rId6" Type="http://schemas.openxmlformats.org/officeDocument/2006/relationships/image" Target="../media/image156.wmf"/><Relationship Id="rId5" Type="http://schemas.openxmlformats.org/officeDocument/2006/relationships/oleObject" Target="../embeddings/oleObject32.bin"/><Relationship Id="rId4" Type="http://schemas.openxmlformats.org/officeDocument/2006/relationships/slideLayout" Target="../slideLayouts/slideLayout29.xml"/><Relationship Id="rId9" Type="http://schemas.openxmlformats.org/officeDocument/2006/relationships/image" Target="../media/image158.emf"/></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51.xml"/><Relationship Id="rId1" Type="http://schemas.openxmlformats.org/officeDocument/2006/relationships/tags" Target="../tags/tag5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59.png"/><Relationship Id="rId4"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161.png"/><Relationship Id="rId4" Type="http://schemas.openxmlformats.org/officeDocument/2006/relationships/image" Target="../media/image160.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image" Target="../media/image162.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image" Target="../media/image163.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60.xml"/></Relationships>
</file>

<file path=ppt/slides/_rels/slide46.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4379"/>
        </a:solidFill>
        <a:effectLst/>
      </p:bgPr>
    </p:bg>
    <p:spTree>
      <p:nvGrpSpPr>
        <p:cNvPr id="1" name=""/>
        <p:cNvGrpSpPr/>
        <p:nvPr/>
      </p:nvGrpSpPr>
      <p:grpSpPr>
        <a:xfrm>
          <a:off x="0" y="0"/>
          <a:ext cx="0" cy="0"/>
          <a:chOff x="0" y="0"/>
          <a:chExt cx="0" cy="0"/>
        </a:xfrm>
      </p:grpSpPr>
      <p:grpSp>
        <p:nvGrpSpPr>
          <p:cNvPr id="22" name="组合 21"/>
          <p:cNvGrpSpPr/>
          <p:nvPr/>
        </p:nvGrpSpPr>
        <p:grpSpPr>
          <a:xfrm>
            <a:off x="-34399" y="3445614"/>
            <a:ext cx="12260797" cy="1721472"/>
            <a:chOff x="-34399" y="3445614"/>
            <a:chExt cx="12260797" cy="1721472"/>
          </a:xfrm>
        </p:grpSpPr>
        <p:sp>
          <p:nvSpPr>
            <p:cNvPr id="20" name="矩形 19"/>
            <p:cNvSpPr/>
            <p:nvPr/>
          </p:nvSpPr>
          <p:spPr>
            <a:xfrm>
              <a:off x="-34399" y="3744687"/>
              <a:ext cx="12260797" cy="14223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031942" y="3445614"/>
              <a:ext cx="10521603" cy="163263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796798" y="3149371"/>
            <a:ext cx="10598396" cy="1811507"/>
            <a:chOff x="-4502396" y="-1334515"/>
            <a:chExt cx="13794115" cy="2357728"/>
          </a:xfrm>
        </p:grpSpPr>
        <p:pic>
          <p:nvPicPr>
            <p:cNvPr id="12" name="图片 11"/>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33753" y="-1334515"/>
              <a:ext cx="3557966" cy="2355763"/>
            </a:xfrm>
            <a:prstGeom prst="rect">
              <a:avLst/>
            </a:prstGeom>
            <a:ln>
              <a:noFill/>
            </a:ln>
            <a:effectLst>
              <a:outerShdw blurRad="292100" dist="139700" dir="2700000" algn="tl" rotWithShape="0">
                <a:srgbClr val="333333">
                  <a:alpha val="65000"/>
                </a:srgbClr>
              </a:outerShdw>
            </a:effectLst>
          </p:spPr>
        </p:pic>
        <p:pic>
          <p:nvPicPr>
            <p:cNvPr id="14" name="图片 13"/>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502396" y="-1334515"/>
              <a:ext cx="3534259" cy="2356408"/>
            </a:xfrm>
            <a:prstGeom prst="rect">
              <a:avLst/>
            </a:prstGeom>
            <a:ln>
              <a:noFill/>
            </a:ln>
            <a:effectLst>
              <a:outerShdw blurRad="292100" dist="139700" dir="2700000" algn="tl" rotWithShape="0">
                <a:srgbClr val="333333">
                  <a:alpha val="65000"/>
                </a:srgbClr>
              </a:outerShdw>
            </a:effectLst>
          </p:spPr>
        </p:pic>
        <p:pic>
          <p:nvPicPr>
            <p:cNvPr id="16" name="图片 15"/>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175787" y="-1334515"/>
              <a:ext cx="3557966" cy="2356409"/>
            </a:xfrm>
            <a:prstGeom prst="rect">
              <a:avLst/>
            </a:prstGeom>
            <a:ln>
              <a:noFill/>
            </a:ln>
            <a:effectLst>
              <a:outerShdw blurRad="292100" dist="139700" dir="2700000" algn="tl" rotWithShape="0">
                <a:srgbClr val="333333">
                  <a:alpha val="65000"/>
                </a:srgbClr>
              </a:outerShdw>
            </a:effectLst>
          </p:spPr>
        </p:pic>
        <p:pic>
          <p:nvPicPr>
            <p:cNvPr id="18" name="图片 17"/>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68137" y="-1333195"/>
              <a:ext cx="3143924" cy="2356408"/>
            </a:xfrm>
            <a:prstGeom prst="rect">
              <a:avLst/>
            </a:prstGeom>
            <a:ln>
              <a:noFill/>
            </a:ln>
            <a:effectLst>
              <a:outerShdw blurRad="292100" dist="139700" dir="2700000" algn="tl" rotWithShape="0">
                <a:srgbClr val="333333">
                  <a:alpha val="65000"/>
                </a:srgbClr>
              </a:outerShdw>
            </a:effectLst>
          </p:spPr>
        </p:pic>
      </p:grpSp>
      <p:pic>
        <p:nvPicPr>
          <p:cNvPr id="2" name="图片 7" descr="tjlogo"/>
          <p:cNvPicPr>
            <a:picLocks noChangeAspect="1" noChangeArrowheads="1"/>
          </p:cNvPicPr>
          <p:nvPr>
            <p:custDataLst>
              <p:tags r:id="rId1"/>
            </p:custDataLst>
          </p:nvPr>
        </p:nvPicPr>
        <p:blipFill>
          <a:blip r:embed="rId8" cstate="print">
            <a:clrChange>
              <a:clrFrom>
                <a:srgbClr val="FFFFFF">
                  <a:alpha val="100000"/>
                </a:srgbClr>
              </a:clrFrom>
              <a:clrTo>
                <a:srgbClr val="FFFFFF">
                  <a:alpha val="100000"/>
                  <a:alpha val="0"/>
                </a:srgbClr>
              </a:clrTo>
            </a:clrChange>
            <a:lum bright="100000"/>
            <a:extLst>
              <a:ext uri="{28A0092B-C50C-407E-A947-70E740481C1C}">
                <a14:useLocalDpi xmlns:a14="http://schemas.microsoft.com/office/drawing/2010/main"/>
              </a:ext>
            </a:extLst>
          </a:blip>
          <a:srcRect/>
          <a:stretch>
            <a:fillRect/>
          </a:stretch>
        </p:blipFill>
        <p:spPr>
          <a:xfrm>
            <a:off x="38590" y="53129"/>
            <a:ext cx="3136356" cy="813011"/>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13" name="TextBox 12"/>
          <p:cNvSpPr txBox="1"/>
          <p:nvPr/>
        </p:nvSpPr>
        <p:spPr>
          <a:xfrm>
            <a:off x="494947" y="1240210"/>
            <a:ext cx="11193087" cy="1674493"/>
          </a:xfrm>
          <a:prstGeom prst="rect">
            <a:avLst/>
          </a:prstGeom>
          <a:ln w="12700">
            <a:miter lim="400000"/>
          </a:ln>
        </p:spPr>
        <p:txBody>
          <a:bodyPr wrap="square" lIns="45718" tIns="45718" rIns="45718" bIns="45718">
            <a:spAutoFit/>
          </a:bodyPr>
          <a:lstStyle/>
          <a:p>
            <a:pPr marL="0" marR="0" lvl="0" indent="0" algn="ctr" defTabSz="1219200" rtl="0" eaLnBrk="1" fontAlgn="auto" latinLnBrk="0" hangingPunct="0">
              <a:lnSpc>
                <a:spcPct val="150000"/>
              </a:lnSpc>
              <a:spcBef>
                <a:spcPts val="0"/>
              </a:spcBef>
              <a:spcAft>
                <a:spcPts val="0"/>
              </a:spcAft>
              <a:buClrTx/>
              <a:buSzTx/>
              <a:buFontTx/>
              <a:buNone/>
              <a:defRPr sz="7200"/>
            </a:pPr>
            <a:r>
              <a:rPr kumimoji="0" lang="zh-CN" altLang="en-US" sz="4400" b="1"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sym typeface="+mn-lt"/>
              </a:rPr>
              <a:t>数字图像处理</a:t>
            </a:r>
            <a:endParaRPr kumimoji="0" lang="en-US" altLang="zh-CN" sz="4400" b="1"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sym typeface="+mn-lt"/>
            </a:endParaRPr>
          </a:p>
          <a:p>
            <a:pPr marL="0" marR="0" lvl="0" indent="0" algn="ctr" defTabSz="1219200" rtl="0" eaLnBrk="1" fontAlgn="auto" latinLnBrk="0" hangingPunct="0">
              <a:lnSpc>
                <a:spcPct val="150000"/>
              </a:lnSpc>
              <a:spcBef>
                <a:spcPts val="0"/>
              </a:spcBef>
              <a:spcAft>
                <a:spcPts val="0"/>
              </a:spcAft>
              <a:buClrTx/>
              <a:buSzTx/>
              <a:buFontTx/>
              <a:buNone/>
              <a:defRPr sz="7200"/>
            </a:pPr>
            <a:r>
              <a:rPr lang="en-US" altLang="zh-CN" sz="2800" kern="0" dirty="0">
                <a:solidFill>
                  <a:srgbClr val="FFFFFF"/>
                </a:solidFill>
                <a:latin typeface="Arial" panose="020B0604020202090204"/>
                <a:ea typeface="微软雅黑" panose="020B0503020204020204" pitchFamily="34" charset="-122"/>
                <a:sym typeface="+mn-lt"/>
              </a:rPr>
              <a:t>2 </a:t>
            </a:r>
            <a:r>
              <a:rPr lang="zh-CN" altLang="en-US" sz="2800" kern="0" dirty="0">
                <a:solidFill>
                  <a:srgbClr val="FFFFFF"/>
                </a:solidFill>
                <a:latin typeface="Arial" panose="020B0604020202090204"/>
                <a:ea typeface="微软雅黑" panose="020B0503020204020204" pitchFamily="34" charset="-122"/>
                <a:sym typeface="+mn-lt"/>
              </a:rPr>
              <a:t>图像处理基础</a:t>
            </a:r>
            <a:endParaRPr kumimoji="0" lang="zh-CN" altLang="en-US" sz="2800"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sym typeface="+mn-lt"/>
            </a:endParaRPr>
          </a:p>
        </p:txBody>
      </p:sp>
      <p:sp>
        <p:nvSpPr>
          <p:cNvPr id="15" name="TextBox 12">
            <a:extLst>
              <a:ext uri="{FF2B5EF4-FFF2-40B4-BE49-F238E27FC236}">
                <a16:creationId xmlns:a16="http://schemas.microsoft.com/office/drawing/2014/main" id="{3B0AC426-F383-4563-A282-E33FEC03CC84}"/>
              </a:ext>
            </a:extLst>
          </p:cNvPr>
          <p:cNvSpPr txBox="1"/>
          <p:nvPr/>
        </p:nvSpPr>
        <p:spPr>
          <a:xfrm>
            <a:off x="796798" y="5605563"/>
            <a:ext cx="10598396" cy="387794"/>
          </a:xfrm>
          <a:prstGeom prst="rect">
            <a:avLst/>
          </a:prstGeom>
          <a:ln w="12700">
            <a:miter lim="400000"/>
          </a:ln>
        </p:spPr>
        <p:txBody>
          <a:bodyPr wrap="square" lIns="45718" tIns="45718" rIns="45718" bIns="45718">
            <a:spAutoFit/>
          </a:bodyPr>
          <a:lstStyle/>
          <a:p>
            <a:pPr marL="0" marR="0" lvl="0" indent="0" algn="ctr" defTabSz="1219200" rtl="0" eaLnBrk="1" fontAlgn="auto" latinLnBrk="0" hangingPunct="0">
              <a:lnSpc>
                <a:spcPct val="80000"/>
              </a:lnSpc>
              <a:spcBef>
                <a:spcPts val="0"/>
              </a:spcBef>
              <a:spcAft>
                <a:spcPts val="0"/>
              </a:spcAft>
              <a:buClrTx/>
              <a:buSzTx/>
              <a:buFontTx/>
              <a:buNone/>
              <a:defRPr sz="7200"/>
            </a:pPr>
            <a:r>
              <a:rPr kumimoji="0" lang="zh-CN" altLang="en-US" sz="2400" b="1"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sym typeface="+mn-lt"/>
              </a:rPr>
              <a:t>张绍明</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hqprint">
            <a:extLst>
              <a:ext uri="{28A0092B-C50C-407E-A947-70E740481C1C}">
                <a14:useLocalDpi xmlns:a14="http://schemas.microsoft.com/office/drawing/2010/main"/>
              </a:ext>
            </a:extLst>
          </a:blip>
          <a:srcRect/>
          <a:stretch>
            <a:fillRect/>
          </a:stretch>
        </p:blipFill>
        <p:spPr>
          <a:xfrm>
            <a:off x="-34413" y="0"/>
            <a:ext cx="5857698" cy="6858000"/>
          </a:xfrm>
          <a:prstGeom prst="rect">
            <a:avLst/>
          </a:prstGeom>
        </p:spPr>
      </p:pic>
      <p:sp>
        <p:nvSpPr>
          <p:cNvPr id="7" name="Rectangle 47"/>
          <p:cNvSpPr/>
          <p:nvPr/>
        </p:nvSpPr>
        <p:spPr>
          <a:xfrm>
            <a:off x="-34414" y="0"/>
            <a:ext cx="5857698" cy="6858000"/>
          </a:xfrm>
          <a:prstGeom prst="rect">
            <a:avLst/>
          </a:prstGeom>
          <a:solidFill>
            <a:srgbClr val="0A499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阿里巴巴和七个小矮人" panose="00000500000000000000" charset="-122"/>
              <a:ea typeface="阿里巴巴和七个小矮人" panose="00000500000000000000" charset="-122"/>
              <a:cs typeface="阿里巴巴和七个小矮人" panose="00000500000000000000" charset="-122"/>
            </a:endParaRPr>
          </a:p>
        </p:txBody>
      </p:sp>
      <p:sp>
        <p:nvSpPr>
          <p:cNvPr id="5" name="任意多边形: 形状 4"/>
          <p:cNvSpPr/>
          <p:nvPr/>
        </p:nvSpPr>
        <p:spPr>
          <a:xfrm>
            <a:off x="1979234" y="1677952"/>
            <a:ext cx="974558" cy="3392905"/>
          </a:xfrm>
          <a:custGeom>
            <a:avLst/>
            <a:gdLst>
              <a:gd name="connsiteX0" fmla="*/ 962526 w 974558"/>
              <a:gd name="connsiteY0" fmla="*/ 0 h 3392905"/>
              <a:gd name="connsiteX1" fmla="*/ 0 w 974558"/>
              <a:gd name="connsiteY1" fmla="*/ 0 h 3392905"/>
              <a:gd name="connsiteX2" fmla="*/ 0 w 974558"/>
              <a:gd name="connsiteY2" fmla="*/ 3392905 h 3392905"/>
              <a:gd name="connsiteX3" fmla="*/ 974558 w 974558"/>
              <a:gd name="connsiteY3" fmla="*/ 3380874 h 3392905"/>
            </a:gdLst>
            <a:ahLst/>
            <a:cxnLst>
              <a:cxn ang="0">
                <a:pos x="connsiteX0" y="connsiteY0"/>
              </a:cxn>
              <a:cxn ang="0">
                <a:pos x="connsiteX1" y="connsiteY1"/>
              </a:cxn>
              <a:cxn ang="0">
                <a:pos x="connsiteX2" y="connsiteY2"/>
              </a:cxn>
              <a:cxn ang="0">
                <a:pos x="connsiteX3" y="connsiteY3"/>
              </a:cxn>
            </a:cxnLst>
            <a:rect l="l" t="t" r="r" b="b"/>
            <a:pathLst>
              <a:path w="974558" h="3392905">
                <a:moveTo>
                  <a:pt x="962526" y="0"/>
                </a:moveTo>
                <a:lnTo>
                  <a:pt x="0" y="0"/>
                </a:lnTo>
                <a:lnTo>
                  <a:pt x="0" y="3392905"/>
                </a:lnTo>
                <a:lnTo>
                  <a:pt x="974558" y="3380874"/>
                </a:lnTo>
              </a:path>
            </a:pathLst>
          </a:cu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阿里巴巴和七个小矮人" panose="00000500000000000000" charset="-122"/>
              <a:ea typeface="阿里巴巴和七个小矮人" panose="00000500000000000000" charset="-122"/>
              <a:cs typeface="阿里巴巴和七个小矮人" panose="00000500000000000000" charset="-122"/>
            </a:endParaRPr>
          </a:p>
        </p:txBody>
      </p:sp>
      <p:sp>
        <p:nvSpPr>
          <p:cNvPr id="16" name="任意多边形: 形状 15"/>
          <p:cNvSpPr/>
          <p:nvPr/>
        </p:nvSpPr>
        <p:spPr>
          <a:xfrm rot="10800000">
            <a:off x="2994016" y="1665919"/>
            <a:ext cx="974558" cy="3392905"/>
          </a:xfrm>
          <a:custGeom>
            <a:avLst/>
            <a:gdLst>
              <a:gd name="connsiteX0" fmla="*/ 962526 w 974558"/>
              <a:gd name="connsiteY0" fmla="*/ 0 h 3392905"/>
              <a:gd name="connsiteX1" fmla="*/ 0 w 974558"/>
              <a:gd name="connsiteY1" fmla="*/ 0 h 3392905"/>
              <a:gd name="connsiteX2" fmla="*/ 0 w 974558"/>
              <a:gd name="connsiteY2" fmla="*/ 3392905 h 3392905"/>
              <a:gd name="connsiteX3" fmla="*/ 974558 w 974558"/>
              <a:gd name="connsiteY3" fmla="*/ 3380874 h 3392905"/>
            </a:gdLst>
            <a:ahLst/>
            <a:cxnLst>
              <a:cxn ang="0">
                <a:pos x="connsiteX0" y="connsiteY0"/>
              </a:cxn>
              <a:cxn ang="0">
                <a:pos x="connsiteX1" y="connsiteY1"/>
              </a:cxn>
              <a:cxn ang="0">
                <a:pos x="connsiteX2" y="connsiteY2"/>
              </a:cxn>
              <a:cxn ang="0">
                <a:pos x="connsiteX3" y="connsiteY3"/>
              </a:cxn>
            </a:cxnLst>
            <a:rect l="l" t="t" r="r" b="b"/>
            <a:pathLst>
              <a:path w="974558" h="3392905">
                <a:moveTo>
                  <a:pt x="962526" y="0"/>
                </a:moveTo>
                <a:lnTo>
                  <a:pt x="0" y="0"/>
                </a:lnTo>
                <a:lnTo>
                  <a:pt x="0" y="3392905"/>
                </a:lnTo>
                <a:lnTo>
                  <a:pt x="974558" y="3380874"/>
                </a:lnTo>
              </a:path>
            </a:pathLst>
          </a:cu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阿里巴巴和七个小矮人" panose="00000500000000000000" charset="-122"/>
              <a:ea typeface="阿里巴巴和七个小矮人" panose="00000500000000000000" charset="-122"/>
              <a:cs typeface="阿里巴巴和七个小矮人" panose="00000500000000000000" charset="-122"/>
            </a:endParaRPr>
          </a:p>
        </p:txBody>
      </p:sp>
      <p:sp>
        <p:nvSpPr>
          <p:cNvPr id="8" name="文本框 7"/>
          <p:cNvSpPr txBox="1"/>
          <p:nvPr/>
        </p:nvSpPr>
        <p:spPr>
          <a:xfrm>
            <a:off x="1476464" y="2932479"/>
            <a:ext cx="1569660"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阿里巴巴和七个小矮人" panose="00000500000000000000" charset="-122"/>
              </a:rPr>
              <a:t>目录</a:t>
            </a:r>
          </a:p>
        </p:txBody>
      </p:sp>
      <p:sp>
        <p:nvSpPr>
          <p:cNvPr id="20" name="文本框 19">
            <a:extLst>
              <a:ext uri="{FF2B5EF4-FFF2-40B4-BE49-F238E27FC236}">
                <a16:creationId xmlns:a16="http://schemas.microsoft.com/office/drawing/2014/main" id="{82A5EE3A-8A92-4E50-B858-4B8B15C0DCA2}"/>
              </a:ext>
            </a:extLst>
          </p:cNvPr>
          <p:cNvSpPr txBox="1"/>
          <p:nvPr/>
        </p:nvSpPr>
        <p:spPr>
          <a:xfrm>
            <a:off x="6562780" y="1355135"/>
            <a:ext cx="4833257" cy="3905043"/>
          </a:xfrm>
          <a:prstGeom prst="rect">
            <a:avLst/>
          </a:prstGeom>
          <a:noFill/>
        </p:spPr>
        <p:txBody>
          <a:bodyPr wrap="square">
            <a:spAutoFit/>
          </a:bodyPr>
          <a:lstStyle/>
          <a:p>
            <a:pPr marL="457200" indent="-457200">
              <a:lnSpc>
                <a:spcPct val="15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  图像函数与图像形成	</a:t>
            </a:r>
          </a:p>
          <a:p>
            <a:pPr marL="457200" indent="-457200">
              <a:lnSpc>
                <a:spcPct val="15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  图像数字化基本概念	</a:t>
            </a:r>
          </a:p>
          <a:p>
            <a:pPr marL="457200" indent="-457200">
              <a:lnSpc>
                <a:spcPct val="15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  图像的采样	</a:t>
            </a:r>
          </a:p>
          <a:p>
            <a:pPr marL="457200" indent="-457200">
              <a:lnSpc>
                <a:spcPct val="15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  图像的量化	</a:t>
            </a:r>
          </a:p>
          <a:p>
            <a:pPr marL="457200" indent="-457200">
              <a:lnSpc>
                <a:spcPct val="15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  数字图像表示与常用概念	</a:t>
            </a:r>
          </a:p>
          <a:p>
            <a:pPr marL="457200" indent="-457200">
              <a:lnSpc>
                <a:spcPct val="15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  数字图像的统计性质	</a:t>
            </a:r>
          </a:p>
          <a:p>
            <a:pPr marL="457200" indent="-457200">
              <a:lnSpc>
                <a:spcPct val="150000"/>
              </a:lnSpc>
              <a:buFont typeface="+mj-lt"/>
              <a:buAutoNum type="arabicPeriod"/>
            </a:pPr>
            <a:r>
              <a:rPr lang="zh-CN" altLang="en-US" sz="2400" b="1" dirty="0">
                <a:solidFill>
                  <a:srgbClr val="0C4379"/>
                </a:solidFill>
                <a:latin typeface="微软雅黑" panose="020B0503020204020204" pitchFamily="34" charset="-122"/>
                <a:ea typeface="微软雅黑" panose="020B0503020204020204" pitchFamily="34" charset="-122"/>
              </a:rPr>
              <a:t>  数字图像的视觉表现性质</a:t>
            </a:r>
            <a:endParaRPr lang="en-US" altLang="zh-CN" sz="2400" b="1" dirty="0">
              <a:solidFill>
                <a:srgbClr val="0C437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4843463" y="4767264"/>
            <a:ext cx="1543050" cy="273844"/>
          </a:xfrm>
          <a:prstGeom prst="rect">
            <a:avLst/>
          </a:prstGeom>
        </p:spPr>
        <p:txBody>
          <a:bodyPr vert="horz" lIns="91440" tIns="45720" rIns="91440" bIns="45720" rtlCol="0" anchor="ctr"/>
          <a:lstStyle>
            <a:defPPr>
              <a:defRPr lang="zh-CN"/>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mtClean="0"/>
              <a:pPr/>
              <a:t>3</a:t>
            </a:fld>
            <a:endParaRPr lang="en-US" dirty="0"/>
          </a:p>
        </p:txBody>
      </p:sp>
      <p:sp>
        <p:nvSpPr>
          <p:cNvPr id="5" name="文本框 4"/>
          <p:cNvSpPr txBox="1"/>
          <p:nvPr/>
        </p:nvSpPr>
        <p:spPr>
          <a:xfrm>
            <a:off x="202993" y="103492"/>
            <a:ext cx="7314574" cy="523220"/>
          </a:xfrm>
          <a:prstGeom prst="rect">
            <a:avLst/>
          </a:prstGeom>
          <a:noFill/>
        </p:spPr>
        <p:txBody>
          <a:bodyPr wrap="square" rtlCol="0">
            <a:spAutoFit/>
          </a:bodyPr>
          <a:lstStyle/>
          <a:p>
            <a:r>
              <a:rPr lang="zh-CN" altLang="en-US" sz="2800" b="1" dirty="0">
                <a:solidFill>
                  <a:srgbClr val="0C4379"/>
                </a:solidFill>
                <a:latin typeface="微软雅黑" panose="020B0503020204020204" pitchFamily="34" charset="-122"/>
                <a:ea typeface="微软雅黑" panose="020B0503020204020204" pitchFamily="34" charset="-122"/>
              </a:rPr>
              <a:t>图像函数与图像形成</a:t>
            </a:r>
            <a:r>
              <a:rPr lang="zh-CN" altLang="en-US" sz="2800" b="1" dirty="0" smtClean="0">
                <a:solidFill>
                  <a:srgbClr val="0C4379"/>
                </a:solidFill>
                <a:latin typeface="微软雅黑" panose="020B0503020204020204" pitchFamily="34" charset="-122"/>
                <a:ea typeface="微软雅黑" panose="020B0503020204020204" pitchFamily="34" charset="-122"/>
              </a:rPr>
              <a:t>回顾：</a:t>
            </a:r>
            <a:r>
              <a:rPr lang="zh-CN" altLang="en-US" sz="2800" b="1" dirty="0">
                <a:solidFill>
                  <a:srgbClr val="0C4379"/>
                </a:solidFill>
                <a:latin typeface="微软雅黑" panose="020B0503020204020204" pitchFamily="34" charset="-122"/>
                <a:ea typeface="微软雅黑" panose="020B0503020204020204" pitchFamily="34" charset="-122"/>
              </a:rPr>
              <a:t>图像</a:t>
            </a:r>
            <a:r>
              <a:rPr lang="zh-CN" altLang="en-US" sz="2800" b="1" dirty="0" smtClean="0">
                <a:solidFill>
                  <a:srgbClr val="0C4379"/>
                </a:solidFill>
                <a:latin typeface="微软雅黑" panose="020B0503020204020204" pitchFamily="34" charset="-122"/>
                <a:ea typeface="微软雅黑" panose="020B0503020204020204" pitchFamily="34" charset="-122"/>
              </a:rPr>
              <a:t>函数</a:t>
            </a:r>
            <a:endParaRPr lang="zh-CN" altLang="en-US" sz="2800" b="1" dirty="0">
              <a:solidFill>
                <a:srgbClr val="0C4379"/>
              </a:solidFill>
              <a:latin typeface="微软雅黑" panose="020B0503020204020204" pitchFamily="34" charset="-122"/>
              <a:ea typeface="微软雅黑" panose="020B0503020204020204" pitchFamily="34" charset="-122"/>
            </a:endParaRPr>
          </a:p>
        </p:txBody>
      </p:sp>
      <p:sp>
        <p:nvSpPr>
          <p:cNvPr id="9" name="文本占位符 13"/>
          <p:cNvSpPr>
            <a:spLocks noGrp="1"/>
          </p:cNvSpPr>
          <p:nvPr/>
        </p:nvSpPr>
        <p:spPr>
          <a:xfrm>
            <a:off x="782029" y="1123406"/>
            <a:ext cx="10627941" cy="5313970"/>
          </a:xfrm>
          <a:prstGeom prst="rect">
            <a:avLst/>
          </a:prstGeom>
          <a:noFill/>
        </p:spPr>
        <p:txBody>
          <a:bodyPr vert="horz" lIns="0" tIns="0" rIns="0" bIns="0" rtlCol="0" anchor="t">
            <a:no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1600"/>
              </a:spcBef>
            </a:pPr>
            <a:r>
              <a:rPr lang="zh-CN" altLang="en-US" b="1" dirty="0">
                <a:solidFill>
                  <a:schemeClr val="accent5">
                    <a:lumMod val="50000"/>
                  </a:schemeClr>
                </a:solidFill>
                <a:latin typeface="微软雅黑" panose="020B0503020204020204" pitchFamily="34" charset="-122"/>
                <a:ea typeface="微软雅黑" panose="020B0503020204020204" pitchFamily="34" charset="-122"/>
              </a:rPr>
              <a:t>成像技术发展</a:t>
            </a:r>
          </a:p>
          <a:p>
            <a:pPr lvl="1">
              <a:lnSpc>
                <a:spcPct val="150000"/>
              </a:lnSpc>
              <a:spcBef>
                <a:spcPts val="0"/>
              </a:spcBef>
              <a:spcAft>
                <a:spcPts val="800"/>
              </a:spcAft>
            </a:pPr>
            <a:r>
              <a:rPr lang="zh-CN" altLang="en-US" sz="1600" b="1" dirty="0">
                <a:latin typeface="微软雅黑" panose="020B0503020204020204" pitchFamily="34" charset="-122"/>
                <a:ea typeface="微软雅黑" panose="020B0503020204020204" pitchFamily="34" charset="-122"/>
              </a:rPr>
              <a:t>电磁波技术推动高分辨率成像发展，涵盖</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rPr>
              <a:t>空间、光谱与时间</a:t>
            </a:r>
            <a:r>
              <a:rPr lang="zh-CN" altLang="en-US" sz="1600" b="1" dirty="0">
                <a:latin typeface="微软雅黑" panose="020B0503020204020204" pitchFamily="34" charset="-122"/>
                <a:ea typeface="微软雅黑" panose="020B0503020204020204" pitchFamily="34" charset="-122"/>
              </a:rPr>
              <a:t>维度</a:t>
            </a:r>
            <a:endParaRPr lang="en-US" altLang="zh-CN" sz="1600" b="1" dirty="0">
              <a:latin typeface="微软雅黑" panose="020B0503020204020204" pitchFamily="34" charset="-122"/>
              <a:ea typeface="微软雅黑" panose="020B0503020204020204" pitchFamily="34" charset="-122"/>
            </a:endParaRPr>
          </a:p>
          <a:p>
            <a:pPr lvl="1">
              <a:lnSpc>
                <a:spcPct val="150000"/>
              </a:lnSpc>
              <a:spcBef>
                <a:spcPts val="0"/>
              </a:spcBef>
              <a:spcAft>
                <a:spcPts val="800"/>
              </a:spcAft>
            </a:pPr>
            <a:r>
              <a:rPr lang="zh-CN" altLang="en-US" sz="1600" b="1" dirty="0">
                <a:latin typeface="微软雅黑" panose="020B0503020204020204" pitchFamily="34" charset="-122"/>
                <a:ea typeface="微软雅黑" panose="020B0503020204020204" pitchFamily="34" charset="-122"/>
              </a:rPr>
              <a:t>突破可见光限制，拓展多领域应用。</a:t>
            </a:r>
            <a:endParaRPr lang="en-US" altLang="zh-CN" sz="1600" dirty="0"/>
          </a:p>
          <a:p>
            <a:pPr>
              <a:lnSpc>
                <a:spcPct val="150000"/>
              </a:lnSpc>
              <a:spcBef>
                <a:spcPts val="800"/>
              </a:spcBef>
            </a:pPr>
            <a:r>
              <a:rPr lang="zh-CN" altLang="en-US" b="1" dirty="0">
                <a:solidFill>
                  <a:schemeClr val="accent5">
                    <a:lumMod val="50000"/>
                  </a:schemeClr>
                </a:solidFill>
                <a:latin typeface="微软雅黑" panose="020B0503020204020204" pitchFamily="34" charset="-122"/>
                <a:ea typeface="微软雅黑" panose="020B0503020204020204" pitchFamily="34" charset="-122"/>
              </a:rPr>
              <a:t>成像应用</a:t>
            </a:r>
          </a:p>
          <a:p>
            <a:pPr lvl="1">
              <a:lnSpc>
                <a:spcPct val="150000"/>
              </a:lnSpc>
              <a:spcBef>
                <a:spcPts val="0"/>
              </a:spcBef>
              <a:spcAft>
                <a:spcPts val="800"/>
              </a:spcAft>
            </a:pPr>
            <a:r>
              <a:rPr lang="zh-CN" altLang="en-US" sz="1600" b="1" dirty="0">
                <a:latin typeface="微软雅黑" panose="020B0503020204020204" pitchFamily="34" charset="-122"/>
                <a:ea typeface="微软雅黑" panose="020B0503020204020204" pitchFamily="34" charset="-122"/>
              </a:rPr>
              <a:t>伽马射线用于核医学与天文观测，</a:t>
            </a:r>
          </a:p>
          <a:p>
            <a:pPr lvl="1">
              <a:lnSpc>
                <a:spcPct val="150000"/>
              </a:lnSpc>
              <a:spcBef>
                <a:spcPts val="0"/>
              </a:spcBef>
              <a:spcAft>
                <a:spcPts val="800"/>
              </a:spcAft>
            </a:pPr>
            <a:r>
              <a:rPr lang="zh-CN" altLang="en-US" sz="1600" b="1" dirty="0">
                <a:latin typeface="微软雅黑" panose="020B0503020204020204" pitchFamily="34" charset="-122"/>
                <a:ea typeface="微软雅黑" panose="020B0503020204020204" pitchFamily="34" charset="-122"/>
              </a:rPr>
              <a:t>X射线服务医学检测，</a:t>
            </a:r>
          </a:p>
          <a:p>
            <a:pPr lvl="1">
              <a:lnSpc>
                <a:spcPct val="150000"/>
              </a:lnSpc>
              <a:spcBef>
                <a:spcPts val="0"/>
              </a:spcBef>
              <a:spcAft>
                <a:spcPts val="800"/>
              </a:spcAft>
            </a:pPr>
            <a:r>
              <a:rPr lang="zh-CN" altLang="en-US" sz="1600" b="1" dirty="0">
                <a:latin typeface="微软雅黑" panose="020B0503020204020204" pitchFamily="34" charset="-122"/>
                <a:ea typeface="微软雅黑" panose="020B0503020204020204" pitchFamily="34" charset="-122"/>
              </a:rPr>
              <a:t>紫外至红外技术覆盖工业、军事及环境监测场景。</a:t>
            </a:r>
          </a:p>
          <a:p>
            <a:pPr lvl="1">
              <a:lnSpc>
                <a:spcPct val="150000"/>
              </a:lnSpc>
              <a:spcBef>
                <a:spcPts val="0"/>
              </a:spcBef>
              <a:spcAft>
                <a:spcPts val="800"/>
              </a:spcAft>
            </a:pPr>
            <a:r>
              <a:rPr lang="zh-CN" altLang="en-US" sz="1600" b="1" dirty="0">
                <a:latin typeface="微软雅黑" panose="020B0503020204020204" pitchFamily="34" charset="-122"/>
                <a:ea typeface="微软雅黑" panose="020B0503020204020204" pitchFamily="34" charset="-122"/>
              </a:rPr>
              <a:t>医学三维成像、</a:t>
            </a:r>
          </a:p>
          <a:p>
            <a:pPr lvl="1">
              <a:lnSpc>
                <a:spcPct val="150000"/>
              </a:lnSpc>
              <a:spcBef>
                <a:spcPts val="0"/>
              </a:spcBef>
              <a:spcAft>
                <a:spcPts val="800"/>
              </a:spcAft>
            </a:pPr>
            <a:r>
              <a:rPr lang="zh-CN" altLang="en-US" sz="1600" b="1" dirty="0">
                <a:latin typeface="微软雅黑" panose="020B0503020204020204" pitchFamily="34" charset="-122"/>
                <a:ea typeface="微软雅黑" panose="020B0503020204020204" pitchFamily="34" charset="-122"/>
              </a:rPr>
              <a:t>遥感监测</a:t>
            </a:r>
          </a:p>
          <a:p>
            <a:pPr lvl="1">
              <a:lnSpc>
                <a:spcPct val="150000"/>
              </a:lnSpc>
              <a:spcBef>
                <a:spcPts val="0"/>
              </a:spcBef>
              <a:spcAft>
                <a:spcPts val="800"/>
              </a:spcAft>
            </a:pPr>
            <a:r>
              <a:rPr lang="zh-CN" altLang="en-US" sz="1600" b="1" dirty="0">
                <a:latin typeface="微软雅黑" panose="020B0503020204020204" pitchFamily="34" charset="-122"/>
                <a:ea typeface="微软雅黑" panose="020B0503020204020204" pitchFamily="34" charset="-122"/>
              </a:rPr>
              <a:t>雷达探测</a:t>
            </a:r>
            <a:r>
              <a:rPr lang="zh-CN" altLang="en-US" sz="1867" b="1"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7"/>
          <p:cNvSpPr txBox="1"/>
          <p:nvPr/>
        </p:nvSpPr>
        <p:spPr>
          <a:xfrm>
            <a:off x="561822" y="991459"/>
            <a:ext cx="8453967" cy="523220"/>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lnSpc>
                <a:spcPct val="111000"/>
              </a:lnSpc>
              <a:buFont typeface="Arial" panose="020B0604020202020204" pitchFamily="34" charset="0"/>
            </a:pPr>
            <a:r>
              <a:rPr lang="zh-CN" altLang="en-US" sz="2400" b="1" dirty="0">
                <a:solidFill>
                  <a:schemeClr val="accent5">
                    <a:lumMod val="50000"/>
                  </a:schemeClr>
                </a:solidFill>
                <a:latin typeface="微软雅黑" panose="020B0503020204020204" pitchFamily="34" charset="-122"/>
                <a:ea typeface="微软雅黑" panose="020B0503020204020204" pitchFamily="34" charset="-122"/>
              </a:rPr>
              <a:t>对于多通道（波段）图像，一般通过向量值函数表示，如下</a:t>
            </a:r>
            <a:r>
              <a:rPr lang="zh-CN" altLang="en-US" sz="2667" b="1" dirty="0">
                <a:solidFill>
                  <a:schemeClr val="accent5">
                    <a:lumMod val="50000"/>
                  </a:schemeClr>
                </a:solidFill>
                <a:latin typeface="微软雅黑" panose="020B0503020204020204" pitchFamily="34" charset="-122"/>
                <a:ea typeface="微软雅黑" panose="020B0503020204020204" pitchFamily="34" charset="-122"/>
              </a:rPr>
              <a:t>：</a:t>
            </a:r>
          </a:p>
        </p:txBody>
      </p:sp>
      <p:pic>
        <p:nvPicPr>
          <p:cNvPr id="14" name="图片 13"/>
          <p:cNvPicPr>
            <a:picLocks noChangeAspect="1"/>
          </p:cNvPicPr>
          <p:nvPr/>
        </p:nvPicPr>
        <p:blipFill>
          <a:blip r:embed="rId2"/>
          <a:stretch>
            <a:fillRect/>
          </a:stretch>
        </p:blipFill>
        <p:spPr>
          <a:xfrm>
            <a:off x="8597850" y="1996602"/>
            <a:ext cx="3032328" cy="2226267"/>
          </a:xfrm>
          <a:prstGeom prst="rect">
            <a:avLst/>
          </a:prstGeom>
        </p:spPr>
      </p:pic>
      <p:sp>
        <p:nvSpPr>
          <p:cNvPr id="8" name="文本框 7">
            <a:extLst>
              <a:ext uri="{FF2B5EF4-FFF2-40B4-BE49-F238E27FC236}">
                <a16:creationId xmlns:a16="http://schemas.microsoft.com/office/drawing/2014/main" id="{A97B8200-96E2-49D4-AFE0-761DD673EEB6}"/>
              </a:ext>
            </a:extLst>
          </p:cNvPr>
          <p:cNvSpPr txBox="1"/>
          <p:nvPr/>
        </p:nvSpPr>
        <p:spPr>
          <a:xfrm>
            <a:off x="202993" y="103492"/>
            <a:ext cx="7142187" cy="523220"/>
          </a:xfrm>
          <a:prstGeom prst="rect">
            <a:avLst/>
          </a:prstGeom>
          <a:noFill/>
        </p:spPr>
        <p:txBody>
          <a:bodyPr wrap="square" rtlCol="0">
            <a:spAutoFit/>
          </a:bodyPr>
          <a:lstStyle/>
          <a:p>
            <a:r>
              <a:rPr lang="zh-CN" altLang="en-US" sz="2800" b="1" dirty="0">
                <a:solidFill>
                  <a:srgbClr val="0C4379"/>
                </a:solidFill>
                <a:latin typeface="微软雅黑" panose="020B0503020204020204" pitchFamily="34" charset="-122"/>
                <a:ea typeface="微软雅黑" panose="020B0503020204020204" pitchFamily="34" charset="-122"/>
              </a:rPr>
              <a:t>图像函数与图像形成回顾：图像函数</a:t>
            </a:r>
          </a:p>
        </p:txBody>
      </p:sp>
      <p:sp>
        <p:nvSpPr>
          <p:cNvPr id="11" name="文本框 10">
            <a:extLst>
              <a:ext uri="{FF2B5EF4-FFF2-40B4-BE49-F238E27FC236}">
                <a16:creationId xmlns:a16="http://schemas.microsoft.com/office/drawing/2014/main" id="{2A4DB0EE-52D9-4B95-978A-83FE6A2A3B93}"/>
              </a:ext>
            </a:extLst>
          </p:cNvPr>
          <p:cNvSpPr txBox="1"/>
          <p:nvPr/>
        </p:nvSpPr>
        <p:spPr>
          <a:xfrm>
            <a:off x="561822" y="1584328"/>
            <a:ext cx="8834775" cy="4942059"/>
          </a:xfrm>
          <a:prstGeom prst="rect">
            <a:avLst/>
          </a:prstGeom>
          <a:noFill/>
        </p:spPr>
        <p:txBody>
          <a:bodyPr wrap="square">
            <a:spAutoFit/>
          </a:bodyPr>
          <a:lstStyle/>
          <a:p>
            <a:pPr marL="285750" indent="-285750">
              <a:lnSpc>
                <a:spcPct val="200000"/>
              </a:lnSpc>
              <a:buFont typeface="Wingdings" panose="05000000000000000000" pitchFamily="2" charset="2"/>
              <a:buChar char="n"/>
            </a:pPr>
            <a:r>
              <a:rPr lang="zh-CN" altLang="en-US" sz="1600" b="1" dirty="0"/>
              <a:t>常见的灰度图像是一个2维的光强函数/(x,y)，其中</a:t>
            </a:r>
            <a:endParaRPr lang="en-US" altLang="zh-CN" sz="1600" b="1" dirty="0"/>
          </a:p>
          <a:p>
            <a:pPr marL="742950" lvl="1" indent="-285750">
              <a:lnSpc>
                <a:spcPct val="200000"/>
              </a:lnSpc>
              <a:buFont typeface="Wingdings" panose="05000000000000000000" pitchFamily="2" charset="2"/>
              <a:buChar char="ü"/>
            </a:pPr>
            <a:r>
              <a:rPr lang="zh-CN" altLang="en-US" sz="1600" b="1" dirty="0"/>
              <a:t>(x,y)表示空间坐标</a:t>
            </a:r>
            <a:endParaRPr lang="en-US" altLang="zh-CN" sz="1600" b="1" dirty="0"/>
          </a:p>
          <a:p>
            <a:pPr marL="742950" lvl="1" indent="-285750">
              <a:lnSpc>
                <a:spcPct val="200000"/>
              </a:lnSpc>
              <a:buFont typeface="Wingdings" panose="05000000000000000000" pitchFamily="2" charset="2"/>
              <a:buChar char="ü"/>
            </a:pPr>
            <a:r>
              <a:rPr lang="zh-CN" altLang="en-US" sz="1600" b="1" dirty="0"/>
              <a:t>而在任意一对空间坐标(x,y)上的幅度值,称为该点图像的强度或灰度。</a:t>
            </a:r>
            <a:endParaRPr lang="en-US" altLang="zh-CN" sz="1600" b="1" dirty="0"/>
          </a:p>
          <a:p>
            <a:pPr marL="285750" indent="-285750">
              <a:lnSpc>
                <a:spcPct val="200000"/>
              </a:lnSpc>
              <a:buFont typeface="Wingdings" panose="05000000000000000000" pitchFamily="2" charset="2"/>
              <a:buChar char="n"/>
            </a:pPr>
            <a:r>
              <a:rPr lang="zh-CN" altLang="en-US" sz="1600" b="1" dirty="0"/>
              <a:t>彩色或者多光谱（甚至高光谱）图像可以表征为一个三变量的函数</a:t>
            </a:r>
            <a:r>
              <a:rPr lang="en-US" altLang="zh-CN" sz="1600" b="1" dirty="0"/>
              <a:t>f</a:t>
            </a:r>
            <a:r>
              <a:rPr lang="zh-CN" altLang="en-US" sz="1600" b="1" dirty="0"/>
              <a:t>(x,y,</a:t>
            </a:r>
            <a:r>
              <a:rPr lang="el-GR" altLang="zh-CN" sz="1600" b="1" dirty="0">
                <a:latin typeface="Calibri" panose="020F0502020204030204" pitchFamily="34" charset="0"/>
                <a:cs typeface="Calibri" panose="020F0502020204030204" pitchFamily="34" charset="0"/>
              </a:rPr>
              <a:t>λ</a:t>
            </a:r>
            <a:r>
              <a:rPr lang="zh-CN" altLang="en-US" sz="1600" b="1" dirty="0"/>
              <a:t>)，其中</a:t>
            </a:r>
            <a:endParaRPr lang="en-US" altLang="zh-CN" sz="1600" b="1" dirty="0"/>
          </a:p>
          <a:p>
            <a:pPr marL="742950" lvl="1" indent="-285750">
              <a:lnSpc>
                <a:spcPct val="200000"/>
              </a:lnSpc>
              <a:buFont typeface="Wingdings" panose="05000000000000000000" pitchFamily="2" charset="2"/>
              <a:buChar char="ü"/>
            </a:pPr>
            <a:r>
              <a:rPr lang="zh-CN" altLang="en-US" sz="1600" b="1" dirty="0"/>
              <a:t>(x,y)为空间维坐标变量</a:t>
            </a:r>
            <a:endParaRPr lang="en-US" altLang="zh-CN" sz="1600" b="1" dirty="0"/>
          </a:p>
          <a:p>
            <a:pPr marL="742950" lvl="1" indent="-285750">
              <a:lnSpc>
                <a:spcPct val="200000"/>
              </a:lnSpc>
              <a:buFont typeface="Wingdings" panose="05000000000000000000" pitchFamily="2" charset="2"/>
              <a:buChar char="ü"/>
            </a:pPr>
            <a:r>
              <a:rPr lang="el-GR" altLang="zh-CN" sz="1600" b="1" dirty="0">
                <a:latin typeface="Calibri" panose="020F0502020204030204" pitchFamily="34" charset="0"/>
                <a:cs typeface="Calibri" panose="020F0502020204030204" pitchFamily="34" charset="0"/>
              </a:rPr>
              <a:t> λ</a:t>
            </a:r>
            <a:r>
              <a:rPr lang="zh-CN" altLang="en-US" sz="1600" b="1" dirty="0"/>
              <a:t>为电磁光谱波长位置相关的变量对于光谱视频</a:t>
            </a:r>
            <a:endParaRPr lang="en-US" altLang="zh-CN" sz="1600" b="1" dirty="0"/>
          </a:p>
          <a:p>
            <a:pPr marL="742950" lvl="1" indent="-285750">
              <a:lnSpc>
                <a:spcPct val="200000"/>
              </a:lnSpc>
              <a:buFont typeface="Wingdings" panose="05000000000000000000" pitchFamily="2" charset="2"/>
              <a:buChar char="ü"/>
            </a:pPr>
            <a:r>
              <a:rPr lang="zh-CN" altLang="en-US" sz="1600" b="1" dirty="0"/>
              <a:t>可以进一步引入时间维，描述为</a:t>
            </a:r>
            <a:r>
              <a:rPr lang="en-US" altLang="zh-CN" sz="1600" b="1" dirty="0"/>
              <a:t>f</a:t>
            </a:r>
            <a:r>
              <a:rPr lang="zh-CN" altLang="en-US" sz="1600" b="1" dirty="0"/>
              <a:t>(x,</a:t>
            </a:r>
            <a:r>
              <a:rPr lang="en-US" altLang="zh-CN" sz="1600" b="1" dirty="0"/>
              <a:t>y</a:t>
            </a:r>
            <a:r>
              <a:rPr lang="zh-CN" altLang="en-US" sz="1600" b="1" dirty="0"/>
              <a:t>,</a:t>
            </a:r>
            <a:r>
              <a:rPr lang="en-US" altLang="zh-CN" sz="1600" b="1" dirty="0">
                <a:latin typeface="Calibri" panose="020F0502020204030204" pitchFamily="34" charset="0"/>
                <a:cs typeface="Calibri" panose="020F0502020204030204" pitchFamily="34" charset="0"/>
              </a:rPr>
              <a:t>z</a:t>
            </a:r>
            <a:r>
              <a:rPr lang="zh-CN" altLang="en-US" sz="1600" b="1" dirty="0"/>
              <a:t>,</a:t>
            </a:r>
            <a:r>
              <a:rPr lang="en-US" altLang="zh-CN" sz="1600" b="1" dirty="0">
                <a:latin typeface="Calibri" panose="020F0502020204030204" pitchFamily="34" charset="0"/>
                <a:cs typeface="Calibri" panose="020F0502020204030204" pitchFamily="34" charset="0"/>
              </a:rPr>
              <a:t>t</a:t>
            </a:r>
            <a:r>
              <a:rPr lang="zh-CN" altLang="en-US" sz="1600" b="1" dirty="0"/>
              <a:t>)，表示记录了</a:t>
            </a:r>
            <a:r>
              <a:rPr lang="en-US" altLang="zh-CN" sz="1600" b="1" dirty="0"/>
              <a:t>t</a:t>
            </a:r>
            <a:r>
              <a:rPr lang="zh-CN" altLang="en-US" sz="1600" b="1" dirty="0"/>
              <a:t>时刻与场景中各个空间位置和该点材质性质(反射、吸收、辐射)等相关的电磁波辐射能量(与波长相关)。</a:t>
            </a:r>
            <a:endParaRPr lang="en-US" altLang="zh-CN" sz="1600" b="1" dirty="0"/>
          </a:p>
          <a:p>
            <a:pPr marL="285750" indent="-285750">
              <a:lnSpc>
                <a:spcPct val="200000"/>
              </a:lnSpc>
              <a:buFont typeface="Wingdings" panose="05000000000000000000" pitchFamily="2" charset="2"/>
              <a:buChar char="n"/>
            </a:pPr>
            <a:r>
              <a:rPr lang="zh-CN" altLang="en-US" sz="1600" b="1" dirty="0"/>
              <a:t>更复杂的情形，例如动态医学图像体数据，可以表示为</a:t>
            </a:r>
            <a:r>
              <a:rPr lang="en-US" altLang="zh-CN" sz="1600" b="1" dirty="0"/>
              <a:t>f</a:t>
            </a:r>
            <a:r>
              <a:rPr lang="zh-CN" altLang="en-US" sz="1600" b="1" dirty="0"/>
              <a:t>(x,</a:t>
            </a:r>
            <a:r>
              <a:rPr lang="en-US" altLang="zh-CN" sz="1600" b="1" dirty="0"/>
              <a:t>y</a:t>
            </a:r>
            <a:r>
              <a:rPr lang="zh-CN" altLang="en-US" sz="1600" b="1" dirty="0"/>
              <a:t>,</a:t>
            </a:r>
            <a:r>
              <a:rPr lang="en-US" altLang="zh-CN" sz="1600" b="1" dirty="0">
                <a:latin typeface="Calibri" panose="020F0502020204030204" pitchFamily="34" charset="0"/>
                <a:cs typeface="Calibri" panose="020F0502020204030204" pitchFamily="34" charset="0"/>
              </a:rPr>
              <a:t>z</a:t>
            </a:r>
            <a:r>
              <a:rPr lang="zh-CN" altLang="en-US" sz="1600" b="1" dirty="0"/>
              <a:t>,</a:t>
            </a:r>
            <a:r>
              <a:rPr lang="el-GR" altLang="zh-CN" sz="1600" b="1" dirty="0">
                <a:latin typeface="Calibri" panose="020F0502020204030204" pitchFamily="34" charset="0"/>
                <a:cs typeface="Calibri" panose="020F0502020204030204" pitchFamily="34" charset="0"/>
              </a:rPr>
              <a:t>λ</a:t>
            </a:r>
            <a:r>
              <a:rPr lang="zh-CN" altLang="en-US" sz="1600" b="1" dirty="0"/>
              <a:t>,</a:t>
            </a:r>
            <a:r>
              <a:rPr lang="en-US" altLang="zh-CN" sz="1600" b="1" dirty="0">
                <a:latin typeface="Calibri" panose="020F0502020204030204" pitchFamily="34" charset="0"/>
                <a:cs typeface="Calibri" panose="020F0502020204030204" pitchFamily="34" charset="0"/>
              </a:rPr>
              <a:t>t</a:t>
            </a:r>
            <a:r>
              <a:rPr lang="zh-CN" altLang="en-US" sz="1600" b="1" dirty="0"/>
              <a:t>)，表示记录</a:t>
            </a:r>
            <a:r>
              <a:rPr lang="en-US" altLang="zh-CN" sz="1600" b="1" dirty="0"/>
              <a:t>t</a:t>
            </a:r>
            <a:r>
              <a:rPr lang="zh-CN" altLang="en-US" sz="1600" b="1" dirty="0"/>
              <a:t>时刻空间坐标(x,y,z)处与人体组织密度吸收相关的值</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807322" y="2205492"/>
            <a:ext cx="6253597" cy="3170676"/>
          </a:xfrm>
          <a:prstGeom prst="rect">
            <a:avLst/>
          </a:prstGeom>
          <a:noFill/>
        </p:spPr>
        <p:txBody>
          <a:bodyPr wrap="square">
            <a:spAutoFit/>
          </a:bodyPr>
          <a:lstStyle/>
          <a:p>
            <a:pPr algn="l">
              <a:lnSpc>
                <a:spcPct val="150000"/>
              </a:lnSpc>
              <a:spcBef>
                <a:spcPct val="42000"/>
              </a:spcBef>
              <a:spcAft>
                <a:spcPct val="42000"/>
              </a:spcAft>
              <a:buClrTx/>
              <a:buSzTx/>
            </a:pPr>
            <a:r>
              <a:rPr lang="zh-CN" altLang="en-US" sz="1867" b="1" dirty="0">
                <a:solidFill>
                  <a:schemeClr val="accent1">
                    <a:lumMod val="50000"/>
                  </a:schemeClr>
                </a:solidFill>
                <a:latin typeface="微软雅黑" panose="020B0503020204020204" pitchFamily="34" charset="-122"/>
                <a:ea typeface="微软雅黑" panose="020B0503020204020204" pitchFamily="34" charset="-122"/>
              </a:rPr>
              <a:t>成像过程解析</a:t>
            </a:r>
          </a:p>
          <a:p>
            <a:pPr>
              <a:lnSpc>
                <a:spcPct val="150000"/>
              </a:lnSpc>
              <a:spcAft>
                <a:spcPct val="63000"/>
              </a:spcAft>
            </a:pPr>
            <a:r>
              <a:rPr lang="en-US" altLang="zh-CN" sz="1867" dirty="0">
                <a:latin typeface="微软雅黑" panose="020B0503020204020204" pitchFamily="34" charset="-122"/>
                <a:ea typeface="微软雅黑" panose="020B0503020204020204" pitchFamily="34" charset="-122"/>
              </a:rPr>
              <a:t>       </a:t>
            </a:r>
            <a:r>
              <a:rPr lang="zh-CN" altLang="en-US" sz="1867" dirty="0">
                <a:latin typeface="微软雅黑" panose="020B0503020204020204" pitchFamily="34" charset="-122"/>
                <a:ea typeface="微软雅黑" panose="020B0503020204020204" pitchFamily="34" charset="-122"/>
              </a:rPr>
              <a:t>成像系统接收光强后投射至成像平面，透镜将场景聚焦于传感器阵列，输出与光强总量成正比的电信号。</a:t>
            </a:r>
          </a:p>
          <a:p>
            <a:pPr algn="l">
              <a:lnSpc>
                <a:spcPct val="150000"/>
              </a:lnSpc>
              <a:spcBef>
                <a:spcPct val="42000"/>
              </a:spcBef>
              <a:spcAft>
                <a:spcPct val="42000"/>
              </a:spcAft>
              <a:buClrTx/>
              <a:buSzTx/>
            </a:pPr>
            <a:r>
              <a:rPr lang="zh-CN" altLang="en-US" sz="1867" b="1" dirty="0">
                <a:solidFill>
                  <a:schemeClr val="accent1">
                    <a:lumMod val="50000"/>
                  </a:schemeClr>
                </a:solidFill>
                <a:latin typeface="微软雅黑" panose="020B0503020204020204" pitchFamily="34" charset="-122"/>
                <a:ea typeface="微软雅黑" panose="020B0503020204020204" pitchFamily="34" charset="-122"/>
              </a:rPr>
              <a:t>信号转换机制</a:t>
            </a:r>
          </a:p>
          <a:p>
            <a:pPr>
              <a:lnSpc>
                <a:spcPct val="150000"/>
              </a:lnSpc>
              <a:spcAft>
                <a:spcPct val="63000"/>
              </a:spcAft>
            </a:pPr>
            <a:r>
              <a:rPr lang="en-US" altLang="zh-CN" sz="1867" dirty="0">
                <a:latin typeface="微软雅黑" panose="020B0503020204020204" pitchFamily="34" charset="-122"/>
                <a:ea typeface="微软雅黑" panose="020B0503020204020204" pitchFamily="34" charset="-122"/>
              </a:rPr>
              <a:t>       </a:t>
            </a:r>
            <a:r>
              <a:rPr lang="zh-CN" altLang="en-US" sz="1867" dirty="0">
                <a:latin typeface="微软雅黑" panose="020B0503020204020204" pitchFamily="34" charset="-122"/>
                <a:ea typeface="微软雅黑" panose="020B0503020204020204" pitchFamily="34" charset="-122"/>
              </a:rPr>
              <a:t>数字或模拟电路扫描传感器输出，转换为电视信号后经数字化处理，形成可识别的数字图像数据。</a:t>
            </a:r>
            <a:r>
              <a:rPr lang="zh-CN" altLang="en-US" sz="1867" b="1" dirty="0">
                <a:solidFill>
                  <a:schemeClr val="lt1"/>
                </a:solidFill>
                <a:latin typeface="微软雅黑" panose="020B0503020204020204" pitchFamily="34" charset="-122"/>
                <a:ea typeface="微软雅黑" panose="020B0503020204020204" pitchFamily="34" charset="-122"/>
              </a:rPr>
              <a:t>。</a:t>
            </a:r>
          </a:p>
        </p:txBody>
      </p:sp>
      <p:pic>
        <p:nvPicPr>
          <p:cNvPr id="8" name="内容占位符 8"/>
          <p:cNvPicPr>
            <a:picLocks noChangeAspect="1"/>
          </p:cNvPicPr>
          <p:nvPr/>
        </p:nvPicPr>
        <p:blipFill>
          <a:blip r:embed="rId2"/>
          <a:srcRect t="-1111" b="-729"/>
          <a:stretch>
            <a:fillRect/>
          </a:stretch>
        </p:blipFill>
        <p:spPr>
          <a:xfrm>
            <a:off x="7503453" y="1701215"/>
            <a:ext cx="3918375" cy="2659804"/>
          </a:xfrm>
          <a:prstGeom prst="rect">
            <a:avLst/>
          </a:prstGeom>
          <a:solidFill>
            <a:schemeClr val="accent1">
              <a:lumMod val="20000"/>
              <a:lumOff val="80000"/>
            </a:schemeClr>
          </a:solidFill>
          <a:ln>
            <a:noFill/>
          </a:ln>
        </p:spPr>
      </p:pic>
      <p:sp>
        <p:nvSpPr>
          <p:cNvPr id="10" name="文本框 9"/>
          <p:cNvSpPr txBox="1"/>
          <p:nvPr/>
        </p:nvSpPr>
        <p:spPr>
          <a:xfrm>
            <a:off x="7141750" y="4408739"/>
            <a:ext cx="4331191" cy="1156855"/>
          </a:xfrm>
          <a:prstGeom prst="rect">
            <a:avLst/>
          </a:prstGeom>
          <a:noFill/>
        </p:spPr>
        <p:txBody>
          <a:bodyPr wrap="square">
            <a:spAutoFit/>
          </a:bodyPr>
          <a:lstStyle/>
          <a:p>
            <a:pPr algn="ctr" defTabSz="355591">
              <a:lnSpc>
                <a:spcPct val="150000"/>
              </a:lnSpc>
              <a:spcAft>
                <a:spcPct val="0"/>
              </a:spcAft>
            </a:pPr>
            <a:r>
              <a:rPr lang="zh-CN" altLang="en-US" sz="1600" dirty="0">
                <a:solidFill>
                  <a:srgbClr val="000000"/>
                </a:solidFill>
                <a:latin typeface="+mn-ea"/>
              </a:rPr>
              <a:t>数字图像获取的例子</a:t>
            </a:r>
            <a:endParaRPr lang="en-US" altLang="zh-CN" sz="1600" dirty="0">
              <a:solidFill>
                <a:srgbClr val="000000"/>
              </a:solidFill>
              <a:latin typeface="+mn-ea"/>
            </a:endParaRPr>
          </a:p>
          <a:p>
            <a:pPr algn="ctr" defTabSz="355591">
              <a:lnSpc>
                <a:spcPct val="150000"/>
              </a:lnSpc>
              <a:spcAft>
                <a:spcPct val="0"/>
              </a:spcAft>
            </a:pPr>
            <a:r>
              <a:rPr lang="en-US" altLang="zh-CN" sz="1600" dirty="0">
                <a:solidFill>
                  <a:srgbClr val="000000"/>
                </a:solidFill>
                <a:latin typeface="+mn-ea"/>
              </a:rPr>
              <a:t>(a) </a:t>
            </a:r>
            <a:r>
              <a:rPr lang="zh-CN" altLang="en-US" sz="1600" dirty="0">
                <a:solidFill>
                  <a:srgbClr val="000000"/>
                </a:solidFill>
                <a:latin typeface="+mn-ea"/>
              </a:rPr>
              <a:t>照射（能）源；</a:t>
            </a:r>
            <a:r>
              <a:rPr lang="en-US" altLang="zh-CN" sz="1600" dirty="0">
                <a:solidFill>
                  <a:srgbClr val="000000"/>
                </a:solidFill>
                <a:latin typeface="+mn-ea"/>
              </a:rPr>
              <a:t>(b) </a:t>
            </a:r>
            <a:r>
              <a:rPr lang="zh-CN" altLang="en-US" sz="1600" dirty="0">
                <a:solidFill>
                  <a:srgbClr val="000000"/>
                </a:solidFill>
                <a:latin typeface="+mn-ea"/>
              </a:rPr>
              <a:t>场景元素；</a:t>
            </a:r>
            <a:r>
              <a:rPr lang="en-US" altLang="zh-CN" sz="1600" dirty="0">
                <a:solidFill>
                  <a:srgbClr val="000000"/>
                </a:solidFill>
                <a:latin typeface="+mn-ea"/>
              </a:rPr>
              <a:t>(c) </a:t>
            </a:r>
            <a:r>
              <a:rPr lang="zh-CN" altLang="en-US" sz="1600" dirty="0">
                <a:solidFill>
                  <a:srgbClr val="000000"/>
                </a:solidFill>
                <a:latin typeface="+mn-ea"/>
              </a:rPr>
              <a:t>成像系统；</a:t>
            </a:r>
            <a:r>
              <a:rPr lang="en-US" altLang="zh-CN" sz="1600" dirty="0">
                <a:solidFill>
                  <a:srgbClr val="000000"/>
                </a:solidFill>
                <a:latin typeface="+mn-ea"/>
              </a:rPr>
              <a:t>(d) </a:t>
            </a:r>
            <a:r>
              <a:rPr lang="zh-CN" altLang="en-US" sz="1600" dirty="0">
                <a:solidFill>
                  <a:srgbClr val="000000"/>
                </a:solidFill>
                <a:latin typeface="+mn-ea"/>
              </a:rPr>
              <a:t>场景投影到图像平面；</a:t>
            </a:r>
            <a:r>
              <a:rPr lang="en-US" altLang="zh-CN" sz="1600" dirty="0">
                <a:solidFill>
                  <a:srgbClr val="000000"/>
                </a:solidFill>
                <a:latin typeface="+mn-ea"/>
              </a:rPr>
              <a:t>(e) </a:t>
            </a:r>
            <a:r>
              <a:rPr lang="zh-CN" altLang="en-US" sz="1600" dirty="0">
                <a:solidFill>
                  <a:srgbClr val="000000"/>
                </a:solidFill>
                <a:latin typeface="+mn-ea"/>
              </a:rPr>
              <a:t>数字图像</a:t>
            </a:r>
          </a:p>
        </p:txBody>
      </p:sp>
      <p:sp>
        <p:nvSpPr>
          <p:cNvPr id="11" name="文本框 10">
            <a:extLst>
              <a:ext uri="{FF2B5EF4-FFF2-40B4-BE49-F238E27FC236}">
                <a16:creationId xmlns:a16="http://schemas.microsoft.com/office/drawing/2014/main" id="{EED7E8B3-6300-4660-A940-0EC417C27525}"/>
              </a:ext>
            </a:extLst>
          </p:cNvPr>
          <p:cNvSpPr txBox="1"/>
          <p:nvPr/>
        </p:nvSpPr>
        <p:spPr>
          <a:xfrm>
            <a:off x="202993" y="103492"/>
            <a:ext cx="6692482" cy="523220"/>
          </a:xfrm>
          <a:prstGeom prst="rect">
            <a:avLst/>
          </a:prstGeom>
          <a:noFill/>
        </p:spPr>
        <p:txBody>
          <a:bodyPr wrap="square" rtlCol="0">
            <a:spAutoFit/>
          </a:bodyPr>
          <a:lstStyle/>
          <a:p>
            <a:r>
              <a:rPr lang="zh-CN" altLang="en-US" sz="2800" b="1" dirty="0">
                <a:solidFill>
                  <a:srgbClr val="0C4379"/>
                </a:solidFill>
                <a:latin typeface="微软雅黑" panose="020B0503020204020204" pitchFamily="34" charset="-122"/>
                <a:ea typeface="微软雅黑" panose="020B0503020204020204" pitchFamily="34" charset="-122"/>
              </a:rPr>
              <a:t>图像函数与图像形成回顾：图像函数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noGrp="1"/>
          </p:cNvSpPr>
          <p:nvPr/>
        </p:nvSpPr>
        <p:spPr>
          <a:xfrm>
            <a:off x="424987" y="157044"/>
            <a:ext cx="3231654"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lvl="0" algn="ctr">
              <a:lnSpc>
                <a:spcPct val="100000"/>
              </a:lnSpc>
              <a:buClrTx/>
              <a:buSzTx/>
              <a:buFontTx/>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图像数字化基本概念</a:t>
            </a:r>
          </a:p>
        </p:txBody>
      </p:sp>
      <p:pic>
        <p:nvPicPr>
          <p:cNvPr id="7" name="内容占位符 14"/>
          <p:cNvPicPr>
            <a:picLocks noChangeAspect="1"/>
          </p:cNvPicPr>
          <p:nvPr/>
        </p:nvPicPr>
        <p:blipFill>
          <a:blip r:embed="rId2"/>
          <a:srcRect l="-24735" r="-24735"/>
          <a:stretch>
            <a:fillRect/>
          </a:stretch>
        </p:blipFill>
        <p:spPr>
          <a:xfrm>
            <a:off x="1879332" y="1077790"/>
            <a:ext cx="8280717" cy="2108516"/>
          </a:xfrm>
          <a:prstGeom prst="rect">
            <a:avLst/>
          </a:prstGeom>
          <a:solidFill>
            <a:schemeClr val="accent1">
              <a:lumMod val="20000"/>
              <a:lumOff val="80000"/>
            </a:schemeClr>
          </a:solidFill>
          <a:ln>
            <a:noFill/>
          </a:ln>
        </p:spPr>
      </p:pic>
      <p:sp>
        <p:nvSpPr>
          <p:cNvPr id="8" name="文本占位符 3"/>
          <p:cNvSpPr>
            <a:spLocks noGrp="1"/>
          </p:cNvSpPr>
          <p:nvPr/>
        </p:nvSpPr>
        <p:spPr>
          <a:xfrm>
            <a:off x="1879332" y="3252437"/>
            <a:ext cx="1380626" cy="430888"/>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2000" b="1" dirty="0">
                <a:solidFill>
                  <a:schemeClr val="accent5">
                    <a:lumMod val="50000"/>
                  </a:schemeClr>
                </a:solidFill>
                <a:latin typeface="微软雅黑" panose="020B0503020204020204" pitchFamily="34" charset="-122"/>
                <a:ea typeface="微软雅黑" panose="020B0503020204020204" pitchFamily="34" charset="-122"/>
              </a:rPr>
              <a:t>模拟图像</a:t>
            </a:r>
          </a:p>
        </p:txBody>
      </p:sp>
      <p:sp>
        <p:nvSpPr>
          <p:cNvPr id="11" name="文本占位符 5"/>
          <p:cNvSpPr>
            <a:spLocks noGrp="1"/>
          </p:cNvSpPr>
          <p:nvPr/>
        </p:nvSpPr>
        <p:spPr>
          <a:xfrm>
            <a:off x="4538668" y="6213104"/>
            <a:ext cx="2916794" cy="364391"/>
          </a:xfrm>
          <a:prstGeom prst="rect">
            <a:avLst/>
          </a:prstGeom>
          <a:noFill/>
        </p:spPr>
        <p:txBody>
          <a:bodyPr vert="horz" lIns="0" tIns="0" rIns="0" bIns="0" rtlCol="0" anchor="t">
            <a:normAutofit fontScale="97500"/>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Tx/>
              <a:buSzTx/>
            </a:pPr>
            <a:r>
              <a:rPr lang="zh-CN" altLang="en-US" sz="2133" b="1" dirty="0">
                <a:solidFill>
                  <a:schemeClr val="accent5">
                    <a:lumMod val="50000"/>
                  </a:schemeClr>
                </a:solidFill>
                <a:latin typeface="微软雅黑" panose="020B0503020204020204" pitchFamily="34" charset="-122"/>
                <a:ea typeface="微软雅黑" panose="020B0503020204020204" pitchFamily="34" charset="-122"/>
              </a:rPr>
              <a:t>数字图像的还原</a:t>
            </a:r>
          </a:p>
        </p:txBody>
      </p:sp>
      <p:sp>
        <p:nvSpPr>
          <p:cNvPr id="12" name="文本占位符 7"/>
          <p:cNvSpPr>
            <a:spLocks noGrp="1"/>
          </p:cNvSpPr>
          <p:nvPr/>
        </p:nvSpPr>
        <p:spPr>
          <a:xfrm>
            <a:off x="4867645" y="3252437"/>
            <a:ext cx="2456709" cy="416927"/>
          </a:xfrm>
          <a:prstGeom prst="rect">
            <a:avLst/>
          </a:prstGeom>
          <a:noFill/>
        </p:spPr>
        <p:txBody>
          <a:bodyPr vert="horz" lIns="0" tIns="0" rIns="0" bIns="0" rtlCol="0" anchor="t">
            <a:normAutofit fontScale="97500"/>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Tx/>
              <a:buSzTx/>
            </a:pPr>
            <a:r>
              <a:rPr lang="zh-CN" altLang="en-US" sz="2000" b="1" dirty="0">
                <a:solidFill>
                  <a:schemeClr val="accent5">
                    <a:lumMod val="50000"/>
                  </a:schemeClr>
                </a:solidFill>
                <a:latin typeface="微软雅黑" panose="020B0503020204020204" pitchFamily="34" charset="-122"/>
                <a:ea typeface="微软雅黑" panose="020B0503020204020204" pitchFamily="34" charset="-122"/>
              </a:rPr>
              <a:t>图像数字化过程</a:t>
            </a:r>
          </a:p>
        </p:txBody>
      </p:sp>
      <p:sp>
        <p:nvSpPr>
          <p:cNvPr id="14" name="文本占位符 4"/>
          <p:cNvSpPr>
            <a:spLocks noGrp="1"/>
          </p:cNvSpPr>
          <p:nvPr/>
        </p:nvSpPr>
        <p:spPr>
          <a:xfrm>
            <a:off x="1041435" y="3671694"/>
            <a:ext cx="3056420" cy="671765"/>
          </a:xfrm>
          <a:prstGeom prst="rect">
            <a:avLst/>
          </a:prstGeom>
          <a:noFill/>
        </p:spPr>
        <p:txBody>
          <a:bodyPr vert="horz"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400" b="1" dirty="0">
                <a:latin typeface="微软雅黑" panose="020B0503020204020204" pitchFamily="34" charset="-122"/>
                <a:ea typeface="微软雅黑" panose="020B0503020204020204" pitchFamily="34" charset="-122"/>
              </a:rPr>
              <a:t>连续数值表示的灰度或颜色分布</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（胶片、照片、艺术画作等）</a:t>
            </a:r>
          </a:p>
        </p:txBody>
      </p:sp>
      <p:sp>
        <p:nvSpPr>
          <p:cNvPr id="16" name="文本占位符 6"/>
          <p:cNvSpPr>
            <a:spLocks noGrp="1"/>
          </p:cNvSpPr>
          <p:nvPr/>
        </p:nvSpPr>
        <p:spPr>
          <a:xfrm>
            <a:off x="7322939" y="6104075"/>
            <a:ext cx="3813360" cy="649624"/>
          </a:xfrm>
          <a:prstGeom prst="rect">
            <a:avLst/>
          </a:prstGeom>
          <a:noFill/>
        </p:spPr>
        <p:txBody>
          <a:bodyPr vert="horz"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Tx/>
              <a:buSzTx/>
            </a:pPr>
            <a:r>
              <a:rPr lang="zh-CN" altLang="en-US" b="1" dirty="0">
                <a:latin typeface="微软雅黑" panose="020B0503020204020204" pitchFamily="34" charset="-122"/>
                <a:ea typeface="微软雅黑" panose="020B0503020204020204" pitchFamily="34" charset="-122"/>
              </a:rPr>
              <a:t>经D</a:t>
            </a:r>
            <a:r>
              <a:rPr lang="en-US" altLang="zh-CN" b="1" dirty="0" err="1">
                <a:latin typeface="微软雅黑" panose="020B0503020204020204" pitchFamily="34" charset="-122"/>
                <a:ea typeface="微软雅黑" panose="020B0503020204020204" pitchFamily="34" charset="-122"/>
              </a:rPr>
              <a:t>igital</a:t>
            </a:r>
            <a:r>
              <a:rPr lang="zh-CN" altLang="en-US" b="1" dirty="0">
                <a:latin typeface="微软雅黑" panose="020B0503020204020204" pitchFamily="34" charset="-122"/>
                <a:ea typeface="微软雅黑" panose="020B0503020204020204" pitchFamily="34" charset="-122"/>
              </a:rPr>
              <a:t>/A</a:t>
            </a:r>
            <a:r>
              <a:rPr lang="en-US" altLang="zh-CN" b="1" dirty="0" err="1">
                <a:latin typeface="微软雅黑" panose="020B0503020204020204" pitchFamily="34" charset="-122"/>
                <a:ea typeface="微软雅黑" panose="020B0503020204020204" pitchFamily="34" charset="-122"/>
              </a:rPr>
              <a:t>nalog</a:t>
            </a:r>
            <a:r>
              <a:rPr lang="zh-CN" altLang="en-US" b="1" dirty="0">
                <a:latin typeface="微软雅黑" panose="020B0503020204020204" pitchFamily="34" charset="-122"/>
                <a:ea typeface="微软雅黑" panose="020B0503020204020204" pitchFamily="34" charset="-122"/>
              </a:rPr>
              <a:t>转换还原成连续图像</a:t>
            </a:r>
            <a:endParaRPr lang="en-US" altLang="zh-CN" b="1" dirty="0">
              <a:latin typeface="微软雅黑" panose="020B0503020204020204" pitchFamily="34" charset="-122"/>
              <a:ea typeface="微软雅黑" panose="020B0503020204020204" pitchFamily="34" charset="-122"/>
            </a:endParaRPr>
          </a:p>
          <a:p>
            <a:pPr algn="ctr">
              <a:buClrTx/>
              <a:buSzTx/>
            </a:pPr>
            <a:r>
              <a:rPr lang="zh-CN" altLang="en-US" b="1" dirty="0">
                <a:solidFill>
                  <a:srgbClr val="C00000"/>
                </a:solidFill>
                <a:latin typeface="微软雅黑" panose="020B0503020204020204" pitchFamily="34" charset="-122"/>
                <a:ea typeface="微软雅黑" panose="020B0503020204020204" pitchFamily="34" charset="-122"/>
              </a:rPr>
              <a:t>空间采样后的图像可以信息无损的还原吗？</a:t>
            </a:r>
          </a:p>
        </p:txBody>
      </p:sp>
      <p:sp>
        <p:nvSpPr>
          <p:cNvPr id="21" name="文本占位符 8"/>
          <p:cNvSpPr>
            <a:spLocks noGrp="1"/>
          </p:cNvSpPr>
          <p:nvPr/>
        </p:nvSpPr>
        <p:spPr>
          <a:xfrm>
            <a:off x="5174635" y="3671694"/>
            <a:ext cx="1842728" cy="298344"/>
          </a:xfrm>
          <a:prstGeom prst="rect">
            <a:avLst/>
          </a:prstGeom>
          <a:noFill/>
        </p:spPr>
        <p:txBody>
          <a:bodyPr vert="horz" lIns="0" tIns="0" rIns="0" bIns="0" rtlCol="0" anchor="t">
            <a:normAutofit lnSpcReduction="10000"/>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latin typeface="微软雅黑" panose="020B0503020204020204" pitchFamily="34" charset="-122"/>
                <a:ea typeface="微软雅黑" panose="020B0503020204020204" pitchFamily="34" charset="-122"/>
              </a:rPr>
              <a:t>空间采样</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幅值量化</a:t>
            </a:r>
            <a:endParaRPr lang="en-US" altLang="zh-CN" b="1" dirty="0">
              <a:latin typeface="微软雅黑" panose="020B0503020204020204" pitchFamily="34" charset="-122"/>
              <a:ea typeface="微软雅黑" panose="020B0503020204020204" pitchFamily="34" charset="-122"/>
            </a:endParaRPr>
          </a:p>
        </p:txBody>
      </p:sp>
      <p:pic>
        <p:nvPicPr>
          <p:cNvPr id="28" name="图片 27">
            <a:extLst>
              <a:ext uri="{FF2B5EF4-FFF2-40B4-BE49-F238E27FC236}">
                <a16:creationId xmlns:a16="http://schemas.microsoft.com/office/drawing/2014/main" id="{308B2A14-7C1E-4D52-94AC-490D08B46D91}"/>
              </a:ext>
            </a:extLst>
          </p:cNvPr>
          <p:cNvPicPr>
            <a:picLocks noChangeAspect="1"/>
          </p:cNvPicPr>
          <p:nvPr/>
        </p:nvPicPr>
        <p:blipFill>
          <a:blip r:embed="rId3"/>
          <a:stretch>
            <a:fillRect/>
          </a:stretch>
        </p:blipFill>
        <p:spPr>
          <a:xfrm>
            <a:off x="5007499" y="3938910"/>
            <a:ext cx="2194286" cy="1641905"/>
          </a:xfrm>
          <a:prstGeom prst="rect">
            <a:avLst/>
          </a:prstGeom>
        </p:spPr>
      </p:pic>
      <p:sp>
        <p:nvSpPr>
          <p:cNvPr id="29" name="箭头: 右 28">
            <a:extLst>
              <a:ext uri="{FF2B5EF4-FFF2-40B4-BE49-F238E27FC236}">
                <a16:creationId xmlns:a16="http://schemas.microsoft.com/office/drawing/2014/main" id="{A8799596-D8A3-49AF-A5A3-338978AA6AD3}"/>
              </a:ext>
            </a:extLst>
          </p:cNvPr>
          <p:cNvSpPr/>
          <p:nvPr/>
        </p:nvSpPr>
        <p:spPr>
          <a:xfrm>
            <a:off x="5693937" y="1859414"/>
            <a:ext cx="821410" cy="7980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上弧形 30">
            <a:extLst>
              <a:ext uri="{FF2B5EF4-FFF2-40B4-BE49-F238E27FC236}">
                <a16:creationId xmlns:a16="http://schemas.microsoft.com/office/drawing/2014/main" id="{2CC10596-B6F6-48CE-AC8A-C0E613C0E403}"/>
              </a:ext>
            </a:extLst>
          </p:cNvPr>
          <p:cNvSpPr/>
          <p:nvPr/>
        </p:nvSpPr>
        <p:spPr>
          <a:xfrm rot="10800000">
            <a:off x="2128433" y="4315613"/>
            <a:ext cx="7645831" cy="180579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noGrp="1"/>
          </p:cNvSpPr>
          <p:nvPr/>
        </p:nvSpPr>
        <p:spPr>
          <a:xfrm>
            <a:off x="229680" y="157281"/>
            <a:ext cx="2872581"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a:t>
            </a:r>
          </a:p>
        </p:txBody>
      </p:sp>
      <p:pic>
        <p:nvPicPr>
          <p:cNvPr id="7" name="内容占位符 18"/>
          <p:cNvPicPr>
            <a:picLocks noChangeAspect="1"/>
          </p:cNvPicPr>
          <p:nvPr/>
        </p:nvPicPr>
        <p:blipFill>
          <a:blip r:embed="rId2"/>
          <a:srcRect l="-488" r="413" b="3149"/>
          <a:stretch>
            <a:fillRect/>
          </a:stretch>
        </p:blipFill>
        <p:spPr>
          <a:xfrm>
            <a:off x="6096000" y="3877734"/>
            <a:ext cx="4492413" cy="1502833"/>
          </a:xfrm>
          <a:prstGeom prst="rect">
            <a:avLst/>
          </a:prstGeom>
          <a:solidFill>
            <a:schemeClr val="accent1">
              <a:lumMod val="20000"/>
              <a:lumOff val="80000"/>
            </a:schemeClr>
          </a:solidFill>
          <a:ln>
            <a:noFill/>
          </a:ln>
        </p:spPr>
      </p:pic>
      <p:sp>
        <p:nvSpPr>
          <p:cNvPr id="11" name="装饰  0"/>
          <p:cNvSpPr>
            <a:spLocks noGrp="1"/>
          </p:cNvSpPr>
          <p:nvPr/>
        </p:nvSpPr>
        <p:spPr>
          <a:xfrm>
            <a:off x="1774955" y="840977"/>
            <a:ext cx="101600" cy="2360507"/>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vert="horz" lIns="121920" tIns="60960" rIns="121920" bIns="6096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733"/>
              <a:t> </a:t>
            </a:r>
          </a:p>
        </p:txBody>
      </p:sp>
      <p:sp>
        <p:nvSpPr>
          <p:cNvPr id="15" name="文本占位符 4"/>
          <p:cNvSpPr>
            <a:spLocks noGrp="1"/>
          </p:cNvSpPr>
          <p:nvPr/>
        </p:nvSpPr>
        <p:spPr>
          <a:xfrm>
            <a:off x="2202031" y="905099"/>
            <a:ext cx="2835324" cy="555413"/>
          </a:xfrm>
          <a:prstGeom prst="rect">
            <a:avLst/>
          </a:prstGeom>
          <a:noFill/>
        </p:spPr>
        <p:txBody>
          <a:bodyPr vert="horz" lIns="0" tIns="0" rIns="0" bIns="0" rtlCol="0" anchor="t">
            <a:no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chemeClr val="accent5">
                    <a:lumMod val="50000"/>
                  </a:schemeClr>
                </a:solidFill>
                <a:latin typeface="微软雅黑" panose="020B0503020204020204" pitchFamily="34" charset="-122"/>
                <a:ea typeface="微软雅黑" panose="020B0503020204020204" pitchFamily="34" charset="-122"/>
              </a:rPr>
              <a:t>一维信号与采样概念</a:t>
            </a:r>
          </a:p>
        </p:txBody>
      </p:sp>
      <p:sp>
        <p:nvSpPr>
          <p:cNvPr id="18" name="文本占位符 5"/>
          <p:cNvSpPr>
            <a:spLocks noGrp="1"/>
          </p:cNvSpPr>
          <p:nvPr/>
        </p:nvSpPr>
        <p:spPr>
          <a:xfrm>
            <a:off x="2303682" y="1535244"/>
            <a:ext cx="3016004" cy="1152385"/>
          </a:xfrm>
          <a:prstGeom prst="rect">
            <a:avLst/>
          </a:prstGeom>
          <a:noFill/>
        </p:spPr>
        <p:txBody>
          <a:bodyPr vert="horz" lIns="0" tIns="0" rIns="0" bIns="0" rtlCol="0" anchor="t">
            <a:no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zh-CN" altLang="en-US" sz="1800" b="1" dirty="0">
                <a:latin typeface="微软雅黑" panose="020B0503020204020204" pitchFamily="34" charset="-122"/>
                <a:ea typeface="微软雅黑" panose="020B0503020204020204" pitchFamily="34" charset="-122"/>
              </a:rPr>
              <a:t>从一维信号连续定义域中</a:t>
            </a:r>
            <a:endParaRPr lang="en-US" altLang="zh-CN" sz="1800" b="1" dirty="0">
              <a:latin typeface="微软雅黑" panose="020B0503020204020204" pitchFamily="34" charset="-122"/>
              <a:ea typeface="微软雅黑" panose="020B0503020204020204" pitchFamily="34" charset="-122"/>
            </a:endParaRPr>
          </a:p>
          <a:p>
            <a:pPr algn="ctr">
              <a:lnSpc>
                <a:spcPct val="150000"/>
              </a:lnSpc>
            </a:pPr>
            <a:r>
              <a:rPr lang="zh-CN" altLang="en-US" sz="1800" b="1" dirty="0">
                <a:latin typeface="微软雅黑" panose="020B0503020204020204" pitchFamily="34" charset="-122"/>
                <a:ea typeface="微软雅黑" panose="020B0503020204020204" pitchFamily="34" charset="-122"/>
              </a:rPr>
              <a:t>获取灰度值样本的操作。</a:t>
            </a:r>
          </a:p>
        </p:txBody>
      </p:sp>
      <p:sp>
        <p:nvSpPr>
          <p:cNvPr id="20" name="装饰  3"/>
          <p:cNvSpPr>
            <a:spLocks noGrp="1"/>
          </p:cNvSpPr>
          <p:nvPr/>
        </p:nvSpPr>
        <p:spPr>
          <a:xfrm>
            <a:off x="6369735" y="840977"/>
            <a:ext cx="101600" cy="2360507"/>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vert="horz" lIns="121920" tIns="60960" rIns="121920" bIns="6096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733"/>
              <a:t> </a:t>
            </a:r>
          </a:p>
        </p:txBody>
      </p:sp>
      <p:sp>
        <p:nvSpPr>
          <p:cNvPr id="22" name="文本占位符 7"/>
          <p:cNvSpPr>
            <a:spLocks noGrp="1"/>
          </p:cNvSpPr>
          <p:nvPr/>
        </p:nvSpPr>
        <p:spPr>
          <a:xfrm>
            <a:off x="6730099" y="909472"/>
            <a:ext cx="4107180" cy="555413"/>
          </a:xfrm>
          <a:prstGeom prst="rect">
            <a:avLst/>
          </a:prstGeom>
          <a:noFill/>
        </p:spPr>
        <p:txBody>
          <a:bodyPr vert="horz" lIns="0" tIns="0" rIns="0" bIns="0" rtlCol="0" anchor="t">
            <a:no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chemeClr val="accent5">
                    <a:lumMod val="50000"/>
                  </a:schemeClr>
                </a:solidFill>
                <a:latin typeface="微软雅黑" panose="020B0503020204020204" pitchFamily="34" charset="-122"/>
                <a:ea typeface="微软雅黑" panose="020B0503020204020204" pitchFamily="34" charset="-122"/>
              </a:rPr>
              <a:t>二维信号采样与像素</a:t>
            </a:r>
          </a:p>
        </p:txBody>
      </p:sp>
      <p:sp>
        <p:nvSpPr>
          <p:cNvPr id="23" name="文本占位符 8"/>
          <p:cNvSpPr>
            <a:spLocks noGrp="1"/>
          </p:cNvSpPr>
          <p:nvPr/>
        </p:nvSpPr>
        <p:spPr>
          <a:xfrm>
            <a:off x="6880387" y="1630115"/>
            <a:ext cx="3806604" cy="510789"/>
          </a:xfrm>
          <a:prstGeom prst="rect">
            <a:avLst/>
          </a:prstGeom>
          <a:noFill/>
        </p:spPr>
        <p:txBody>
          <a:bodyPr vert="horz" lIns="0" tIns="0" rIns="0" bIns="0" rtlCol="0" anchor="t">
            <a:no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zh-CN" altLang="en-US" sz="1800" b="1" dirty="0">
                <a:latin typeface="微软雅黑" panose="020B0503020204020204" pitchFamily="34" charset="-122"/>
                <a:ea typeface="微软雅黑" panose="020B0503020204020204" pitchFamily="34" charset="-122"/>
              </a:rPr>
              <a:t>提取图像像素值于离散单元，即像素。</a:t>
            </a:r>
          </a:p>
        </p:txBody>
      </p:sp>
      <p:pic>
        <p:nvPicPr>
          <p:cNvPr id="26" name="图片 25"/>
          <p:cNvPicPr>
            <a:picLocks noChangeAspect="1"/>
          </p:cNvPicPr>
          <p:nvPr/>
        </p:nvPicPr>
        <p:blipFill>
          <a:blip r:embed="rId3" cstate="print"/>
          <a:stretch>
            <a:fillRect/>
          </a:stretch>
        </p:blipFill>
        <p:spPr>
          <a:xfrm>
            <a:off x="1774614" y="3355340"/>
            <a:ext cx="3868420" cy="2546773"/>
          </a:xfrm>
          <a:prstGeom prst="rect">
            <a:avLst/>
          </a:prstGeom>
        </p:spPr>
      </p:pic>
      <p:sp>
        <p:nvSpPr>
          <p:cNvPr id="28" name="文本框 2"/>
          <p:cNvSpPr txBox="1"/>
          <p:nvPr/>
        </p:nvSpPr>
        <p:spPr>
          <a:xfrm>
            <a:off x="732573" y="6017023"/>
            <a:ext cx="5953068" cy="47179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55591">
              <a:lnSpc>
                <a:spcPct val="150000"/>
              </a:lnSpc>
              <a:spcBef>
                <a:spcPts val="933"/>
              </a:spcBef>
              <a:spcAft>
                <a:spcPct val="0"/>
              </a:spcAft>
            </a:pPr>
            <a:r>
              <a:rPr lang="en-US" altLang="zh-CN" sz="1867" dirty="0">
                <a:solidFill>
                  <a:srgbClr val="000000"/>
                </a:solidFill>
                <a:latin typeface="+mn-ea"/>
              </a:rPr>
              <a:t> </a:t>
            </a:r>
            <a:r>
              <a:rPr lang="en-US" altLang="zh-CN" sz="1600" dirty="0">
                <a:solidFill>
                  <a:srgbClr val="000000"/>
                </a:solidFill>
                <a:latin typeface="+mn-ea"/>
              </a:rPr>
              <a:t>1D</a:t>
            </a:r>
            <a:r>
              <a:rPr lang="zh-CN" altLang="en-US" sz="1600" dirty="0">
                <a:solidFill>
                  <a:srgbClr val="000000"/>
                </a:solidFill>
                <a:latin typeface="+mn-ea"/>
              </a:rPr>
              <a:t>连续信号的数字化采样过程</a:t>
            </a:r>
            <a:endParaRPr lang="zh-CN" altLang="en-US" sz="1867" dirty="0">
              <a:solidFill>
                <a:srgbClr val="000000"/>
              </a:solidFill>
              <a:latin typeface="+mn-ea"/>
            </a:endParaRPr>
          </a:p>
        </p:txBody>
      </p:sp>
      <p:sp>
        <p:nvSpPr>
          <p:cNvPr id="29" name="文本框 9"/>
          <p:cNvSpPr txBox="1"/>
          <p:nvPr/>
        </p:nvSpPr>
        <p:spPr>
          <a:xfrm>
            <a:off x="6880387" y="5508351"/>
            <a:ext cx="3315028" cy="78752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304792" algn="ctr" defTabSz="355591">
              <a:lnSpc>
                <a:spcPct val="150000"/>
              </a:lnSpc>
              <a:spcAft>
                <a:spcPct val="0"/>
              </a:spcAft>
            </a:pPr>
            <a:r>
              <a:rPr lang="zh-CN" altLang="en-US" sz="1600" dirty="0">
                <a:solidFill>
                  <a:srgbClr val="000000"/>
                </a:solidFill>
                <a:latin typeface="+mn-ea"/>
              </a:rPr>
              <a:t>连续场景到数字图像的采样和灰度等级量化过程示意图</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79934" y="252874"/>
            <a:ext cx="1410461" cy="420564"/>
          </a:xfrm>
          <a:prstGeom prst="rect">
            <a:avLst/>
          </a:prstGeom>
          <a:noFill/>
        </p:spPr>
        <p:txBody>
          <a:bodyPr wrap="square" rtlCol="0">
            <a:spAutoFit/>
          </a:bodyPr>
          <a:lstStyle/>
          <a:p>
            <a:r>
              <a:rPr lang="zh-CN" altLang="en-US" sz="2133" b="1" dirty="0">
                <a:solidFill>
                  <a:schemeClr val="bg1"/>
                </a:solidFill>
                <a:latin typeface="微软雅黑" panose="020B0503020204020204" pitchFamily="34" charset="-122"/>
                <a:ea typeface="微软雅黑" panose="020B0503020204020204" pitchFamily="34" charset="-122"/>
              </a:rPr>
              <a:t>采样量化</a:t>
            </a:r>
          </a:p>
        </p:txBody>
      </p:sp>
      <p:pic>
        <p:nvPicPr>
          <p:cNvPr id="8" name="内容占位符 18"/>
          <p:cNvPicPr>
            <a:picLocks noChangeAspect="1"/>
          </p:cNvPicPr>
          <p:nvPr/>
        </p:nvPicPr>
        <p:blipFill>
          <a:blip r:embed="rId2"/>
          <a:srcRect l="-488" r="413" b="3149"/>
          <a:stretch>
            <a:fillRect/>
          </a:stretch>
        </p:blipFill>
        <p:spPr>
          <a:xfrm>
            <a:off x="1915553" y="2650365"/>
            <a:ext cx="8219440" cy="2378287"/>
          </a:xfrm>
          <a:prstGeom prst="rect">
            <a:avLst/>
          </a:prstGeom>
          <a:solidFill>
            <a:schemeClr val="accent1">
              <a:lumMod val="20000"/>
              <a:lumOff val="80000"/>
            </a:schemeClr>
          </a:solidFill>
          <a:ln>
            <a:noFill/>
          </a:ln>
        </p:spPr>
      </p:pic>
      <p:sp>
        <p:nvSpPr>
          <p:cNvPr id="9" name="文本框 7"/>
          <p:cNvSpPr txBox="1"/>
          <p:nvPr/>
        </p:nvSpPr>
        <p:spPr>
          <a:xfrm>
            <a:off x="1722709" y="1233041"/>
            <a:ext cx="9841167" cy="128990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defTabSz="355591">
              <a:lnSpc>
                <a:spcPct val="150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采样格子（Sampling Grid）的大小与水平和垂直方向的采样间隔相关</a:t>
            </a:r>
            <a:endParaRPr lang="en-US" altLang="zh-CN" dirty="0">
              <a:latin typeface="微软雅黑" panose="020B0503020204020204" pitchFamily="34" charset="-122"/>
              <a:ea typeface="微软雅黑" panose="020B0503020204020204" pitchFamily="34" charset="-122"/>
            </a:endParaRPr>
          </a:p>
          <a:p>
            <a:pPr marL="285750" indent="-285750" algn="just" defTabSz="355591">
              <a:lnSpc>
                <a:spcPct val="150000"/>
              </a:lnSpc>
              <a:buFont typeface="Wingdings" panose="05000000000000000000" pitchFamily="2" charset="2"/>
              <a:buChar char="n"/>
            </a:pPr>
            <a:r>
              <a:rPr lang="zh-CN" altLang="en-US" b="1" dirty="0">
                <a:solidFill>
                  <a:schemeClr val="accent1">
                    <a:lumMod val="50000"/>
                  </a:schemeClr>
                </a:solidFill>
                <a:latin typeface="微软雅黑" panose="020B0503020204020204" pitchFamily="34" charset="-122"/>
                <a:ea typeface="微软雅黑" panose="020B0503020204020204" pitchFamily="34" charset="-122"/>
              </a:rPr>
              <a:t>采样间隔越小，图像分辨率越高</a:t>
            </a:r>
            <a:r>
              <a:rPr lang="zh-CN" altLang="en-US" dirty="0">
                <a:latin typeface="微软雅黑" panose="020B0503020204020204" pitchFamily="34" charset="-122"/>
                <a:ea typeface="微软雅黑" panose="020B0503020204020204" pitchFamily="34" charset="-122"/>
              </a:rPr>
              <a:t>，图像越清晰。</a:t>
            </a:r>
            <a:endParaRPr lang="en-US" altLang="zh-CN" dirty="0">
              <a:latin typeface="微软雅黑" panose="020B0503020204020204" pitchFamily="34" charset="-122"/>
              <a:ea typeface="微软雅黑" panose="020B0503020204020204" pitchFamily="34" charset="-122"/>
            </a:endParaRPr>
          </a:p>
          <a:p>
            <a:pPr marL="285750" indent="-285750" algn="just" defTabSz="355591">
              <a:lnSpc>
                <a:spcPct val="150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图像的采样间隔不断变小时，所记录的2维矩阵尺寸逐渐增加，数据量急剧增加。</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374911" y="5204395"/>
            <a:ext cx="9300723" cy="420564"/>
          </a:xfrm>
          <a:prstGeom prst="rect">
            <a:avLst/>
          </a:prstGeom>
          <a:noFill/>
          <a:ln w="28575" cmpd="sng">
            <a:noFill/>
            <a:prstDash val="solid"/>
          </a:ln>
        </p:spPr>
        <p:txBody>
          <a:bodyPr wrap="square" rtlCol="0" anchor="t">
            <a:spAutoFit/>
          </a:bodyPr>
          <a:lstStyle/>
          <a:p>
            <a:pPr algn="ctr"/>
            <a:r>
              <a:rPr lang="zh-CN" altLang="en-US" sz="2133" b="1" dirty="0">
                <a:solidFill>
                  <a:srgbClr val="FF0000"/>
                </a:solidFill>
                <a:latin typeface="微软雅黑" panose="020B0503020204020204" pitchFamily="34" charset="-122"/>
                <a:ea typeface="微软雅黑" panose="020B0503020204020204" pitchFamily="34" charset="-122"/>
                <a:sym typeface="+mn-ea"/>
              </a:rPr>
              <a:t>能否找到一个最小采样间隔, 基于二维采样数据可以完全重建原始模拟图像？</a:t>
            </a:r>
          </a:p>
        </p:txBody>
      </p:sp>
      <p:sp>
        <p:nvSpPr>
          <p:cNvPr id="10" name="标题 1">
            <a:extLst>
              <a:ext uri="{FF2B5EF4-FFF2-40B4-BE49-F238E27FC236}">
                <a16:creationId xmlns:a16="http://schemas.microsoft.com/office/drawing/2014/main" id="{837EE3F1-32B8-4D4F-B5C3-DF2AAD7380BF}"/>
              </a:ext>
            </a:extLst>
          </p:cNvPr>
          <p:cNvSpPr txBox="1">
            <a:spLocks noGrp="1"/>
          </p:cNvSpPr>
          <p:nvPr/>
        </p:nvSpPr>
        <p:spPr>
          <a:xfrm>
            <a:off x="229680" y="157281"/>
            <a:ext cx="2872581"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14980" y="1053092"/>
            <a:ext cx="10972765" cy="5630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3"/>
          </a:p>
        </p:txBody>
      </p:sp>
      <mc:AlternateContent xmlns:mc="http://schemas.openxmlformats.org/markup-compatibility/2006" xmlns:a14="http://schemas.microsoft.com/office/drawing/2010/main">
        <mc:Choice Requires="a14">
          <p:sp>
            <p:nvSpPr>
              <p:cNvPr id="3" name="文本框 2"/>
              <p:cNvSpPr txBox="1"/>
              <p:nvPr/>
            </p:nvSpPr>
            <p:spPr>
              <a:xfrm>
                <a:off x="692183" y="1196869"/>
                <a:ext cx="5746751" cy="369588"/>
              </a:xfrm>
              <a:prstGeom prst="rect">
                <a:avLst/>
              </a:prstGeom>
              <a:solidFill>
                <a:schemeClr val="bg2"/>
              </a:solidFill>
            </p:spPr>
            <p:txBody>
              <a:bodyPr wrap="square" rtlCol="0">
                <a:spAutoFit/>
              </a:bodyPr>
              <a:lstStyle/>
              <a:p>
                <a:r>
                  <a:rPr lang="zh-CN" altLang="en-US" b="1" dirty="0"/>
                  <a:t>问题：</a:t>
                </a:r>
                <a14:m>
                  <m:oMath xmlns:m="http://schemas.openxmlformats.org/officeDocument/2006/math">
                    <m:r>
                      <a:rPr lang="zh-CN" altLang="en-US" b="1" i="1" dirty="0">
                        <a:latin typeface="Cambria Math" panose="02040503050406030204" pitchFamily="18" charset="0"/>
                      </a:rPr>
                      <m:t>可以由</m:t>
                    </m:r>
                    <m:sSubSup>
                      <m:sSubSupPr>
                        <m:ctrlPr>
                          <a:rPr lang="en-US" altLang="zh-CN" b="1" i="1">
                            <a:solidFill>
                              <a:srgbClr val="3333FF"/>
                            </a:solidFill>
                            <a:latin typeface="Cambria Math" panose="02040503050406030204" pitchFamily="18" charset="0"/>
                          </a:rPr>
                        </m:ctrlPr>
                      </m:sSubSupPr>
                      <m:e>
                        <m:d>
                          <m:dPr>
                            <m:begChr m:val="{"/>
                            <m:endChr m:val="}"/>
                            <m:ctrlPr>
                              <a:rPr lang="en-US" altLang="zh-CN" b="1" i="1">
                                <a:solidFill>
                                  <a:srgbClr val="3333FF"/>
                                </a:solidFill>
                                <a:latin typeface="Cambria Math" panose="02040503050406030204" pitchFamily="18" charset="0"/>
                              </a:rPr>
                            </m:ctrlPr>
                          </m:dPr>
                          <m:e>
                            <m:r>
                              <a:rPr lang="en-US" altLang="zh-CN" b="1" i="1">
                                <a:solidFill>
                                  <a:srgbClr val="3333FF"/>
                                </a:solidFill>
                                <a:latin typeface="Cambria Math" panose="02040503050406030204" pitchFamily="18" charset="0"/>
                              </a:rPr>
                              <m:t>𝒇</m:t>
                            </m:r>
                            <m:r>
                              <a:rPr lang="en-US" altLang="zh-CN" b="1" i="1">
                                <a:solidFill>
                                  <a:srgbClr val="3333FF"/>
                                </a:solidFill>
                                <a:latin typeface="Cambria Math" panose="02040503050406030204" pitchFamily="18" charset="0"/>
                              </a:rPr>
                              <m:t>(</m:t>
                            </m:r>
                            <m:r>
                              <a:rPr lang="en-US" altLang="zh-CN" b="1" i="1">
                                <a:solidFill>
                                  <a:srgbClr val="3333FF"/>
                                </a:solidFill>
                                <a:latin typeface="Cambria Math" panose="02040503050406030204" pitchFamily="18" charset="0"/>
                              </a:rPr>
                              <m:t>𝒏</m:t>
                            </m:r>
                            <m:sSub>
                              <m:sSubPr>
                                <m:ctrlPr>
                                  <a:rPr lang="en-US" altLang="zh-CN" b="1" i="1">
                                    <a:solidFill>
                                      <a:srgbClr val="3333FF"/>
                                    </a:solidFill>
                                    <a:latin typeface="Cambria Math" panose="02040503050406030204" pitchFamily="18" charset="0"/>
                                  </a:rPr>
                                </m:ctrlPr>
                              </m:sSubPr>
                              <m:e>
                                <m:r>
                                  <a:rPr lang="en-US" altLang="zh-CN" b="1" i="1">
                                    <a:solidFill>
                                      <a:srgbClr val="3333FF"/>
                                    </a:solidFill>
                                    <a:latin typeface="Cambria Math" panose="02040503050406030204" pitchFamily="18" charset="0"/>
                                  </a:rPr>
                                  <m:t>𝑻</m:t>
                                </m:r>
                              </m:e>
                              <m:sub>
                                <m:r>
                                  <a:rPr lang="en-US" altLang="zh-CN" b="1" i="1">
                                    <a:solidFill>
                                      <a:srgbClr val="3333FF"/>
                                    </a:solidFill>
                                    <a:latin typeface="Cambria Math" panose="02040503050406030204" pitchFamily="18" charset="0"/>
                                  </a:rPr>
                                  <m:t>𝒔</m:t>
                                </m:r>
                              </m:sub>
                            </m:sSub>
                            <m:r>
                              <a:rPr lang="en-US" altLang="zh-CN" b="1" i="1">
                                <a:solidFill>
                                  <a:srgbClr val="3333FF"/>
                                </a:solidFill>
                                <a:latin typeface="Cambria Math" panose="02040503050406030204" pitchFamily="18" charset="0"/>
                              </a:rPr>
                              <m:t>)</m:t>
                            </m:r>
                          </m:e>
                        </m:d>
                      </m:e>
                      <m:sub>
                        <m:r>
                          <a:rPr lang="en-US" altLang="zh-CN" b="1" i="1">
                            <a:solidFill>
                              <a:srgbClr val="3333FF"/>
                            </a:solidFill>
                            <a:latin typeface="Cambria Math" panose="02040503050406030204" pitchFamily="18" charset="0"/>
                          </a:rPr>
                          <m:t>𝒏</m:t>
                        </m:r>
                        <m:r>
                          <a:rPr lang="en-US" altLang="zh-CN" b="1" i="1">
                            <a:solidFill>
                              <a:srgbClr val="3333FF"/>
                            </a:solidFill>
                            <a:latin typeface="Cambria Math" panose="02040503050406030204" pitchFamily="18" charset="0"/>
                          </a:rPr>
                          <m:t>=−∞</m:t>
                        </m:r>
                      </m:sub>
                      <m:sup>
                        <m:r>
                          <a:rPr lang="en-US" altLang="zh-CN" b="1" i="1">
                            <a:solidFill>
                              <a:srgbClr val="3333FF"/>
                            </a:solidFill>
                            <a:latin typeface="Cambria Math" panose="02040503050406030204" pitchFamily="18" charset="0"/>
                          </a:rPr>
                          <m:t>+</m:t>
                        </m:r>
                        <m:r>
                          <a:rPr lang="en-US" altLang="zh-CN" b="1" i="1">
                            <a:solidFill>
                              <a:srgbClr val="3333FF"/>
                            </a:solidFill>
                            <a:latin typeface="Cambria Math" panose="02040503050406030204" pitchFamily="18" charset="0"/>
                            <a:ea typeface="Cambria Math" panose="02040503050406030204" pitchFamily="18" charset="0"/>
                          </a:rPr>
                          <m:t>∞</m:t>
                        </m:r>
                      </m:sup>
                    </m:sSubSup>
                  </m:oMath>
                </a14:m>
                <a:r>
                  <a:rPr lang="zh-CN" altLang="en-US" b="1" dirty="0"/>
                  <a:t>重构</a:t>
                </a:r>
                <a14:m>
                  <m:oMath xmlns:m="http://schemas.openxmlformats.org/officeDocument/2006/math">
                    <m:r>
                      <a:rPr lang="en-US" altLang="zh-CN" b="1" i="1">
                        <a:solidFill>
                          <a:srgbClr val="3333FF"/>
                        </a:solidFill>
                        <a:latin typeface="Cambria Math" panose="02040503050406030204" pitchFamily="18" charset="0"/>
                      </a:rPr>
                      <m:t>𝒇</m:t>
                    </m:r>
                    <m:r>
                      <a:rPr lang="en-US" altLang="zh-CN" b="1" i="1">
                        <a:solidFill>
                          <a:srgbClr val="3333FF"/>
                        </a:solidFill>
                        <a:latin typeface="Cambria Math" panose="02040503050406030204" pitchFamily="18" charset="0"/>
                      </a:rPr>
                      <m:t>(</m:t>
                    </m:r>
                    <m:r>
                      <a:rPr lang="en-US" altLang="zh-CN" b="1" i="1">
                        <a:solidFill>
                          <a:srgbClr val="3333FF"/>
                        </a:solidFill>
                        <a:latin typeface="Cambria Math" panose="02040503050406030204" pitchFamily="18" charset="0"/>
                      </a:rPr>
                      <m:t>𝒕</m:t>
                    </m:r>
                    <m:r>
                      <a:rPr lang="en-US" altLang="zh-CN" b="1" i="1">
                        <a:latin typeface="Cambria Math" panose="02040503050406030204" pitchFamily="18" charset="0"/>
                      </a:rPr>
                      <m:t>)</m:t>
                    </m:r>
                  </m:oMath>
                </a14:m>
                <a:r>
                  <a:rPr lang="zh-CN" altLang="en-US" b="1" dirty="0"/>
                  <a:t>吗？需要什么条件？</a:t>
                </a:r>
              </a:p>
            </p:txBody>
          </p:sp>
        </mc:Choice>
        <mc:Fallback xmlns="">
          <p:sp>
            <p:nvSpPr>
              <p:cNvPr id="3" name="文本框 2"/>
              <p:cNvSpPr txBox="1">
                <a:spLocks noRot="1" noChangeAspect="1" noMove="1" noResize="1" noEditPoints="1" noAdjustHandles="1" noChangeArrowheads="1" noChangeShapeType="1" noTextEdit="1"/>
              </p:cNvSpPr>
              <p:nvPr/>
            </p:nvSpPr>
            <p:spPr>
              <a:xfrm>
                <a:off x="692183" y="1196869"/>
                <a:ext cx="5746751" cy="369588"/>
              </a:xfrm>
              <a:prstGeom prst="rect">
                <a:avLst/>
              </a:prstGeom>
              <a:blipFill>
                <a:blip r:embed="rId2"/>
                <a:stretch>
                  <a:fillRect l="-955" t="-8197" r="-4883" b="-24590"/>
                </a:stretch>
              </a:blipFill>
            </p:spPr>
            <p:txBody>
              <a:bodyPr/>
              <a:lstStyle/>
              <a:p>
                <a:r>
                  <a:rPr lang="zh-CN" altLang="en-US">
                    <a:noFill/>
                  </a:rPr>
                  <a:t> </a:t>
                </a:r>
              </a:p>
            </p:txBody>
          </p:sp>
        </mc:Fallback>
      </mc:AlternateContent>
      <p:sp>
        <p:nvSpPr>
          <p:cNvPr id="4" name="矩形 3"/>
          <p:cNvSpPr/>
          <p:nvPr/>
        </p:nvSpPr>
        <p:spPr>
          <a:xfrm>
            <a:off x="614979" y="2083003"/>
            <a:ext cx="9312071" cy="2062103"/>
          </a:xfrm>
          <a:prstGeom prst="rect">
            <a:avLst/>
          </a:prstGeom>
          <a:solidFill>
            <a:schemeClr val="bg2"/>
          </a:solidFill>
        </p:spPr>
        <p:txBody>
          <a:bodyPr wrap="square">
            <a:spAutoFit/>
          </a:bodyPr>
          <a:lstStyle/>
          <a:p>
            <a:pPr>
              <a:lnSpc>
                <a:spcPct val="200000"/>
              </a:lnSpc>
            </a:pPr>
            <a:r>
              <a:rPr lang="zh-CN" altLang="en-US" sz="1600" dirty="0">
                <a:solidFill>
                  <a:srgbClr val="121212"/>
                </a:solidFill>
                <a:latin typeface="-apple-system"/>
              </a:rPr>
              <a:t>对于</a:t>
            </a:r>
            <a:r>
              <a:rPr lang="zh-CN" altLang="en-US" sz="1600" dirty="0">
                <a:solidFill>
                  <a:srgbClr val="3333FF"/>
                </a:solidFill>
                <a:latin typeface="-apple-system"/>
              </a:rPr>
              <a:t>带限信号</a:t>
            </a:r>
            <a:r>
              <a:rPr lang="zh-CN" altLang="en-US" sz="1600" dirty="0">
                <a:solidFill>
                  <a:srgbClr val="121212"/>
                </a:solidFill>
                <a:latin typeface="-apple-system"/>
              </a:rPr>
              <a:t>进行离散采样时，只有</a:t>
            </a:r>
            <a:r>
              <a:rPr lang="zh-CN" altLang="en-US" sz="1600" b="1" dirty="0">
                <a:solidFill>
                  <a:srgbClr val="3333FF"/>
                </a:solidFill>
                <a:latin typeface="-apple-system"/>
              </a:rPr>
              <a:t>采样频率不低于其最高频率的</a:t>
            </a:r>
            <a:r>
              <a:rPr lang="en-US" altLang="zh-CN" sz="1600" b="1" dirty="0">
                <a:solidFill>
                  <a:srgbClr val="3333FF"/>
                </a:solidFill>
                <a:latin typeface="-apple-system"/>
              </a:rPr>
              <a:t>2</a:t>
            </a:r>
            <a:r>
              <a:rPr lang="zh-CN" altLang="en-US" sz="1600" b="1" dirty="0">
                <a:solidFill>
                  <a:srgbClr val="3333FF"/>
                </a:solidFill>
                <a:latin typeface="-apple-system"/>
              </a:rPr>
              <a:t>倍</a:t>
            </a:r>
            <a:r>
              <a:rPr lang="zh-CN" altLang="en-US" sz="1600" dirty="0">
                <a:solidFill>
                  <a:srgbClr val="121212"/>
                </a:solidFill>
                <a:latin typeface="-apple-system"/>
              </a:rPr>
              <a:t>，</a:t>
            </a:r>
            <a:r>
              <a:rPr lang="en-US" altLang="zh-CN" sz="1600" dirty="0">
                <a:solidFill>
                  <a:srgbClr val="121212"/>
                </a:solidFill>
                <a:latin typeface="-apple-system"/>
              </a:rPr>
              <a:t>(</a:t>
            </a:r>
            <a:r>
              <a:rPr lang="zh-CN" altLang="en-US" sz="1600" dirty="0">
                <a:solidFill>
                  <a:srgbClr val="121212"/>
                </a:solidFill>
                <a:latin typeface="-apple-system"/>
              </a:rPr>
              <a:t>即一个周期内，至少采</a:t>
            </a:r>
            <a:r>
              <a:rPr lang="en-US" altLang="zh-CN" sz="1600" dirty="0">
                <a:solidFill>
                  <a:srgbClr val="121212"/>
                </a:solidFill>
                <a:latin typeface="-apple-system"/>
              </a:rPr>
              <a:t>2</a:t>
            </a:r>
            <a:r>
              <a:rPr lang="zh-CN" altLang="en-US" sz="1600" dirty="0">
                <a:solidFill>
                  <a:srgbClr val="121212"/>
                </a:solidFill>
                <a:latin typeface="-apple-system"/>
              </a:rPr>
              <a:t>个点</a:t>
            </a:r>
            <a:r>
              <a:rPr lang="en-US" altLang="zh-CN" sz="1600" dirty="0">
                <a:solidFill>
                  <a:srgbClr val="121212"/>
                </a:solidFill>
                <a:latin typeface="-apple-system"/>
              </a:rPr>
              <a:t>)</a:t>
            </a:r>
            <a:r>
              <a:rPr lang="zh-CN" altLang="en-US" sz="1600" dirty="0">
                <a:solidFill>
                  <a:srgbClr val="121212"/>
                </a:solidFill>
                <a:latin typeface="-apple-system"/>
              </a:rPr>
              <a:t>，我们才能从采样信号中惟一正确地恢复原始带限信号。</a:t>
            </a:r>
            <a:endParaRPr lang="en-US" altLang="zh-CN" sz="1600" dirty="0">
              <a:solidFill>
                <a:srgbClr val="121212"/>
              </a:solidFill>
              <a:latin typeface="-apple-system"/>
            </a:endParaRPr>
          </a:p>
          <a:p>
            <a:pPr>
              <a:lnSpc>
                <a:spcPct val="200000"/>
              </a:lnSpc>
            </a:pPr>
            <a:r>
              <a:rPr lang="zh-CN" altLang="en-US" sz="1600" dirty="0">
                <a:solidFill>
                  <a:srgbClr val="121212"/>
                </a:solidFill>
                <a:latin typeface="-apple-system"/>
              </a:rPr>
              <a:t>此处最高频率的</a:t>
            </a:r>
            <a:r>
              <a:rPr lang="en-US" altLang="zh-CN" sz="1600" dirty="0">
                <a:solidFill>
                  <a:srgbClr val="121212"/>
                </a:solidFill>
                <a:latin typeface="-apple-system"/>
              </a:rPr>
              <a:t>2</a:t>
            </a:r>
            <a:r>
              <a:rPr lang="zh-CN" altLang="en-US" sz="1600" dirty="0">
                <a:solidFill>
                  <a:srgbClr val="121212"/>
                </a:solidFill>
                <a:latin typeface="-apple-system"/>
              </a:rPr>
              <a:t>倍叫</a:t>
            </a:r>
            <a:r>
              <a:rPr lang="zh-CN" altLang="en-US" sz="1600" b="1" dirty="0">
                <a:solidFill>
                  <a:srgbClr val="121212"/>
                </a:solidFill>
                <a:latin typeface="-apple-system"/>
              </a:rPr>
              <a:t>奈奎斯特频率 </a:t>
            </a:r>
            <a:r>
              <a:rPr lang="en-US" altLang="zh-CN" sz="1600" b="1" dirty="0">
                <a:solidFill>
                  <a:srgbClr val="121212"/>
                </a:solidFill>
                <a:latin typeface="-apple-system"/>
              </a:rPr>
              <a:t>(Nyquist frequency)</a:t>
            </a:r>
            <a:r>
              <a:rPr lang="zh-CN" altLang="en-US" sz="1600" dirty="0">
                <a:solidFill>
                  <a:srgbClr val="121212"/>
                </a:solidFill>
                <a:latin typeface="-apple-system"/>
              </a:rPr>
              <a:t>。</a:t>
            </a:r>
            <a:endParaRPr lang="en-US" altLang="zh-CN" sz="1600" dirty="0">
              <a:solidFill>
                <a:srgbClr val="121212"/>
              </a:solidFill>
              <a:latin typeface="-apple-system"/>
            </a:endParaRPr>
          </a:p>
          <a:p>
            <a:pPr>
              <a:lnSpc>
                <a:spcPct val="200000"/>
              </a:lnSpc>
            </a:pPr>
            <a:r>
              <a:rPr lang="zh-CN" altLang="en-US" sz="1600" dirty="0">
                <a:solidFill>
                  <a:srgbClr val="121212"/>
                </a:solidFill>
                <a:latin typeface="-apple-system"/>
              </a:rPr>
              <a:t>若采样频率不满足此条件</a:t>
            </a:r>
            <a:r>
              <a:rPr lang="zh-CN" altLang="en-US" sz="1600" dirty="0" smtClean="0">
                <a:solidFill>
                  <a:srgbClr val="121212"/>
                </a:solidFill>
                <a:latin typeface="-apple-system"/>
              </a:rPr>
              <a:t>，原始</a:t>
            </a:r>
            <a:r>
              <a:rPr lang="zh-CN" altLang="en-US" sz="1600" dirty="0">
                <a:solidFill>
                  <a:srgbClr val="121212"/>
                </a:solidFill>
                <a:latin typeface="-apple-system"/>
              </a:rPr>
              <a:t>信号频谱产生</a:t>
            </a:r>
            <a:r>
              <a:rPr lang="zh-CN" altLang="en-US" sz="1600" b="1" dirty="0">
                <a:solidFill>
                  <a:srgbClr val="121212"/>
                </a:solidFill>
                <a:latin typeface="-apple-system"/>
              </a:rPr>
              <a:t>频谱混叠 </a:t>
            </a:r>
            <a:r>
              <a:rPr lang="en-US" altLang="zh-CN" sz="1600" b="1" dirty="0">
                <a:solidFill>
                  <a:srgbClr val="121212"/>
                </a:solidFill>
                <a:latin typeface="-apple-system"/>
              </a:rPr>
              <a:t>(Aliasing)</a:t>
            </a:r>
            <a:r>
              <a:rPr lang="zh-CN" altLang="en-US" sz="1600" dirty="0">
                <a:solidFill>
                  <a:srgbClr val="121212"/>
                </a:solidFill>
                <a:latin typeface="-apple-system"/>
              </a:rPr>
              <a:t>现象，无法正确恢复原始信号。</a:t>
            </a:r>
            <a:endParaRPr lang="zh-CN" altLang="en-US" sz="1600" dirty="0"/>
          </a:p>
        </p:txBody>
      </p:sp>
      <p:sp>
        <p:nvSpPr>
          <p:cNvPr id="6" name="矩形 5"/>
          <p:cNvSpPr/>
          <p:nvPr/>
        </p:nvSpPr>
        <p:spPr>
          <a:xfrm>
            <a:off x="614980" y="4538628"/>
            <a:ext cx="10972766" cy="1023357"/>
          </a:xfrm>
          <a:prstGeom prst="rect">
            <a:avLst/>
          </a:prstGeom>
          <a:solidFill>
            <a:schemeClr val="bg2"/>
          </a:solidFill>
        </p:spPr>
        <p:txBody>
          <a:bodyPr wrap="square">
            <a:spAutoFit/>
          </a:bodyPr>
          <a:lstStyle/>
          <a:p>
            <a:pPr>
              <a:lnSpc>
                <a:spcPct val="150000"/>
              </a:lnSpc>
            </a:pPr>
            <a:r>
              <a:rPr lang="en-US" altLang="zh-CN" sz="1400" dirty="0"/>
              <a:t>1915</a:t>
            </a:r>
            <a:r>
              <a:rPr lang="zh-CN" altLang="en-US" sz="1400" dirty="0"/>
              <a:t>年，数学家惠特克</a:t>
            </a:r>
            <a:r>
              <a:rPr lang="en-US" altLang="zh-CN" sz="1400" dirty="0" err="1"/>
              <a:t>Wittaker</a:t>
            </a:r>
            <a:r>
              <a:rPr lang="zh-CN" altLang="en-US" sz="1400" dirty="0"/>
              <a:t>首次证明此定理。</a:t>
            </a:r>
            <a:endParaRPr lang="en-US" altLang="zh-CN" sz="1400" dirty="0"/>
          </a:p>
          <a:p>
            <a:pPr>
              <a:lnSpc>
                <a:spcPct val="150000"/>
              </a:lnSpc>
            </a:pPr>
            <a:r>
              <a:rPr lang="en-US" altLang="zh-CN" sz="1400" dirty="0"/>
              <a:t>1928</a:t>
            </a:r>
            <a:r>
              <a:rPr lang="zh-CN" altLang="en-US" sz="1400" dirty="0"/>
              <a:t>年，工程师奈奎斯特重新证明了这一点，并将其应用于电气工程。</a:t>
            </a:r>
            <a:endParaRPr lang="en-US" altLang="zh-CN" sz="1400" dirty="0"/>
          </a:p>
          <a:p>
            <a:pPr>
              <a:lnSpc>
                <a:spcPct val="150000"/>
              </a:lnSpc>
            </a:pPr>
            <a:r>
              <a:rPr lang="en-US" altLang="zh-CN" sz="1400" dirty="0">
                <a:solidFill>
                  <a:srgbClr val="FF0000"/>
                </a:solidFill>
              </a:rPr>
              <a:t>1949</a:t>
            </a:r>
            <a:r>
              <a:rPr lang="zh-CN" altLang="en-US" sz="1400" dirty="0">
                <a:solidFill>
                  <a:srgbClr val="FF0000"/>
                </a:solidFill>
              </a:rPr>
              <a:t>年，香农的论文提出了它在数字通信中的重要性，之后它就声名鹊起。</a:t>
            </a:r>
          </a:p>
        </p:txBody>
      </p:sp>
      <p:pic>
        <p:nvPicPr>
          <p:cNvPr id="7" name="图片 6"/>
          <p:cNvPicPr>
            <a:picLocks noChangeAspect="1"/>
          </p:cNvPicPr>
          <p:nvPr/>
        </p:nvPicPr>
        <p:blipFill>
          <a:blip r:embed="rId3"/>
          <a:stretch>
            <a:fillRect/>
          </a:stretch>
        </p:blipFill>
        <p:spPr>
          <a:xfrm>
            <a:off x="10003895" y="2083002"/>
            <a:ext cx="1583850" cy="1991507"/>
          </a:xfrm>
          <a:prstGeom prst="rect">
            <a:avLst/>
          </a:prstGeom>
        </p:spPr>
      </p:pic>
      <p:sp>
        <p:nvSpPr>
          <p:cNvPr id="8" name="标题 1">
            <a:extLst>
              <a:ext uri="{FF2B5EF4-FFF2-40B4-BE49-F238E27FC236}">
                <a16:creationId xmlns:a16="http://schemas.microsoft.com/office/drawing/2014/main" id="{C49BDF83-4F33-43EC-B6BE-F7E884790B1E}"/>
              </a:ext>
            </a:extLst>
          </p:cNvPr>
          <p:cNvSpPr txBox="1">
            <a:spLocks noGrp="1"/>
          </p:cNvSpPr>
          <p:nvPr/>
        </p:nvSpPr>
        <p:spPr>
          <a:xfrm>
            <a:off x="229680" y="157281"/>
            <a:ext cx="2872581"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2"/>
          <a:stretch>
            <a:fillRect/>
          </a:stretch>
        </p:blipFill>
        <p:spPr>
          <a:xfrm>
            <a:off x="3656122" y="2027007"/>
            <a:ext cx="3955732" cy="854869"/>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1288242" y="3156041"/>
                <a:ext cx="9064055" cy="1177245"/>
              </a:xfrm>
              <a:prstGeom prst="rect">
                <a:avLst/>
              </a:prstGeom>
              <a:noFill/>
            </p:spPr>
            <p:txBody>
              <a:bodyPr wrap="square" rtlCol="0">
                <a:spAutoFit/>
              </a:bodyPr>
              <a:lstStyle/>
              <a:p>
                <a:pPr>
                  <a:lnSpc>
                    <a:spcPct val="200000"/>
                  </a:lnSpc>
                </a:pPr>
                <a:r>
                  <a:rPr lang="zh-CN" altLang="en-US" dirty="0"/>
                  <a:t>对连续信号</a:t>
                </a:r>
                <a14:m>
                  <m:oMath xmlns:m="http://schemas.openxmlformats.org/officeDocument/2006/math">
                    <m:r>
                      <a:rPr lang="en-US" altLang="zh-CN" i="1">
                        <a:solidFill>
                          <a:srgbClr val="3333FF"/>
                        </a:solidFill>
                        <a:latin typeface="Cambria Math" panose="02040503050406030204" pitchFamily="18" charset="0"/>
                      </a:rPr>
                      <m:t>𝑓</m:t>
                    </m:r>
                    <m:r>
                      <a:rPr lang="en-US" altLang="zh-CN" i="1">
                        <a:solidFill>
                          <a:srgbClr val="3333FF"/>
                        </a:solidFill>
                        <a:latin typeface="Cambria Math" panose="02040503050406030204" pitchFamily="18" charset="0"/>
                      </a:rPr>
                      <m:t>(</m:t>
                    </m:r>
                    <m:r>
                      <a:rPr lang="en-US" altLang="zh-CN" i="1">
                        <a:solidFill>
                          <a:srgbClr val="3333FF"/>
                        </a:solidFill>
                        <a:latin typeface="Cambria Math" panose="02040503050406030204" pitchFamily="18" charset="0"/>
                      </a:rPr>
                      <m:t>𝑡</m:t>
                    </m:r>
                    <m:r>
                      <a:rPr lang="en-US" altLang="zh-CN" i="1">
                        <a:latin typeface="Cambria Math" panose="02040503050406030204" pitchFamily="18" charset="0"/>
                      </a:rPr>
                      <m:t>)</m:t>
                    </m:r>
                  </m:oMath>
                </a14:m>
                <a:r>
                  <a:rPr lang="zh-CN" altLang="en-US" dirty="0"/>
                  <a:t>进行均匀采样</a:t>
                </a:r>
                <a:r>
                  <a:rPr lang="en-US" altLang="zh-CN" dirty="0"/>
                  <a:t>(uniform sampling)</a:t>
                </a:r>
              </a:p>
              <a:p>
                <a:pPr>
                  <a:lnSpc>
                    <a:spcPct val="200000"/>
                  </a:lnSpc>
                </a:pPr>
                <a:r>
                  <a:rPr lang="zh-CN" altLang="en-US" dirty="0"/>
                  <a:t>得到</a:t>
                </a:r>
                <a14:m>
                  <m:oMath xmlns:m="http://schemas.openxmlformats.org/officeDocument/2006/math">
                    <m:r>
                      <a:rPr lang="zh-CN" altLang="en-US" i="1">
                        <a:latin typeface="Cambria Math" panose="02040503050406030204" pitchFamily="18" charset="0"/>
                      </a:rPr>
                      <m:t>离散序列</m:t>
                    </m:r>
                    <m:sSubSup>
                      <m:sSubSupPr>
                        <m:ctrlPr>
                          <a:rPr lang="en-US" altLang="zh-CN" i="1">
                            <a:solidFill>
                              <a:srgbClr val="3333FF"/>
                            </a:solidFill>
                            <a:latin typeface="Cambria Math" panose="02040503050406030204" pitchFamily="18" charset="0"/>
                          </a:rPr>
                        </m:ctrlPr>
                      </m:sSubSupPr>
                      <m:e>
                        <m:d>
                          <m:dPr>
                            <m:begChr m:val="{"/>
                            <m:endChr m:val="}"/>
                            <m:ctrlPr>
                              <a:rPr lang="en-US" altLang="zh-CN" i="1">
                                <a:solidFill>
                                  <a:srgbClr val="3333FF"/>
                                </a:solidFill>
                                <a:latin typeface="Cambria Math" panose="02040503050406030204" pitchFamily="18" charset="0"/>
                              </a:rPr>
                            </m:ctrlPr>
                          </m:dPr>
                          <m:e>
                            <m:r>
                              <a:rPr lang="en-US" altLang="zh-CN" i="1">
                                <a:solidFill>
                                  <a:srgbClr val="3333FF"/>
                                </a:solidFill>
                                <a:latin typeface="Cambria Math" panose="02040503050406030204" pitchFamily="18" charset="0"/>
                              </a:rPr>
                              <m:t>𝑓</m:t>
                            </m:r>
                            <m:r>
                              <a:rPr lang="en-US" altLang="zh-CN" i="1">
                                <a:solidFill>
                                  <a:srgbClr val="3333FF"/>
                                </a:solidFill>
                                <a:latin typeface="Cambria Math" panose="02040503050406030204" pitchFamily="18" charset="0"/>
                              </a:rPr>
                              <m:t>(</m:t>
                            </m:r>
                            <m:r>
                              <a:rPr lang="en-US" altLang="zh-CN" i="1">
                                <a:solidFill>
                                  <a:srgbClr val="3333FF"/>
                                </a:solidFill>
                                <a:latin typeface="Cambria Math" panose="02040503050406030204" pitchFamily="18" charset="0"/>
                              </a:rPr>
                              <m:t>𝑛</m:t>
                            </m:r>
                            <m:sSub>
                              <m:sSubPr>
                                <m:ctrlPr>
                                  <a:rPr lang="en-US" altLang="zh-CN" i="1">
                                    <a:solidFill>
                                      <a:srgbClr val="3333FF"/>
                                    </a:solidFill>
                                    <a:latin typeface="Cambria Math" panose="02040503050406030204" pitchFamily="18" charset="0"/>
                                  </a:rPr>
                                </m:ctrlPr>
                              </m:sSubPr>
                              <m:e>
                                <m:r>
                                  <a:rPr lang="en-US" altLang="zh-CN" i="1">
                                    <a:solidFill>
                                      <a:srgbClr val="3333FF"/>
                                    </a:solidFill>
                                    <a:latin typeface="Cambria Math" panose="02040503050406030204" pitchFamily="18" charset="0"/>
                                  </a:rPr>
                                  <m:t>𝑇</m:t>
                                </m:r>
                              </m:e>
                              <m:sub>
                                <m:r>
                                  <a:rPr lang="en-US" altLang="zh-CN" i="1">
                                    <a:solidFill>
                                      <a:srgbClr val="3333FF"/>
                                    </a:solidFill>
                                    <a:latin typeface="Cambria Math" panose="02040503050406030204" pitchFamily="18" charset="0"/>
                                  </a:rPr>
                                  <m:t>𝑠</m:t>
                                </m:r>
                              </m:sub>
                            </m:sSub>
                            <m:r>
                              <a:rPr lang="en-US" altLang="zh-CN" i="1">
                                <a:solidFill>
                                  <a:srgbClr val="3333FF"/>
                                </a:solidFill>
                                <a:latin typeface="Cambria Math" panose="02040503050406030204" pitchFamily="18" charset="0"/>
                              </a:rPr>
                              <m:t>)</m:t>
                            </m:r>
                          </m:e>
                        </m:d>
                      </m:e>
                      <m:sub>
                        <m:r>
                          <a:rPr lang="en-US" altLang="zh-CN" i="1">
                            <a:solidFill>
                              <a:srgbClr val="3333FF"/>
                            </a:solidFill>
                            <a:latin typeface="Cambria Math" panose="02040503050406030204" pitchFamily="18" charset="0"/>
                          </a:rPr>
                          <m:t>𝑛</m:t>
                        </m:r>
                        <m:r>
                          <a:rPr lang="en-US" altLang="zh-CN" i="1">
                            <a:solidFill>
                              <a:srgbClr val="3333FF"/>
                            </a:solidFill>
                            <a:latin typeface="Cambria Math" panose="02040503050406030204" pitchFamily="18" charset="0"/>
                          </a:rPr>
                          <m:t>=−∞</m:t>
                        </m:r>
                      </m:sub>
                      <m:sup>
                        <m:r>
                          <a:rPr lang="en-US" altLang="zh-CN" i="1">
                            <a:solidFill>
                              <a:srgbClr val="3333FF"/>
                            </a:solidFill>
                            <a:latin typeface="Cambria Math" panose="02040503050406030204" pitchFamily="18" charset="0"/>
                          </a:rPr>
                          <m:t>+</m:t>
                        </m:r>
                        <m:r>
                          <a:rPr lang="en-US" altLang="zh-CN" i="1">
                            <a:solidFill>
                              <a:srgbClr val="3333FF"/>
                            </a:solidFill>
                            <a:latin typeface="Cambria Math" panose="02040503050406030204" pitchFamily="18" charset="0"/>
                            <a:ea typeface="Cambria Math" panose="02040503050406030204" pitchFamily="18" charset="0"/>
                          </a:rPr>
                          <m:t>∞</m:t>
                        </m:r>
                      </m:sup>
                    </m:sSubSup>
                  </m:oMath>
                </a14:m>
                <a:r>
                  <a:rPr lang="zh-CN" altLang="en-US" dirty="0"/>
                  <a:t>，</a:t>
                </a:r>
                <a14:m>
                  <m:oMath xmlns:m="http://schemas.openxmlformats.org/officeDocument/2006/math">
                    <m:sSub>
                      <m:sSubPr>
                        <m:ctrlPr>
                          <a:rPr lang="en-US" altLang="zh-CN" i="1">
                            <a:solidFill>
                              <a:srgbClr val="3333FF"/>
                            </a:solidFill>
                            <a:latin typeface="Cambria Math" panose="02040503050406030204" pitchFamily="18" charset="0"/>
                          </a:rPr>
                        </m:ctrlPr>
                      </m:sSubPr>
                      <m:e>
                        <m:r>
                          <a:rPr lang="en-US" altLang="zh-CN" i="1">
                            <a:solidFill>
                              <a:srgbClr val="3333FF"/>
                            </a:solidFill>
                            <a:latin typeface="Cambria Math" panose="02040503050406030204" pitchFamily="18" charset="0"/>
                          </a:rPr>
                          <m:t>𝑇</m:t>
                        </m:r>
                      </m:e>
                      <m:sub>
                        <m:r>
                          <a:rPr lang="en-US" altLang="zh-CN" i="1">
                            <a:solidFill>
                              <a:srgbClr val="3333FF"/>
                            </a:solidFill>
                            <a:latin typeface="Cambria Math" panose="02040503050406030204" pitchFamily="18" charset="0"/>
                          </a:rPr>
                          <m:t>𝑠</m:t>
                        </m:r>
                      </m:sub>
                    </m:sSub>
                  </m:oMath>
                </a14:m>
                <a:r>
                  <a:rPr lang="zh-CN" altLang="en-US" dirty="0"/>
                  <a:t>是采样间隔（步长），</a:t>
                </a:r>
                <a14:m>
                  <m:oMath xmlns:m="http://schemas.openxmlformats.org/officeDocument/2006/math">
                    <m:sSub>
                      <m:sSubPr>
                        <m:ctrlPr>
                          <a:rPr lang="en-US" altLang="zh-CN" i="1">
                            <a:solidFill>
                              <a:srgbClr val="3333FF"/>
                            </a:solidFill>
                            <a:latin typeface="Cambria Math" panose="02040503050406030204" pitchFamily="18" charset="0"/>
                          </a:rPr>
                        </m:ctrlPr>
                      </m:sSubPr>
                      <m:e>
                        <m:r>
                          <a:rPr lang="en-US" altLang="zh-CN" i="1">
                            <a:solidFill>
                              <a:srgbClr val="3333FF"/>
                            </a:solidFill>
                            <a:latin typeface="Cambria Math" panose="02040503050406030204" pitchFamily="18" charset="0"/>
                          </a:rPr>
                          <m:t>𝑓</m:t>
                        </m:r>
                      </m:e>
                      <m:sub>
                        <m:r>
                          <a:rPr lang="en-US" altLang="zh-CN" i="1">
                            <a:solidFill>
                              <a:srgbClr val="3333FF"/>
                            </a:solidFill>
                            <a:latin typeface="Cambria Math" panose="02040503050406030204" pitchFamily="18" charset="0"/>
                          </a:rPr>
                          <m:t>𝑠</m:t>
                        </m:r>
                      </m:sub>
                    </m:sSub>
                    <m:r>
                      <a:rPr lang="en-US" altLang="zh-CN" i="1">
                        <a:solidFill>
                          <a:srgbClr val="3333FF"/>
                        </a:solidFill>
                        <a:latin typeface="Cambria Math" panose="02040503050406030204" pitchFamily="18" charset="0"/>
                      </a:rPr>
                      <m:t>=</m:t>
                    </m:r>
                    <m:f>
                      <m:fPr>
                        <m:type m:val="skw"/>
                        <m:ctrlPr>
                          <a:rPr lang="en-US" altLang="zh-CN" i="1">
                            <a:solidFill>
                              <a:srgbClr val="3333FF"/>
                            </a:solidFill>
                            <a:latin typeface="Cambria Math" panose="02040503050406030204" pitchFamily="18" charset="0"/>
                          </a:rPr>
                        </m:ctrlPr>
                      </m:fPr>
                      <m:num>
                        <m:r>
                          <a:rPr lang="en-US" altLang="zh-CN" i="1">
                            <a:solidFill>
                              <a:srgbClr val="3333FF"/>
                            </a:solidFill>
                            <a:latin typeface="Cambria Math" panose="02040503050406030204" pitchFamily="18" charset="0"/>
                          </a:rPr>
                          <m:t>1</m:t>
                        </m:r>
                      </m:num>
                      <m:den>
                        <m:sSub>
                          <m:sSubPr>
                            <m:ctrlPr>
                              <a:rPr lang="en-US" altLang="zh-CN" i="1">
                                <a:solidFill>
                                  <a:srgbClr val="3333FF"/>
                                </a:solidFill>
                                <a:latin typeface="Cambria Math" panose="02040503050406030204" pitchFamily="18" charset="0"/>
                              </a:rPr>
                            </m:ctrlPr>
                          </m:sSubPr>
                          <m:e>
                            <m:r>
                              <a:rPr lang="en-US" altLang="zh-CN" i="1">
                                <a:solidFill>
                                  <a:srgbClr val="3333FF"/>
                                </a:solidFill>
                                <a:latin typeface="Cambria Math" panose="02040503050406030204" pitchFamily="18" charset="0"/>
                              </a:rPr>
                              <m:t>𝑇</m:t>
                            </m:r>
                          </m:e>
                          <m:sub>
                            <m:r>
                              <a:rPr lang="en-US" altLang="zh-CN" i="1">
                                <a:solidFill>
                                  <a:srgbClr val="3333FF"/>
                                </a:solidFill>
                                <a:latin typeface="Cambria Math" panose="02040503050406030204" pitchFamily="18" charset="0"/>
                              </a:rPr>
                              <m:t>𝑠</m:t>
                            </m:r>
                          </m:sub>
                        </m:sSub>
                      </m:den>
                    </m:f>
                  </m:oMath>
                </a14:m>
                <a:r>
                  <a:rPr lang="zh-CN" altLang="en-US" dirty="0"/>
                  <a:t>称为采样频率。</a:t>
                </a:r>
              </a:p>
            </p:txBody>
          </p:sp>
        </mc:Choice>
        <mc:Fallback xmlns="">
          <p:sp>
            <p:nvSpPr>
              <p:cNvPr id="4" name="文本框 3"/>
              <p:cNvSpPr txBox="1">
                <a:spLocks noRot="1" noChangeAspect="1" noMove="1" noResize="1" noEditPoints="1" noAdjustHandles="1" noChangeArrowheads="1" noChangeShapeType="1" noTextEdit="1"/>
              </p:cNvSpPr>
              <p:nvPr/>
            </p:nvSpPr>
            <p:spPr>
              <a:xfrm>
                <a:off x="1288242" y="3156041"/>
                <a:ext cx="9064055" cy="1177245"/>
              </a:xfrm>
              <a:prstGeom prst="rect">
                <a:avLst/>
              </a:prstGeom>
              <a:blipFill>
                <a:blip r:embed="rId3"/>
                <a:stretch>
                  <a:fillRect l="-538" b="-74093"/>
                </a:stretch>
              </a:blipFill>
            </p:spPr>
            <p:txBody>
              <a:bodyPr/>
              <a:lstStyle/>
              <a:p>
                <a:r>
                  <a:rPr lang="zh-CN" altLang="en-US">
                    <a:noFill/>
                  </a:rPr>
                  <a:t> </a:t>
                </a:r>
              </a:p>
            </p:txBody>
          </p:sp>
        </mc:Fallback>
      </mc:AlternateContent>
      <p:sp>
        <p:nvSpPr>
          <p:cNvPr id="8" name="标题 1">
            <a:extLst>
              <a:ext uri="{FF2B5EF4-FFF2-40B4-BE49-F238E27FC236}">
                <a16:creationId xmlns:a16="http://schemas.microsoft.com/office/drawing/2014/main" id="{68C2E416-426F-4193-940E-9FA21F3785BB}"/>
              </a:ext>
            </a:extLst>
          </p:cNvPr>
          <p:cNvSpPr txBox="1">
            <a:spLocks noGrp="1"/>
          </p:cNvSpPr>
          <p:nvPr/>
        </p:nvSpPr>
        <p:spPr>
          <a:xfrm>
            <a:off x="229680" y="157281"/>
            <a:ext cx="2872581"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71134" y="903394"/>
            <a:ext cx="8022167" cy="338554"/>
          </a:xfrm>
          <a:prstGeom prst="rect">
            <a:avLst/>
          </a:prstGeom>
          <a:noFill/>
        </p:spPr>
        <p:txBody>
          <a:bodyPr wrap="square" rtlCol="0" anchor="t">
            <a:spAutoFit/>
          </a:bodyPr>
          <a:lstStyle/>
          <a:p>
            <a:r>
              <a:rPr lang="zh-CN" altLang="en-US" sz="1600" dirty="0">
                <a:latin typeface="微软雅黑" panose="020B0503020204020204" pitchFamily="34" charset="-122"/>
                <a:ea typeface="微软雅黑" panose="020B0503020204020204" pitchFamily="34" charset="-122"/>
                <a:sym typeface="+mn-ea"/>
              </a:rPr>
              <a:t>香农采样定律</a:t>
            </a:r>
            <a:r>
              <a:rPr lang="zh-CN" altLang="en-US" sz="1600" dirty="0">
                <a:solidFill>
                  <a:srgbClr val="C00000"/>
                </a:solidFill>
                <a:latin typeface="微软雅黑" panose="020B0503020204020204" pitchFamily="34" charset="-122"/>
                <a:ea typeface="微软雅黑" panose="020B0503020204020204" pitchFamily="34" charset="-122"/>
                <a:sym typeface="+mn-ea"/>
              </a:rPr>
              <a:t>【奠定信号处理基石，傅里叶变换时再回顾】</a:t>
            </a:r>
            <a:endParaRPr lang="zh-CN" altLang="en-US" sz="1600" b="1" dirty="0">
              <a:solidFill>
                <a:srgbClr val="C00000"/>
              </a:solidFill>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2"/>
          <a:stretch>
            <a:fillRect/>
          </a:stretch>
        </p:blipFill>
        <p:spPr>
          <a:xfrm>
            <a:off x="2181013" y="1471507"/>
            <a:ext cx="5566834" cy="2269067"/>
          </a:xfrm>
          <a:prstGeom prst="rect">
            <a:avLst/>
          </a:prstGeom>
          <a:ln>
            <a:solidFill>
              <a:schemeClr val="accent1"/>
            </a:solidFill>
          </a:ln>
        </p:spPr>
      </p:pic>
      <p:pic>
        <p:nvPicPr>
          <p:cNvPr id="8" name="图片 7"/>
          <p:cNvPicPr>
            <a:picLocks noChangeAspect="1"/>
          </p:cNvPicPr>
          <p:nvPr/>
        </p:nvPicPr>
        <p:blipFill>
          <a:blip r:embed="rId3"/>
          <a:stretch>
            <a:fillRect/>
          </a:stretch>
        </p:blipFill>
        <p:spPr>
          <a:xfrm>
            <a:off x="2181013" y="4090247"/>
            <a:ext cx="5565987" cy="2373207"/>
          </a:xfrm>
          <a:prstGeom prst="rect">
            <a:avLst/>
          </a:prstGeom>
          <a:ln>
            <a:solidFill>
              <a:schemeClr val="accent1"/>
            </a:solidFill>
          </a:ln>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47847" y="3058160"/>
            <a:ext cx="2834640" cy="2199640"/>
          </a:xfrm>
          <a:prstGeom prst="rect">
            <a:avLst/>
          </a:prstGeom>
        </p:spPr>
      </p:pic>
      <p:sp>
        <p:nvSpPr>
          <p:cNvPr id="9" name="标题 1">
            <a:extLst>
              <a:ext uri="{FF2B5EF4-FFF2-40B4-BE49-F238E27FC236}">
                <a16:creationId xmlns:a16="http://schemas.microsoft.com/office/drawing/2014/main" id="{0FF33729-D075-4FB0-A24D-20A469BD569D}"/>
              </a:ext>
            </a:extLst>
          </p:cNvPr>
          <p:cNvSpPr txBox="1">
            <a:spLocks noGrp="1"/>
          </p:cNvSpPr>
          <p:nvPr/>
        </p:nvSpPr>
        <p:spPr>
          <a:xfrm>
            <a:off x="229680" y="157281"/>
            <a:ext cx="2872581"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15"/>
          <p:cNvSpPr>
            <a:spLocks noGrp="1"/>
          </p:cNvSpPr>
          <p:nvPr>
            <p:ph idx="4294967295"/>
          </p:nvPr>
        </p:nvSpPr>
        <p:spPr>
          <a:xfrm>
            <a:off x="804862" y="1164439"/>
            <a:ext cx="10582275" cy="598488"/>
          </a:xfrm>
        </p:spPr>
        <p:txBody>
          <a:bodyPr>
            <a:normAutofit lnSpcReduction="10000"/>
          </a:bodyPr>
          <a:lstStyle/>
          <a:p>
            <a:pPr marL="0" indent="0">
              <a:lnSpc>
                <a:spcPct val="170000"/>
              </a:lnSpc>
              <a:buNone/>
            </a:pPr>
            <a:r>
              <a:rPr lang="zh-CN" altLang="en-US" sz="2000" spc="50" dirty="0">
                <a:ln w="13500">
                  <a:solidFill>
                    <a:schemeClr val="accent1">
                      <a:shade val="2500"/>
                      <a:alpha val="6500"/>
                    </a:schemeClr>
                  </a:solidFill>
                  <a:prstDash val="solid"/>
                </a:ln>
                <a:effectLst>
                  <a:innerShdw blurRad="50900" dist="38500" dir="13500000">
                    <a:srgbClr val="000000">
                      <a:alpha val="60000"/>
                    </a:srgbClr>
                  </a:innerShdw>
                </a:effectLst>
                <a:latin typeface="思源黑体 CN Bold" panose="020B0800000000000000" pitchFamily="34" charset="-122"/>
                <a:ea typeface="思源黑体 CN Bold" panose="020B0800000000000000" pitchFamily="34" charset="-122"/>
              </a:rPr>
              <a:t>采样的具体方式：连续函数与脉冲序列相乘，脉冲可以选择冲激函数。</a:t>
            </a:r>
            <a:endParaRPr lang="en-US" altLang="zh-CN" sz="2000" spc="50" dirty="0">
              <a:ln w="13500">
                <a:solidFill>
                  <a:schemeClr val="accent1">
                    <a:shade val="2500"/>
                    <a:alpha val="6500"/>
                  </a:schemeClr>
                </a:solidFill>
                <a:prstDash val="solid"/>
              </a:ln>
              <a:effectLst>
                <a:innerShdw blurRad="50900" dist="38500" dir="13500000">
                  <a:srgbClr val="000000">
                    <a:alpha val="60000"/>
                  </a:srgbClr>
                </a:innerShdw>
              </a:effectLst>
              <a:latin typeface="思源黑体 CN Bold" panose="020B0800000000000000" pitchFamily="34" charset="-122"/>
              <a:ea typeface="思源黑体 CN Bold" panose="020B0800000000000000" pitchFamily="34" charset="-122"/>
            </a:endParaRPr>
          </a:p>
        </p:txBody>
      </p:sp>
      <p:grpSp>
        <p:nvGrpSpPr>
          <p:cNvPr id="15" name="Group 5"/>
          <p:cNvGrpSpPr>
            <a:grpSpLocks/>
          </p:cNvGrpSpPr>
          <p:nvPr/>
        </p:nvGrpSpPr>
        <p:grpSpPr bwMode="auto">
          <a:xfrm>
            <a:off x="1006763" y="4547087"/>
            <a:ext cx="4227513" cy="1368425"/>
            <a:chOff x="3061" y="3067"/>
            <a:chExt cx="2663" cy="862"/>
          </a:xfrm>
        </p:grpSpPr>
        <p:sp>
          <p:nvSpPr>
            <p:cNvPr id="16" name="Line 6"/>
            <p:cNvSpPr>
              <a:spLocks noChangeShapeType="1"/>
            </p:cNvSpPr>
            <p:nvPr/>
          </p:nvSpPr>
          <p:spPr bwMode="auto">
            <a:xfrm>
              <a:off x="3061" y="3657"/>
              <a:ext cx="2495"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7" name="Line 7"/>
            <p:cNvSpPr>
              <a:spLocks noChangeShapeType="1"/>
            </p:cNvSpPr>
            <p:nvPr/>
          </p:nvSpPr>
          <p:spPr bwMode="auto">
            <a:xfrm flipV="1">
              <a:off x="4332" y="3067"/>
              <a:ext cx="0" cy="862"/>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8" name="Line 8"/>
            <p:cNvSpPr>
              <a:spLocks noChangeShapeType="1"/>
            </p:cNvSpPr>
            <p:nvPr/>
          </p:nvSpPr>
          <p:spPr bwMode="auto">
            <a:xfrm flipV="1">
              <a:off x="3243"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0" name="Line 9"/>
            <p:cNvSpPr>
              <a:spLocks noChangeShapeType="1"/>
            </p:cNvSpPr>
            <p:nvPr/>
          </p:nvSpPr>
          <p:spPr bwMode="auto">
            <a:xfrm flipV="1">
              <a:off x="3379"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1" name="Line 10"/>
            <p:cNvSpPr>
              <a:spLocks noChangeShapeType="1"/>
            </p:cNvSpPr>
            <p:nvPr/>
          </p:nvSpPr>
          <p:spPr bwMode="auto">
            <a:xfrm flipV="1">
              <a:off x="3515"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2" name="Line 11"/>
            <p:cNvSpPr>
              <a:spLocks noChangeShapeType="1"/>
            </p:cNvSpPr>
            <p:nvPr/>
          </p:nvSpPr>
          <p:spPr bwMode="auto">
            <a:xfrm flipV="1">
              <a:off x="3651"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3" name="Line 12"/>
            <p:cNvSpPr>
              <a:spLocks noChangeShapeType="1"/>
            </p:cNvSpPr>
            <p:nvPr/>
          </p:nvSpPr>
          <p:spPr bwMode="auto">
            <a:xfrm flipV="1">
              <a:off x="3787"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4" name="Line 13"/>
            <p:cNvSpPr>
              <a:spLocks noChangeShapeType="1"/>
            </p:cNvSpPr>
            <p:nvPr/>
          </p:nvSpPr>
          <p:spPr bwMode="auto">
            <a:xfrm flipV="1">
              <a:off x="3923"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5" name="Line 14"/>
            <p:cNvSpPr>
              <a:spLocks noChangeShapeType="1"/>
            </p:cNvSpPr>
            <p:nvPr/>
          </p:nvSpPr>
          <p:spPr bwMode="auto">
            <a:xfrm flipV="1">
              <a:off x="4059"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6" name="Line 15"/>
            <p:cNvSpPr>
              <a:spLocks noChangeShapeType="1"/>
            </p:cNvSpPr>
            <p:nvPr/>
          </p:nvSpPr>
          <p:spPr bwMode="auto">
            <a:xfrm flipV="1">
              <a:off x="4195"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7" name="Line 16"/>
            <p:cNvSpPr>
              <a:spLocks noChangeShapeType="1"/>
            </p:cNvSpPr>
            <p:nvPr/>
          </p:nvSpPr>
          <p:spPr bwMode="auto">
            <a:xfrm flipV="1">
              <a:off x="4332"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8" name="Line 17"/>
            <p:cNvSpPr>
              <a:spLocks noChangeShapeType="1"/>
            </p:cNvSpPr>
            <p:nvPr/>
          </p:nvSpPr>
          <p:spPr bwMode="auto">
            <a:xfrm flipV="1">
              <a:off x="4468"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9" name="Line 18"/>
            <p:cNvSpPr>
              <a:spLocks noChangeShapeType="1"/>
            </p:cNvSpPr>
            <p:nvPr/>
          </p:nvSpPr>
          <p:spPr bwMode="auto">
            <a:xfrm flipV="1">
              <a:off x="4604"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0" name="Line 19"/>
            <p:cNvSpPr>
              <a:spLocks noChangeShapeType="1"/>
            </p:cNvSpPr>
            <p:nvPr/>
          </p:nvSpPr>
          <p:spPr bwMode="auto">
            <a:xfrm flipV="1">
              <a:off x="4740"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 name="Line 20"/>
            <p:cNvSpPr>
              <a:spLocks noChangeShapeType="1"/>
            </p:cNvSpPr>
            <p:nvPr/>
          </p:nvSpPr>
          <p:spPr bwMode="auto">
            <a:xfrm flipV="1">
              <a:off x="4876"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2" name="Line 21"/>
            <p:cNvSpPr>
              <a:spLocks noChangeShapeType="1"/>
            </p:cNvSpPr>
            <p:nvPr/>
          </p:nvSpPr>
          <p:spPr bwMode="auto">
            <a:xfrm flipV="1">
              <a:off x="5012"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3" name="Line 22"/>
            <p:cNvSpPr>
              <a:spLocks noChangeShapeType="1"/>
            </p:cNvSpPr>
            <p:nvPr/>
          </p:nvSpPr>
          <p:spPr bwMode="auto">
            <a:xfrm flipV="1">
              <a:off x="5148"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4" name="Line 23"/>
            <p:cNvSpPr>
              <a:spLocks noChangeShapeType="1"/>
            </p:cNvSpPr>
            <p:nvPr/>
          </p:nvSpPr>
          <p:spPr bwMode="auto">
            <a:xfrm flipV="1">
              <a:off x="5284"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5" name="Line 24"/>
            <p:cNvSpPr>
              <a:spLocks noChangeShapeType="1"/>
            </p:cNvSpPr>
            <p:nvPr/>
          </p:nvSpPr>
          <p:spPr bwMode="auto">
            <a:xfrm flipV="1">
              <a:off x="5420" y="3249"/>
              <a:ext cx="0" cy="408"/>
            </a:xfrm>
            <a:prstGeom prst="line">
              <a:avLst/>
            </a:prstGeom>
            <a:noFill/>
            <a:ln w="22225">
              <a:solidFill>
                <a:schemeClr val="tx1"/>
              </a:solidFill>
              <a:round/>
              <a:headEnd/>
              <a:tailEnd type="triangle" w="sm" len="lg"/>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36" name="Object 25"/>
                <p:cNvSpPr txBox="1"/>
                <p:nvPr/>
              </p:nvSpPr>
              <p:spPr bwMode="auto">
                <a:xfrm>
                  <a:off x="5519" y="3544"/>
                  <a:ext cx="205" cy="225"/>
                </a:xfrm>
                <a:prstGeom prst="rect">
                  <a:avLst/>
                </a:prstGeom>
                <a:noFill/>
                <a:extLst>
                  <a:ext uri="{909E8E84-426E-40dd-AFC4-6F175D3DCCD1}">
                    <a14:hiddenFill xmlns="">
                      <a:solidFill>
                        <a:srgbClr val="FFFFFF"/>
                      </a:solidFill>
                    </a14:hiddenFill>
                  </a:ext>
                </a:extLst>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𝑡</m:t>
                        </m:r>
                      </m:oMath>
                    </m:oMathPara>
                  </a14:m>
                  <a:endParaRPr lang="zh-CN" altLang="en-US" dirty="0"/>
                </a:p>
              </p:txBody>
            </p:sp>
          </mc:Choice>
          <mc:Fallback xmlns="">
            <p:sp>
              <p:nvSpPr>
                <p:cNvPr id="36" name="Object 25"/>
                <p:cNvSpPr txBox="1">
                  <a:spLocks noRot="1" noChangeAspect="1" noMove="1" noResize="1" noEditPoints="1" noAdjustHandles="1" noChangeArrowheads="1" noChangeShapeType="1" noTextEdit="1"/>
                </p:cNvSpPr>
                <p:nvPr/>
              </p:nvSpPr>
              <p:spPr bwMode="auto">
                <a:xfrm>
                  <a:off x="5519" y="3544"/>
                  <a:ext cx="205" cy="225"/>
                </a:xfrm>
                <a:prstGeom prst="rect">
                  <a:avLst/>
                </a:prstGeom>
                <a:blipFill>
                  <a:blip r:embed="rId3"/>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Object 26"/>
                <p:cNvSpPr txBox="1"/>
                <p:nvPr/>
              </p:nvSpPr>
              <p:spPr bwMode="auto">
                <a:xfrm>
                  <a:off x="4181" y="3626"/>
                  <a:ext cx="151" cy="212"/>
                </a:xfrm>
                <a:prstGeom prst="rect">
                  <a:avLst/>
                </a:prstGeom>
                <a:noFill/>
                <a:extLst>
                  <a:ext uri="{909E8E84-426E-40dd-AFC4-6F175D3DCCD1}">
                    <a14:hiddenFill xmlns="">
                      <a:solidFill>
                        <a:srgbClr val="FFFFFF"/>
                      </a:solidFill>
                    </a14:hiddenFill>
                  </a:ext>
                </a:ex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37" name="Object 26"/>
                <p:cNvSpPr txBox="1">
                  <a:spLocks noRot="1" noChangeAspect="1" noMove="1" noResize="1" noEditPoints="1" noAdjustHandles="1" noChangeArrowheads="1" noChangeShapeType="1" noTextEdit="1"/>
                </p:cNvSpPr>
                <p:nvPr/>
              </p:nvSpPr>
              <p:spPr bwMode="auto">
                <a:xfrm>
                  <a:off x="4181" y="3626"/>
                  <a:ext cx="151" cy="212"/>
                </a:xfrm>
                <a:prstGeom prst="rect">
                  <a:avLst/>
                </a:prstGeom>
                <a:blipFill>
                  <a:blip r:embed="rId5"/>
                  <a:stretch>
                    <a:fillRect r="-10256"/>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sp>
          <p:nvSpPr>
            <p:cNvPr id="38" name="Object 27"/>
            <p:cNvSpPr txBox="1"/>
            <p:nvPr/>
          </p:nvSpPr>
          <p:spPr bwMode="auto">
            <a:xfrm>
              <a:off x="4189" y="3104"/>
              <a:ext cx="135" cy="258"/>
            </a:xfrm>
            <a:prstGeom prst="rect">
              <a:avLst/>
            </a:prstGeom>
            <a:noFill/>
            <a:extLst>
              <a:ext uri="{909E8E84-426E-40dd-AFC4-6F175D3DCCD1}">
                <a14:hiddenFill xmlns:mc="http://schemas.openxmlformats.org/markup-compatibility/2006" xmlns="" xmlns:a14="http://schemas.microsoft.com/office/drawing/2010/main">
                  <a:solidFill>
                    <a:srgbClr val="FFFFFF"/>
                  </a:solidFill>
                </a14:hiddenFill>
              </a:ext>
            </a:extLst>
          </p:spPr>
          <p:txBody>
            <a:bodyPr>
              <a:normAutofit/>
            </a:bodyPr>
            <a:lstStyle/>
            <a:p>
              <a:endParaRPr lang="zh-CN" altLang="en-US"/>
            </a:p>
          </p:txBody>
        </p:sp>
      </p:grpSp>
      <mc:AlternateContent xmlns:mc="http://schemas.openxmlformats.org/markup-compatibility/2006" xmlns:a14="http://schemas.microsoft.com/office/drawing/2010/main">
        <mc:Choice Requires="a14">
          <p:sp>
            <p:nvSpPr>
              <p:cNvPr id="539655" name="Object 7"/>
              <p:cNvSpPr txBox="1"/>
              <p:nvPr/>
            </p:nvSpPr>
            <p:spPr bwMode="auto">
              <a:xfrm>
                <a:off x="1421159" y="3717960"/>
                <a:ext cx="3840163" cy="835025"/>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𝐶𝑜𝑚𝑏</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𝛿</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𝑠</m:t>
                                  </m:r>
                                </m:sub>
                              </m:sSub>
                            </m:e>
                          </m:d>
                        </m:e>
                      </m:nary>
                    </m:oMath>
                  </m:oMathPara>
                </a14:m>
                <a:endParaRPr lang="zh-CN" altLang="en-US" dirty="0"/>
              </a:p>
            </p:txBody>
          </p:sp>
        </mc:Choice>
        <mc:Fallback xmlns="">
          <p:sp>
            <p:nvSpPr>
              <p:cNvPr id="539655" name="Object 7"/>
              <p:cNvSpPr txBox="1">
                <a:spLocks noRot="1" noChangeAspect="1" noMove="1" noResize="1" noEditPoints="1" noAdjustHandles="1" noChangeArrowheads="1" noChangeShapeType="1" noTextEdit="1"/>
              </p:cNvSpPr>
              <p:nvPr/>
            </p:nvSpPr>
            <p:spPr bwMode="auto">
              <a:xfrm>
                <a:off x="1421159" y="3717960"/>
                <a:ext cx="3840163" cy="835025"/>
              </a:xfrm>
              <a:prstGeom prst="rect">
                <a:avLst/>
              </a:prstGeom>
              <a:blipFill>
                <a:blip r:embed="rId6"/>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508" name="Object 12"/>
              <p:cNvSpPr txBox="1"/>
              <p:nvPr/>
            </p:nvSpPr>
            <p:spPr bwMode="auto">
              <a:xfrm>
                <a:off x="2964528" y="5140168"/>
                <a:ext cx="239712" cy="360363"/>
              </a:xfrm>
              <a:prstGeom prst="rect">
                <a:avLst/>
              </a:prstGeom>
              <a:noFill/>
              <a:extLst>
                <a:ext uri="{909E8E84-426E-40dd-AFC4-6F175D3DCCD1}">
                  <a14:hiddenFill xmlns="">
                    <a:solidFill>
                      <a:srgbClr val="FFFFFF"/>
                    </a:solidFill>
                  </a14:hiddenFill>
                </a:ext>
              </a:extLst>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𝑠</m:t>
                          </m:r>
                        </m:sub>
                      </m:sSub>
                    </m:oMath>
                  </m:oMathPara>
                </a14:m>
                <a:endParaRPr lang="zh-CN" altLang="en-US" dirty="0"/>
              </a:p>
            </p:txBody>
          </p:sp>
        </mc:Choice>
        <mc:Fallback xmlns="">
          <p:sp>
            <p:nvSpPr>
              <p:cNvPr id="106508" name="Object 12"/>
              <p:cNvSpPr txBox="1">
                <a:spLocks noRot="1" noChangeAspect="1" noMove="1" noResize="1" noEditPoints="1" noAdjustHandles="1" noChangeArrowheads="1" noChangeShapeType="1" noTextEdit="1"/>
              </p:cNvSpPr>
              <p:nvPr/>
            </p:nvSpPr>
            <p:spPr bwMode="auto">
              <a:xfrm>
                <a:off x="2964528" y="5140168"/>
                <a:ext cx="239712" cy="360363"/>
              </a:xfrm>
              <a:prstGeom prst="rect">
                <a:avLst/>
              </a:prstGeom>
              <a:blipFill>
                <a:blip r:embed="rId7"/>
                <a:stretch>
                  <a:fillRect r="-15000"/>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388CBDB8-5AD1-431C-92B2-8390E52600F7}"/>
              </a:ext>
            </a:extLst>
          </p:cNvPr>
          <p:cNvGrpSpPr/>
          <p:nvPr/>
        </p:nvGrpSpPr>
        <p:grpSpPr>
          <a:xfrm>
            <a:off x="1529050" y="1800692"/>
            <a:ext cx="3470593" cy="1912931"/>
            <a:chOff x="2260570" y="2150776"/>
            <a:chExt cx="3470593" cy="1912931"/>
          </a:xfrm>
        </p:grpSpPr>
        <p:grpSp>
          <p:nvGrpSpPr>
            <p:cNvPr id="39" name="Group 66"/>
            <p:cNvGrpSpPr>
              <a:grpSpLocks/>
            </p:cNvGrpSpPr>
            <p:nvPr/>
          </p:nvGrpSpPr>
          <p:grpSpPr bwMode="auto">
            <a:xfrm>
              <a:off x="2260570" y="2479382"/>
              <a:ext cx="3168650" cy="1584325"/>
              <a:chOff x="3379" y="1071"/>
              <a:chExt cx="1996" cy="998"/>
            </a:xfrm>
          </p:grpSpPr>
          <p:sp>
            <p:nvSpPr>
              <p:cNvPr id="40" name="Line 30"/>
              <p:cNvSpPr>
                <a:spLocks noChangeShapeType="1"/>
              </p:cNvSpPr>
              <p:nvPr/>
            </p:nvSpPr>
            <p:spPr bwMode="auto">
              <a:xfrm>
                <a:off x="3379" y="1842"/>
                <a:ext cx="1996"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41" name="Line 31"/>
              <p:cNvSpPr>
                <a:spLocks noChangeShapeType="1"/>
              </p:cNvSpPr>
              <p:nvPr/>
            </p:nvSpPr>
            <p:spPr bwMode="auto">
              <a:xfrm>
                <a:off x="4332" y="1071"/>
                <a:ext cx="0" cy="998"/>
              </a:xfrm>
              <a:prstGeom prst="line">
                <a:avLst/>
              </a:prstGeom>
              <a:noFill/>
              <a:ln w="22225">
                <a:solidFill>
                  <a:schemeClr val="tx1"/>
                </a:solidFill>
                <a:round/>
                <a:headEnd type="arrow" w="med" len="med"/>
                <a:tailEnd type="none" w="med" len="med"/>
              </a:ln>
            </p:spPr>
            <p:txBody>
              <a:bodyPr wrap="none" anchor="ctr"/>
              <a:lstStyle/>
              <a:p>
                <a:endParaRPr lang="zh-CN" altLang="en-US"/>
              </a:p>
            </p:txBody>
          </p:sp>
          <p:sp>
            <p:nvSpPr>
              <p:cNvPr id="42" name="Freeform 32"/>
              <p:cNvSpPr>
                <a:spLocks/>
              </p:cNvSpPr>
              <p:nvPr/>
            </p:nvSpPr>
            <p:spPr bwMode="auto">
              <a:xfrm>
                <a:off x="3560" y="1207"/>
                <a:ext cx="1588" cy="407"/>
              </a:xfrm>
              <a:custGeom>
                <a:avLst/>
                <a:gdLst>
                  <a:gd name="T0" fmla="*/ 0 w 1588"/>
                  <a:gd name="T1" fmla="*/ 272 h 407"/>
                  <a:gd name="T2" fmla="*/ 91 w 1588"/>
                  <a:gd name="T3" fmla="*/ 136 h 407"/>
                  <a:gd name="T4" fmla="*/ 227 w 1588"/>
                  <a:gd name="T5" fmla="*/ 181 h 407"/>
                  <a:gd name="T6" fmla="*/ 363 w 1588"/>
                  <a:gd name="T7" fmla="*/ 136 h 407"/>
                  <a:gd name="T8" fmla="*/ 454 w 1588"/>
                  <a:gd name="T9" fmla="*/ 90 h 407"/>
                  <a:gd name="T10" fmla="*/ 545 w 1588"/>
                  <a:gd name="T11" fmla="*/ 45 h 407"/>
                  <a:gd name="T12" fmla="*/ 681 w 1588"/>
                  <a:gd name="T13" fmla="*/ 362 h 407"/>
                  <a:gd name="T14" fmla="*/ 953 w 1588"/>
                  <a:gd name="T15" fmla="*/ 317 h 407"/>
                  <a:gd name="T16" fmla="*/ 1134 w 1588"/>
                  <a:gd name="T17" fmla="*/ 136 h 407"/>
                  <a:gd name="T18" fmla="*/ 1270 w 1588"/>
                  <a:gd name="T19" fmla="*/ 90 h 407"/>
                  <a:gd name="T20" fmla="*/ 1452 w 1588"/>
                  <a:gd name="T21" fmla="*/ 226 h 407"/>
                  <a:gd name="T22" fmla="*/ 1588 w 1588"/>
                  <a:gd name="T23" fmla="*/ 317 h 4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8"/>
                  <a:gd name="T37" fmla="*/ 0 h 407"/>
                  <a:gd name="T38" fmla="*/ 1588 w 1588"/>
                  <a:gd name="T39" fmla="*/ 407 h 4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8" h="407">
                    <a:moveTo>
                      <a:pt x="0" y="272"/>
                    </a:moveTo>
                    <a:cubicBezTo>
                      <a:pt x="26" y="211"/>
                      <a:pt x="53" y="151"/>
                      <a:pt x="91" y="136"/>
                    </a:cubicBezTo>
                    <a:cubicBezTo>
                      <a:pt x="129" y="121"/>
                      <a:pt x="182" y="181"/>
                      <a:pt x="227" y="181"/>
                    </a:cubicBezTo>
                    <a:cubicBezTo>
                      <a:pt x="272" y="181"/>
                      <a:pt x="325" y="151"/>
                      <a:pt x="363" y="136"/>
                    </a:cubicBezTo>
                    <a:cubicBezTo>
                      <a:pt x="401" y="121"/>
                      <a:pt x="424" y="105"/>
                      <a:pt x="454" y="90"/>
                    </a:cubicBezTo>
                    <a:cubicBezTo>
                      <a:pt x="484" y="75"/>
                      <a:pt x="507" y="0"/>
                      <a:pt x="545" y="45"/>
                    </a:cubicBezTo>
                    <a:cubicBezTo>
                      <a:pt x="583" y="90"/>
                      <a:pt x="613" y="317"/>
                      <a:pt x="681" y="362"/>
                    </a:cubicBezTo>
                    <a:cubicBezTo>
                      <a:pt x="749" y="407"/>
                      <a:pt x="878" y="355"/>
                      <a:pt x="953" y="317"/>
                    </a:cubicBezTo>
                    <a:cubicBezTo>
                      <a:pt x="1028" y="279"/>
                      <a:pt x="1081" y="174"/>
                      <a:pt x="1134" y="136"/>
                    </a:cubicBezTo>
                    <a:cubicBezTo>
                      <a:pt x="1187" y="98"/>
                      <a:pt x="1217" y="75"/>
                      <a:pt x="1270" y="90"/>
                    </a:cubicBezTo>
                    <a:cubicBezTo>
                      <a:pt x="1323" y="105"/>
                      <a:pt x="1399" y="188"/>
                      <a:pt x="1452" y="226"/>
                    </a:cubicBezTo>
                    <a:cubicBezTo>
                      <a:pt x="1505" y="264"/>
                      <a:pt x="1565" y="302"/>
                      <a:pt x="1588" y="317"/>
                    </a:cubicBezTo>
                  </a:path>
                </a:pathLst>
              </a:custGeom>
              <a:noFill/>
              <a:ln w="22225">
                <a:solidFill>
                  <a:schemeClr val="tx1"/>
                </a:solidFill>
                <a:round/>
                <a:headEnd/>
                <a:tailEnd type="none" w="sm" len="lg"/>
              </a:ln>
            </p:spPr>
            <p:txBody>
              <a:bodyPr wrap="none" anchor="ctr"/>
              <a:lstStyle/>
              <a:p>
                <a:endParaRPr lang="zh-CN" altLang="en-US"/>
              </a:p>
            </p:txBody>
          </p:sp>
        </p:grpSp>
        <mc:AlternateContent xmlns:mc="http://schemas.openxmlformats.org/markup-compatibility/2006" xmlns:a14="http://schemas.microsoft.com/office/drawing/2010/main">
          <mc:Choice Requires="a14">
            <p:sp>
              <p:nvSpPr>
                <p:cNvPr id="2" name="Object 7"/>
                <p:cNvSpPr txBox="1"/>
                <p:nvPr/>
              </p:nvSpPr>
              <p:spPr bwMode="auto">
                <a:xfrm>
                  <a:off x="3381357" y="2150776"/>
                  <a:ext cx="885825" cy="490537"/>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𝑎</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oMath>
                    </m:oMathPara>
                  </a14:m>
                  <a:endParaRPr lang="zh-CN" altLang="en-US" dirty="0"/>
                </a:p>
              </p:txBody>
            </p:sp>
          </mc:Choice>
          <mc:Fallback xmlns="">
            <p:sp>
              <p:nvSpPr>
                <p:cNvPr id="2" name="Object 7"/>
                <p:cNvSpPr txBox="1">
                  <a:spLocks noRot="1" noChangeAspect="1" noMove="1" noResize="1" noEditPoints="1" noAdjustHandles="1" noChangeArrowheads="1" noChangeShapeType="1" noTextEdit="1"/>
                </p:cNvSpPr>
                <p:nvPr/>
              </p:nvSpPr>
              <p:spPr bwMode="auto">
                <a:xfrm>
                  <a:off x="3381357" y="2150776"/>
                  <a:ext cx="885825" cy="490537"/>
                </a:xfrm>
                <a:prstGeom prst="rect">
                  <a:avLst/>
                </a:prstGeom>
                <a:blipFill>
                  <a:blip r:embed="rId9"/>
                  <a:stretch>
                    <a:fillRect l="-2069"/>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Object 25">
                  <a:extLst>
                    <a:ext uri="{FF2B5EF4-FFF2-40B4-BE49-F238E27FC236}">
                      <a16:creationId xmlns:a16="http://schemas.microsoft.com/office/drawing/2014/main" id="{6C0327C3-D18E-4807-9CB7-C9301F08542F}"/>
                    </a:ext>
                  </a:extLst>
                </p:cNvPr>
                <p:cNvSpPr txBox="1"/>
                <p:nvPr/>
              </p:nvSpPr>
              <p:spPr bwMode="auto">
                <a:xfrm>
                  <a:off x="5405725" y="3539084"/>
                  <a:ext cx="325438" cy="357188"/>
                </a:xfrm>
                <a:prstGeom prst="rect">
                  <a:avLst/>
                </a:prstGeom>
                <a:noFill/>
                <a:extLst>
                  <a:ext uri="{909E8E84-426E-40dd-AFC4-6F175D3DCCD1}">
                    <a14:hiddenFill xmlns="">
                      <a:solidFill>
                        <a:srgbClr val="FFFFFF"/>
                      </a:solidFill>
                    </a14:hiddenFill>
                  </a:ext>
                </a:extLst>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𝑡</m:t>
                        </m:r>
                      </m:oMath>
                    </m:oMathPara>
                  </a14:m>
                  <a:endParaRPr lang="zh-CN" altLang="en-US" dirty="0"/>
                </a:p>
              </p:txBody>
            </p:sp>
          </mc:Choice>
          <mc:Fallback xmlns="">
            <p:sp>
              <p:nvSpPr>
                <p:cNvPr id="78" name="Object 25">
                  <a:extLst>
                    <a:ext uri="{FF2B5EF4-FFF2-40B4-BE49-F238E27FC236}">
                      <a16:creationId xmlns:a16="http://schemas.microsoft.com/office/drawing/2014/main" id="{6C0327C3-D18E-4807-9CB7-C9301F08542F}"/>
                    </a:ext>
                  </a:extLst>
                </p:cNvPr>
                <p:cNvSpPr txBox="1">
                  <a:spLocks noRot="1" noChangeAspect="1" noMove="1" noResize="1" noEditPoints="1" noAdjustHandles="1" noChangeArrowheads="1" noChangeShapeType="1" noTextEdit="1"/>
                </p:cNvSpPr>
                <p:nvPr/>
              </p:nvSpPr>
              <p:spPr bwMode="auto">
                <a:xfrm>
                  <a:off x="5405725" y="3539084"/>
                  <a:ext cx="325438" cy="357188"/>
                </a:xfrm>
                <a:prstGeom prst="rect">
                  <a:avLst/>
                </a:prstGeom>
                <a:blipFill>
                  <a:blip r:embed="rId10"/>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p:grpSp>
        <p:nvGrpSpPr>
          <p:cNvPr id="6" name="组合 5">
            <a:extLst>
              <a:ext uri="{FF2B5EF4-FFF2-40B4-BE49-F238E27FC236}">
                <a16:creationId xmlns:a16="http://schemas.microsoft.com/office/drawing/2014/main" id="{52256466-DFD5-4D0D-827F-DF90F620D579}"/>
              </a:ext>
            </a:extLst>
          </p:cNvPr>
          <p:cNvGrpSpPr/>
          <p:nvPr/>
        </p:nvGrpSpPr>
        <p:grpSpPr>
          <a:xfrm>
            <a:off x="6376465" y="2668254"/>
            <a:ext cx="3440347" cy="2569543"/>
            <a:chOff x="7288241" y="2507081"/>
            <a:chExt cx="3440347" cy="2569543"/>
          </a:xfrm>
        </p:grpSpPr>
        <p:grpSp>
          <p:nvGrpSpPr>
            <p:cNvPr id="73" name="组合 72"/>
            <p:cNvGrpSpPr/>
            <p:nvPr/>
          </p:nvGrpSpPr>
          <p:grpSpPr>
            <a:xfrm>
              <a:off x="7288241" y="3492299"/>
              <a:ext cx="3168650" cy="1584325"/>
              <a:chOff x="5364163" y="3644900"/>
              <a:chExt cx="3168650" cy="1584325"/>
            </a:xfrm>
          </p:grpSpPr>
          <p:grpSp>
            <p:nvGrpSpPr>
              <p:cNvPr id="43" name="Group 33"/>
              <p:cNvGrpSpPr>
                <a:grpSpLocks/>
              </p:cNvGrpSpPr>
              <p:nvPr/>
            </p:nvGrpSpPr>
            <p:grpSpPr bwMode="auto">
              <a:xfrm>
                <a:off x="5364163" y="3644900"/>
                <a:ext cx="3168650" cy="1584325"/>
                <a:chOff x="3379" y="2296"/>
                <a:chExt cx="1996" cy="998"/>
              </a:xfrm>
            </p:grpSpPr>
            <p:sp>
              <p:nvSpPr>
                <p:cNvPr id="44" name="Line 34"/>
                <p:cNvSpPr>
                  <a:spLocks noChangeShapeType="1"/>
                </p:cNvSpPr>
                <p:nvPr/>
              </p:nvSpPr>
              <p:spPr bwMode="auto">
                <a:xfrm>
                  <a:off x="3379" y="3067"/>
                  <a:ext cx="1996"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45" name="Line 35"/>
                <p:cNvSpPr>
                  <a:spLocks noChangeShapeType="1"/>
                </p:cNvSpPr>
                <p:nvPr/>
              </p:nvSpPr>
              <p:spPr bwMode="auto">
                <a:xfrm>
                  <a:off x="4332" y="2296"/>
                  <a:ext cx="0" cy="998"/>
                </a:xfrm>
                <a:prstGeom prst="line">
                  <a:avLst/>
                </a:prstGeom>
                <a:noFill/>
                <a:ln w="22225">
                  <a:solidFill>
                    <a:schemeClr val="tx1"/>
                  </a:solidFill>
                  <a:round/>
                  <a:headEnd type="arrow" w="med" len="med"/>
                  <a:tailEnd type="none" w="med" len="med"/>
                </a:ln>
              </p:spPr>
              <p:txBody>
                <a:bodyPr wrap="none" anchor="ctr"/>
                <a:lstStyle/>
                <a:p>
                  <a:endParaRPr lang="zh-CN" altLang="en-US"/>
                </a:p>
              </p:txBody>
            </p:sp>
            <p:sp>
              <p:nvSpPr>
                <p:cNvPr id="46" name="Freeform 36"/>
                <p:cNvSpPr>
                  <a:spLocks/>
                </p:cNvSpPr>
                <p:nvPr/>
              </p:nvSpPr>
              <p:spPr bwMode="auto">
                <a:xfrm>
                  <a:off x="3560" y="2432"/>
                  <a:ext cx="1588" cy="407"/>
                </a:xfrm>
                <a:custGeom>
                  <a:avLst/>
                  <a:gdLst>
                    <a:gd name="T0" fmla="*/ 0 w 1588"/>
                    <a:gd name="T1" fmla="*/ 272 h 407"/>
                    <a:gd name="T2" fmla="*/ 91 w 1588"/>
                    <a:gd name="T3" fmla="*/ 136 h 407"/>
                    <a:gd name="T4" fmla="*/ 227 w 1588"/>
                    <a:gd name="T5" fmla="*/ 181 h 407"/>
                    <a:gd name="T6" fmla="*/ 363 w 1588"/>
                    <a:gd name="T7" fmla="*/ 136 h 407"/>
                    <a:gd name="T8" fmla="*/ 454 w 1588"/>
                    <a:gd name="T9" fmla="*/ 90 h 407"/>
                    <a:gd name="T10" fmla="*/ 545 w 1588"/>
                    <a:gd name="T11" fmla="*/ 45 h 407"/>
                    <a:gd name="T12" fmla="*/ 681 w 1588"/>
                    <a:gd name="T13" fmla="*/ 362 h 407"/>
                    <a:gd name="T14" fmla="*/ 953 w 1588"/>
                    <a:gd name="T15" fmla="*/ 317 h 407"/>
                    <a:gd name="T16" fmla="*/ 1134 w 1588"/>
                    <a:gd name="T17" fmla="*/ 136 h 407"/>
                    <a:gd name="T18" fmla="*/ 1270 w 1588"/>
                    <a:gd name="T19" fmla="*/ 90 h 407"/>
                    <a:gd name="T20" fmla="*/ 1452 w 1588"/>
                    <a:gd name="T21" fmla="*/ 226 h 407"/>
                    <a:gd name="T22" fmla="*/ 1588 w 1588"/>
                    <a:gd name="T23" fmla="*/ 317 h 4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8"/>
                    <a:gd name="T37" fmla="*/ 0 h 407"/>
                    <a:gd name="T38" fmla="*/ 1588 w 1588"/>
                    <a:gd name="T39" fmla="*/ 407 h 4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8" h="407">
                      <a:moveTo>
                        <a:pt x="0" y="272"/>
                      </a:moveTo>
                      <a:cubicBezTo>
                        <a:pt x="26" y="211"/>
                        <a:pt x="53" y="151"/>
                        <a:pt x="91" y="136"/>
                      </a:cubicBezTo>
                      <a:cubicBezTo>
                        <a:pt x="129" y="121"/>
                        <a:pt x="182" y="181"/>
                        <a:pt x="227" y="181"/>
                      </a:cubicBezTo>
                      <a:cubicBezTo>
                        <a:pt x="272" y="181"/>
                        <a:pt x="325" y="151"/>
                        <a:pt x="363" y="136"/>
                      </a:cubicBezTo>
                      <a:cubicBezTo>
                        <a:pt x="401" y="121"/>
                        <a:pt x="424" y="105"/>
                        <a:pt x="454" y="90"/>
                      </a:cubicBezTo>
                      <a:cubicBezTo>
                        <a:pt x="484" y="75"/>
                        <a:pt x="507" y="0"/>
                        <a:pt x="545" y="45"/>
                      </a:cubicBezTo>
                      <a:cubicBezTo>
                        <a:pt x="583" y="90"/>
                        <a:pt x="613" y="317"/>
                        <a:pt x="681" y="362"/>
                      </a:cubicBezTo>
                      <a:cubicBezTo>
                        <a:pt x="749" y="407"/>
                        <a:pt x="878" y="355"/>
                        <a:pt x="953" y="317"/>
                      </a:cubicBezTo>
                      <a:cubicBezTo>
                        <a:pt x="1028" y="279"/>
                        <a:pt x="1081" y="174"/>
                        <a:pt x="1134" y="136"/>
                      </a:cubicBezTo>
                      <a:cubicBezTo>
                        <a:pt x="1187" y="98"/>
                        <a:pt x="1217" y="75"/>
                        <a:pt x="1270" y="90"/>
                      </a:cubicBezTo>
                      <a:cubicBezTo>
                        <a:pt x="1323" y="105"/>
                        <a:pt x="1399" y="188"/>
                        <a:pt x="1452" y="226"/>
                      </a:cubicBezTo>
                      <a:cubicBezTo>
                        <a:pt x="1505" y="264"/>
                        <a:pt x="1565" y="302"/>
                        <a:pt x="1588" y="317"/>
                      </a:cubicBezTo>
                    </a:path>
                  </a:pathLst>
                </a:custGeom>
                <a:noFill/>
                <a:ln w="22225">
                  <a:solidFill>
                    <a:schemeClr val="tx1"/>
                  </a:solidFill>
                  <a:round/>
                  <a:headEnd/>
                  <a:tailEnd type="none" w="sm" len="lg"/>
                </a:ln>
              </p:spPr>
              <p:txBody>
                <a:bodyPr wrap="none" anchor="ctr"/>
                <a:lstStyle/>
                <a:p>
                  <a:endParaRPr lang="zh-CN" altLang="en-US"/>
                </a:p>
              </p:txBody>
            </p:sp>
          </p:grpSp>
          <p:grpSp>
            <p:nvGrpSpPr>
              <p:cNvPr id="47" name="Group 37"/>
              <p:cNvGrpSpPr>
                <a:grpSpLocks/>
              </p:cNvGrpSpPr>
              <p:nvPr/>
            </p:nvGrpSpPr>
            <p:grpSpPr bwMode="auto">
              <a:xfrm>
                <a:off x="5795963" y="3933825"/>
                <a:ext cx="2376487" cy="936625"/>
                <a:chOff x="3651" y="2478"/>
                <a:chExt cx="1497" cy="590"/>
              </a:xfrm>
            </p:grpSpPr>
            <p:sp>
              <p:nvSpPr>
                <p:cNvPr id="48" name="Line 38"/>
                <p:cNvSpPr>
                  <a:spLocks noChangeShapeType="1"/>
                </p:cNvSpPr>
                <p:nvPr/>
              </p:nvSpPr>
              <p:spPr bwMode="auto">
                <a:xfrm flipV="1">
                  <a:off x="3651" y="2568"/>
                  <a:ext cx="0" cy="500"/>
                </a:xfrm>
                <a:prstGeom prst="line">
                  <a:avLst/>
                </a:prstGeom>
                <a:noFill/>
                <a:ln w="22225">
                  <a:solidFill>
                    <a:srgbClr val="FF0000"/>
                  </a:solidFill>
                  <a:round/>
                  <a:headEnd/>
                  <a:tailEnd type="triangle" w="sm" len="lg"/>
                </a:ln>
              </p:spPr>
              <p:txBody>
                <a:bodyPr wrap="none" anchor="ctr"/>
                <a:lstStyle/>
                <a:p>
                  <a:endParaRPr lang="zh-CN" altLang="en-US"/>
                </a:p>
              </p:txBody>
            </p:sp>
            <p:sp>
              <p:nvSpPr>
                <p:cNvPr id="49" name="Line 39"/>
                <p:cNvSpPr>
                  <a:spLocks noChangeShapeType="1"/>
                </p:cNvSpPr>
                <p:nvPr/>
              </p:nvSpPr>
              <p:spPr bwMode="auto">
                <a:xfrm flipV="1">
                  <a:off x="3787" y="2614"/>
                  <a:ext cx="0" cy="454"/>
                </a:xfrm>
                <a:prstGeom prst="line">
                  <a:avLst/>
                </a:prstGeom>
                <a:noFill/>
                <a:ln w="22225">
                  <a:solidFill>
                    <a:srgbClr val="FF0000"/>
                  </a:solidFill>
                  <a:round/>
                  <a:headEnd/>
                  <a:tailEnd type="triangle" w="sm" len="lg"/>
                </a:ln>
              </p:spPr>
              <p:txBody>
                <a:bodyPr wrap="none" anchor="ctr"/>
                <a:lstStyle/>
                <a:p>
                  <a:endParaRPr lang="zh-CN" altLang="en-US"/>
                </a:p>
              </p:txBody>
            </p:sp>
            <p:sp>
              <p:nvSpPr>
                <p:cNvPr id="50" name="Line 40"/>
                <p:cNvSpPr>
                  <a:spLocks noChangeShapeType="1"/>
                </p:cNvSpPr>
                <p:nvPr/>
              </p:nvSpPr>
              <p:spPr bwMode="auto">
                <a:xfrm flipV="1">
                  <a:off x="3923" y="2568"/>
                  <a:ext cx="0" cy="500"/>
                </a:xfrm>
                <a:prstGeom prst="line">
                  <a:avLst/>
                </a:prstGeom>
                <a:noFill/>
                <a:ln w="22225">
                  <a:solidFill>
                    <a:srgbClr val="FF0000"/>
                  </a:solidFill>
                  <a:round/>
                  <a:headEnd/>
                  <a:tailEnd type="triangle" w="sm" len="lg"/>
                </a:ln>
              </p:spPr>
              <p:txBody>
                <a:bodyPr wrap="none" anchor="ctr"/>
                <a:lstStyle/>
                <a:p>
                  <a:endParaRPr lang="zh-CN" altLang="en-US"/>
                </a:p>
              </p:txBody>
            </p:sp>
            <p:sp>
              <p:nvSpPr>
                <p:cNvPr id="51" name="Line 41"/>
                <p:cNvSpPr>
                  <a:spLocks noChangeShapeType="1"/>
                </p:cNvSpPr>
                <p:nvPr/>
              </p:nvSpPr>
              <p:spPr bwMode="auto">
                <a:xfrm flipV="1">
                  <a:off x="4059" y="2478"/>
                  <a:ext cx="0" cy="590"/>
                </a:xfrm>
                <a:prstGeom prst="line">
                  <a:avLst/>
                </a:prstGeom>
                <a:noFill/>
                <a:ln w="22225">
                  <a:solidFill>
                    <a:srgbClr val="FF0000"/>
                  </a:solidFill>
                  <a:round/>
                  <a:headEnd/>
                  <a:tailEnd type="triangle" w="sm" len="lg"/>
                </a:ln>
              </p:spPr>
              <p:txBody>
                <a:bodyPr wrap="none" anchor="ctr"/>
                <a:lstStyle/>
                <a:p>
                  <a:endParaRPr lang="zh-CN" altLang="en-US"/>
                </a:p>
              </p:txBody>
            </p:sp>
            <p:sp>
              <p:nvSpPr>
                <p:cNvPr id="52" name="Line 42"/>
                <p:cNvSpPr>
                  <a:spLocks noChangeShapeType="1"/>
                </p:cNvSpPr>
                <p:nvPr/>
              </p:nvSpPr>
              <p:spPr bwMode="auto">
                <a:xfrm flipV="1">
                  <a:off x="4195" y="2750"/>
                  <a:ext cx="0" cy="318"/>
                </a:xfrm>
                <a:prstGeom prst="line">
                  <a:avLst/>
                </a:prstGeom>
                <a:noFill/>
                <a:ln w="22225">
                  <a:solidFill>
                    <a:srgbClr val="FF0000"/>
                  </a:solidFill>
                  <a:round/>
                  <a:headEnd/>
                  <a:tailEnd type="triangle" w="sm" len="lg"/>
                </a:ln>
              </p:spPr>
              <p:txBody>
                <a:bodyPr wrap="none" anchor="ctr"/>
                <a:lstStyle/>
                <a:p>
                  <a:endParaRPr lang="zh-CN" altLang="en-US"/>
                </a:p>
              </p:txBody>
            </p:sp>
            <p:sp>
              <p:nvSpPr>
                <p:cNvPr id="53" name="Line 43"/>
                <p:cNvSpPr>
                  <a:spLocks noChangeShapeType="1"/>
                </p:cNvSpPr>
                <p:nvPr/>
              </p:nvSpPr>
              <p:spPr bwMode="auto">
                <a:xfrm flipV="1">
                  <a:off x="4332" y="2777"/>
                  <a:ext cx="0" cy="273"/>
                </a:xfrm>
                <a:prstGeom prst="line">
                  <a:avLst/>
                </a:prstGeom>
                <a:noFill/>
                <a:ln w="22225">
                  <a:solidFill>
                    <a:srgbClr val="FF0000"/>
                  </a:solidFill>
                  <a:round/>
                  <a:headEnd/>
                  <a:tailEnd type="triangle" w="sm" len="lg"/>
                </a:ln>
              </p:spPr>
              <p:txBody>
                <a:bodyPr wrap="none" anchor="ctr"/>
                <a:lstStyle/>
                <a:p>
                  <a:endParaRPr lang="zh-CN" altLang="en-US"/>
                </a:p>
              </p:txBody>
            </p:sp>
            <p:sp>
              <p:nvSpPr>
                <p:cNvPr id="54" name="Line 44"/>
                <p:cNvSpPr>
                  <a:spLocks noChangeShapeType="1"/>
                </p:cNvSpPr>
                <p:nvPr/>
              </p:nvSpPr>
              <p:spPr bwMode="auto">
                <a:xfrm flipV="1">
                  <a:off x="4468" y="2750"/>
                  <a:ext cx="0" cy="317"/>
                </a:xfrm>
                <a:prstGeom prst="line">
                  <a:avLst/>
                </a:prstGeom>
                <a:noFill/>
                <a:ln w="22225">
                  <a:solidFill>
                    <a:srgbClr val="FF0000"/>
                  </a:solidFill>
                  <a:round/>
                  <a:headEnd/>
                  <a:tailEnd type="triangle" w="sm" len="lg"/>
                </a:ln>
              </p:spPr>
              <p:txBody>
                <a:bodyPr wrap="none" anchor="ctr"/>
                <a:lstStyle/>
                <a:p>
                  <a:endParaRPr lang="zh-CN" altLang="en-US"/>
                </a:p>
              </p:txBody>
            </p:sp>
            <p:sp>
              <p:nvSpPr>
                <p:cNvPr id="55" name="Line 45"/>
                <p:cNvSpPr>
                  <a:spLocks noChangeShapeType="1"/>
                </p:cNvSpPr>
                <p:nvPr/>
              </p:nvSpPr>
              <p:spPr bwMode="auto">
                <a:xfrm flipV="1">
                  <a:off x="4604" y="2660"/>
                  <a:ext cx="0" cy="408"/>
                </a:xfrm>
                <a:prstGeom prst="line">
                  <a:avLst/>
                </a:prstGeom>
                <a:noFill/>
                <a:ln w="22225">
                  <a:solidFill>
                    <a:srgbClr val="FF0000"/>
                  </a:solidFill>
                  <a:round/>
                  <a:headEnd/>
                  <a:tailEnd type="triangle" w="sm" len="lg"/>
                </a:ln>
              </p:spPr>
              <p:txBody>
                <a:bodyPr wrap="none" anchor="ctr"/>
                <a:lstStyle/>
                <a:p>
                  <a:endParaRPr lang="zh-CN" altLang="en-US"/>
                </a:p>
              </p:txBody>
            </p:sp>
            <p:sp>
              <p:nvSpPr>
                <p:cNvPr id="56" name="Line 46"/>
                <p:cNvSpPr>
                  <a:spLocks noChangeShapeType="1"/>
                </p:cNvSpPr>
                <p:nvPr/>
              </p:nvSpPr>
              <p:spPr bwMode="auto">
                <a:xfrm flipV="1">
                  <a:off x="4740" y="2523"/>
                  <a:ext cx="0" cy="545"/>
                </a:xfrm>
                <a:prstGeom prst="line">
                  <a:avLst/>
                </a:prstGeom>
                <a:noFill/>
                <a:ln w="22225">
                  <a:solidFill>
                    <a:srgbClr val="FF0000"/>
                  </a:solidFill>
                  <a:round/>
                  <a:headEnd/>
                  <a:tailEnd type="triangle" w="sm" len="lg"/>
                </a:ln>
              </p:spPr>
              <p:txBody>
                <a:bodyPr wrap="none" anchor="ctr"/>
                <a:lstStyle/>
                <a:p>
                  <a:endParaRPr lang="zh-CN" altLang="en-US"/>
                </a:p>
              </p:txBody>
            </p:sp>
            <p:sp>
              <p:nvSpPr>
                <p:cNvPr id="57" name="Line 47"/>
                <p:cNvSpPr>
                  <a:spLocks noChangeShapeType="1"/>
                </p:cNvSpPr>
                <p:nvPr/>
              </p:nvSpPr>
              <p:spPr bwMode="auto">
                <a:xfrm flipV="1">
                  <a:off x="4876" y="2523"/>
                  <a:ext cx="0" cy="545"/>
                </a:xfrm>
                <a:prstGeom prst="line">
                  <a:avLst/>
                </a:prstGeom>
                <a:noFill/>
                <a:ln w="22225">
                  <a:solidFill>
                    <a:srgbClr val="FF0000"/>
                  </a:solidFill>
                  <a:round/>
                  <a:headEnd/>
                  <a:tailEnd type="triangle" w="sm" len="lg"/>
                </a:ln>
              </p:spPr>
              <p:txBody>
                <a:bodyPr wrap="none" anchor="ctr"/>
                <a:lstStyle/>
                <a:p>
                  <a:endParaRPr lang="zh-CN" altLang="en-US"/>
                </a:p>
              </p:txBody>
            </p:sp>
            <p:sp>
              <p:nvSpPr>
                <p:cNvPr id="58" name="Line 48"/>
                <p:cNvSpPr>
                  <a:spLocks noChangeShapeType="1"/>
                </p:cNvSpPr>
                <p:nvPr/>
              </p:nvSpPr>
              <p:spPr bwMode="auto">
                <a:xfrm flipV="1">
                  <a:off x="5012" y="2660"/>
                  <a:ext cx="0" cy="408"/>
                </a:xfrm>
                <a:prstGeom prst="line">
                  <a:avLst/>
                </a:prstGeom>
                <a:noFill/>
                <a:ln w="22225">
                  <a:solidFill>
                    <a:srgbClr val="FF0000"/>
                  </a:solidFill>
                  <a:round/>
                  <a:headEnd/>
                  <a:tailEnd type="triangle" w="sm" len="lg"/>
                </a:ln>
              </p:spPr>
              <p:txBody>
                <a:bodyPr wrap="none" anchor="ctr"/>
                <a:lstStyle/>
                <a:p>
                  <a:endParaRPr lang="zh-CN" altLang="en-US"/>
                </a:p>
              </p:txBody>
            </p:sp>
            <p:sp>
              <p:nvSpPr>
                <p:cNvPr id="59" name="Line 49"/>
                <p:cNvSpPr>
                  <a:spLocks noChangeShapeType="1"/>
                </p:cNvSpPr>
                <p:nvPr/>
              </p:nvSpPr>
              <p:spPr bwMode="auto">
                <a:xfrm flipV="1">
                  <a:off x="5148" y="2750"/>
                  <a:ext cx="0" cy="318"/>
                </a:xfrm>
                <a:prstGeom prst="line">
                  <a:avLst/>
                </a:prstGeom>
                <a:noFill/>
                <a:ln w="22225">
                  <a:solidFill>
                    <a:srgbClr val="FF0000"/>
                  </a:solidFill>
                  <a:round/>
                  <a:headEnd/>
                  <a:tailEnd type="triangle" w="sm" len="lg"/>
                </a:ln>
              </p:spPr>
              <p:txBody>
                <a:bodyPr wrap="none" anchor="ctr"/>
                <a:lstStyle/>
                <a:p>
                  <a:endParaRPr lang="zh-CN" altLang="en-US"/>
                </a:p>
              </p:txBody>
            </p:sp>
          </p:grpSp>
          <p:grpSp>
            <p:nvGrpSpPr>
              <p:cNvPr id="60" name="Group 50"/>
              <p:cNvGrpSpPr>
                <a:grpSpLocks/>
              </p:cNvGrpSpPr>
              <p:nvPr/>
            </p:nvGrpSpPr>
            <p:grpSpPr bwMode="auto">
              <a:xfrm>
                <a:off x="5767388" y="3889375"/>
                <a:ext cx="2446337" cy="620713"/>
                <a:chOff x="3633" y="2450"/>
                <a:chExt cx="1541" cy="391"/>
              </a:xfrm>
            </p:grpSpPr>
            <p:sp>
              <p:nvSpPr>
                <p:cNvPr id="61" name="Oval 51"/>
                <p:cNvSpPr>
                  <a:spLocks noChangeArrowheads="1"/>
                </p:cNvSpPr>
                <p:nvPr/>
              </p:nvSpPr>
              <p:spPr bwMode="auto">
                <a:xfrm>
                  <a:off x="3633" y="2541"/>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62" name="Oval 52"/>
                <p:cNvSpPr>
                  <a:spLocks noChangeArrowheads="1"/>
                </p:cNvSpPr>
                <p:nvPr/>
              </p:nvSpPr>
              <p:spPr bwMode="auto">
                <a:xfrm>
                  <a:off x="3769" y="2587"/>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63" name="Oval 53"/>
                <p:cNvSpPr>
                  <a:spLocks noChangeArrowheads="1"/>
                </p:cNvSpPr>
                <p:nvPr/>
              </p:nvSpPr>
              <p:spPr bwMode="auto">
                <a:xfrm>
                  <a:off x="3905" y="2541"/>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64" name="Oval 54"/>
                <p:cNvSpPr>
                  <a:spLocks noChangeArrowheads="1"/>
                </p:cNvSpPr>
                <p:nvPr/>
              </p:nvSpPr>
              <p:spPr bwMode="auto">
                <a:xfrm>
                  <a:off x="4041" y="2450"/>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65" name="Oval 55"/>
                <p:cNvSpPr>
                  <a:spLocks noChangeArrowheads="1"/>
                </p:cNvSpPr>
                <p:nvPr/>
              </p:nvSpPr>
              <p:spPr bwMode="auto">
                <a:xfrm>
                  <a:off x="4177" y="2732"/>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66" name="Oval 56"/>
                <p:cNvSpPr>
                  <a:spLocks noChangeArrowheads="1"/>
                </p:cNvSpPr>
                <p:nvPr/>
              </p:nvSpPr>
              <p:spPr bwMode="auto">
                <a:xfrm>
                  <a:off x="4313" y="2796"/>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67" name="Oval 57"/>
                <p:cNvSpPr>
                  <a:spLocks noChangeArrowheads="1"/>
                </p:cNvSpPr>
                <p:nvPr/>
              </p:nvSpPr>
              <p:spPr bwMode="auto">
                <a:xfrm>
                  <a:off x="4449" y="2750"/>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68" name="Oval 58"/>
                <p:cNvSpPr>
                  <a:spLocks noChangeArrowheads="1"/>
                </p:cNvSpPr>
                <p:nvPr/>
              </p:nvSpPr>
              <p:spPr bwMode="auto">
                <a:xfrm>
                  <a:off x="4585" y="2641"/>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69" name="Oval 59"/>
                <p:cNvSpPr>
                  <a:spLocks noChangeArrowheads="1"/>
                </p:cNvSpPr>
                <p:nvPr/>
              </p:nvSpPr>
              <p:spPr bwMode="auto">
                <a:xfrm>
                  <a:off x="4721" y="2514"/>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70" name="Oval 60"/>
                <p:cNvSpPr>
                  <a:spLocks noChangeArrowheads="1"/>
                </p:cNvSpPr>
                <p:nvPr/>
              </p:nvSpPr>
              <p:spPr bwMode="auto">
                <a:xfrm>
                  <a:off x="4857" y="2523"/>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71" name="Oval 61"/>
                <p:cNvSpPr>
                  <a:spLocks noChangeArrowheads="1"/>
                </p:cNvSpPr>
                <p:nvPr/>
              </p:nvSpPr>
              <p:spPr bwMode="auto">
                <a:xfrm>
                  <a:off x="4993" y="2632"/>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72" name="Oval 62"/>
                <p:cNvSpPr>
                  <a:spLocks noChangeArrowheads="1"/>
                </p:cNvSpPr>
                <p:nvPr/>
              </p:nvSpPr>
              <p:spPr bwMode="auto">
                <a:xfrm>
                  <a:off x="5129" y="2722"/>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grpSp>
        </p:grpSp>
        <mc:AlternateContent xmlns:mc="http://schemas.openxmlformats.org/markup-compatibility/2006" xmlns:a14="http://schemas.microsoft.com/office/drawing/2010/main">
          <mc:Choice Requires="a14">
            <p:sp>
              <p:nvSpPr>
                <p:cNvPr id="539656" name="文本框 539655">
                  <a:extLst>
                    <a:ext uri="{FF2B5EF4-FFF2-40B4-BE49-F238E27FC236}">
                      <a16:creationId xmlns:a16="http://schemas.microsoft.com/office/drawing/2014/main" id="{2BA4302A-3D36-49CC-ACBA-05BD407BC1E5}"/>
                    </a:ext>
                  </a:extLst>
                </p:cNvPr>
                <p:cNvSpPr txBox="1"/>
                <p:nvPr/>
              </p:nvSpPr>
              <p:spPr>
                <a:xfrm>
                  <a:off x="7303130" y="2507081"/>
                  <a:ext cx="3204980" cy="1030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𝑛</m:t>
                            </m:r>
                          </m:e>
                        </m:d>
                        <m:r>
                          <a:rPr lang="zh-CN" altLang="en-US">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𝑎</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𝑡</m:t>
                            </m:r>
                          </m:e>
                        </m:d>
                        <m:nary>
                          <m:naryPr>
                            <m:chr m:val="∑"/>
                            <m:limLoc m:val="undOvr"/>
                            <m:grow m:val="on"/>
                            <m:ctrlPr>
                              <a:rPr lang="zh-CN" altLang="en-US" i="1">
                                <a:latin typeface="Cambria Math" panose="02040503050406030204" pitchFamily="18" charset="0"/>
                              </a:rPr>
                            </m:ctrlPr>
                          </m:naryPr>
                          <m:sub>
                            <m:r>
                              <m:rPr>
                                <m:sty m:val="p"/>
                                <m:brk/>
                                <m:aln/>
                              </m:rPr>
                              <a:rPr lang="en-US" altLang="zh-CN">
                                <a:latin typeface="Cambria Math" panose="02040503050406030204" pitchFamily="18" charset="0"/>
                              </a:rPr>
                              <m:t>n</m:t>
                            </m:r>
                            <m:r>
                              <a:rPr lang="en-US" altLang="zh-CN">
                                <a:latin typeface="Cambria Math" panose="02040503050406030204" pitchFamily="18" charset="0"/>
                              </a:rPr>
                              <m:t>=−</m:t>
                            </m:r>
                            <m:r>
                              <a:rPr lang="zh-CN" altLang="en-US">
                                <a:latin typeface="Cambria Math" panose="02040503050406030204" pitchFamily="18" charset="0"/>
                              </a:rPr>
                              <m:t>∞</m:t>
                            </m:r>
                          </m:sub>
                          <m:sup>
                            <m:r>
                              <a:rPr lang="zh-CN" altLang="en-US">
                                <a:latin typeface="Cambria Math" panose="02040503050406030204" pitchFamily="18" charset="0"/>
                              </a:rPr>
                              <m:t>∞</m:t>
                            </m:r>
                          </m:sup>
                          <m:e>
                            <m:r>
                              <a:rPr lang="zh-CN" altLang="en-US" i="1">
                                <a:latin typeface="Cambria Math" panose="02040503050406030204" pitchFamily="18" charset="0"/>
                              </a:rPr>
                              <m:t>𝛿</m:t>
                            </m:r>
                            <m:d>
                              <m:dPr>
                                <m:ctrlPr>
                                  <a:rPr lang="zh-CN" altLang="en-US" i="1">
                                    <a:latin typeface="Cambria Math" panose="02040503050406030204" pitchFamily="18" charset="0"/>
                                  </a:rPr>
                                </m:ctrlPr>
                              </m:dPr>
                              <m:e>
                                <m:r>
                                  <a:rPr lang="en-US" altLang="zh-CN" i="1">
                                    <a:latin typeface="Cambria Math" panose="02040503050406030204" pitchFamily="18" charset="0"/>
                                  </a:rPr>
                                  <m:t>𝑡</m:t>
                                </m:r>
                                <m:r>
                                  <a:rPr lang="zh-CN" altLang="en-US">
                                    <a:latin typeface="Cambria Math" panose="02040503050406030204" pitchFamily="18" charset="0"/>
                                  </a:rPr>
                                  <m:t>−</m:t>
                                </m:r>
                                <m:r>
                                  <a:rPr lang="zh-CN" altLang="en-US" i="1">
                                    <a:latin typeface="Cambria Math" panose="02040503050406030204" pitchFamily="18" charset="0"/>
                                  </a:rPr>
                                  <m:t>𝑛</m:t>
                                </m:r>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1">
                                        <a:latin typeface="Cambria Math" panose="02040503050406030204" pitchFamily="18" charset="0"/>
                                      </a:rPr>
                                      <m:t>𝑠</m:t>
                                    </m:r>
                                  </m:sub>
                                </m:sSub>
                              </m:e>
                            </m:d>
                          </m:e>
                        </m:nary>
                      </m:oMath>
                    </m:oMathPara>
                  </a14:m>
                  <a:endParaRPr lang="zh-CN" altLang="en-US" dirty="0"/>
                </a:p>
                <a:p>
                  <a:endParaRPr lang="zh-CN" altLang="en-US" dirty="0"/>
                </a:p>
              </p:txBody>
            </p:sp>
          </mc:Choice>
          <mc:Fallback xmlns="">
            <p:sp>
              <p:nvSpPr>
                <p:cNvPr id="539656" name="文本框 539655">
                  <a:extLst>
                    <a:ext uri="{FF2B5EF4-FFF2-40B4-BE49-F238E27FC236}">
                      <a16:creationId xmlns:a16="http://schemas.microsoft.com/office/drawing/2014/main" id="{2BA4302A-3D36-49CC-ACBA-05BD407BC1E5}"/>
                    </a:ext>
                  </a:extLst>
                </p:cNvPr>
                <p:cNvSpPr txBox="1">
                  <a:spLocks noRot="1" noChangeAspect="1" noMove="1" noResize="1" noEditPoints="1" noAdjustHandles="1" noChangeArrowheads="1" noChangeShapeType="1" noTextEdit="1"/>
                </p:cNvSpPr>
                <p:nvPr/>
              </p:nvSpPr>
              <p:spPr>
                <a:xfrm>
                  <a:off x="7303130" y="2507081"/>
                  <a:ext cx="3204980" cy="103079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Object 25">
                  <a:extLst>
                    <a:ext uri="{FF2B5EF4-FFF2-40B4-BE49-F238E27FC236}">
                      <a16:creationId xmlns:a16="http://schemas.microsoft.com/office/drawing/2014/main" id="{05A0E24D-F2E0-4BE6-AE63-1D360AF34485}"/>
                    </a:ext>
                  </a:extLst>
                </p:cNvPr>
                <p:cNvSpPr txBox="1"/>
                <p:nvPr/>
              </p:nvSpPr>
              <p:spPr bwMode="auto">
                <a:xfrm>
                  <a:off x="10403150" y="4536847"/>
                  <a:ext cx="325438" cy="357188"/>
                </a:xfrm>
                <a:prstGeom prst="rect">
                  <a:avLst/>
                </a:prstGeom>
                <a:noFill/>
                <a:extLst>
                  <a:ext uri="{909E8E84-426E-40dd-AFC4-6F175D3DCCD1}">
                    <a14:hiddenFill xmlns="">
                      <a:solidFill>
                        <a:srgbClr val="FFFFFF"/>
                      </a:solidFill>
                    </a14:hiddenFill>
                  </a:ext>
                </a:extLst>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𝑡</m:t>
                        </m:r>
                      </m:oMath>
                    </m:oMathPara>
                  </a14:m>
                  <a:endParaRPr lang="zh-CN" altLang="en-US" dirty="0"/>
                </a:p>
              </p:txBody>
            </p:sp>
          </mc:Choice>
          <mc:Fallback xmlns="">
            <p:sp>
              <p:nvSpPr>
                <p:cNvPr id="79" name="Object 25">
                  <a:extLst>
                    <a:ext uri="{FF2B5EF4-FFF2-40B4-BE49-F238E27FC236}">
                      <a16:creationId xmlns:a16="http://schemas.microsoft.com/office/drawing/2014/main" id="{05A0E24D-F2E0-4BE6-AE63-1D360AF34485}"/>
                    </a:ext>
                  </a:extLst>
                </p:cNvPr>
                <p:cNvSpPr txBox="1">
                  <a:spLocks noRot="1" noChangeAspect="1" noMove="1" noResize="1" noEditPoints="1" noAdjustHandles="1" noChangeArrowheads="1" noChangeShapeType="1" noTextEdit="1"/>
                </p:cNvSpPr>
                <p:nvPr/>
              </p:nvSpPr>
              <p:spPr bwMode="auto">
                <a:xfrm>
                  <a:off x="10403150" y="4536847"/>
                  <a:ext cx="325438" cy="357188"/>
                </a:xfrm>
                <a:prstGeom prst="rect">
                  <a:avLst/>
                </a:prstGeom>
                <a:blipFill>
                  <a:blip r:embed="rId12"/>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p:sp>
        <p:nvSpPr>
          <p:cNvPr id="74" name="标题 1">
            <a:extLst>
              <a:ext uri="{FF2B5EF4-FFF2-40B4-BE49-F238E27FC236}">
                <a16:creationId xmlns:a16="http://schemas.microsoft.com/office/drawing/2014/main" id="{3F3EFFA6-B51B-47D4-9C3A-5F635DD3E434}"/>
              </a:ext>
            </a:extLst>
          </p:cNvPr>
          <p:cNvSpPr txBox="1">
            <a:spLocks noGrp="1"/>
          </p:cNvSpPr>
          <p:nvPr/>
        </p:nvSpPr>
        <p:spPr>
          <a:xfrm>
            <a:off x="381168" y="130775"/>
            <a:ext cx="3590728"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图像的采样：采样定理</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1704242" y="4157389"/>
            <a:ext cx="4151313" cy="1368425"/>
            <a:chOff x="3061" y="3067"/>
            <a:chExt cx="2615" cy="862"/>
          </a:xfrm>
        </p:grpSpPr>
        <p:sp>
          <p:nvSpPr>
            <p:cNvPr id="16" name="Line 6"/>
            <p:cNvSpPr>
              <a:spLocks noChangeShapeType="1"/>
            </p:cNvSpPr>
            <p:nvPr/>
          </p:nvSpPr>
          <p:spPr bwMode="auto">
            <a:xfrm>
              <a:off x="3061" y="3657"/>
              <a:ext cx="2495"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7" name="Line 7"/>
            <p:cNvSpPr>
              <a:spLocks noChangeShapeType="1"/>
            </p:cNvSpPr>
            <p:nvPr/>
          </p:nvSpPr>
          <p:spPr bwMode="auto">
            <a:xfrm flipV="1">
              <a:off x="4332" y="3067"/>
              <a:ext cx="0" cy="862"/>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8" name="Line 8"/>
            <p:cNvSpPr>
              <a:spLocks noChangeShapeType="1"/>
            </p:cNvSpPr>
            <p:nvPr/>
          </p:nvSpPr>
          <p:spPr bwMode="auto">
            <a:xfrm flipV="1">
              <a:off x="3243"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0" name="Line 9"/>
            <p:cNvSpPr>
              <a:spLocks noChangeShapeType="1"/>
            </p:cNvSpPr>
            <p:nvPr/>
          </p:nvSpPr>
          <p:spPr bwMode="auto">
            <a:xfrm flipV="1">
              <a:off x="3379"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1" name="Line 10"/>
            <p:cNvSpPr>
              <a:spLocks noChangeShapeType="1"/>
            </p:cNvSpPr>
            <p:nvPr/>
          </p:nvSpPr>
          <p:spPr bwMode="auto">
            <a:xfrm flipV="1">
              <a:off x="3515"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2" name="Line 11"/>
            <p:cNvSpPr>
              <a:spLocks noChangeShapeType="1"/>
            </p:cNvSpPr>
            <p:nvPr/>
          </p:nvSpPr>
          <p:spPr bwMode="auto">
            <a:xfrm flipV="1">
              <a:off x="3651"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3" name="Line 12"/>
            <p:cNvSpPr>
              <a:spLocks noChangeShapeType="1"/>
            </p:cNvSpPr>
            <p:nvPr/>
          </p:nvSpPr>
          <p:spPr bwMode="auto">
            <a:xfrm flipV="1">
              <a:off x="3787"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4" name="Line 13"/>
            <p:cNvSpPr>
              <a:spLocks noChangeShapeType="1"/>
            </p:cNvSpPr>
            <p:nvPr/>
          </p:nvSpPr>
          <p:spPr bwMode="auto">
            <a:xfrm flipV="1">
              <a:off x="3923"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5" name="Line 14"/>
            <p:cNvSpPr>
              <a:spLocks noChangeShapeType="1"/>
            </p:cNvSpPr>
            <p:nvPr/>
          </p:nvSpPr>
          <p:spPr bwMode="auto">
            <a:xfrm flipV="1">
              <a:off x="4059"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6" name="Line 15"/>
            <p:cNvSpPr>
              <a:spLocks noChangeShapeType="1"/>
            </p:cNvSpPr>
            <p:nvPr/>
          </p:nvSpPr>
          <p:spPr bwMode="auto">
            <a:xfrm flipV="1">
              <a:off x="4195"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7" name="Line 16"/>
            <p:cNvSpPr>
              <a:spLocks noChangeShapeType="1"/>
            </p:cNvSpPr>
            <p:nvPr/>
          </p:nvSpPr>
          <p:spPr bwMode="auto">
            <a:xfrm flipV="1">
              <a:off x="4332"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8" name="Line 17"/>
            <p:cNvSpPr>
              <a:spLocks noChangeShapeType="1"/>
            </p:cNvSpPr>
            <p:nvPr/>
          </p:nvSpPr>
          <p:spPr bwMode="auto">
            <a:xfrm flipV="1">
              <a:off x="4468"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29" name="Line 18"/>
            <p:cNvSpPr>
              <a:spLocks noChangeShapeType="1"/>
            </p:cNvSpPr>
            <p:nvPr/>
          </p:nvSpPr>
          <p:spPr bwMode="auto">
            <a:xfrm flipV="1">
              <a:off x="4604"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0" name="Line 19"/>
            <p:cNvSpPr>
              <a:spLocks noChangeShapeType="1"/>
            </p:cNvSpPr>
            <p:nvPr/>
          </p:nvSpPr>
          <p:spPr bwMode="auto">
            <a:xfrm flipV="1">
              <a:off x="4740"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 name="Line 20"/>
            <p:cNvSpPr>
              <a:spLocks noChangeShapeType="1"/>
            </p:cNvSpPr>
            <p:nvPr/>
          </p:nvSpPr>
          <p:spPr bwMode="auto">
            <a:xfrm flipV="1">
              <a:off x="4876"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2" name="Line 21"/>
            <p:cNvSpPr>
              <a:spLocks noChangeShapeType="1"/>
            </p:cNvSpPr>
            <p:nvPr/>
          </p:nvSpPr>
          <p:spPr bwMode="auto">
            <a:xfrm flipV="1">
              <a:off x="5012"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3" name="Line 22"/>
            <p:cNvSpPr>
              <a:spLocks noChangeShapeType="1"/>
            </p:cNvSpPr>
            <p:nvPr/>
          </p:nvSpPr>
          <p:spPr bwMode="auto">
            <a:xfrm flipV="1">
              <a:off x="5148"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4" name="Line 23"/>
            <p:cNvSpPr>
              <a:spLocks noChangeShapeType="1"/>
            </p:cNvSpPr>
            <p:nvPr/>
          </p:nvSpPr>
          <p:spPr bwMode="auto">
            <a:xfrm flipV="1">
              <a:off x="5284"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5" name="Line 24"/>
            <p:cNvSpPr>
              <a:spLocks noChangeShapeType="1"/>
            </p:cNvSpPr>
            <p:nvPr/>
          </p:nvSpPr>
          <p:spPr bwMode="auto">
            <a:xfrm flipV="1">
              <a:off x="5420" y="3249"/>
              <a:ext cx="0" cy="408"/>
            </a:xfrm>
            <a:prstGeom prst="line">
              <a:avLst/>
            </a:prstGeom>
            <a:noFill/>
            <a:ln w="22225">
              <a:solidFill>
                <a:schemeClr val="tx1"/>
              </a:solidFill>
              <a:round/>
              <a:headEnd/>
              <a:tailEnd type="triangle" w="sm" len="lg"/>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36" name="Object 25"/>
                <p:cNvSpPr txBox="1"/>
                <p:nvPr/>
              </p:nvSpPr>
              <p:spPr bwMode="auto">
                <a:xfrm>
                  <a:off x="5533" y="3540"/>
                  <a:ext cx="143" cy="245"/>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𝑡</m:t>
                        </m:r>
                      </m:oMath>
                    </m:oMathPara>
                  </a14:m>
                  <a:endParaRPr lang="zh-CN" altLang="en-US" dirty="0"/>
                </a:p>
              </p:txBody>
            </p:sp>
          </mc:Choice>
          <mc:Fallback xmlns="">
            <p:sp>
              <p:nvSpPr>
                <p:cNvPr id="36" name="Object 25"/>
                <p:cNvSpPr txBox="1">
                  <a:spLocks noRot="1" noChangeAspect="1" noMove="1" noResize="1" noEditPoints="1" noAdjustHandles="1" noChangeArrowheads="1" noChangeShapeType="1" noTextEdit="1"/>
                </p:cNvSpPr>
                <p:nvPr/>
              </p:nvSpPr>
              <p:spPr bwMode="auto">
                <a:xfrm>
                  <a:off x="5533" y="3540"/>
                  <a:ext cx="143" cy="245"/>
                </a:xfrm>
                <a:prstGeom prst="rect">
                  <a:avLst/>
                </a:prstGeom>
                <a:blipFill>
                  <a:blip r:embed="rId2"/>
                  <a:stretch>
                    <a:fillRect r="-13158"/>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Object 26"/>
                <p:cNvSpPr txBox="1"/>
                <p:nvPr/>
              </p:nvSpPr>
              <p:spPr bwMode="auto">
                <a:xfrm>
                  <a:off x="4181" y="3626"/>
                  <a:ext cx="151" cy="212"/>
                </a:xfrm>
                <a:prstGeom prst="rect">
                  <a:avLst/>
                </a:prstGeom>
                <a:noFill/>
                <a:extLst>
                  <a:ext uri="{909E8E84-426E-40dd-AFC4-6F175D3DCCD1}">
                    <a14:hiddenFill xmlns="">
                      <a:solidFill>
                        <a:srgbClr val="FFFFFF"/>
                      </a:solidFill>
                    </a14:hiddenFill>
                  </a:ext>
                </a:ex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37" name="Object 26"/>
                <p:cNvSpPr txBox="1">
                  <a:spLocks noRot="1" noChangeAspect="1" noMove="1" noResize="1" noEditPoints="1" noAdjustHandles="1" noChangeArrowheads="1" noChangeShapeType="1" noTextEdit="1"/>
                </p:cNvSpPr>
                <p:nvPr/>
              </p:nvSpPr>
              <p:spPr bwMode="auto">
                <a:xfrm>
                  <a:off x="4181" y="3626"/>
                  <a:ext cx="151" cy="212"/>
                </a:xfrm>
                <a:prstGeom prst="rect">
                  <a:avLst/>
                </a:prstGeom>
                <a:blipFill>
                  <a:blip r:embed="rId3"/>
                  <a:stretch>
                    <a:fillRect r="-10256"/>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sp>
          <p:nvSpPr>
            <p:cNvPr id="38" name="Object 27"/>
            <p:cNvSpPr txBox="1"/>
            <p:nvPr/>
          </p:nvSpPr>
          <p:spPr bwMode="auto">
            <a:xfrm>
              <a:off x="4189" y="3104"/>
              <a:ext cx="135" cy="258"/>
            </a:xfrm>
            <a:prstGeom prst="rect">
              <a:avLst/>
            </a:prstGeom>
            <a:noFill/>
            <a:extLst>
              <a:ext uri="{909E8E84-426E-40dd-AFC4-6F175D3DCCD1}">
                <a14:hiddenFill xmlns:mc="http://schemas.openxmlformats.org/markup-compatibility/2006" xmlns="" xmlns:a14="http://schemas.microsoft.com/office/drawing/2010/main">
                  <a:solidFill>
                    <a:srgbClr val="FFFFFF"/>
                  </a:solidFill>
                </a14:hiddenFill>
              </a:ext>
            </a:extLst>
          </p:spPr>
          <p:txBody>
            <a:bodyPr>
              <a:normAutofit/>
            </a:bodyPr>
            <a:lstStyle/>
            <a:p>
              <a:endParaRPr lang="zh-CN" altLang="en-US"/>
            </a:p>
          </p:txBody>
        </p:sp>
      </p:grpSp>
      <p:grpSp>
        <p:nvGrpSpPr>
          <p:cNvPr id="3" name="Group 66"/>
          <p:cNvGrpSpPr>
            <a:grpSpLocks/>
          </p:cNvGrpSpPr>
          <p:nvPr/>
        </p:nvGrpSpPr>
        <p:grpSpPr bwMode="auto">
          <a:xfrm>
            <a:off x="2226529" y="1582589"/>
            <a:ext cx="3168650" cy="1584325"/>
            <a:chOff x="3379" y="1071"/>
            <a:chExt cx="1996" cy="998"/>
          </a:xfrm>
        </p:grpSpPr>
        <p:sp>
          <p:nvSpPr>
            <p:cNvPr id="40" name="Line 30"/>
            <p:cNvSpPr>
              <a:spLocks noChangeShapeType="1"/>
            </p:cNvSpPr>
            <p:nvPr/>
          </p:nvSpPr>
          <p:spPr bwMode="auto">
            <a:xfrm>
              <a:off x="3379" y="1842"/>
              <a:ext cx="1996"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41" name="Line 31"/>
            <p:cNvSpPr>
              <a:spLocks noChangeShapeType="1"/>
            </p:cNvSpPr>
            <p:nvPr/>
          </p:nvSpPr>
          <p:spPr bwMode="auto">
            <a:xfrm>
              <a:off x="4332" y="1071"/>
              <a:ext cx="0" cy="998"/>
            </a:xfrm>
            <a:prstGeom prst="line">
              <a:avLst/>
            </a:prstGeom>
            <a:noFill/>
            <a:ln w="22225">
              <a:solidFill>
                <a:schemeClr val="tx1"/>
              </a:solidFill>
              <a:round/>
              <a:headEnd type="arrow" w="med" len="med"/>
              <a:tailEnd type="none" w="med" len="med"/>
            </a:ln>
          </p:spPr>
          <p:txBody>
            <a:bodyPr wrap="none" anchor="ctr"/>
            <a:lstStyle/>
            <a:p>
              <a:endParaRPr lang="zh-CN" altLang="en-US"/>
            </a:p>
          </p:txBody>
        </p:sp>
        <p:sp>
          <p:nvSpPr>
            <p:cNvPr id="42" name="Freeform 32"/>
            <p:cNvSpPr>
              <a:spLocks/>
            </p:cNvSpPr>
            <p:nvPr/>
          </p:nvSpPr>
          <p:spPr bwMode="auto">
            <a:xfrm>
              <a:off x="3560" y="1207"/>
              <a:ext cx="1588" cy="407"/>
            </a:xfrm>
            <a:custGeom>
              <a:avLst/>
              <a:gdLst>
                <a:gd name="T0" fmla="*/ 0 w 1588"/>
                <a:gd name="T1" fmla="*/ 272 h 407"/>
                <a:gd name="T2" fmla="*/ 91 w 1588"/>
                <a:gd name="T3" fmla="*/ 136 h 407"/>
                <a:gd name="T4" fmla="*/ 227 w 1588"/>
                <a:gd name="T5" fmla="*/ 181 h 407"/>
                <a:gd name="T6" fmla="*/ 363 w 1588"/>
                <a:gd name="T7" fmla="*/ 136 h 407"/>
                <a:gd name="T8" fmla="*/ 454 w 1588"/>
                <a:gd name="T9" fmla="*/ 90 h 407"/>
                <a:gd name="T10" fmla="*/ 545 w 1588"/>
                <a:gd name="T11" fmla="*/ 45 h 407"/>
                <a:gd name="T12" fmla="*/ 681 w 1588"/>
                <a:gd name="T13" fmla="*/ 362 h 407"/>
                <a:gd name="T14" fmla="*/ 953 w 1588"/>
                <a:gd name="T15" fmla="*/ 317 h 407"/>
                <a:gd name="T16" fmla="*/ 1134 w 1588"/>
                <a:gd name="T17" fmla="*/ 136 h 407"/>
                <a:gd name="T18" fmla="*/ 1270 w 1588"/>
                <a:gd name="T19" fmla="*/ 90 h 407"/>
                <a:gd name="T20" fmla="*/ 1452 w 1588"/>
                <a:gd name="T21" fmla="*/ 226 h 407"/>
                <a:gd name="T22" fmla="*/ 1588 w 1588"/>
                <a:gd name="T23" fmla="*/ 317 h 4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8"/>
                <a:gd name="T37" fmla="*/ 0 h 407"/>
                <a:gd name="T38" fmla="*/ 1588 w 1588"/>
                <a:gd name="T39" fmla="*/ 407 h 4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8" h="407">
                  <a:moveTo>
                    <a:pt x="0" y="272"/>
                  </a:moveTo>
                  <a:cubicBezTo>
                    <a:pt x="26" y="211"/>
                    <a:pt x="53" y="151"/>
                    <a:pt x="91" y="136"/>
                  </a:cubicBezTo>
                  <a:cubicBezTo>
                    <a:pt x="129" y="121"/>
                    <a:pt x="182" y="181"/>
                    <a:pt x="227" y="181"/>
                  </a:cubicBezTo>
                  <a:cubicBezTo>
                    <a:pt x="272" y="181"/>
                    <a:pt x="325" y="151"/>
                    <a:pt x="363" y="136"/>
                  </a:cubicBezTo>
                  <a:cubicBezTo>
                    <a:pt x="401" y="121"/>
                    <a:pt x="424" y="105"/>
                    <a:pt x="454" y="90"/>
                  </a:cubicBezTo>
                  <a:cubicBezTo>
                    <a:pt x="484" y="75"/>
                    <a:pt x="507" y="0"/>
                    <a:pt x="545" y="45"/>
                  </a:cubicBezTo>
                  <a:cubicBezTo>
                    <a:pt x="583" y="90"/>
                    <a:pt x="613" y="317"/>
                    <a:pt x="681" y="362"/>
                  </a:cubicBezTo>
                  <a:cubicBezTo>
                    <a:pt x="749" y="407"/>
                    <a:pt x="878" y="355"/>
                    <a:pt x="953" y="317"/>
                  </a:cubicBezTo>
                  <a:cubicBezTo>
                    <a:pt x="1028" y="279"/>
                    <a:pt x="1081" y="174"/>
                    <a:pt x="1134" y="136"/>
                  </a:cubicBezTo>
                  <a:cubicBezTo>
                    <a:pt x="1187" y="98"/>
                    <a:pt x="1217" y="75"/>
                    <a:pt x="1270" y="90"/>
                  </a:cubicBezTo>
                  <a:cubicBezTo>
                    <a:pt x="1323" y="105"/>
                    <a:pt x="1399" y="188"/>
                    <a:pt x="1452" y="226"/>
                  </a:cubicBezTo>
                  <a:cubicBezTo>
                    <a:pt x="1505" y="264"/>
                    <a:pt x="1565" y="302"/>
                    <a:pt x="1588" y="317"/>
                  </a:cubicBezTo>
                </a:path>
              </a:pathLst>
            </a:custGeom>
            <a:noFill/>
            <a:ln w="22225">
              <a:solidFill>
                <a:schemeClr val="tx1"/>
              </a:solidFill>
              <a:round/>
              <a:headEnd/>
              <a:tailEnd type="none" w="sm" len="lg"/>
            </a:ln>
          </p:spPr>
          <p:txBody>
            <a:bodyPr wrap="none" anchor="ctr"/>
            <a:lstStyle/>
            <a:p>
              <a:endParaRPr lang="zh-CN" altLang="en-US"/>
            </a:p>
          </p:txBody>
        </p:sp>
      </p:grpSp>
      <mc:AlternateContent xmlns:mc="http://schemas.openxmlformats.org/markup-compatibility/2006" xmlns:a14="http://schemas.microsoft.com/office/drawing/2010/main">
        <mc:Choice Requires="a14">
          <p:sp>
            <p:nvSpPr>
              <p:cNvPr id="97" name="Object 41"/>
              <p:cNvSpPr txBox="1"/>
              <p:nvPr/>
            </p:nvSpPr>
            <p:spPr bwMode="auto">
              <a:xfrm>
                <a:off x="3658123" y="4586016"/>
                <a:ext cx="240000" cy="360000"/>
              </a:xfrm>
              <a:prstGeom prst="rect">
                <a:avLst/>
              </a:prstGeom>
              <a:noFill/>
              <a:extLst>
                <a:ext uri="{909E8E84-426E-40dd-AFC4-6F175D3DCCD1}">
                  <a14:hiddenFill xmlns="">
                    <a:solidFill>
                      <a:srgbClr val="FFFFFF"/>
                    </a:solidFill>
                  </a14:hiddenFill>
                </a:ext>
              </a:extLst>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𝑠</m:t>
                          </m:r>
                        </m:sub>
                      </m:sSub>
                    </m:oMath>
                  </m:oMathPara>
                </a14:m>
                <a:endParaRPr lang="zh-CN" altLang="en-US" dirty="0"/>
              </a:p>
            </p:txBody>
          </p:sp>
        </mc:Choice>
        <mc:Fallback xmlns="">
          <p:sp>
            <p:nvSpPr>
              <p:cNvPr id="97" name="Object 41"/>
              <p:cNvSpPr txBox="1">
                <a:spLocks noRot="1" noChangeAspect="1" noMove="1" noResize="1" noEditPoints="1" noAdjustHandles="1" noChangeArrowheads="1" noChangeShapeType="1" noTextEdit="1"/>
              </p:cNvSpPr>
              <p:nvPr/>
            </p:nvSpPr>
            <p:spPr bwMode="auto">
              <a:xfrm>
                <a:off x="3658123" y="4586016"/>
                <a:ext cx="240000" cy="360000"/>
              </a:xfrm>
              <a:prstGeom prst="rect">
                <a:avLst/>
              </a:prstGeom>
              <a:blipFill>
                <a:blip r:embed="rId6"/>
                <a:stretch>
                  <a:fillRect r="-17949"/>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cxnSp>
        <p:nvCxnSpPr>
          <p:cNvPr id="99" name="直接箭头连接符 98"/>
          <p:cNvCxnSpPr/>
          <p:nvPr/>
        </p:nvCxnSpPr>
        <p:spPr>
          <a:xfrm>
            <a:off x="5627711" y="2368406"/>
            <a:ext cx="720000" cy="1588"/>
          </a:xfrm>
          <a:prstGeom prst="straightConnector1">
            <a:avLst/>
          </a:prstGeom>
          <a:ln w="28575">
            <a:solidFill>
              <a:srgbClr val="42556E"/>
            </a:solidFill>
            <a:headEnd type="arrow"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100" name="直接箭头连接符 99"/>
          <p:cNvCxnSpPr/>
          <p:nvPr/>
        </p:nvCxnSpPr>
        <p:spPr>
          <a:xfrm>
            <a:off x="5712828" y="4720681"/>
            <a:ext cx="504000" cy="1588"/>
          </a:xfrm>
          <a:prstGeom prst="straightConnector1">
            <a:avLst/>
          </a:prstGeom>
          <a:ln w="28575">
            <a:solidFill>
              <a:srgbClr val="42556E"/>
            </a:solidFill>
            <a:headEnd type="arrow" w="med" len="med"/>
            <a:tailEnd type="arrow"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539655" name="Object 17"/>
              <p:cNvSpPr txBox="1"/>
              <p:nvPr/>
            </p:nvSpPr>
            <p:spPr bwMode="auto">
              <a:xfrm>
                <a:off x="2918688" y="1306366"/>
                <a:ext cx="885825" cy="490537"/>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a:bodyPr>
              <a:lstStyle/>
              <a:p>
                <a:pPr/>
                <a14:m>
                  <m:oMathPara xmlns:m="http://schemas.openxmlformats.org/officeDocument/2006/math">
                    <m:oMathParaPr>
                      <m:jc m:val="center"/>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𝑎</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oMath>
                  </m:oMathPara>
                </a14:m>
                <a:endParaRPr lang="zh-CN" altLang="en-US" dirty="0"/>
              </a:p>
            </p:txBody>
          </p:sp>
        </mc:Choice>
        <mc:Fallback xmlns="">
          <p:sp>
            <p:nvSpPr>
              <p:cNvPr id="539655" name="Object 17"/>
              <p:cNvSpPr txBox="1">
                <a:spLocks noRot="1" noChangeAspect="1" noMove="1" noResize="1" noEditPoints="1" noAdjustHandles="1" noChangeArrowheads="1" noChangeShapeType="1" noTextEdit="1"/>
              </p:cNvSpPr>
              <p:nvPr/>
            </p:nvSpPr>
            <p:spPr bwMode="auto">
              <a:xfrm>
                <a:off x="2918688" y="1306366"/>
                <a:ext cx="885825" cy="490537"/>
              </a:xfrm>
              <a:prstGeom prst="rect">
                <a:avLst/>
              </a:prstGeom>
              <a:blipFill>
                <a:blip r:embed="rId7"/>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Object 25"/>
              <p:cNvSpPr txBox="1"/>
              <p:nvPr/>
            </p:nvSpPr>
            <p:spPr bwMode="auto">
              <a:xfrm>
                <a:off x="5347579" y="2725596"/>
                <a:ext cx="227012" cy="388938"/>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𝑡</m:t>
                      </m:r>
                    </m:oMath>
                  </m:oMathPara>
                </a14:m>
                <a:endParaRPr lang="zh-CN" altLang="en-US"/>
              </a:p>
            </p:txBody>
          </p:sp>
        </mc:Choice>
        <mc:Fallback xmlns="">
          <p:sp>
            <p:nvSpPr>
              <p:cNvPr id="63" name="Object 25"/>
              <p:cNvSpPr txBox="1">
                <a:spLocks noRot="1" noChangeAspect="1" noMove="1" noResize="1" noEditPoints="1" noAdjustHandles="1" noChangeArrowheads="1" noChangeShapeType="1" noTextEdit="1"/>
              </p:cNvSpPr>
              <p:nvPr/>
            </p:nvSpPr>
            <p:spPr bwMode="auto">
              <a:xfrm>
                <a:off x="5347579" y="2725596"/>
                <a:ext cx="227012" cy="388938"/>
              </a:xfrm>
              <a:prstGeom prst="rect">
                <a:avLst/>
              </a:prstGeom>
              <a:blipFill>
                <a:blip r:embed="rId9"/>
                <a:stretch>
                  <a:fillRect r="-16216"/>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F2ADA669-753F-4488-B2EC-A3BEE1CEF635}"/>
              </a:ext>
            </a:extLst>
          </p:cNvPr>
          <p:cNvGrpSpPr/>
          <p:nvPr/>
        </p:nvGrpSpPr>
        <p:grpSpPr>
          <a:xfrm>
            <a:off x="6276273" y="1400319"/>
            <a:ext cx="3443286" cy="1906831"/>
            <a:chOff x="6276273" y="1400319"/>
            <a:chExt cx="3443286" cy="1906831"/>
          </a:xfrm>
        </p:grpSpPr>
        <p:grpSp>
          <p:nvGrpSpPr>
            <p:cNvPr id="74" name="Group 66"/>
            <p:cNvGrpSpPr>
              <a:grpSpLocks/>
            </p:cNvGrpSpPr>
            <p:nvPr/>
          </p:nvGrpSpPr>
          <p:grpSpPr bwMode="auto">
            <a:xfrm>
              <a:off x="6276273" y="1582589"/>
              <a:ext cx="3168650" cy="1584325"/>
              <a:chOff x="3379" y="1071"/>
              <a:chExt cx="1996" cy="998"/>
            </a:xfrm>
          </p:grpSpPr>
          <p:sp>
            <p:nvSpPr>
              <p:cNvPr id="75" name="Line 30"/>
              <p:cNvSpPr>
                <a:spLocks noChangeShapeType="1"/>
              </p:cNvSpPr>
              <p:nvPr/>
            </p:nvSpPr>
            <p:spPr bwMode="auto">
              <a:xfrm>
                <a:off x="3379" y="1842"/>
                <a:ext cx="1996"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76" name="Line 31"/>
              <p:cNvSpPr>
                <a:spLocks noChangeShapeType="1"/>
              </p:cNvSpPr>
              <p:nvPr/>
            </p:nvSpPr>
            <p:spPr bwMode="auto">
              <a:xfrm>
                <a:off x="4332" y="1071"/>
                <a:ext cx="0" cy="998"/>
              </a:xfrm>
              <a:prstGeom prst="line">
                <a:avLst/>
              </a:prstGeom>
              <a:noFill/>
              <a:ln w="22225">
                <a:solidFill>
                  <a:schemeClr val="tx1"/>
                </a:solidFill>
                <a:round/>
                <a:headEnd type="arrow" w="med" len="med"/>
                <a:tailEnd type="none" w="med" len="med"/>
              </a:ln>
            </p:spPr>
            <p:txBody>
              <a:bodyPr wrap="none" anchor="ctr"/>
              <a:lstStyle/>
              <a:p>
                <a:endParaRPr lang="zh-CN" altLang="en-US"/>
              </a:p>
            </p:txBody>
          </p:sp>
        </p:grpSp>
        <p:cxnSp>
          <p:nvCxnSpPr>
            <p:cNvPr id="79" name="直接连接符 78"/>
            <p:cNvCxnSpPr/>
            <p:nvPr/>
          </p:nvCxnSpPr>
          <p:spPr>
            <a:xfrm rot="5400000">
              <a:off x="6880405" y="1900968"/>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80" name="直接连接符 79"/>
            <p:cNvCxnSpPr/>
            <p:nvPr/>
          </p:nvCxnSpPr>
          <p:spPr>
            <a:xfrm rot="16200000" flipH="1">
              <a:off x="7686919" y="1900968"/>
              <a:ext cx="1000132" cy="79200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7536" name="Object 16"/>
                <p:cNvSpPr txBox="1"/>
                <p:nvPr/>
              </p:nvSpPr>
              <p:spPr bwMode="auto">
                <a:xfrm>
                  <a:off x="8427355" y="2718187"/>
                  <a:ext cx="492125" cy="588963"/>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107536" name="Object 16"/>
                <p:cNvSpPr txBox="1">
                  <a:spLocks noRot="1" noChangeAspect="1" noMove="1" noResize="1" noEditPoints="1" noAdjustHandles="1" noChangeArrowheads="1" noChangeShapeType="1" noTextEdit="1"/>
                </p:cNvSpPr>
                <p:nvPr/>
              </p:nvSpPr>
              <p:spPr bwMode="auto">
                <a:xfrm>
                  <a:off x="8427355" y="2718187"/>
                  <a:ext cx="492125" cy="588963"/>
                </a:xfrm>
                <a:prstGeom prst="rect">
                  <a:avLst/>
                </a:prstGeom>
                <a:blipFill>
                  <a:blip r:embed="rId10"/>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539" name="Object 19"/>
                <p:cNvSpPr txBox="1"/>
                <p:nvPr/>
              </p:nvSpPr>
              <p:spPr bwMode="auto">
                <a:xfrm>
                  <a:off x="9325859" y="2725597"/>
                  <a:ext cx="393700" cy="358775"/>
                </a:xfrm>
                <a:prstGeom prst="rect">
                  <a:avLst/>
                </a:prstGeom>
                <a:noFill/>
                <a:extLst>
                  <a:ext uri="{909E8E84-426E-40dd-AFC4-6F175D3DCCD1}">
                    <a14:hiddenFill xmlns="">
                      <a:solidFill>
                        <a:srgbClr val="FFFFFF"/>
                      </a:solidFill>
                    </a14:hiddenFill>
                  </a:ext>
                </a:ex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𝜔</m:t>
                        </m:r>
                      </m:oMath>
                    </m:oMathPara>
                  </a14:m>
                  <a:endParaRPr lang="zh-CN" altLang="en-US" dirty="0"/>
                </a:p>
              </p:txBody>
            </p:sp>
          </mc:Choice>
          <mc:Fallback xmlns="">
            <p:sp>
              <p:nvSpPr>
                <p:cNvPr id="107539" name="Object 19"/>
                <p:cNvSpPr txBox="1">
                  <a:spLocks noRot="1" noChangeAspect="1" noMove="1" noResize="1" noEditPoints="1" noAdjustHandles="1" noChangeArrowheads="1" noChangeShapeType="1" noTextEdit="1"/>
                </p:cNvSpPr>
                <p:nvPr/>
              </p:nvSpPr>
              <p:spPr bwMode="auto">
                <a:xfrm>
                  <a:off x="9325859" y="2725597"/>
                  <a:ext cx="393700" cy="358775"/>
                </a:xfrm>
                <a:prstGeom prst="rect">
                  <a:avLst/>
                </a:prstGeom>
                <a:blipFill>
                  <a:blip r:embed="rId11"/>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21"/>
                <p:cNvSpPr txBox="1"/>
                <p:nvPr/>
              </p:nvSpPr>
              <p:spPr bwMode="auto">
                <a:xfrm>
                  <a:off x="7695662" y="1400319"/>
                  <a:ext cx="1038225" cy="490537"/>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a:bodyPr>
                <a:lstStyle/>
                <a:p>
                  <a:pPr/>
                  <a14:m>
                    <m:oMathPara xmlns:m="http://schemas.openxmlformats.org/officeDocument/2006/math">
                      <m:oMathParaPr>
                        <m:jc m:val="center"/>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𝑎</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e>
                        </m:d>
                      </m:oMath>
                    </m:oMathPara>
                  </a14:m>
                  <a:endParaRPr lang="zh-CN" altLang="en-US" dirty="0"/>
                </a:p>
              </p:txBody>
            </p:sp>
          </mc:Choice>
          <mc:Fallback xmlns="">
            <p:sp>
              <p:nvSpPr>
                <p:cNvPr id="5" name="Object 21"/>
                <p:cNvSpPr txBox="1">
                  <a:spLocks noRot="1" noChangeAspect="1" noMove="1" noResize="1" noEditPoints="1" noAdjustHandles="1" noChangeArrowheads="1" noChangeShapeType="1" noTextEdit="1"/>
                </p:cNvSpPr>
                <p:nvPr/>
              </p:nvSpPr>
              <p:spPr bwMode="auto">
                <a:xfrm>
                  <a:off x="7695662" y="1400319"/>
                  <a:ext cx="1038225" cy="490537"/>
                </a:xfrm>
                <a:prstGeom prst="rect">
                  <a:avLst/>
                </a:prstGeom>
                <a:blipFill>
                  <a:blip r:embed="rId12"/>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sp>
        <p:nvSpPr>
          <p:cNvPr id="66" name="内容占位符 15"/>
          <p:cNvSpPr>
            <a:spLocks noGrp="1"/>
          </p:cNvSpPr>
          <p:nvPr>
            <p:ph idx="4294967295"/>
          </p:nvPr>
        </p:nvSpPr>
        <p:spPr>
          <a:xfrm>
            <a:off x="169175" y="3373110"/>
            <a:ext cx="3149600" cy="879475"/>
          </a:xfrm>
        </p:spPr>
        <p:txBody>
          <a:bodyPr anchor="ctr" anchorCtr="0">
            <a:noAutofit/>
          </a:bodyPr>
          <a:lstStyle/>
          <a:p>
            <a:pPr marL="0" indent="0" algn="ctr">
              <a:lnSpc>
                <a:spcPct val="150000"/>
              </a:lnSpc>
              <a:spcBef>
                <a:spcPts val="0"/>
              </a:spcBef>
              <a:buNone/>
            </a:pPr>
            <a:r>
              <a:rPr lang="zh-CN" altLang="en-US" sz="1600" spc="50" dirty="0">
                <a:ln w="13500">
                  <a:solidFill>
                    <a:schemeClr val="accent1">
                      <a:shade val="2500"/>
                      <a:alpha val="6500"/>
                    </a:schemeClr>
                  </a:solidFill>
                  <a:prstDash val="solid"/>
                </a:ln>
                <a:effectLst>
                  <a:innerShdw blurRad="50900" dist="38500" dir="13500000">
                    <a:srgbClr val="000000">
                      <a:alpha val="60000"/>
                    </a:srgbClr>
                  </a:innerShdw>
                </a:effectLst>
                <a:latin typeface="思源黑体 CN Bold" panose="020B0800000000000000" pitchFamily="34" charset="-122"/>
                <a:ea typeface="思源黑体 CN Bold" panose="020B0800000000000000" pitchFamily="34" charset="-122"/>
              </a:rPr>
              <a:t>周期冲激函数序列的傅立叶变换仍然是周期冲激函数序列</a:t>
            </a:r>
            <a:endParaRPr lang="en-US" altLang="zh-CN" sz="1600" spc="50" dirty="0">
              <a:ln w="13500">
                <a:solidFill>
                  <a:schemeClr val="accent1">
                    <a:shade val="2500"/>
                    <a:alpha val="6500"/>
                  </a:schemeClr>
                </a:solidFill>
                <a:prstDash val="solid"/>
              </a:ln>
              <a:effectLst>
                <a:innerShdw blurRad="50900" dist="38500" dir="13500000">
                  <a:srgbClr val="000000">
                    <a:alpha val="60000"/>
                  </a:srgbClr>
                </a:innerShdw>
              </a:effectLst>
              <a:latin typeface="思源黑体 CN Bold" panose="020B0800000000000000" pitchFamily="34" charset="-122"/>
              <a:ea typeface="思源黑体 CN Bold" panose="020B0800000000000000" pitchFamily="34" charset="-122"/>
            </a:endParaRPr>
          </a:p>
        </p:txBody>
      </p:sp>
      <mc:AlternateContent xmlns:mc="http://schemas.openxmlformats.org/markup-compatibility/2006" xmlns:a14="http://schemas.microsoft.com/office/drawing/2010/main">
        <mc:Choice Requires="a14">
          <p:sp>
            <p:nvSpPr>
              <p:cNvPr id="67" name="内容占位符 15"/>
              <p:cNvSpPr txBox="1">
                <a:spLocks/>
              </p:cNvSpPr>
              <p:nvPr/>
            </p:nvSpPr>
            <p:spPr>
              <a:xfrm>
                <a:off x="13434" y="1523850"/>
                <a:ext cx="2740117" cy="500066"/>
              </a:xfrm>
              <a:prstGeom prst="rect">
                <a:avLst/>
              </a:prstGeom>
            </p:spPr>
            <p:txBody>
              <a:bodyPr vert="horz" lIns="91440" tIns="45720" rIns="91440" bIns="45720" rtlCol="0" anchor="ctr" anchorCtr="0">
                <a:normAutofit/>
              </a:bodyPr>
              <a:lstStyle/>
              <a:p>
                <a:pPr algn="ctr">
                  <a:defRPr/>
                </a:pPr>
                <a:r>
                  <a:rPr lang="zh-CN" altLang="en-US" spc="50" dirty="0">
                    <a:ln w="13500">
                      <a:solidFill>
                        <a:schemeClr val="accent1">
                          <a:shade val="2500"/>
                          <a:alpha val="6500"/>
                        </a:schemeClr>
                      </a:solidFill>
                      <a:prstDash val="solid"/>
                    </a:ln>
                    <a:solidFill>
                      <a:schemeClr val="tx1"/>
                    </a:solidFill>
                    <a:effectLst>
                      <a:innerShdw blurRad="50900" dist="38500" dir="13500000">
                        <a:srgbClr val="000000">
                          <a:alpha val="60000"/>
                        </a:srgbClr>
                      </a:innerShdw>
                    </a:effectLst>
                    <a:latin typeface="思源黑体 CN Bold" panose="020B0800000000000000" pitchFamily="34" charset="-122"/>
                    <a:ea typeface="思源黑体 CN Bold" panose="020B0800000000000000" pitchFamily="34" charset="-122"/>
                  </a:rPr>
                  <a:t>假定</a:t>
                </a:r>
                <a14:m>
                  <m:oMath xmlns:m="http://schemas.openxmlformats.org/officeDocument/2006/math">
                    <m:sSub>
                      <m:sSubPr>
                        <m:ctrlPr>
                          <a:rPr lang="en-US" altLang="zh-CN" i="1" spc="50">
                            <a:ln w="13500">
                              <a:solidFill>
                                <a:schemeClr val="accent1">
                                  <a:shade val="2500"/>
                                  <a:alpha val="6500"/>
                                </a:schemeClr>
                              </a:solidFill>
                              <a:prstDash val="solid"/>
                            </a:ln>
                            <a:solidFill>
                              <a:schemeClr val="tx1"/>
                            </a:solidFill>
                            <a:effectLst>
                              <a:innerShdw blurRad="50900" dist="38500" dir="13500000">
                                <a:srgbClr val="000000">
                                  <a:alpha val="60000"/>
                                </a:srgbClr>
                              </a:innerShdw>
                            </a:effectLst>
                            <a:latin typeface="Cambria Math" panose="02040503050406030204" pitchFamily="18" charset="0"/>
                            <a:ea typeface="思源黑体 CN Bold" panose="020B0800000000000000" pitchFamily="34" charset="-122"/>
                          </a:rPr>
                        </m:ctrlPr>
                      </m:sSubPr>
                      <m:e>
                        <m:r>
                          <a:rPr lang="en-US" altLang="zh-CN" i="1" spc="50">
                            <a:ln w="13500">
                              <a:solidFill>
                                <a:schemeClr val="accent1">
                                  <a:shade val="2500"/>
                                  <a:alpha val="6500"/>
                                </a:schemeClr>
                              </a:solidFill>
                              <a:prstDash val="solid"/>
                            </a:ln>
                            <a:solidFill>
                              <a:schemeClr val="tx1"/>
                            </a:solidFill>
                            <a:effectLst>
                              <a:innerShdw blurRad="50900" dist="38500" dir="13500000">
                                <a:srgbClr val="000000">
                                  <a:alpha val="60000"/>
                                </a:srgbClr>
                              </a:innerShdw>
                            </a:effectLst>
                            <a:latin typeface="Cambria Math" panose="02040503050406030204" pitchFamily="18" charset="0"/>
                            <a:ea typeface="思源黑体 CN Bold" panose="020B0800000000000000" pitchFamily="34" charset="-122"/>
                          </a:rPr>
                          <m:t>𝑓</m:t>
                        </m:r>
                      </m:e>
                      <m:sub>
                        <m:r>
                          <a:rPr lang="en-US" altLang="zh-CN" i="1" spc="50">
                            <a:ln w="13500">
                              <a:solidFill>
                                <a:schemeClr val="accent1">
                                  <a:shade val="2500"/>
                                  <a:alpha val="6500"/>
                                </a:schemeClr>
                              </a:solidFill>
                              <a:prstDash val="solid"/>
                            </a:ln>
                            <a:solidFill>
                              <a:schemeClr val="tx1"/>
                            </a:solidFill>
                            <a:effectLst>
                              <a:innerShdw blurRad="50900" dist="38500" dir="13500000">
                                <a:srgbClr val="000000">
                                  <a:alpha val="60000"/>
                                </a:srgbClr>
                              </a:innerShdw>
                            </a:effectLst>
                            <a:latin typeface="Cambria Math" panose="02040503050406030204" pitchFamily="18" charset="0"/>
                            <a:ea typeface="思源黑体 CN Bold" panose="020B0800000000000000" pitchFamily="34" charset="-122"/>
                          </a:rPr>
                          <m:t>𝑎</m:t>
                        </m:r>
                      </m:sub>
                    </m:sSub>
                    <m:d>
                      <m:dPr>
                        <m:ctrlPr>
                          <a:rPr lang="en-US" altLang="zh-CN" i="1" spc="50">
                            <a:ln w="13500">
                              <a:solidFill>
                                <a:schemeClr val="accent1">
                                  <a:shade val="2500"/>
                                  <a:alpha val="6500"/>
                                </a:schemeClr>
                              </a:solidFill>
                              <a:prstDash val="solid"/>
                            </a:ln>
                            <a:solidFill>
                              <a:schemeClr val="tx1"/>
                            </a:solidFill>
                            <a:effectLst>
                              <a:innerShdw blurRad="50900" dist="38500" dir="13500000">
                                <a:srgbClr val="000000">
                                  <a:alpha val="60000"/>
                                </a:srgbClr>
                              </a:innerShdw>
                            </a:effectLst>
                            <a:latin typeface="Cambria Math" panose="02040503050406030204" pitchFamily="18" charset="0"/>
                            <a:ea typeface="思源黑体 CN Bold" panose="020B0800000000000000" pitchFamily="34" charset="-122"/>
                          </a:rPr>
                        </m:ctrlPr>
                      </m:dPr>
                      <m:e>
                        <m:r>
                          <a:rPr lang="en-US" altLang="zh-CN" i="1" spc="50">
                            <a:ln w="13500">
                              <a:solidFill>
                                <a:schemeClr val="accent1">
                                  <a:shade val="2500"/>
                                  <a:alpha val="6500"/>
                                </a:schemeClr>
                              </a:solidFill>
                              <a:prstDash val="solid"/>
                            </a:ln>
                            <a:solidFill>
                              <a:schemeClr val="tx1"/>
                            </a:solidFill>
                            <a:effectLst>
                              <a:innerShdw blurRad="50900" dist="38500" dir="13500000">
                                <a:srgbClr val="000000">
                                  <a:alpha val="60000"/>
                                </a:srgbClr>
                              </a:innerShdw>
                            </a:effectLst>
                            <a:latin typeface="Cambria Math" panose="02040503050406030204" pitchFamily="18" charset="0"/>
                            <a:ea typeface="思源黑体 CN Bold" panose="020B0800000000000000" pitchFamily="34" charset="-122"/>
                          </a:rPr>
                          <m:t>𝑡</m:t>
                        </m:r>
                      </m:e>
                    </m:d>
                  </m:oMath>
                </a14:m>
                <a:r>
                  <a:rPr lang="zh-CN" altLang="en-US" spc="50" dirty="0">
                    <a:ln w="13500">
                      <a:solidFill>
                        <a:schemeClr val="accent1">
                          <a:shade val="2500"/>
                          <a:alpha val="6500"/>
                        </a:schemeClr>
                      </a:solidFill>
                      <a:prstDash val="solid"/>
                    </a:ln>
                    <a:solidFill>
                      <a:schemeClr val="tx1"/>
                    </a:solidFill>
                    <a:effectLst>
                      <a:innerShdw blurRad="50900" dist="38500" dir="13500000">
                        <a:srgbClr val="000000">
                          <a:alpha val="60000"/>
                        </a:srgbClr>
                      </a:innerShdw>
                    </a:effectLst>
                    <a:latin typeface="思源黑体 CN Bold" panose="020B0800000000000000" pitchFamily="34" charset="-122"/>
                    <a:ea typeface="思源黑体 CN Bold" panose="020B0800000000000000" pitchFamily="34" charset="-122"/>
                  </a:rPr>
                  <a:t>是带限信号</a:t>
                </a:r>
                <a:endParaRPr lang="en-US" altLang="zh-CN" spc="50" dirty="0">
                  <a:ln w="13500">
                    <a:solidFill>
                      <a:schemeClr val="accent1">
                        <a:shade val="2500"/>
                        <a:alpha val="6500"/>
                      </a:schemeClr>
                    </a:solidFill>
                    <a:prstDash val="solid"/>
                  </a:ln>
                  <a:solidFill>
                    <a:schemeClr val="tx1"/>
                  </a:solidFill>
                  <a:effectLst>
                    <a:innerShdw blurRad="50900" dist="38500" dir="13500000">
                      <a:srgbClr val="000000">
                        <a:alpha val="60000"/>
                      </a:srgbClr>
                    </a:innerShdw>
                  </a:effectLst>
                  <a:latin typeface="思源黑体 CN Bold" panose="020B0800000000000000" pitchFamily="34" charset="-122"/>
                  <a:ea typeface="思源黑体 CN Bold" panose="020B0800000000000000" pitchFamily="34" charset="-122"/>
                </a:endParaRPr>
              </a:p>
            </p:txBody>
          </p:sp>
        </mc:Choice>
        <mc:Fallback xmlns="">
          <p:sp>
            <p:nvSpPr>
              <p:cNvPr id="67" name="内容占位符 15"/>
              <p:cNvSpPr txBox="1">
                <a:spLocks noRot="1" noChangeAspect="1" noMove="1" noResize="1" noEditPoints="1" noAdjustHandles="1" noChangeArrowheads="1" noChangeShapeType="1" noTextEdit="1"/>
              </p:cNvSpPr>
              <p:nvPr/>
            </p:nvSpPr>
            <p:spPr>
              <a:xfrm>
                <a:off x="13434" y="1523850"/>
                <a:ext cx="2740117" cy="50006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7"/>
              <p:cNvSpPr txBox="1"/>
              <p:nvPr/>
            </p:nvSpPr>
            <p:spPr bwMode="auto">
              <a:xfrm>
                <a:off x="1632804" y="5742618"/>
                <a:ext cx="3840163" cy="864000"/>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a:bodyPr>
              <a:lstStyle/>
              <a:p>
                <a:pPr/>
                <a14:m>
                  <m:oMathPara xmlns:m="http://schemas.openxmlformats.org/officeDocument/2006/math">
                    <m:oMathParaPr>
                      <m:jc m:val="center"/>
                    </m:oMathParaPr>
                    <m:oMath xmlns:m="http://schemas.openxmlformats.org/officeDocument/2006/math">
                      <m:r>
                        <a:rPr lang="zh-CN" altLang="en-US" i="1">
                          <a:solidFill>
                            <a:srgbClr val="000000"/>
                          </a:solidFill>
                          <a:latin typeface="Cambria Math" panose="02040503050406030204" pitchFamily="18" charset="0"/>
                        </a:rPr>
                        <m:t>𝐶𝑜𝑚𝑏</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𝛿</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𝑠</m:t>
                                  </m:r>
                                </m:sub>
                              </m:sSub>
                            </m:e>
                          </m:d>
                        </m:e>
                      </m:nary>
                    </m:oMath>
                  </m:oMathPara>
                </a14:m>
                <a:endParaRPr lang="zh-CN" altLang="en-US" dirty="0"/>
              </a:p>
            </p:txBody>
          </p:sp>
        </mc:Choice>
        <mc:Fallback xmlns="">
          <p:sp>
            <p:nvSpPr>
              <p:cNvPr id="7" name="Object 7"/>
              <p:cNvSpPr txBox="1">
                <a:spLocks noRot="1" noChangeAspect="1" noMove="1" noResize="1" noEditPoints="1" noAdjustHandles="1" noChangeArrowheads="1" noChangeShapeType="1" noTextEdit="1"/>
              </p:cNvSpPr>
              <p:nvPr/>
            </p:nvSpPr>
            <p:spPr bwMode="auto">
              <a:xfrm>
                <a:off x="1632804" y="5742618"/>
                <a:ext cx="3840163" cy="864000"/>
              </a:xfrm>
              <a:prstGeom prst="rect">
                <a:avLst/>
              </a:prstGeom>
              <a:blipFill>
                <a:blip r:embed="rId15"/>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Object 7">
                <a:extLst>
                  <a:ext uri="{FF2B5EF4-FFF2-40B4-BE49-F238E27FC236}">
                    <a16:creationId xmlns:a16="http://schemas.microsoft.com/office/drawing/2014/main" id="{BAE73B0D-C274-4ADC-A007-52FABF93FAB9}"/>
                  </a:ext>
                </a:extLst>
              </p:cNvPr>
              <p:cNvSpPr txBox="1"/>
              <p:nvPr/>
            </p:nvSpPr>
            <p:spPr bwMode="auto">
              <a:xfrm>
                <a:off x="6096000" y="5742618"/>
                <a:ext cx="3799755" cy="864000"/>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a:bodyPr>
              <a:lstStyle/>
              <a:p>
                <a:pPr/>
                <a14:m>
                  <m:oMathPara xmlns:m="http://schemas.openxmlformats.org/officeDocument/2006/math">
                    <m:oMathParaPr>
                      <m:jc m:val="center"/>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𝐶𝑜𝑚𝑏</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e>
                      </m:d>
                      <m:r>
                        <a:rPr lang="zh-CN" altLang="en-US" i="1">
                          <a:solidFill>
                            <a:srgbClr val="000000"/>
                          </a:solidFill>
                          <a:latin typeface="Cambria Math" panose="02040503050406030204" pitchFamily="18" charset="0"/>
                        </a:rPr>
                        <m:t>=</m:t>
                      </m:r>
                      <m:f>
                        <m:fPr>
                          <m:ctrlPr>
                            <a:rPr lang="zh-CN" altLang="en-US" i="1" smtClean="0">
                              <a:solidFill>
                                <a:schemeClr val="tx1"/>
                              </a:solidFill>
                              <a:latin typeface="Cambria Math" panose="02040503050406030204" pitchFamily="18" charset="0"/>
                            </a:rPr>
                          </m:ctrlPr>
                        </m:fPr>
                        <m:num>
                          <m:r>
                            <a:rPr lang="en-US" altLang="zh-CN" i="1">
                              <a:latin typeface="Cambria Math" panose="02040503050406030204" pitchFamily="18" charset="0"/>
                            </a:rPr>
                            <m:t>2</m:t>
                          </m:r>
                          <m:r>
                            <a:rPr lang="zh-CN" altLang="en-US" i="1">
                              <a:latin typeface="Cambria Math" panose="02040503050406030204" pitchFamily="18" charset="0"/>
                            </a:rPr>
                            <m:t>𝜋</m:t>
                          </m:r>
                        </m:num>
                        <m:den>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𝑇</m:t>
                              </m:r>
                            </m:e>
                            <m:sub>
                              <m:r>
                                <a:rPr lang="en-US" altLang="zh-CN" i="1">
                                  <a:solidFill>
                                    <a:schemeClr val="tx1"/>
                                  </a:solidFill>
                                  <a:latin typeface="Cambria Math" panose="02040503050406030204" pitchFamily="18" charset="0"/>
                                </a:rPr>
                                <m:t>𝑆</m:t>
                              </m:r>
                            </m:sub>
                          </m:sSub>
                        </m:den>
                      </m:f>
                      <m:nary>
                        <m:naryPr>
                          <m:chr m:val="∑"/>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𝑛</m:t>
                          </m:r>
                          <m:r>
                            <a:rPr lang="zh-CN" altLang="en-US" i="1">
                              <a:solidFill>
                                <a:schemeClr val="tx1"/>
                              </a:solidFill>
                              <a:latin typeface="Cambria Math" panose="02040503050406030204" pitchFamily="18" charset="0"/>
                            </a:rPr>
                            <m:t>=−∞</m:t>
                          </m:r>
                        </m:sub>
                        <m:sup>
                          <m:r>
                            <a:rPr lang="zh-CN" altLang="en-US" i="1">
                              <a:solidFill>
                                <a:schemeClr val="tx1"/>
                              </a:solidFill>
                              <a:latin typeface="Cambria Math" panose="02040503050406030204" pitchFamily="18" charset="0"/>
                            </a:rPr>
                            <m:t>∞</m:t>
                          </m:r>
                        </m:sup>
                        <m:e>
                          <m:r>
                            <a:rPr lang="zh-CN" altLang="en-US" i="1">
                              <a:solidFill>
                                <a:schemeClr val="tx1"/>
                              </a:solidFill>
                              <a:latin typeface="Cambria Math" panose="02040503050406030204" pitchFamily="18" charset="0"/>
                            </a:rPr>
                            <m:t>𝛿</m:t>
                          </m:r>
                          <m:d>
                            <m:dPr>
                              <m:ctrlPr>
                                <a:rPr lang="zh-CN" altLang="en-US" i="1">
                                  <a:solidFill>
                                    <a:schemeClr val="tx1"/>
                                  </a:solidFill>
                                  <a:latin typeface="Cambria Math" panose="02040503050406030204" pitchFamily="18" charset="0"/>
                                </a:rPr>
                              </m:ctrlPr>
                            </m:dPr>
                            <m:e>
                              <m:r>
                                <a:rPr lang="zh-CN" altLang="en-US" i="1">
                                  <a:solidFill>
                                    <a:schemeClr val="tx1"/>
                                  </a:solidFill>
                                  <a:latin typeface="Cambria Math" panose="02040503050406030204" pitchFamily="18" charset="0"/>
                                </a:rPr>
                                <m:t>𝜔</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𝑛</m:t>
                              </m:r>
                              <m:sSub>
                                <m:sSubPr>
                                  <m:ctrlPr>
                                    <a:rPr lang="en-US" altLang="zh-CN" i="1">
                                      <a:solidFill>
                                        <a:schemeClr val="tx1"/>
                                      </a:solidFill>
                                      <a:latin typeface="Cambria Math" panose="02040503050406030204" pitchFamily="18" charset="0"/>
                                    </a:rPr>
                                  </m:ctrlPr>
                                </m:sSubPr>
                                <m:e>
                                  <m:r>
                                    <m:rPr>
                                      <m:sty m:val="p"/>
                                    </m:rPr>
                                    <a:rPr lang="zh-CN" altLang="en-US" i="1">
                                      <a:solidFill>
                                        <a:schemeClr val="tx1"/>
                                      </a:solidFill>
                                      <a:latin typeface="Cambria Math" panose="02040503050406030204" pitchFamily="18" charset="0"/>
                                    </a:rPr>
                                    <m:t>Ω</m:t>
                                  </m:r>
                                </m:e>
                                <m:sub>
                                  <m:r>
                                    <a:rPr lang="en-US" altLang="zh-CN" i="1">
                                      <a:solidFill>
                                        <a:schemeClr val="tx1"/>
                                      </a:solidFill>
                                      <a:latin typeface="Cambria Math" panose="02040503050406030204" pitchFamily="18" charset="0"/>
                                    </a:rPr>
                                    <m:t>𝑆</m:t>
                                  </m:r>
                                </m:sub>
                              </m:sSub>
                            </m:e>
                          </m:d>
                        </m:e>
                      </m:nary>
                    </m:oMath>
                  </m:oMathPara>
                </a14:m>
                <a:endParaRPr lang="zh-CN" altLang="en-US" dirty="0"/>
              </a:p>
            </p:txBody>
          </p:sp>
        </mc:Choice>
        <mc:Fallback xmlns="">
          <p:sp>
            <p:nvSpPr>
              <p:cNvPr id="71" name="Object 7">
                <a:extLst>
                  <a:ext uri="{FF2B5EF4-FFF2-40B4-BE49-F238E27FC236}">
                    <a16:creationId xmlns:a16="http://schemas.microsoft.com/office/drawing/2014/main" id="{BAE73B0D-C274-4ADC-A007-52FABF93FAB9}"/>
                  </a:ext>
                </a:extLst>
              </p:cNvPr>
              <p:cNvSpPr txBox="1">
                <a:spLocks noRot="1" noChangeAspect="1" noMove="1" noResize="1" noEditPoints="1" noAdjustHandles="1" noChangeArrowheads="1" noChangeShapeType="1" noTextEdit="1"/>
              </p:cNvSpPr>
              <p:nvPr/>
            </p:nvSpPr>
            <p:spPr bwMode="auto">
              <a:xfrm>
                <a:off x="6096000" y="5742618"/>
                <a:ext cx="3799755" cy="864000"/>
              </a:xfrm>
              <a:prstGeom prst="rect">
                <a:avLst/>
              </a:prstGeom>
              <a:blipFill>
                <a:blip r:embed="rId17"/>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cxnSp>
        <p:nvCxnSpPr>
          <p:cNvPr id="65" name="直接箭头连接符 64">
            <a:extLst>
              <a:ext uri="{FF2B5EF4-FFF2-40B4-BE49-F238E27FC236}">
                <a16:creationId xmlns:a16="http://schemas.microsoft.com/office/drawing/2014/main" id="{6D7CB0D5-D5B1-43FB-8827-2DFE9B49E3DA}"/>
              </a:ext>
            </a:extLst>
          </p:cNvPr>
          <p:cNvCxnSpPr/>
          <p:nvPr/>
        </p:nvCxnSpPr>
        <p:spPr>
          <a:xfrm>
            <a:off x="5322591" y="6173030"/>
            <a:ext cx="720000" cy="1588"/>
          </a:xfrm>
          <a:prstGeom prst="straightConnector1">
            <a:avLst/>
          </a:prstGeom>
          <a:ln w="28575">
            <a:solidFill>
              <a:srgbClr val="42556E"/>
            </a:solidFill>
            <a:headEnd type="arrow" w="med" len="med"/>
            <a:tailEnd type="arrow" w="med" len="med"/>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68" name="Object 7">
                <a:extLst>
                  <a:ext uri="{FF2B5EF4-FFF2-40B4-BE49-F238E27FC236}">
                    <a16:creationId xmlns:a16="http://schemas.microsoft.com/office/drawing/2014/main" id="{CEC4DC2C-0A32-4438-8F2D-E00044468492}"/>
                  </a:ext>
                </a:extLst>
              </p:cNvPr>
              <p:cNvSpPr txBox="1"/>
              <p:nvPr/>
            </p:nvSpPr>
            <p:spPr bwMode="auto">
              <a:xfrm>
                <a:off x="3739384" y="4074789"/>
                <a:ext cx="1055721" cy="355593"/>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fontScale="85000" lnSpcReduction="10000"/>
              </a:bodyPr>
              <a:lstStyle/>
              <a:p>
                <a:pPr/>
                <a14:m>
                  <m:oMathPara xmlns:m="http://schemas.openxmlformats.org/officeDocument/2006/math">
                    <m:oMathParaPr>
                      <m:jc m:val="center"/>
                    </m:oMathParaPr>
                    <m:oMath xmlns:m="http://schemas.openxmlformats.org/officeDocument/2006/math">
                      <m:r>
                        <a:rPr lang="zh-CN" altLang="en-US" sz="1900" i="1">
                          <a:solidFill>
                            <a:srgbClr val="000000"/>
                          </a:solidFill>
                          <a:latin typeface="Cambria Math" panose="02040503050406030204" pitchFamily="18" charset="0"/>
                        </a:rPr>
                        <m:t>𝐶𝑜𝑚𝑏</m:t>
                      </m:r>
                      <m:d>
                        <m:dPr>
                          <m:ctrlPr>
                            <a:rPr lang="zh-CN" altLang="en-US" sz="1900" i="1">
                              <a:solidFill>
                                <a:srgbClr val="000000"/>
                              </a:solidFill>
                              <a:latin typeface="Cambria Math" panose="02040503050406030204" pitchFamily="18" charset="0"/>
                            </a:rPr>
                          </m:ctrlPr>
                        </m:dPr>
                        <m:e>
                          <m:r>
                            <a:rPr lang="zh-CN" altLang="en-US" sz="1900" i="1">
                              <a:solidFill>
                                <a:srgbClr val="000000"/>
                              </a:solidFill>
                              <a:latin typeface="Cambria Math" panose="02040503050406030204" pitchFamily="18" charset="0"/>
                            </a:rPr>
                            <m:t>𝑡</m:t>
                          </m:r>
                        </m:e>
                      </m:d>
                    </m:oMath>
                  </m:oMathPara>
                </a14:m>
                <a:endParaRPr lang="zh-CN" altLang="en-US" dirty="0"/>
              </a:p>
            </p:txBody>
          </p:sp>
        </mc:Choice>
        <mc:Fallback xmlns="">
          <p:sp>
            <p:nvSpPr>
              <p:cNvPr id="68" name="Object 7">
                <a:extLst>
                  <a:ext uri="{FF2B5EF4-FFF2-40B4-BE49-F238E27FC236}">
                    <a16:creationId xmlns:a16="http://schemas.microsoft.com/office/drawing/2014/main" id="{CEC4DC2C-0A32-4438-8F2D-E00044468492}"/>
                  </a:ext>
                </a:extLst>
              </p:cNvPr>
              <p:cNvSpPr txBox="1">
                <a:spLocks noRot="1" noChangeAspect="1" noMove="1" noResize="1" noEditPoints="1" noAdjustHandles="1" noChangeArrowheads="1" noChangeShapeType="1" noTextEdit="1"/>
              </p:cNvSpPr>
              <p:nvPr/>
            </p:nvSpPr>
            <p:spPr bwMode="auto">
              <a:xfrm>
                <a:off x="3739384" y="4074789"/>
                <a:ext cx="1055721" cy="355593"/>
              </a:xfrm>
              <a:prstGeom prst="rect">
                <a:avLst/>
              </a:prstGeom>
              <a:blipFill>
                <a:blip r:embed="rId18"/>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D28778D7-4A21-4720-AB4E-CA81B654738F}"/>
              </a:ext>
            </a:extLst>
          </p:cNvPr>
          <p:cNvGrpSpPr/>
          <p:nvPr/>
        </p:nvGrpSpPr>
        <p:grpSpPr>
          <a:xfrm>
            <a:off x="6204837" y="4083366"/>
            <a:ext cx="3557589" cy="1803172"/>
            <a:chOff x="6204837" y="4083366"/>
            <a:chExt cx="3557589" cy="1803172"/>
          </a:xfrm>
        </p:grpSpPr>
        <p:grpSp>
          <p:nvGrpSpPr>
            <p:cNvPr id="83" name="Group 30"/>
            <p:cNvGrpSpPr>
              <a:grpSpLocks/>
            </p:cNvGrpSpPr>
            <p:nvPr/>
          </p:nvGrpSpPr>
          <p:grpSpPr bwMode="auto">
            <a:xfrm>
              <a:off x="6204837" y="4145050"/>
              <a:ext cx="3557589" cy="1741488"/>
              <a:chOff x="3198" y="1797"/>
              <a:chExt cx="2241" cy="1097"/>
            </a:xfrm>
          </p:grpSpPr>
          <p:sp>
            <p:nvSpPr>
              <p:cNvPr id="84" name="Line 31"/>
              <p:cNvSpPr>
                <a:spLocks noChangeShapeType="1"/>
              </p:cNvSpPr>
              <p:nvPr/>
            </p:nvSpPr>
            <p:spPr bwMode="auto">
              <a:xfrm>
                <a:off x="3198" y="2387"/>
                <a:ext cx="1995"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85" name="Line 32"/>
              <p:cNvSpPr>
                <a:spLocks noChangeShapeType="1"/>
              </p:cNvSpPr>
              <p:nvPr/>
            </p:nvSpPr>
            <p:spPr bwMode="auto">
              <a:xfrm flipV="1">
                <a:off x="4195" y="1797"/>
                <a:ext cx="0" cy="771"/>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86" name="Line 33"/>
              <p:cNvSpPr>
                <a:spLocks noChangeShapeType="1"/>
              </p:cNvSpPr>
              <p:nvPr/>
            </p:nvSpPr>
            <p:spPr bwMode="auto">
              <a:xfrm flipV="1">
                <a:off x="4195" y="197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87" name="Line 34"/>
              <p:cNvSpPr>
                <a:spLocks noChangeShapeType="1"/>
              </p:cNvSpPr>
              <p:nvPr/>
            </p:nvSpPr>
            <p:spPr bwMode="auto">
              <a:xfrm flipV="1">
                <a:off x="4604" y="197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88" name="Line 35"/>
              <p:cNvSpPr>
                <a:spLocks noChangeShapeType="1"/>
              </p:cNvSpPr>
              <p:nvPr/>
            </p:nvSpPr>
            <p:spPr bwMode="auto">
              <a:xfrm flipV="1">
                <a:off x="5012" y="197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89" name="Line 36"/>
              <p:cNvSpPr>
                <a:spLocks noChangeShapeType="1"/>
              </p:cNvSpPr>
              <p:nvPr/>
            </p:nvSpPr>
            <p:spPr bwMode="auto">
              <a:xfrm flipV="1">
                <a:off x="3787" y="197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90" name="Line 37"/>
              <p:cNvSpPr>
                <a:spLocks noChangeShapeType="1"/>
              </p:cNvSpPr>
              <p:nvPr/>
            </p:nvSpPr>
            <p:spPr bwMode="auto">
              <a:xfrm flipV="1">
                <a:off x="3379" y="197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91" name="Line 38"/>
              <p:cNvSpPr>
                <a:spLocks noChangeShapeType="1"/>
              </p:cNvSpPr>
              <p:nvPr/>
            </p:nvSpPr>
            <p:spPr bwMode="auto">
              <a:xfrm>
                <a:off x="3787" y="2432"/>
                <a:ext cx="0" cy="136"/>
              </a:xfrm>
              <a:prstGeom prst="line">
                <a:avLst/>
              </a:prstGeom>
              <a:noFill/>
              <a:ln w="22225">
                <a:solidFill>
                  <a:schemeClr val="tx1"/>
                </a:solidFill>
                <a:round/>
                <a:headEnd/>
                <a:tailEnd type="none" w="sm" len="lg"/>
              </a:ln>
            </p:spPr>
            <p:txBody>
              <a:bodyPr wrap="none" anchor="ctr"/>
              <a:lstStyle/>
              <a:p>
                <a:endParaRPr lang="zh-CN" altLang="en-US"/>
              </a:p>
            </p:txBody>
          </p:sp>
          <p:sp>
            <p:nvSpPr>
              <p:cNvPr id="92" name="Line 39"/>
              <p:cNvSpPr>
                <a:spLocks noChangeShapeType="1"/>
              </p:cNvSpPr>
              <p:nvPr/>
            </p:nvSpPr>
            <p:spPr bwMode="auto">
              <a:xfrm>
                <a:off x="3605" y="2523"/>
                <a:ext cx="182" cy="0"/>
              </a:xfrm>
              <a:prstGeom prst="line">
                <a:avLst/>
              </a:prstGeom>
              <a:noFill/>
              <a:ln w="22225">
                <a:solidFill>
                  <a:schemeClr val="tx1"/>
                </a:solidFill>
                <a:round/>
                <a:headEnd/>
                <a:tailEnd type="triangle" w="sm" len="lg"/>
              </a:ln>
            </p:spPr>
            <p:txBody>
              <a:bodyPr wrap="none" anchor="ctr"/>
              <a:lstStyle/>
              <a:p>
                <a:endParaRPr lang="zh-CN" altLang="en-US"/>
              </a:p>
            </p:txBody>
          </p:sp>
          <p:sp>
            <p:nvSpPr>
              <p:cNvPr id="93" name="Line 40"/>
              <p:cNvSpPr>
                <a:spLocks noChangeShapeType="1"/>
              </p:cNvSpPr>
              <p:nvPr/>
            </p:nvSpPr>
            <p:spPr bwMode="auto">
              <a:xfrm flipH="1">
                <a:off x="4195" y="2523"/>
                <a:ext cx="182" cy="0"/>
              </a:xfrm>
              <a:prstGeom prst="line">
                <a:avLst/>
              </a:prstGeom>
              <a:noFill/>
              <a:ln w="22225">
                <a:solidFill>
                  <a:schemeClr val="tx1"/>
                </a:solidFill>
                <a:round/>
                <a:headEnd/>
                <a:tailEnd type="triangle" w="sm" len="lg"/>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94" name="Object 41"/>
                  <p:cNvSpPr txBox="1"/>
                  <p:nvPr/>
                </p:nvSpPr>
                <p:spPr bwMode="auto">
                  <a:xfrm>
                    <a:off x="3821" y="2361"/>
                    <a:ext cx="374" cy="533"/>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center"/>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𝑠</m:t>
                                  </m:r>
                                </m:sub>
                              </m:sSub>
                            </m:den>
                          </m:f>
                        </m:oMath>
                      </m:oMathPara>
                    </a14:m>
                    <a:endParaRPr lang="zh-CN" altLang="en-US" dirty="0"/>
                  </a:p>
                </p:txBody>
              </p:sp>
            </mc:Choice>
            <mc:Fallback xmlns="">
              <p:sp>
                <p:nvSpPr>
                  <p:cNvPr id="94" name="Object 41"/>
                  <p:cNvSpPr txBox="1">
                    <a:spLocks noRot="1" noChangeAspect="1" noMove="1" noResize="1" noEditPoints="1" noAdjustHandles="1" noChangeArrowheads="1" noChangeShapeType="1" noTextEdit="1"/>
                  </p:cNvSpPr>
                  <p:nvPr/>
                </p:nvSpPr>
                <p:spPr bwMode="auto">
                  <a:xfrm>
                    <a:off x="3821" y="2361"/>
                    <a:ext cx="374" cy="533"/>
                  </a:xfrm>
                  <a:prstGeom prst="rect">
                    <a:avLst/>
                  </a:prstGeom>
                  <a:blipFill>
                    <a:blip r:embed="rId4"/>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Object 42"/>
                  <p:cNvSpPr txBox="1"/>
                  <p:nvPr/>
                </p:nvSpPr>
                <p:spPr bwMode="auto">
                  <a:xfrm>
                    <a:off x="5119" y="2264"/>
                    <a:ext cx="320" cy="231"/>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center"/>
                        </m:oMathParaPr>
                        <m:oMath xmlns:m="http://schemas.openxmlformats.org/officeDocument/2006/math">
                          <m:r>
                            <a:rPr lang="zh-CN" altLang="en-US" i="1">
                              <a:solidFill>
                                <a:srgbClr val="000000"/>
                              </a:solidFill>
                              <a:latin typeface="Cambria Math" panose="02040503050406030204" pitchFamily="18" charset="0"/>
                            </a:rPr>
                            <m:t>𝜔</m:t>
                          </m:r>
                        </m:oMath>
                      </m:oMathPara>
                    </a14:m>
                    <a:endParaRPr lang="zh-CN" altLang="en-US" dirty="0"/>
                  </a:p>
                </p:txBody>
              </p:sp>
            </mc:Choice>
            <mc:Fallback xmlns="">
              <p:sp>
                <p:nvSpPr>
                  <p:cNvPr id="95" name="Object 42"/>
                  <p:cNvSpPr txBox="1">
                    <a:spLocks noRot="1" noChangeAspect="1" noMove="1" noResize="1" noEditPoints="1" noAdjustHandles="1" noChangeArrowheads="1" noChangeShapeType="1" noTextEdit="1"/>
                  </p:cNvSpPr>
                  <p:nvPr/>
                </p:nvSpPr>
                <p:spPr bwMode="auto">
                  <a:xfrm>
                    <a:off x="5119" y="2264"/>
                    <a:ext cx="320" cy="231"/>
                  </a:xfrm>
                  <a:prstGeom prst="rect">
                    <a:avLst/>
                  </a:prstGeom>
                  <a:blipFill>
                    <a:blip r:embed="rId5"/>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72" name="Object 7">
                  <a:extLst>
                    <a:ext uri="{FF2B5EF4-FFF2-40B4-BE49-F238E27FC236}">
                      <a16:creationId xmlns:a16="http://schemas.microsoft.com/office/drawing/2014/main" id="{AC48AB85-F997-417B-864F-BD7496D080DD}"/>
                    </a:ext>
                  </a:extLst>
                </p:cNvPr>
                <p:cNvSpPr txBox="1"/>
                <p:nvPr/>
              </p:nvSpPr>
              <p:spPr bwMode="auto">
                <a:xfrm>
                  <a:off x="7787575" y="4083366"/>
                  <a:ext cx="1044000" cy="328491"/>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chor="ctr" anchorCtr="0">
                  <a:noAutofit/>
                </a:bodyPr>
                <a:lstStyle/>
                <a:p>
                  <a:pPr/>
                  <a14:m>
                    <m:oMathPara xmlns:m="http://schemas.openxmlformats.org/officeDocument/2006/math">
                      <m:oMathParaPr>
                        <m:jc m:val="center"/>
                      </m:oMathParaPr>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𝐹</m:t>
                            </m:r>
                          </m:e>
                          <m:sub>
                            <m:r>
                              <a:rPr lang="zh-CN" altLang="en-US" sz="1600" i="1">
                                <a:solidFill>
                                  <a:srgbClr val="000000"/>
                                </a:solidFill>
                                <a:latin typeface="Cambria Math" panose="02040503050406030204" pitchFamily="18" charset="0"/>
                              </a:rPr>
                              <m:t>𝐶𝑜𝑚𝑏</m:t>
                            </m:r>
                          </m:sub>
                        </m:sSub>
                        <m:d>
                          <m:dPr>
                            <m:ctrlPr>
                              <a:rPr lang="zh-CN" altLang="en-US" sz="1600" i="1">
                                <a:solidFill>
                                  <a:srgbClr val="000000"/>
                                </a:solidFill>
                                <a:latin typeface="Cambria Math" panose="02040503050406030204" pitchFamily="18" charset="0"/>
                              </a:rPr>
                            </m:ctrlPr>
                          </m:dPr>
                          <m:e>
                            <m:r>
                              <a:rPr lang="zh-CN" altLang="en-US" sz="1600" i="1">
                                <a:solidFill>
                                  <a:srgbClr val="000000"/>
                                </a:solidFill>
                                <a:latin typeface="Cambria Math" panose="02040503050406030204" pitchFamily="18" charset="0"/>
                              </a:rPr>
                              <m:t>𝜔</m:t>
                            </m:r>
                          </m:e>
                        </m:d>
                      </m:oMath>
                    </m:oMathPara>
                  </a14:m>
                  <a:endParaRPr lang="zh-CN" altLang="en-US" sz="1600" dirty="0"/>
                </a:p>
              </p:txBody>
            </p:sp>
          </mc:Choice>
          <mc:Fallback xmlns="">
            <p:sp>
              <p:nvSpPr>
                <p:cNvPr id="72" name="Object 7">
                  <a:extLst>
                    <a:ext uri="{FF2B5EF4-FFF2-40B4-BE49-F238E27FC236}">
                      <a16:creationId xmlns:a16="http://schemas.microsoft.com/office/drawing/2014/main" id="{AC48AB85-F997-417B-864F-BD7496D080DD}"/>
                    </a:ext>
                  </a:extLst>
                </p:cNvPr>
                <p:cNvSpPr txBox="1">
                  <a:spLocks noRot="1" noChangeAspect="1" noMove="1" noResize="1" noEditPoints="1" noAdjustHandles="1" noChangeArrowheads="1" noChangeShapeType="1" noTextEdit="1"/>
                </p:cNvSpPr>
                <p:nvPr/>
              </p:nvSpPr>
              <p:spPr bwMode="auto">
                <a:xfrm>
                  <a:off x="7787575" y="4083366"/>
                  <a:ext cx="1044000" cy="328491"/>
                </a:xfrm>
                <a:prstGeom prst="rect">
                  <a:avLst/>
                </a:prstGeom>
                <a:blipFill>
                  <a:blip r:embed="rId19"/>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sp>
        <p:nvSpPr>
          <p:cNvPr id="70" name="标题 1">
            <a:extLst>
              <a:ext uri="{FF2B5EF4-FFF2-40B4-BE49-F238E27FC236}">
                <a16:creationId xmlns:a16="http://schemas.microsoft.com/office/drawing/2014/main" id="{ACB3B41D-C965-4F95-BEAA-DCFDDC8C9256}"/>
              </a:ext>
            </a:extLst>
          </p:cNvPr>
          <p:cNvSpPr txBox="1">
            <a:spLocks noGrp="1"/>
          </p:cNvSpPr>
          <p:nvPr/>
        </p:nvSpPr>
        <p:spPr>
          <a:xfrm>
            <a:off x="381168" y="130775"/>
            <a:ext cx="3590728"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图像的采样：采样定理</a:t>
            </a:r>
          </a:p>
        </p:txBody>
      </p:sp>
      <p:sp>
        <p:nvSpPr>
          <p:cNvPr id="73" name="文本框 72">
            <a:extLst>
              <a:ext uri="{FF2B5EF4-FFF2-40B4-BE49-F238E27FC236}">
                <a16:creationId xmlns:a16="http://schemas.microsoft.com/office/drawing/2014/main" id="{98F28702-7CB7-4249-A46E-56084CA4D996}"/>
              </a:ext>
            </a:extLst>
          </p:cNvPr>
          <p:cNvSpPr txBox="1"/>
          <p:nvPr/>
        </p:nvSpPr>
        <p:spPr>
          <a:xfrm>
            <a:off x="4871983" y="1956392"/>
            <a:ext cx="2185690" cy="369332"/>
          </a:xfrm>
          <a:prstGeom prst="rect">
            <a:avLst/>
          </a:prstGeom>
          <a:noFill/>
        </p:spPr>
        <p:txBody>
          <a:bodyPr wrap="square">
            <a:spAutoFit/>
          </a:bodyPr>
          <a:lstStyle/>
          <a:p>
            <a:pPr algn="ctr"/>
            <a:r>
              <a:rPr lang="zh-CN" altLang="en-US" spc="50" dirty="0">
                <a:ln w="13500">
                  <a:solidFill>
                    <a:schemeClr val="accent1">
                      <a:shade val="2500"/>
                      <a:alpha val="6500"/>
                    </a:schemeClr>
                  </a:solidFill>
                  <a:prstDash val="solid"/>
                </a:ln>
                <a:effectLst>
                  <a:innerShdw blurRad="50900" dist="38500" dir="13500000">
                    <a:srgbClr val="000000">
                      <a:alpha val="60000"/>
                    </a:srgbClr>
                  </a:innerShdw>
                </a:effectLst>
                <a:latin typeface="思源黑体 CN Bold" panose="020B0800000000000000" pitchFamily="34" charset="-122"/>
                <a:ea typeface="思源黑体 CN Bold" panose="020B0800000000000000" pitchFamily="34" charset="-122"/>
              </a:rPr>
              <a:t>傅里叶变换</a:t>
            </a:r>
            <a:endParaRPr lang="zh-CN" altLang="en-US" dirty="0"/>
          </a:p>
        </p:txBody>
      </p:sp>
      <p:sp>
        <p:nvSpPr>
          <p:cNvPr id="77" name="文本框 76">
            <a:extLst>
              <a:ext uri="{FF2B5EF4-FFF2-40B4-BE49-F238E27FC236}">
                <a16:creationId xmlns:a16="http://schemas.microsoft.com/office/drawing/2014/main" id="{F0CCA9C3-2066-446E-9280-FD0B540DCD6A}"/>
              </a:ext>
            </a:extLst>
          </p:cNvPr>
          <p:cNvSpPr txBox="1"/>
          <p:nvPr/>
        </p:nvSpPr>
        <p:spPr>
          <a:xfrm>
            <a:off x="4871983" y="3885489"/>
            <a:ext cx="2185690" cy="369332"/>
          </a:xfrm>
          <a:prstGeom prst="rect">
            <a:avLst/>
          </a:prstGeom>
          <a:noFill/>
        </p:spPr>
        <p:txBody>
          <a:bodyPr wrap="square">
            <a:spAutoFit/>
          </a:bodyPr>
          <a:lstStyle/>
          <a:p>
            <a:pPr algn="ctr"/>
            <a:r>
              <a:rPr lang="zh-CN" altLang="en-US" spc="50" dirty="0">
                <a:ln w="13500">
                  <a:solidFill>
                    <a:schemeClr val="accent1">
                      <a:shade val="2500"/>
                      <a:alpha val="6500"/>
                    </a:schemeClr>
                  </a:solidFill>
                  <a:prstDash val="solid"/>
                </a:ln>
                <a:effectLst>
                  <a:innerShdw blurRad="50900" dist="38500" dir="13500000">
                    <a:srgbClr val="000000">
                      <a:alpha val="60000"/>
                    </a:srgbClr>
                  </a:innerShdw>
                </a:effectLst>
                <a:latin typeface="思源黑体 CN Bold" panose="020B0800000000000000" pitchFamily="34" charset="-122"/>
                <a:ea typeface="思源黑体 CN Bold" panose="020B0800000000000000" pitchFamily="34" charset="-122"/>
              </a:rPr>
              <a:t>傅里叶变换</a:t>
            </a:r>
            <a:endParaRPr lang="zh-CN" altLang="en-US" dirty="0"/>
          </a:p>
        </p:txBody>
      </p:sp>
    </p:spTree>
    <p:extLst>
      <p:ext uri="{BB962C8B-B14F-4D97-AF65-F5344CB8AC3E}">
        <p14:creationId xmlns:p14="http://schemas.microsoft.com/office/powerpoint/2010/main" val="1517495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标题 1">
            <a:extLst>
              <a:ext uri="{FF2B5EF4-FFF2-40B4-BE49-F238E27FC236}">
                <a16:creationId xmlns:a16="http://schemas.microsoft.com/office/drawing/2014/main" id="{A3506389-C0B5-41C3-8361-D03B5F081915}"/>
              </a:ext>
            </a:extLst>
          </p:cNvPr>
          <p:cNvSpPr txBox="1">
            <a:spLocks noGrp="1"/>
          </p:cNvSpPr>
          <p:nvPr/>
        </p:nvSpPr>
        <p:spPr>
          <a:xfrm>
            <a:off x="381168" y="130775"/>
            <a:ext cx="3590728"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图像的采样：采样定理</a:t>
            </a:r>
          </a:p>
        </p:txBody>
      </p:sp>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A2F4BB99-33FD-4EB3-A629-85C1FDE0541D}"/>
                  </a:ext>
                </a:extLst>
              </p:cNvPr>
              <p:cNvSpPr txBox="1"/>
              <p:nvPr/>
            </p:nvSpPr>
            <p:spPr>
              <a:xfrm>
                <a:off x="8940072" y="4623445"/>
                <a:ext cx="27976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𝑓</m:t>
                      </m:r>
                      <m:r>
                        <a:rPr lang="en-US" altLang="zh-CN" i="1" smtClean="0">
                          <a:latin typeface="Cambria Math" panose="02040503050406030204" pitchFamily="18" charset="0"/>
                        </a:rPr>
                        <m:t>(</m:t>
                      </m:r>
                      <m:r>
                        <a:rPr lang="en-US" altLang="zh-CN" i="1" smtClean="0">
                          <a:latin typeface="Cambria Math" panose="02040503050406030204" pitchFamily="18" charset="0"/>
                        </a:rPr>
                        <m:t>𝑡</m:t>
                      </m:r>
                      <m:r>
                        <a:rPr lang="en-US" altLang="zh-CN" i="1" smtClean="0">
                          <a:latin typeface="Cambria Math" panose="02040503050406030204" pitchFamily="18" charset="0"/>
                        </a:rPr>
                        <m:t>) </m:t>
                      </m:r>
                      <m:r>
                        <a:rPr lang="el-GR" altLang="zh-CN" i="1">
                          <a:latin typeface="Cambria Math" panose="02040503050406030204" pitchFamily="18" charset="0"/>
                        </a:rPr>
                        <m:t>𝛿</m:t>
                      </m:r>
                      <m:r>
                        <a:rPr lang="el-GR"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 = </m:t>
                      </m:r>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b="0" i="1" smtClean="0">
                          <a:latin typeface="Cambria Math" panose="02040503050406030204" pitchFamily="18" charset="0"/>
                        </a:rPr>
                        <m:t>𝑡</m:t>
                      </m:r>
                      <m:r>
                        <a:rPr lang="en-US" altLang="zh-CN" i="1">
                          <a:latin typeface="Cambria Math" panose="02040503050406030204" pitchFamily="18" charset="0"/>
                        </a:rPr>
                        <m:t>)</m:t>
                      </m:r>
                    </m:oMath>
                  </m:oMathPara>
                </a14:m>
                <a:endParaRPr lang="zh-CN" altLang="en-US" dirty="0"/>
              </a:p>
            </p:txBody>
          </p:sp>
        </mc:Choice>
        <mc:Fallback xmlns="">
          <p:sp>
            <p:nvSpPr>
              <p:cNvPr id="98" name="文本框 97">
                <a:extLst>
                  <a:ext uri="{FF2B5EF4-FFF2-40B4-BE49-F238E27FC236}">
                    <a16:creationId xmlns:a16="http://schemas.microsoft.com/office/drawing/2014/main" id="{A2F4BB99-33FD-4EB3-A629-85C1FDE0541D}"/>
                  </a:ext>
                </a:extLst>
              </p:cNvPr>
              <p:cNvSpPr txBox="1">
                <a:spLocks noRot="1" noChangeAspect="1" noMove="1" noResize="1" noEditPoints="1" noAdjustHandles="1" noChangeArrowheads="1" noChangeShapeType="1" noTextEdit="1"/>
              </p:cNvSpPr>
              <p:nvPr/>
            </p:nvSpPr>
            <p:spPr>
              <a:xfrm>
                <a:off x="8940072" y="4623445"/>
                <a:ext cx="2797612" cy="369332"/>
              </a:xfrm>
              <a:prstGeom prst="rect">
                <a:avLst/>
              </a:prstGeom>
              <a:blipFill>
                <a:blip r:embed="rId2"/>
                <a:stretch>
                  <a:fillRect b="-14754"/>
                </a:stretch>
              </a:blipFill>
            </p:spPr>
            <p:txBody>
              <a:bodyPr/>
              <a:lstStyle/>
              <a:p>
                <a:r>
                  <a:rPr lang="zh-CN" altLang="en-US">
                    <a:noFill/>
                  </a:rPr>
                  <a:t> </a:t>
                </a:r>
              </a:p>
            </p:txBody>
          </p:sp>
        </mc:Fallback>
      </mc:AlternateContent>
      <p:grpSp>
        <p:nvGrpSpPr>
          <p:cNvPr id="112" name="组合 111">
            <a:extLst>
              <a:ext uri="{FF2B5EF4-FFF2-40B4-BE49-F238E27FC236}">
                <a16:creationId xmlns:a16="http://schemas.microsoft.com/office/drawing/2014/main" id="{77842165-0751-4FA1-A061-B4F4B82B2E58}"/>
              </a:ext>
            </a:extLst>
          </p:cNvPr>
          <p:cNvGrpSpPr>
            <a:grpSpLocks noChangeAspect="1"/>
          </p:cNvGrpSpPr>
          <p:nvPr/>
        </p:nvGrpSpPr>
        <p:grpSpPr>
          <a:xfrm>
            <a:off x="6086152" y="1446298"/>
            <a:ext cx="2415016" cy="1351294"/>
            <a:chOff x="6276273" y="1400319"/>
            <a:chExt cx="3443286" cy="1906831"/>
          </a:xfrm>
        </p:grpSpPr>
        <p:grpSp>
          <p:nvGrpSpPr>
            <p:cNvPr id="113" name="Group 66">
              <a:extLst>
                <a:ext uri="{FF2B5EF4-FFF2-40B4-BE49-F238E27FC236}">
                  <a16:creationId xmlns:a16="http://schemas.microsoft.com/office/drawing/2014/main" id="{412EFDA4-021C-43F4-9029-4ED8F04BF064}"/>
                </a:ext>
              </a:extLst>
            </p:cNvPr>
            <p:cNvGrpSpPr>
              <a:grpSpLocks/>
            </p:cNvGrpSpPr>
            <p:nvPr/>
          </p:nvGrpSpPr>
          <p:grpSpPr bwMode="auto">
            <a:xfrm>
              <a:off x="6276273" y="1569895"/>
              <a:ext cx="3168650" cy="1422400"/>
              <a:chOff x="3379" y="1063"/>
              <a:chExt cx="1996" cy="896"/>
            </a:xfrm>
          </p:grpSpPr>
          <p:sp>
            <p:nvSpPr>
              <p:cNvPr id="119" name="Line 30">
                <a:extLst>
                  <a:ext uri="{FF2B5EF4-FFF2-40B4-BE49-F238E27FC236}">
                    <a16:creationId xmlns:a16="http://schemas.microsoft.com/office/drawing/2014/main" id="{B086562A-A357-4F23-BAD9-BEBE357F652E}"/>
                  </a:ext>
                </a:extLst>
              </p:cNvPr>
              <p:cNvSpPr>
                <a:spLocks noChangeShapeType="1"/>
              </p:cNvSpPr>
              <p:nvPr/>
            </p:nvSpPr>
            <p:spPr bwMode="auto">
              <a:xfrm>
                <a:off x="3379" y="1842"/>
                <a:ext cx="1996"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20" name="Line 31">
                <a:extLst>
                  <a:ext uri="{FF2B5EF4-FFF2-40B4-BE49-F238E27FC236}">
                    <a16:creationId xmlns:a16="http://schemas.microsoft.com/office/drawing/2014/main" id="{D8E80851-62B2-4C91-94F7-A969DF793421}"/>
                  </a:ext>
                </a:extLst>
              </p:cNvPr>
              <p:cNvSpPr>
                <a:spLocks noChangeShapeType="1"/>
              </p:cNvSpPr>
              <p:nvPr/>
            </p:nvSpPr>
            <p:spPr bwMode="auto">
              <a:xfrm>
                <a:off x="4332" y="1063"/>
                <a:ext cx="0" cy="896"/>
              </a:xfrm>
              <a:prstGeom prst="line">
                <a:avLst/>
              </a:prstGeom>
              <a:noFill/>
              <a:ln w="22225">
                <a:solidFill>
                  <a:schemeClr val="tx1"/>
                </a:solidFill>
                <a:round/>
                <a:headEnd type="arrow" w="med" len="med"/>
                <a:tailEnd type="none" w="med" len="med"/>
              </a:ln>
            </p:spPr>
            <p:txBody>
              <a:bodyPr wrap="none" anchor="ctr"/>
              <a:lstStyle/>
              <a:p>
                <a:endParaRPr lang="zh-CN" altLang="en-US"/>
              </a:p>
            </p:txBody>
          </p:sp>
        </p:grpSp>
        <p:cxnSp>
          <p:nvCxnSpPr>
            <p:cNvPr id="114" name="直接连接符 113">
              <a:extLst>
                <a:ext uri="{FF2B5EF4-FFF2-40B4-BE49-F238E27FC236}">
                  <a16:creationId xmlns:a16="http://schemas.microsoft.com/office/drawing/2014/main" id="{09A11A8B-E3AD-4711-9BE3-159360F1747E}"/>
                </a:ext>
              </a:extLst>
            </p:cNvPr>
            <p:cNvCxnSpPr/>
            <p:nvPr/>
          </p:nvCxnSpPr>
          <p:spPr>
            <a:xfrm rot="5400000">
              <a:off x="6880405" y="1900968"/>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115" name="直接连接符 114">
              <a:extLst>
                <a:ext uri="{FF2B5EF4-FFF2-40B4-BE49-F238E27FC236}">
                  <a16:creationId xmlns:a16="http://schemas.microsoft.com/office/drawing/2014/main" id="{0E954E74-E8D9-4747-97CF-25AA56402ABB}"/>
                </a:ext>
              </a:extLst>
            </p:cNvPr>
            <p:cNvCxnSpPr>
              <a:cxnSpLocks/>
            </p:cNvCxnSpPr>
            <p:nvPr/>
          </p:nvCxnSpPr>
          <p:spPr>
            <a:xfrm rot="16200000" flipH="1">
              <a:off x="7686919" y="1900968"/>
              <a:ext cx="1000132" cy="79200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6" name="Object 16">
                  <a:extLst>
                    <a:ext uri="{FF2B5EF4-FFF2-40B4-BE49-F238E27FC236}">
                      <a16:creationId xmlns:a16="http://schemas.microsoft.com/office/drawing/2014/main" id="{D89A76CC-2516-4871-B6E3-A2BBD64B9EBA}"/>
                    </a:ext>
                  </a:extLst>
                </p:cNvPr>
                <p:cNvSpPr txBox="1"/>
                <p:nvPr/>
              </p:nvSpPr>
              <p:spPr bwMode="auto">
                <a:xfrm>
                  <a:off x="8427355" y="2718187"/>
                  <a:ext cx="492125" cy="588963"/>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107536" name="Object 16"/>
                <p:cNvSpPr txBox="1">
                  <a:spLocks noRot="1" noChangeAspect="1" noMove="1" noResize="1" noEditPoints="1" noAdjustHandles="1" noChangeArrowheads="1" noChangeShapeType="1" noTextEdit="1"/>
                </p:cNvSpPr>
                <p:nvPr/>
              </p:nvSpPr>
              <p:spPr bwMode="auto">
                <a:xfrm>
                  <a:off x="8427355" y="2718187"/>
                  <a:ext cx="492125" cy="588963"/>
                </a:xfrm>
                <a:prstGeom prst="rect">
                  <a:avLst/>
                </a:prstGeom>
                <a:blipFill>
                  <a:blip r:embed="rId10"/>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 name="Object 19">
                  <a:extLst>
                    <a:ext uri="{FF2B5EF4-FFF2-40B4-BE49-F238E27FC236}">
                      <a16:creationId xmlns:a16="http://schemas.microsoft.com/office/drawing/2014/main" id="{27E6F3C6-30A5-4108-998A-3F1584E0F9FD}"/>
                    </a:ext>
                  </a:extLst>
                </p:cNvPr>
                <p:cNvSpPr txBox="1"/>
                <p:nvPr/>
              </p:nvSpPr>
              <p:spPr bwMode="auto">
                <a:xfrm>
                  <a:off x="9325859" y="2725597"/>
                  <a:ext cx="393700" cy="358775"/>
                </a:xfrm>
                <a:prstGeom prst="rect">
                  <a:avLst/>
                </a:prstGeom>
                <a:noFill/>
                <a:extLst>
                  <a:ext uri="{909E8E84-426E-40dd-AFC4-6F175D3DCCD1}">
                    <a14:hiddenFill xmlns="">
                      <a:solidFill>
                        <a:srgbClr val="FFFFFF"/>
                      </a:solidFill>
                    </a14:hiddenFill>
                  </a:ext>
                </a:ex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𝜔</m:t>
                        </m:r>
                      </m:oMath>
                    </m:oMathPara>
                  </a14:m>
                  <a:endParaRPr lang="zh-CN" altLang="en-US" dirty="0"/>
                </a:p>
              </p:txBody>
            </p:sp>
          </mc:Choice>
          <mc:Fallback xmlns="">
            <p:sp>
              <p:nvSpPr>
                <p:cNvPr id="117" name="Object 19">
                  <a:extLst>
                    <a:ext uri="{FF2B5EF4-FFF2-40B4-BE49-F238E27FC236}">
                      <a16:creationId xmlns:a16="http://schemas.microsoft.com/office/drawing/2014/main" id="{27E6F3C6-30A5-4108-998A-3F1584E0F9FD}"/>
                    </a:ext>
                  </a:extLst>
                </p:cNvPr>
                <p:cNvSpPr txBox="1">
                  <a:spLocks noRot="1" noChangeAspect="1" noMove="1" noResize="1" noEditPoints="1" noAdjustHandles="1" noChangeArrowheads="1" noChangeShapeType="1" noTextEdit="1"/>
                </p:cNvSpPr>
                <p:nvPr/>
              </p:nvSpPr>
              <p:spPr bwMode="auto">
                <a:xfrm>
                  <a:off x="9325859" y="2725597"/>
                  <a:ext cx="393700" cy="358775"/>
                </a:xfrm>
                <a:prstGeom prst="rect">
                  <a:avLst/>
                </a:prstGeom>
                <a:blipFill>
                  <a:blip r:embed="rId11"/>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Object 21">
                  <a:extLst>
                    <a:ext uri="{FF2B5EF4-FFF2-40B4-BE49-F238E27FC236}">
                      <a16:creationId xmlns:a16="http://schemas.microsoft.com/office/drawing/2014/main" id="{8CF322D4-C0F6-4595-ACF0-C7CBC2958005}"/>
                    </a:ext>
                  </a:extLst>
                </p:cNvPr>
                <p:cNvSpPr txBox="1"/>
                <p:nvPr/>
              </p:nvSpPr>
              <p:spPr bwMode="auto">
                <a:xfrm>
                  <a:off x="7695662" y="1400319"/>
                  <a:ext cx="1038225" cy="490537"/>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fontScale="85000" lnSpcReduction="10000"/>
                </a:bodyPr>
                <a:lstStyle/>
                <a:p>
                  <a:pPr/>
                  <a14:m>
                    <m:oMathPara xmlns:m="http://schemas.openxmlformats.org/officeDocument/2006/math">
                      <m:oMathParaPr>
                        <m:jc m:val="center"/>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𝑎</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e>
                        </m:d>
                      </m:oMath>
                    </m:oMathPara>
                  </a14:m>
                  <a:endParaRPr lang="zh-CN" altLang="en-US" dirty="0"/>
                </a:p>
              </p:txBody>
            </p:sp>
          </mc:Choice>
          <mc:Fallback xmlns="">
            <p:sp>
              <p:nvSpPr>
                <p:cNvPr id="118" name="Object 21">
                  <a:extLst>
                    <a:ext uri="{FF2B5EF4-FFF2-40B4-BE49-F238E27FC236}">
                      <a16:creationId xmlns:a16="http://schemas.microsoft.com/office/drawing/2014/main" id="{8CF322D4-C0F6-4595-ACF0-C7CBC2958005}"/>
                    </a:ext>
                  </a:extLst>
                </p:cNvPr>
                <p:cNvSpPr txBox="1">
                  <a:spLocks noRot="1" noChangeAspect="1" noMove="1" noResize="1" noEditPoints="1" noAdjustHandles="1" noChangeArrowheads="1" noChangeShapeType="1" noTextEdit="1"/>
                </p:cNvSpPr>
                <p:nvPr/>
              </p:nvSpPr>
              <p:spPr bwMode="auto">
                <a:xfrm>
                  <a:off x="7695662" y="1400319"/>
                  <a:ext cx="1038225" cy="490537"/>
                </a:xfrm>
                <a:prstGeom prst="rect">
                  <a:avLst/>
                </a:prstGeom>
                <a:blipFill>
                  <a:blip r:embed="rId12"/>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grpSp>
        <p:nvGrpSpPr>
          <p:cNvPr id="121" name="组合 120">
            <a:extLst>
              <a:ext uri="{FF2B5EF4-FFF2-40B4-BE49-F238E27FC236}">
                <a16:creationId xmlns:a16="http://schemas.microsoft.com/office/drawing/2014/main" id="{00F8A5FF-C2BB-42FF-994B-6453D614C771}"/>
              </a:ext>
            </a:extLst>
          </p:cNvPr>
          <p:cNvGrpSpPr/>
          <p:nvPr/>
        </p:nvGrpSpPr>
        <p:grpSpPr>
          <a:xfrm>
            <a:off x="5536223" y="3059007"/>
            <a:ext cx="3557589" cy="1197454"/>
            <a:chOff x="6204837" y="4082659"/>
            <a:chExt cx="3557589" cy="1197454"/>
          </a:xfrm>
        </p:grpSpPr>
        <p:grpSp>
          <p:nvGrpSpPr>
            <p:cNvPr id="122" name="Group 30">
              <a:extLst>
                <a:ext uri="{FF2B5EF4-FFF2-40B4-BE49-F238E27FC236}">
                  <a16:creationId xmlns:a16="http://schemas.microsoft.com/office/drawing/2014/main" id="{E31DFB7B-BA5D-44AA-BA10-2BDA2E39AB50}"/>
                </a:ext>
              </a:extLst>
            </p:cNvPr>
            <p:cNvGrpSpPr>
              <a:grpSpLocks/>
            </p:cNvGrpSpPr>
            <p:nvPr/>
          </p:nvGrpSpPr>
          <p:grpSpPr bwMode="auto">
            <a:xfrm>
              <a:off x="6204837" y="4145050"/>
              <a:ext cx="3557589" cy="1135063"/>
              <a:chOff x="3198" y="1797"/>
              <a:chExt cx="2241" cy="715"/>
            </a:xfrm>
          </p:grpSpPr>
          <p:sp>
            <p:nvSpPr>
              <p:cNvPr id="124" name="Line 31">
                <a:extLst>
                  <a:ext uri="{FF2B5EF4-FFF2-40B4-BE49-F238E27FC236}">
                    <a16:creationId xmlns:a16="http://schemas.microsoft.com/office/drawing/2014/main" id="{7E247A89-E52B-4707-9FEF-75270E09DAB1}"/>
                  </a:ext>
                </a:extLst>
              </p:cNvPr>
              <p:cNvSpPr>
                <a:spLocks noChangeShapeType="1"/>
              </p:cNvSpPr>
              <p:nvPr/>
            </p:nvSpPr>
            <p:spPr bwMode="auto">
              <a:xfrm>
                <a:off x="3198" y="2387"/>
                <a:ext cx="1995"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25" name="Line 32">
                <a:extLst>
                  <a:ext uri="{FF2B5EF4-FFF2-40B4-BE49-F238E27FC236}">
                    <a16:creationId xmlns:a16="http://schemas.microsoft.com/office/drawing/2014/main" id="{FA4A2A24-F3ED-4796-A042-A11FE94D0ECD}"/>
                  </a:ext>
                </a:extLst>
              </p:cNvPr>
              <p:cNvSpPr>
                <a:spLocks noChangeShapeType="1"/>
              </p:cNvSpPr>
              <p:nvPr/>
            </p:nvSpPr>
            <p:spPr bwMode="auto">
              <a:xfrm flipV="1">
                <a:off x="4195" y="1797"/>
                <a:ext cx="0" cy="703"/>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26" name="Line 33">
                <a:extLst>
                  <a:ext uri="{FF2B5EF4-FFF2-40B4-BE49-F238E27FC236}">
                    <a16:creationId xmlns:a16="http://schemas.microsoft.com/office/drawing/2014/main" id="{641549FF-CECC-4417-8A48-7EE0439D0655}"/>
                  </a:ext>
                </a:extLst>
              </p:cNvPr>
              <p:cNvSpPr>
                <a:spLocks noChangeShapeType="1"/>
              </p:cNvSpPr>
              <p:nvPr/>
            </p:nvSpPr>
            <p:spPr bwMode="auto">
              <a:xfrm flipV="1">
                <a:off x="4195" y="1979"/>
                <a:ext cx="0" cy="408"/>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28" name="Line 35">
                <a:extLst>
                  <a:ext uri="{FF2B5EF4-FFF2-40B4-BE49-F238E27FC236}">
                    <a16:creationId xmlns:a16="http://schemas.microsoft.com/office/drawing/2014/main" id="{9E18D6A4-32C5-44AA-9672-3B9300CAC561}"/>
                  </a:ext>
                </a:extLst>
              </p:cNvPr>
              <p:cNvSpPr>
                <a:spLocks noChangeShapeType="1"/>
              </p:cNvSpPr>
              <p:nvPr/>
            </p:nvSpPr>
            <p:spPr bwMode="auto">
              <a:xfrm flipV="1">
                <a:off x="5012" y="1979"/>
                <a:ext cx="0" cy="408"/>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30" name="Line 37">
                <a:extLst>
                  <a:ext uri="{FF2B5EF4-FFF2-40B4-BE49-F238E27FC236}">
                    <a16:creationId xmlns:a16="http://schemas.microsoft.com/office/drawing/2014/main" id="{4364DF4F-5F04-4658-A659-488178FB1C36}"/>
                  </a:ext>
                </a:extLst>
              </p:cNvPr>
              <p:cNvSpPr>
                <a:spLocks noChangeShapeType="1"/>
              </p:cNvSpPr>
              <p:nvPr/>
            </p:nvSpPr>
            <p:spPr bwMode="auto">
              <a:xfrm flipV="1">
                <a:off x="3379" y="1979"/>
                <a:ext cx="0" cy="408"/>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32" name="Line 39">
                <a:extLst>
                  <a:ext uri="{FF2B5EF4-FFF2-40B4-BE49-F238E27FC236}">
                    <a16:creationId xmlns:a16="http://schemas.microsoft.com/office/drawing/2014/main" id="{D4FFDC90-B8DB-4397-9A74-2C547E51C4FE}"/>
                  </a:ext>
                </a:extLst>
              </p:cNvPr>
              <p:cNvSpPr>
                <a:spLocks noChangeShapeType="1"/>
              </p:cNvSpPr>
              <p:nvPr/>
            </p:nvSpPr>
            <p:spPr bwMode="auto">
              <a:xfrm>
                <a:off x="3907" y="2210"/>
                <a:ext cx="182" cy="0"/>
              </a:xfrm>
              <a:prstGeom prst="line">
                <a:avLst/>
              </a:prstGeom>
              <a:noFill/>
              <a:ln w="22225">
                <a:solidFill>
                  <a:schemeClr val="tx1"/>
                </a:solidFill>
                <a:round/>
                <a:headEnd/>
                <a:tailEnd type="triangle" w="sm" len="lg"/>
              </a:ln>
            </p:spPr>
            <p:txBody>
              <a:bodyPr wrap="none" anchor="ctr"/>
              <a:lstStyle/>
              <a:p>
                <a:endParaRPr lang="zh-CN" altLang="en-US"/>
              </a:p>
            </p:txBody>
          </p:sp>
          <p:sp>
            <p:nvSpPr>
              <p:cNvPr id="133" name="Line 40">
                <a:extLst>
                  <a:ext uri="{FF2B5EF4-FFF2-40B4-BE49-F238E27FC236}">
                    <a16:creationId xmlns:a16="http://schemas.microsoft.com/office/drawing/2014/main" id="{FC498D9A-0144-460E-A13D-40DBB509EBCC}"/>
                  </a:ext>
                </a:extLst>
              </p:cNvPr>
              <p:cNvSpPr>
                <a:spLocks noChangeShapeType="1"/>
              </p:cNvSpPr>
              <p:nvPr/>
            </p:nvSpPr>
            <p:spPr bwMode="auto">
              <a:xfrm flipH="1">
                <a:off x="3453" y="2210"/>
                <a:ext cx="182" cy="0"/>
              </a:xfrm>
              <a:prstGeom prst="line">
                <a:avLst/>
              </a:prstGeom>
              <a:noFill/>
              <a:ln w="22225">
                <a:solidFill>
                  <a:schemeClr val="tx1"/>
                </a:solidFill>
                <a:round/>
                <a:headEnd/>
                <a:tailEnd type="triangle" w="sm" len="lg"/>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134" name="Object 41">
                    <a:extLst>
                      <a:ext uri="{FF2B5EF4-FFF2-40B4-BE49-F238E27FC236}">
                        <a16:creationId xmlns:a16="http://schemas.microsoft.com/office/drawing/2014/main" id="{6319A2D2-39ED-463C-B054-209627A25D0C}"/>
                      </a:ext>
                    </a:extLst>
                  </p:cNvPr>
                  <p:cNvSpPr txBox="1"/>
                  <p:nvPr/>
                </p:nvSpPr>
                <p:spPr bwMode="auto">
                  <a:xfrm>
                    <a:off x="3594" y="1979"/>
                    <a:ext cx="374" cy="533"/>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center"/>
                        </m:oMathParaPr>
                        <m:oMath xmlns:m="http://schemas.openxmlformats.org/officeDocument/2006/math">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2</m:t>
                              </m:r>
                              <m:r>
                                <a:rPr lang="zh-CN" altLang="en-US" sz="1600" i="1">
                                  <a:solidFill>
                                    <a:srgbClr val="000000"/>
                                  </a:solidFill>
                                  <a:latin typeface="Cambria Math" panose="02040503050406030204" pitchFamily="18" charset="0"/>
                                </a:rPr>
                                <m:t>𝜋</m:t>
                              </m:r>
                            </m:num>
                            <m:den>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𝑇</m:t>
                                  </m:r>
                                </m:e>
                                <m:sub>
                                  <m:r>
                                    <a:rPr lang="zh-CN" altLang="en-US" sz="1600" i="1">
                                      <a:solidFill>
                                        <a:srgbClr val="000000"/>
                                      </a:solidFill>
                                      <a:latin typeface="Cambria Math" panose="02040503050406030204" pitchFamily="18" charset="0"/>
                                    </a:rPr>
                                    <m:t>𝑠</m:t>
                                  </m:r>
                                </m:sub>
                              </m:sSub>
                            </m:den>
                          </m:f>
                        </m:oMath>
                      </m:oMathPara>
                    </a14:m>
                    <a:endParaRPr lang="zh-CN" altLang="en-US" sz="1600" dirty="0"/>
                  </a:p>
                </p:txBody>
              </p:sp>
            </mc:Choice>
            <mc:Fallback xmlns="">
              <p:sp>
                <p:nvSpPr>
                  <p:cNvPr id="134" name="Object 41">
                    <a:extLst>
                      <a:ext uri="{FF2B5EF4-FFF2-40B4-BE49-F238E27FC236}">
                        <a16:creationId xmlns:a16="http://schemas.microsoft.com/office/drawing/2014/main" id="{6319A2D2-39ED-463C-B054-209627A25D0C}"/>
                      </a:ext>
                    </a:extLst>
                  </p:cNvPr>
                  <p:cNvSpPr txBox="1">
                    <a:spLocks noRot="1" noChangeAspect="1" noMove="1" noResize="1" noEditPoints="1" noAdjustHandles="1" noChangeArrowheads="1" noChangeShapeType="1" noTextEdit="1"/>
                  </p:cNvSpPr>
                  <p:nvPr/>
                </p:nvSpPr>
                <p:spPr bwMode="auto">
                  <a:xfrm>
                    <a:off x="3594" y="1979"/>
                    <a:ext cx="374" cy="533"/>
                  </a:xfrm>
                  <a:prstGeom prst="rect">
                    <a:avLst/>
                  </a:prstGeom>
                  <a:blipFill>
                    <a:blip r:embed="rId13"/>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5" name="Object 42">
                    <a:extLst>
                      <a:ext uri="{FF2B5EF4-FFF2-40B4-BE49-F238E27FC236}">
                        <a16:creationId xmlns:a16="http://schemas.microsoft.com/office/drawing/2014/main" id="{2AE1A071-1D42-4865-B98C-C57BA8489C0D}"/>
                      </a:ext>
                    </a:extLst>
                  </p:cNvPr>
                  <p:cNvSpPr txBox="1"/>
                  <p:nvPr/>
                </p:nvSpPr>
                <p:spPr bwMode="auto">
                  <a:xfrm>
                    <a:off x="5119" y="2264"/>
                    <a:ext cx="320" cy="231"/>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center"/>
                        </m:oMathParaPr>
                        <m:oMath xmlns:m="http://schemas.openxmlformats.org/officeDocument/2006/math">
                          <m:r>
                            <a:rPr lang="zh-CN" altLang="en-US" i="1">
                              <a:solidFill>
                                <a:srgbClr val="000000"/>
                              </a:solidFill>
                              <a:latin typeface="Cambria Math" panose="02040503050406030204" pitchFamily="18" charset="0"/>
                            </a:rPr>
                            <m:t>𝜔</m:t>
                          </m:r>
                        </m:oMath>
                      </m:oMathPara>
                    </a14:m>
                    <a:endParaRPr lang="zh-CN" altLang="en-US" dirty="0"/>
                  </a:p>
                </p:txBody>
              </p:sp>
            </mc:Choice>
            <mc:Fallback xmlns="">
              <p:sp>
                <p:nvSpPr>
                  <p:cNvPr id="95" name="Object 42"/>
                  <p:cNvSpPr txBox="1">
                    <a:spLocks noRot="1" noChangeAspect="1" noMove="1" noResize="1" noEditPoints="1" noAdjustHandles="1" noChangeArrowheads="1" noChangeShapeType="1" noTextEdit="1"/>
                  </p:cNvSpPr>
                  <p:nvPr/>
                </p:nvSpPr>
                <p:spPr bwMode="auto">
                  <a:xfrm>
                    <a:off x="5119" y="2264"/>
                    <a:ext cx="320" cy="231"/>
                  </a:xfrm>
                  <a:prstGeom prst="rect">
                    <a:avLst/>
                  </a:prstGeom>
                  <a:blipFill>
                    <a:blip r:embed="rId5"/>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23" name="Object 7">
                  <a:extLst>
                    <a:ext uri="{FF2B5EF4-FFF2-40B4-BE49-F238E27FC236}">
                      <a16:creationId xmlns:a16="http://schemas.microsoft.com/office/drawing/2014/main" id="{416B9034-8DFA-490B-A2D8-640422A8C7A6}"/>
                    </a:ext>
                  </a:extLst>
                </p:cNvPr>
                <p:cNvSpPr txBox="1"/>
                <p:nvPr/>
              </p:nvSpPr>
              <p:spPr bwMode="auto">
                <a:xfrm>
                  <a:off x="7893404" y="4082659"/>
                  <a:ext cx="1044000" cy="328491"/>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chor="ctr" anchorCtr="0">
                  <a:noAutofit/>
                </a:bodyPr>
                <a:lstStyle/>
                <a:p>
                  <a:pPr/>
                  <a14:m>
                    <m:oMathPara xmlns:m="http://schemas.openxmlformats.org/officeDocument/2006/math">
                      <m:oMathParaPr>
                        <m:jc m:val="center"/>
                      </m:oMathParaPr>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𝐹</m:t>
                            </m:r>
                          </m:e>
                          <m:sub>
                            <m:r>
                              <a:rPr lang="zh-CN" altLang="en-US" sz="1600" i="1">
                                <a:solidFill>
                                  <a:srgbClr val="000000"/>
                                </a:solidFill>
                                <a:latin typeface="Cambria Math" panose="02040503050406030204" pitchFamily="18" charset="0"/>
                              </a:rPr>
                              <m:t>𝐶𝑜𝑚𝑏</m:t>
                            </m:r>
                          </m:sub>
                        </m:sSub>
                        <m:d>
                          <m:dPr>
                            <m:ctrlPr>
                              <a:rPr lang="zh-CN" altLang="en-US" sz="1600" i="1">
                                <a:solidFill>
                                  <a:srgbClr val="000000"/>
                                </a:solidFill>
                                <a:latin typeface="Cambria Math" panose="02040503050406030204" pitchFamily="18" charset="0"/>
                              </a:rPr>
                            </m:ctrlPr>
                          </m:dPr>
                          <m:e>
                            <m:r>
                              <a:rPr lang="zh-CN" altLang="en-US" sz="1600" i="1">
                                <a:solidFill>
                                  <a:srgbClr val="000000"/>
                                </a:solidFill>
                                <a:latin typeface="Cambria Math" panose="02040503050406030204" pitchFamily="18" charset="0"/>
                              </a:rPr>
                              <m:t>𝜔</m:t>
                            </m:r>
                          </m:e>
                        </m:d>
                      </m:oMath>
                    </m:oMathPara>
                  </a14:m>
                  <a:endParaRPr lang="zh-CN" altLang="en-US" sz="1600" dirty="0"/>
                </a:p>
              </p:txBody>
            </p:sp>
          </mc:Choice>
          <mc:Fallback xmlns="">
            <p:sp>
              <p:nvSpPr>
                <p:cNvPr id="123" name="Object 7">
                  <a:extLst>
                    <a:ext uri="{FF2B5EF4-FFF2-40B4-BE49-F238E27FC236}">
                      <a16:creationId xmlns:a16="http://schemas.microsoft.com/office/drawing/2014/main" id="{416B9034-8DFA-490B-A2D8-640422A8C7A6}"/>
                    </a:ext>
                  </a:extLst>
                </p:cNvPr>
                <p:cNvSpPr txBox="1">
                  <a:spLocks noRot="1" noChangeAspect="1" noMove="1" noResize="1" noEditPoints="1" noAdjustHandles="1" noChangeArrowheads="1" noChangeShapeType="1" noTextEdit="1"/>
                </p:cNvSpPr>
                <p:nvPr/>
              </p:nvSpPr>
              <p:spPr bwMode="auto">
                <a:xfrm>
                  <a:off x="7893404" y="4082659"/>
                  <a:ext cx="1044000" cy="328491"/>
                </a:xfrm>
                <a:prstGeom prst="rect">
                  <a:avLst/>
                </a:prstGeom>
                <a:blipFill>
                  <a:blip r:embed="rId14"/>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grpSp>
        <p:nvGrpSpPr>
          <p:cNvPr id="139" name="组合 138">
            <a:extLst>
              <a:ext uri="{FF2B5EF4-FFF2-40B4-BE49-F238E27FC236}">
                <a16:creationId xmlns:a16="http://schemas.microsoft.com/office/drawing/2014/main" id="{868756B1-BDB5-4967-8BC8-40154CCABD22}"/>
              </a:ext>
            </a:extLst>
          </p:cNvPr>
          <p:cNvGrpSpPr>
            <a:grpSpLocks noChangeAspect="1"/>
          </p:cNvGrpSpPr>
          <p:nvPr/>
        </p:nvGrpSpPr>
        <p:grpSpPr>
          <a:xfrm>
            <a:off x="1262784" y="4651878"/>
            <a:ext cx="2843798" cy="1581110"/>
            <a:chOff x="1024461" y="2737380"/>
            <a:chExt cx="3440347" cy="1912782"/>
          </a:xfrm>
        </p:grpSpPr>
        <p:grpSp>
          <p:nvGrpSpPr>
            <p:cNvPr id="214" name="组合 213">
              <a:extLst>
                <a:ext uri="{FF2B5EF4-FFF2-40B4-BE49-F238E27FC236}">
                  <a16:creationId xmlns:a16="http://schemas.microsoft.com/office/drawing/2014/main" id="{585E44D8-AA6E-44DD-BB00-47782A28CD65}"/>
                </a:ext>
              </a:extLst>
            </p:cNvPr>
            <p:cNvGrpSpPr>
              <a:grpSpLocks noChangeAspect="1"/>
            </p:cNvGrpSpPr>
            <p:nvPr/>
          </p:nvGrpSpPr>
          <p:grpSpPr>
            <a:xfrm>
              <a:off x="1024461" y="3065837"/>
              <a:ext cx="3440347" cy="1584325"/>
              <a:chOff x="7288241" y="3492299"/>
              <a:chExt cx="3440347" cy="1584325"/>
            </a:xfrm>
          </p:grpSpPr>
          <p:grpSp>
            <p:nvGrpSpPr>
              <p:cNvPr id="216" name="组合 215">
                <a:extLst>
                  <a:ext uri="{FF2B5EF4-FFF2-40B4-BE49-F238E27FC236}">
                    <a16:creationId xmlns:a16="http://schemas.microsoft.com/office/drawing/2014/main" id="{2E8266A9-6C97-4C72-9FE0-37C8E0DB2D9C}"/>
                  </a:ext>
                </a:extLst>
              </p:cNvPr>
              <p:cNvGrpSpPr/>
              <p:nvPr/>
            </p:nvGrpSpPr>
            <p:grpSpPr>
              <a:xfrm>
                <a:off x="7288241" y="3492299"/>
                <a:ext cx="3168650" cy="1584325"/>
                <a:chOff x="5364163" y="3644900"/>
                <a:chExt cx="3168650" cy="1584325"/>
              </a:xfrm>
            </p:grpSpPr>
            <p:grpSp>
              <p:nvGrpSpPr>
                <p:cNvPr id="218" name="Group 33">
                  <a:extLst>
                    <a:ext uri="{FF2B5EF4-FFF2-40B4-BE49-F238E27FC236}">
                      <a16:creationId xmlns:a16="http://schemas.microsoft.com/office/drawing/2014/main" id="{29234BA4-5554-4BB0-B2C4-DC44FD7985B5}"/>
                    </a:ext>
                  </a:extLst>
                </p:cNvPr>
                <p:cNvGrpSpPr>
                  <a:grpSpLocks/>
                </p:cNvGrpSpPr>
                <p:nvPr/>
              </p:nvGrpSpPr>
              <p:grpSpPr bwMode="auto">
                <a:xfrm>
                  <a:off x="5364163" y="3644900"/>
                  <a:ext cx="3168650" cy="1584325"/>
                  <a:chOff x="3379" y="2296"/>
                  <a:chExt cx="1996" cy="998"/>
                </a:xfrm>
              </p:grpSpPr>
              <p:sp>
                <p:nvSpPr>
                  <p:cNvPr id="245" name="Line 34">
                    <a:extLst>
                      <a:ext uri="{FF2B5EF4-FFF2-40B4-BE49-F238E27FC236}">
                        <a16:creationId xmlns:a16="http://schemas.microsoft.com/office/drawing/2014/main" id="{01D23BD6-15F9-4AB0-A99B-3375FCDA3CBB}"/>
                      </a:ext>
                    </a:extLst>
                  </p:cNvPr>
                  <p:cNvSpPr>
                    <a:spLocks noChangeShapeType="1"/>
                  </p:cNvSpPr>
                  <p:nvPr/>
                </p:nvSpPr>
                <p:spPr bwMode="auto">
                  <a:xfrm>
                    <a:off x="3379" y="3067"/>
                    <a:ext cx="1996"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246" name="Line 35">
                    <a:extLst>
                      <a:ext uri="{FF2B5EF4-FFF2-40B4-BE49-F238E27FC236}">
                        <a16:creationId xmlns:a16="http://schemas.microsoft.com/office/drawing/2014/main" id="{463799FD-60CD-4E5D-84AE-E826B34B61AE}"/>
                      </a:ext>
                    </a:extLst>
                  </p:cNvPr>
                  <p:cNvSpPr>
                    <a:spLocks noChangeShapeType="1"/>
                  </p:cNvSpPr>
                  <p:nvPr/>
                </p:nvSpPr>
                <p:spPr bwMode="auto">
                  <a:xfrm>
                    <a:off x="4332" y="2296"/>
                    <a:ext cx="0" cy="998"/>
                  </a:xfrm>
                  <a:prstGeom prst="line">
                    <a:avLst/>
                  </a:prstGeom>
                  <a:noFill/>
                  <a:ln w="22225">
                    <a:solidFill>
                      <a:schemeClr val="tx1"/>
                    </a:solidFill>
                    <a:round/>
                    <a:headEnd type="arrow" w="med" len="med"/>
                    <a:tailEnd type="none" w="med" len="med"/>
                  </a:ln>
                </p:spPr>
                <p:txBody>
                  <a:bodyPr wrap="none" anchor="ctr"/>
                  <a:lstStyle/>
                  <a:p>
                    <a:endParaRPr lang="zh-CN" altLang="en-US"/>
                  </a:p>
                </p:txBody>
              </p:sp>
              <p:sp>
                <p:nvSpPr>
                  <p:cNvPr id="247" name="Freeform 36">
                    <a:extLst>
                      <a:ext uri="{FF2B5EF4-FFF2-40B4-BE49-F238E27FC236}">
                        <a16:creationId xmlns:a16="http://schemas.microsoft.com/office/drawing/2014/main" id="{7687991E-60B1-4A5E-BA26-9FF22C23463B}"/>
                      </a:ext>
                    </a:extLst>
                  </p:cNvPr>
                  <p:cNvSpPr>
                    <a:spLocks/>
                  </p:cNvSpPr>
                  <p:nvPr/>
                </p:nvSpPr>
                <p:spPr bwMode="auto">
                  <a:xfrm>
                    <a:off x="3560" y="2432"/>
                    <a:ext cx="1588" cy="407"/>
                  </a:xfrm>
                  <a:custGeom>
                    <a:avLst/>
                    <a:gdLst>
                      <a:gd name="T0" fmla="*/ 0 w 1588"/>
                      <a:gd name="T1" fmla="*/ 272 h 407"/>
                      <a:gd name="T2" fmla="*/ 91 w 1588"/>
                      <a:gd name="T3" fmla="*/ 136 h 407"/>
                      <a:gd name="T4" fmla="*/ 227 w 1588"/>
                      <a:gd name="T5" fmla="*/ 181 h 407"/>
                      <a:gd name="T6" fmla="*/ 363 w 1588"/>
                      <a:gd name="T7" fmla="*/ 136 h 407"/>
                      <a:gd name="T8" fmla="*/ 454 w 1588"/>
                      <a:gd name="T9" fmla="*/ 90 h 407"/>
                      <a:gd name="T10" fmla="*/ 545 w 1588"/>
                      <a:gd name="T11" fmla="*/ 45 h 407"/>
                      <a:gd name="T12" fmla="*/ 681 w 1588"/>
                      <a:gd name="T13" fmla="*/ 362 h 407"/>
                      <a:gd name="T14" fmla="*/ 953 w 1588"/>
                      <a:gd name="T15" fmla="*/ 317 h 407"/>
                      <a:gd name="T16" fmla="*/ 1134 w 1588"/>
                      <a:gd name="T17" fmla="*/ 136 h 407"/>
                      <a:gd name="T18" fmla="*/ 1270 w 1588"/>
                      <a:gd name="T19" fmla="*/ 90 h 407"/>
                      <a:gd name="T20" fmla="*/ 1452 w 1588"/>
                      <a:gd name="T21" fmla="*/ 226 h 407"/>
                      <a:gd name="T22" fmla="*/ 1588 w 1588"/>
                      <a:gd name="T23" fmla="*/ 317 h 4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8"/>
                      <a:gd name="T37" fmla="*/ 0 h 407"/>
                      <a:gd name="T38" fmla="*/ 1588 w 1588"/>
                      <a:gd name="T39" fmla="*/ 407 h 4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8" h="407">
                        <a:moveTo>
                          <a:pt x="0" y="272"/>
                        </a:moveTo>
                        <a:cubicBezTo>
                          <a:pt x="26" y="211"/>
                          <a:pt x="53" y="151"/>
                          <a:pt x="91" y="136"/>
                        </a:cubicBezTo>
                        <a:cubicBezTo>
                          <a:pt x="129" y="121"/>
                          <a:pt x="182" y="181"/>
                          <a:pt x="227" y="181"/>
                        </a:cubicBezTo>
                        <a:cubicBezTo>
                          <a:pt x="272" y="181"/>
                          <a:pt x="325" y="151"/>
                          <a:pt x="363" y="136"/>
                        </a:cubicBezTo>
                        <a:cubicBezTo>
                          <a:pt x="401" y="121"/>
                          <a:pt x="424" y="105"/>
                          <a:pt x="454" y="90"/>
                        </a:cubicBezTo>
                        <a:cubicBezTo>
                          <a:pt x="484" y="75"/>
                          <a:pt x="507" y="0"/>
                          <a:pt x="545" y="45"/>
                        </a:cubicBezTo>
                        <a:cubicBezTo>
                          <a:pt x="583" y="90"/>
                          <a:pt x="613" y="317"/>
                          <a:pt x="681" y="362"/>
                        </a:cubicBezTo>
                        <a:cubicBezTo>
                          <a:pt x="749" y="407"/>
                          <a:pt x="878" y="355"/>
                          <a:pt x="953" y="317"/>
                        </a:cubicBezTo>
                        <a:cubicBezTo>
                          <a:pt x="1028" y="279"/>
                          <a:pt x="1081" y="174"/>
                          <a:pt x="1134" y="136"/>
                        </a:cubicBezTo>
                        <a:cubicBezTo>
                          <a:pt x="1187" y="98"/>
                          <a:pt x="1217" y="75"/>
                          <a:pt x="1270" y="90"/>
                        </a:cubicBezTo>
                        <a:cubicBezTo>
                          <a:pt x="1323" y="105"/>
                          <a:pt x="1399" y="188"/>
                          <a:pt x="1452" y="226"/>
                        </a:cubicBezTo>
                        <a:cubicBezTo>
                          <a:pt x="1505" y="264"/>
                          <a:pt x="1565" y="302"/>
                          <a:pt x="1588" y="317"/>
                        </a:cubicBezTo>
                      </a:path>
                    </a:pathLst>
                  </a:custGeom>
                  <a:noFill/>
                  <a:ln w="22225">
                    <a:solidFill>
                      <a:schemeClr val="tx1"/>
                    </a:solidFill>
                    <a:round/>
                    <a:headEnd/>
                    <a:tailEnd type="none" w="sm" len="lg"/>
                  </a:ln>
                </p:spPr>
                <p:txBody>
                  <a:bodyPr wrap="none" anchor="ctr"/>
                  <a:lstStyle/>
                  <a:p>
                    <a:endParaRPr lang="zh-CN" altLang="en-US"/>
                  </a:p>
                </p:txBody>
              </p:sp>
            </p:grpSp>
            <p:grpSp>
              <p:nvGrpSpPr>
                <p:cNvPr id="219" name="Group 37">
                  <a:extLst>
                    <a:ext uri="{FF2B5EF4-FFF2-40B4-BE49-F238E27FC236}">
                      <a16:creationId xmlns:a16="http://schemas.microsoft.com/office/drawing/2014/main" id="{F41D6DE9-5A5B-4E49-B759-56E5003ED825}"/>
                    </a:ext>
                  </a:extLst>
                </p:cNvPr>
                <p:cNvGrpSpPr>
                  <a:grpSpLocks/>
                </p:cNvGrpSpPr>
                <p:nvPr/>
              </p:nvGrpSpPr>
              <p:grpSpPr bwMode="auto">
                <a:xfrm>
                  <a:off x="5795963" y="3933825"/>
                  <a:ext cx="2376487" cy="936625"/>
                  <a:chOff x="3651" y="2478"/>
                  <a:chExt cx="1497" cy="590"/>
                </a:xfrm>
              </p:grpSpPr>
              <p:sp>
                <p:nvSpPr>
                  <p:cNvPr id="233" name="Line 38">
                    <a:extLst>
                      <a:ext uri="{FF2B5EF4-FFF2-40B4-BE49-F238E27FC236}">
                        <a16:creationId xmlns:a16="http://schemas.microsoft.com/office/drawing/2014/main" id="{057D6B8F-D1C9-465E-B319-A8A6C1F7FF7E}"/>
                      </a:ext>
                    </a:extLst>
                  </p:cNvPr>
                  <p:cNvSpPr>
                    <a:spLocks noChangeShapeType="1"/>
                  </p:cNvSpPr>
                  <p:nvPr/>
                </p:nvSpPr>
                <p:spPr bwMode="auto">
                  <a:xfrm flipV="1">
                    <a:off x="3651" y="2568"/>
                    <a:ext cx="0" cy="500"/>
                  </a:xfrm>
                  <a:prstGeom prst="line">
                    <a:avLst/>
                  </a:prstGeom>
                  <a:noFill/>
                  <a:ln w="22225">
                    <a:solidFill>
                      <a:srgbClr val="FF0000"/>
                    </a:solidFill>
                    <a:round/>
                    <a:headEnd/>
                    <a:tailEnd type="triangle" w="sm" len="lg"/>
                  </a:ln>
                </p:spPr>
                <p:txBody>
                  <a:bodyPr wrap="none" anchor="ctr"/>
                  <a:lstStyle/>
                  <a:p>
                    <a:endParaRPr lang="zh-CN" altLang="en-US"/>
                  </a:p>
                </p:txBody>
              </p:sp>
              <p:sp>
                <p:nvSpPr>
                  <p:cNvPr id="234" name="Line 39">
                    <a:extLst>
                      <a:ext uri="{FF2B5EF4-FFF2-40B4-BE49-F238E27FC236}">
                        <a16:creationId xmlns:a16="http://schemas.microsoft.com/office/drawing/2014/main" id="{7F58FAC3-10CB-4868-BE5F-E90B99353EDB}"/>
                      </a:ext>
                    </a:extLst>
                  </p:cNvPr>
                  <p:cNvSpPr>
                    <a:spLocks noChangeShapeType="1"/>
                  </p:cNvSpPr>
                  <p:nvPr/>
                </p:nvSpPr>
                <p:spPr bwMode="auto">
                  <a:xfrm flipV="1">
                    <a:off x="3787" y="2614"/>
                    <a:ext cx="0" cy="454"/>
                  </a:xfrm>
                  <a:prstGeom prst="line">
                    <a:avLst/>
                  </a:prstGeom>
                  <a:noFill/>
                  <a:ln w="22225">
                    <a:solidFill>
                      <a:srgbClr val="FF0000"/>
                    </a:solidFill>
                    <a:round/>
                    <a:headEnd/>
                    <a:tailEnd type="triangle" w="sm" len="lg"/>
                  </a:ln>
                </p:spPr>
                <p:txBody>
                  <a:bodyPr wrap="none" anchor="ctr"/>
                  <a:lstStyle/>
                  <a:p>
                    <a:endParaRPr lang="zh-CN" altLang="en-US"/>
                  </a:p>
                </p:txBody>
              </p:sp>
              <p:sp>
                <p:nvSpPr>
                  <p:cNvPr id="235" name="Line 40">
                    <a:extLst>
                      <a:ext uri="{FF2B5EF4-FFF2-40B4-BE49-F238E27FC236}">
                        <a16:creationId xmlns:a16="http://schemas.microsoft.com/office/drawing/2014/main" id="{5B41BBDF-0DF8-410E-9F3D-61C0A755EDEC}"/>
                      </a:ext>
                    </a:extLst>
                  </p:cNvPr>
                  <p:cNvSpPr>
                    <a:spLocks noChangeShapeType="1"/>
                  </p:cNvSpPr>
                  <p:nvPr/>
                </p:nvSpPr>
                <p:spPr bwMode="auto">
                  <a:xfrm flipV="1">
                    <a:off x="3923" y="2568"/>
                    <a:ext cx="0" cy="500"/>
                  </a:xfrm>
                  <a:prstGeom prst="line">
                    <a:avLst/>
                  </a:prstGeom>
                  <a:noFill/>
                  <a:ln w="22225">
                    <a:solidFill>
                      <a:srgbClr val="FF0000"/>
                    </a:solidFill>
                    <a:round/>
                    <a:headEnd/>
                    <a:tailEnd type="triangle" w="sm" len="lg"/>
                  </a:ln>
                </p:spPr>
                <p:txBody>
                  <a:bodyPr wrap="none" anchor="ctr"/>
                  <a:lstStyle/>
                  <a:p>
                    <a:endParaRPr lang="zh-CN" altLang="en-US"/>
                  </a:p>
                </p:txBody>
              </p:sp>
              <p:sp>
                <p:nvSpPr>
                  <p:cNvPr id="236" name="Line 41">
                    <a:extLst>
                      <a:ext uri="{FF2B5EF4-FFF2-40B4-BE49-F238E27FC236}">
                        <a16:creationId xmlns:a16="http://schemas.microsoft.com/office/drawing/2014/main" id="{846FCA86-A487-469C-9ADF-7D52AD74FA96}"/>
                      </a:ext>
                    </a:extLst>
                  </p:cNvPr>
                  <p:cNvSpPr>
                    <a:spLocks noChangeShapeType="1"/>
                  </p:cNvSpPr>
                  <p:nvPr/>
                </p:nvSpPr>
                <p:spPr bwMode="auto">
                  <a:xfrm flipV="1">
                    <a:off x="4059" y="2478"/>
                    <a:ext cx="0" cy="590"/>
                  </a:xfrm>
                  <a:prstGeom prst="line">
                    <a:avLst/>
                  </a:prstGeom>
                  <a:noFill/>
                  <a:ln w="22225">
                    <a:solidFill>
                      <a:srgbClr val="FF0000"/>
                    </a:solidFill>
                    <a:round/>
                    <a:headEnd/>
                    <a:tailEnd type="triangle" w="sm" len="lg"/>
                  </a:ln>
                </p:spPr>
                <p:txBody>
                  <a:bodyPr wrap="none" anchor="ctr"/>
                  <a:lstStyle/>
                  <a:p>
                    <a:endParaRPr lang="zh-CN" altLang="en-US"/>
                  </a:p>
                </p:txBody>
              </p:sp>
              <p:sp>
                <p:nvSpPr>
                  <p:cNvPr id="237" name="Line 42">
                    <a:extLst>
                      <a:ext uri="{FF2B5EF4-FFF2-40B4-BE49-F238E27FC236}">
                        <a16:creationId xmlns:a16="http://schemas.microsoft.com/office/drawing/2014/main" id="{E1816864-59A0-430A-9387-826878F814E7}"/>
                      </a:ext>
                    </a:extLst>
                  </p:cNvPr>
                  <p:cNvSpPr>
                    <a:spLocks noChangeShapeType="1"/>
                  </p:cNvSpPr>
                  <p:nvPr/>
                </p:nvSpPr>
                <p:spPr bwMode="auto">
                  <a:xfrm flipV="1">
                    <a:off x="4195" y="2750"/>
                    <a:ext cx="0" cy="318"/>
                  </a:xfrm>
                  <a:prstGeom prst="line">
                    <a:avLst/>
                  </a:prstGeom>
                  <a:noFill/>
                  <a:ln w="22225">
                    <a:solidFill>
                      <a:srgbClr val="FF0000"/>
                    </a:solidFill>
                    <a:round/>
                    <a:headEnd/>
                    <a:tailEnd type="triangle" w="sm" len="lg"/>
                  </a:ln>
                </p:spPr>
                <p:txBody>
                  <a:bodyPr wrap="none" anchor="ctr"/>
                  <a:lstStyle/>
                  <a:p>
                    <a:endParaRPr lang="zh-CN" altLang="en-US"/>
                  </a:p>
                </p:txBody>
              </p:sp>
              <p:sp>
                <p:nvSpPr>
                  <p:cNvPr id="238" name="Line 43">
                    <a:extLst>
                      <a:ext uri="{FF2B5EF4-FFF2-40B4-BE49-F238E27FC236}">
                        <a16:creationId xmlns:a16="http://schemas.microsoft.com/office/drawing/2014/main" id="{85442796-479E-4B60-803D-90A7BD3E13A7}"/>
                      </a:ext>
                    </a:extLst>
                  </p:cNvPr>
                  <p:cNvSpPr>
                    <a:spLocks noChangeShapeType="1"/>
                  </p:cNvSpPr>
                  <p:nvPr/>
                </p:nvSpPr>
                <p:spPr bwMode="auto">
                  <a:xfrm flipV="1">
                    <a:off x="4332" y="2795"/>
                    <a:ext cx="0" cy="273"/>
                  </a:xfrm>
                  <a:prstGeom prst="line">
                    <a:avLst/>
                  </a:prstGeom>
                  <a:noFill/>
                  <a:ln w="22225">
                    <a:solidFill>
                      <a:srgbClr val="FF0000"/>
                    </a:solidFill>
                    <a:round/>
                    <a:headEnd/>
                    <a:tailEnd type="triangle" w="sm" len="lg"/>
                  </a:ln>
                </p:spPr>
                <p:txBody>
                  <a:bodyPr wrap="none" anchor="ctr"/>
                  <a:lstStyle/>
                  <a:p>
                    <a:endParaRPr lang="zh-CN" altLang="en-US"/>
                  </a:p>
                </p:txBody>
              </p:sp>
              <p:sp>
                <p:nvSpPr>
                  <p:cNvPr id="239" name="Line 44">
                    <a:extLst>
                      <a:ext uri="{FF2B5EF4-FFF2-40B4-BE49-F238E27FC236}">
                        <a16:creationId xmlns:a16="http://schemas.microsoft.com/office/drawing/2014/main" id="{85B1DF28-6497-44EF-A1CA-80EEC96E3BDD}"/>
                      </a:ext>
                    </a:extLst>
                  </p:cNvPr>
                  <p:cNvSpPr>
                    <a:spLocks noChangeShapeType="1"/>
                  </p:cNvSpPr>
                  <p:nvPr/>
                </p:nvSpPr>
                <p:spPr bwMode="auto">
                  <a:xfrm flipV="1">
                    <a:off x="4468" y="2750"/>
                    <a:ext cx="0" cy="317"/>
                  </a:xfrm>
                  <a:prstGeom prst="line">
                    <a:avLst/>
                  </a:prstGeom>
                  <a:noFill/>
                  <a:ln w="22225">
                    <a:solidFill>
                      <a:srgbClr val="FF0000"/>
                    </a:solidFill>
                    <a:round/>
                    <a:headEnd/>
                    <a:tailEnd type="triangle" w="sm" len="lg"/>
                  </a:ln>
                </p:spPr>
                <p:txBody>
                  <a:bodyPr wrap="none" anchor="ctr"/>
                  <a:lstStyle/>
                  <a:p>
                    <a:endParaRPr lang="zh-CN" altLang="en-US"/>
                  </a:p>
                </p:txBody>
              </p:sp>
              <p:sp>
                <p:nvSpPr>
                  <p:cNvPr id="240" name="Line 45">
                    <a:extLst>
                      <a:ext uri="{FF2B5EF4-FFF2-40B4-BE49-F238E27FC236}">
                        <a16:creationId xmlns:a16="http://schemas.microsoft.com/office/drawing/2014/main" id="{39DB4664-2F83-4A8B-8C9D-6C09608C2360}"/>
                      </a:ext>
                    </a:extLst>
                  </p:cNvPr>
                  <p:cNvSpPr>
                    <a:spLocks noChangeShapeType="1"/>
                  </p:cNvSpPr>
                  <p:nvPr/>
                </p:nvSpPr>
                <p:spPr bwMode="auto">
                  <a:xfrm flipV="1">
                    <a:off x="4604" y="2660"/>
                    <a:ext cx="0" cy="408"/>
                  </a:xfrm>
                  <a:prstGeom prst="line">
                    <a:avLst/>
                  </a:prstGeom>
                  <a:noFill/>
                  <a:ln w="22225">
                    <a:solidFill>
                      <a:srgbClr val="FF0000"/>
                    </a:solidFill>
                    <a:round/>
                    <a:headEnd/>
                    <a:tailEnd type="triangle" w="sm" len="lg"/>
                  </a:ln>
                </p:spPr>
                <p:txBody>
                  <a:bodyPr wrap="none" anchor="ctr"/>
                  <a:lstStyle/>
                  <a:p>
                    <a:endParaRPr lang="zh-CN" altLang="en-US"/>
                  </a:p>
                </p:txBody>
              </p:sp>
              <p:sp>
                <p:nvSpPr>
                  <p:cNvPr id="241" name="Line 46">
                    <a:extLst>
                      <a:ext uri="{FF2B5EF4-FFF2-40B4-BE49-F238E27FC236}">
                        <a16:creationId xmlns:a16="http://schemas.microsoft.com/office/drawing/2014/main" id="{B0A43CEE-E9D2-49A8-A8D4-FD2275235AC7}"/>
                      </a:ext>
                    </a:extLst>
                  </p:cNvPr>
                  <p:cNvSpPr>
                    <a:spLocks noChangeShapeType="1"/>
                  </p:cNvSpPr>
                  <p:nvPr/>
                </p:nvSpPr>
                <p:spPr bwMode="auto">
                  <a:xfrm flipV="1">
                    <a:off x="4740" y="2523"/>
                    <a:ext cx="0" cy="545"/>
                  </a:xfrm>
                  <a:prstGeom prst="line">
                    <a:avLst/>
                  </a:prstGeom>
                  <a:noFill/>
                  <a:ln w="22225">
                    <a:solidFill>
                      <a:srgbClr val="FF0000"/>
                    </a:solidFill>
                    <a:round/>
                    <a:headEnd/>
                    <a:tailEnd type="triangle" w="sm" len="lg"/>
                  </a:ln>
                </p:spPr>
                <p:txBody>
                  <a:bodyPr wrap="none" anchor="ctr"/>
                  <a:lstStyle/>
                  <a:p>
                    <a:endParaRPr lang="zh-CN" altLang="en-US"/>
                  </a:p>
                </p:txBody>
              </p:sp>
              <p:sp>
                <p:nvSpPr>
                  <p:cNvPr id="242" name="Line 47">
                    <a:extLst>
                      <a:ext uri="{FF2B5EF4-FFF2-40B4-BE49-F238E27FC236}">
                        <a16:creationId xmlns:a16="http://schemas.microsoft.com/office/drawing/2014/main" id="{5E89A603-4CDA-4679-AF5B-91689F0AF74F}"/>
                      </a:ext>
                    </a:extLst>
                  </p:cNvPr>
                  <p:cNvSpPr>
                    <a:spLocks noChangeShapeType="1"/>
                  </p:cNvSpPr>
                  <p:nvPr/>
                </p:nvSpPr>
                <p:spPr bwMode="auto">
                  <a:xfrm flipV="1">
                    <a:off x="4876" y="2523"/>
                    <a:ext cx="0" cy="545"/>
                  </a:xfrm>
                  <a:prstGeom prst="line">
                    <a:avLst/>
                  </a:prstGeom>
                  <a:noFill/>
                  <a:ln w="22225">
                    <a:solidFill>
                      <a:srgbClr val="FF0000"/>
                    </a:solidFill>
                    <a:round/>
                    <a:headEnd/>
                    <a:tailEnd type="triangle" w="sm" len="lg"/>
                  </a:ln>
                </p:spPr>
                <p:txBody>
                  <a:bodyPr wrap="none" anchor="ctr"/>
                  <a:lstStyle/>
                  <a:p>
                    <a:endParaRPr lang="zh-CN" altLang="en-US"/>
                  </a:p>
                </p:txBody>
              </p:sp>
              <p:sp>
                <p:nvSpPr>
                  <p:cNvPr id="243" name="Line 48">
                    <a:extLst>
                      <a:ext uri="{FF2B5EF4-FFF2-40B4-BE49-F238E27FC236}">
                        <a16:creationId xmlns:a16="http://schemas.microsoft.com/office/drawing/2014/main" id="{E6D19625-8B20-4B68-BB65-E02FD1B9BBC6}"/>
                      </a:ext>
                    </a:extLst>
                  </p:cNvPr>
                  <p:cNvSpPr>
                    <a:spLocks noChangeShapeType="1"/>
                  </p:cNvSpPr>
                  <p:nvPr/>
                </p:nvSpPr>
                <p:spPr bwMode="auto">
                  <a:xfrm flipV="1">
                    <a:off x="5012" y="2660"/>
                    <a:ext cx="0" cy="408"/>
                  </a:xfrm>
                  <a:prstGeom prst="line">
                    <a:avLst/>
                  </a:prstGeom>
                  <a:noFill/>
                  <a:ln w="22225">
                    <a:solidFill>
                      <a:srgbClr val="FF0000"/>
                    </a:solidFill>
                    <a:round/>
                    <a:headEnd/>
                    <a:tailEnd type="triangle" w="sm" len="lg"/>
                  </a:ln>
                </p:spPr>
                <p:txBody>
                  <a:bodyPr wrap="none" anchor="ctr"/>
                  <a:lstStyle/>
                  <a:p>
                    <a:endParaRPr lang="zh-CN" altLang="en-US"/>
                  </a:p>
                </p:txBody>
              </p:sp>
              <p:sp>
                <p:nvSpPr>
                  <p:cNvPr id="244" name="Line 49">
                    <a:extLst>
                      <a:ext uri="{FF2B5EF4-FFF2-40B4-BE49-F238E27FC236}">
                        <a16:creationId xmlns:a16="http://schemas.microsoft.com/office/drawing/2014/main" id="{97EDF3EC-A3FF-42A5-BC5B-7D7AB604B38D}"/>
                      </a:ext>
                    </a:extLst>
                  </p:cNvPr>
                  <p:cNvSpPr>
                    <a:spLocks noChangeShapeType="1"/>
                  </p:cNvSpPr>
                  <p:nvPr/>
                </p:nvSpPr>
                <p:spPr bwMode="auto">
                  <a:xfrm flipV="1">
                    <a:off x="5148" y="2750"/>
                    <a:ext cx="0" cy="318"/>
                  </a:xfrm>
                  <a:prstGeom prst="line">
                    <a:avLst/>
                  </a:prstGeom>
                  <a:noFill/>
                  <a:ln w="22225">
                    <a:solidFill>
                      <a:srgbClr val="FF0000"/>
                    </a:solidFill>
                    <a:round/>
                    <a:headEnd/>
                    <a:tailEnd type="triangle" w="sm" len="lg"/>
                  </a:ln>
                </p:spPr>
                <p:txBody>
                  <a:bodyPr wrap="none" anchor="ctr"/>
                  <a:lstStyle/>
                  <a:p>
                    <a:endParaRPr lang="zh-CN" altLang="en-US"/>
                  </a:p>
                </p:txBody>
              </p:sp>
            </p:grpSp>
            <p:grpSp>
              <p:nvGrpSpPr>
                <p:cNvPr id="220" name="Group 50">
                  <a:extLst>
                    <a:ext uri="{FF2B5EF4-FFF2-40B4-BE49-F238E27FC236}">
                      <a16:creationId xmlns:a16="http://schemas.microsoft.com/office/drawing/2014/main" id="{C07DE860-8E13-43E3-9D2E-64D7879BCF26}"/>
                    </a:ext>
                  </a:extLst>
                </p:cNvPr>
                <p:cNvGrpSpPr>
                  <a:grpSpLocks/>
                </p:cNvGrpSpPr>
                <p:nvPr/>
              </p:nvGrpSpPr>
              <p:grpSpPr bwMode="auto">
                <a:xfrm>
                  <a:off x="5767388" y="3889375"/>
                  <a:ext cx="2446337" cy="620713"/>
                  <a:chOff x="3633" y="2450"/>
                  <a:chExt cx="1541" cy="391"/>
                </a:xfrm>
              </p:grpSpPr>
              <p:sp>
                <p:nvSpPr>
                  <p:cNvPr id="221" name="Oval 51">
                    <a:extLst>
                      <a:ext uri="{FF2B5EF4-FFF2-40B4-BE49-F238E27FC236}">
                        <a16:creationId xmlns:a16="http://schemas.microsoft.com/office/drawing/2014/main" id="{FDFFCC27-23B1-4C2F-816E-3121A6D67434}"/>
                      </a:ext>
                    </a:extLst>
                  </p:cNvPr>
                  <p:cNvSpPr>
                    <a:spLocks noChangeArrowheads="1"/>
                  </p:cNvSpPr>
                  <p:nvPr/>
                </p:nvSpPr>
                <p:spPr bwMode="auto">
                  <a:xfrm>
                    <a:off x="3633" y="2541"/>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22" name="Oval 52">
                    <a:extLst>
                      <a:ext uri="{FF2B5EF4-FFF2-40B4-BE49-F238E27FC236}">
                        <a16:creationId xmlns:a16="http://schemas.microsoft.com/office/drawing/2014/main" id="{15540878-9401-4ACD-B256-D1A15E5B4A7C}"/>
                      </a:ext>
                    </a:extLst>
                  </p:cNvPr>
                  <p:cNvSpPr>
                    <a:spLocks noChangeArrowheads="1"/>
                  </p:cNvSpPr>
                  <p:nvPr/>
                </p:nvSpPr>
                <p:spPr bwMode="auto">
                  <a:xfrm>
                    <a:off x="3769" y="2587"/>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23" name="Oval 53">
                    <a:extLst>
                      <a:ext uri="{FF2B5EF4-FFF2-40B4-BE49-F238E27FC236}">
                        <a16:creationId xmlns:a16="http://schemas.microsoft.com/office/drawing/2014/main" id="{CF137296-9066-4878-88F8-4F12A4334A05}"/>
                      </a:ext>
                    </a:extLst>
                  </p:cNvPr>
                  <p:cNvSpPr>
                    <a:spLocks noChangeArrowheads="1"/>
                  </p:cNvSpPr>
                  <p:nvPr/>
                </p:nvSpPr>
                <p:spPr bwMode="auto">
                  <a:xfrm>
                    <a:off x="3905" y="2541"/>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24" name="Oval 54">
                    <a:extLst>
                      <a:ext uri="{FF2B5EF4-FFF2-40B4-BE49-F238E27FC236}">
                        <a16:creationId xmlns:a16="http://schemas.microsoft.com/office/drawing/2014/main" id="{026FF95C-E4D7-48E9-8534-70449A6639D5}"/>
                      </a:ext>
                    </a:extLst>
                  </p:cNvPr>
                  <p:cNvSpPr>
                    <a:spLocks noChangeArrowheads="1"/>
                  </p:cNvSpPr>
                  <p:nvPr/>
                </p:nvSpPr>
                <p:spPr bwMode="auto">
                  <a:xfrm>
                    <a:off x="4041" y="2450"/>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25" name="Oval 55">
                    <a:extLst>
                      <a:ext uri="{FF2B5EF4-FFF2-40B4-BE49-F238E27FC236}">
                        <a16:creationId xmlns:a16="http://schemas.microsoft.com/office/drawing/2014/main" id="{2F08A014-3BAB-46F4-9BB2-FF2DEDAC83D9}"/>
                      </a:ext>
                    </a:extLst>
                  </p:cNvPr>
                  <p:cNvSpPr>
                    <a:spLocks noChangeArrowheads="1"/>
                  </p:cNvSpPr>
                  <p:nvPr/>
                </p:nvSpPr>
                <p:spPr bwMode="auto">
                  <a:xfrm>
                    <a:off x="4177" y="2732"/>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26" name="Oval 56">
                    <a:extLst>
                      <a:ext uri="{FF2B5EF4-FFF2-40B4-BE49-F238E27FC236}">
                        <a16:creationId xmlns:a16="http://schemas.microsoft.com/office/drawing/2014/main" id="{C452F3ED-759D-43D8-AF32-6AE378852EDE}"/>
                      </a:ext>
                    </a:extLst>
                  </p:cNvPr>
                  <p:cNvSpPr>
                    <a:spLocks noChangeArrowheads="1"/>
                  </p:cNvSpPr>
                  <p:nvPr/>
                </p:nvSpPr>
                <p:spPr bwMode="auto">
                  <a:xfrm>
                    <a:off x="4313" y="2796"/>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27" name="Oval 57">
                    <a:extLst>
                      <a:ext uri="{FF2B5EF4-FFF2-40B4-BE49-F238E27FC236}">
                        <a16:creationId xmlns:a16="http://schemas.microsoft.com/office/drawing/2014/main" id="{F8A3C2A3-D807-42E8-AF1B-9EE02B404B74}"/>
                      </a:ext>
                    </a:extLst>
                  </p:cNvPr>
                  <p:cNvSpPr>
                    <a:spLocks noChangeArrowheads="1"/>
                  </p:cNvSpPr>
                  <p:nvPr/>
                </p:nvSpPr>
                <p:spPr bwMode="auto">
                  <a:xfrm>
                    <a:off x="4449" y="2750"/>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28" name="Oval 58">
                    <a:extLst>
                      <a:ext uri="{FF2B5EF4-FFF2-40B4-BE49-F238E27FC236}">
                        <a16:creationId xmlns:a16="http://schemas.microsoft.com/office/drawing/2014/main" id="{ECB81F8E-3D4C-4A3C-8946-34CFADCB56FE}"/>
                      </a:ext>
                    </a:extLst>
                  </p:cNvPr>
                  <p:cNvSpPr>
                    <a:spLocks noChangeArrowheads="1"/>
                  </p:cNvSpPr>
                  <p:nvPr/>
                </p:nvSpPr>
                <p:spPr bwMode="auto">
                  <a:xfrm>
                    <a:off x="4585" y="2641"/>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29" name="Oval 59">
                    <a:extLst>
                      <a:ext uri="{FF2B5EF4-FFF2-40B4-BE49-F238E27FC236}">
                        <a16:creationId xmlns:a16="http://schemas.microsoft.com/office/drawing/2014/main" id="{A1F0D372-8CF8-413D-9186-8F862F9F615A}"/>
                      </a:ext>
                    </a:extLst>
                  </p:cNvPr>
                  <p:cNvSpPr>
                    <a:spLocks noChangeArrowheads="1"/>
                  </p:cNvSpPr>
                  <p:nvPr/>
                </p:nvSpPr>
                <p:spPr bwMode="auto">
                  <a:xfrm>
                    <a:off x="4721" y="2514"/>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30" name="Oval 60">
                    <a:extLst>
                      <a:ext uri="{FF2B5EF4-FFF2-40B4-BE49-F238E27FC236}">
                        <a16:creationId xmlns:a16="http://schemas.microsoft.com/office/drawing/2014/main" id="{AD2F7157-C4F1-40C2-88E0-29E19EF7339F}"/>
                      </a:ext>
                    </a:extLst>
                  </p:cNvPr>
                  <p:cNvSpPr>
                    <a:spLocks noChangeArrowheads="1"/>
                  </p:cNvSpPr>
                  <p:nvPr/>
                </p:nvSpPr>
                <p:spPr bwMode="auto">
                  <a:xfrm>
                    <a:off x="4857" y="2523"/>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31" name="Oval 61">
                    <a:extLst>
                      <a:ext uri="{FF2B5EF4-FFF2-40B4-BE49-F238E27FC236}">
                        <a16:creationId xmlns:a16="http://schemas.microsoft.com/office/drawing/2014/main" id="{78E579FA-1B6D-4DFC-BE06-ACB5C924113F}"/>
                      </a:ext>
                    </a:extLst>
                  </p:cNvPr>
                  <p:cNvSpPr>
                    <a:spLocks noChangeArrowheads="1"/>
                  </p:cNvSpPr>
                  <p:nvPr/>
                </p:nvSpPr>
                <p:spPr bwMode="auto">
                  <a:xfrm>
                    <a:off x="4993" y="2632"/>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232" name="Oval 62">
                    <a:extLst>
                      <a:ext uri="{FF2B5EF4-FFF2-40B4-BE49-F238E27FC236}">
                        <a16:creationId xmlns:a16="http://schemas.microsoft.com/office/drawing/2014/main" id="{A17EA346-CD9D-4DA5-A9FD-8F84302B2BAF}"/>
                      </a:ext>
                    </a:extLst>
                  </p:cNvPr>
                  <p:cNvSpPr>
                    <a:spLocks noChangeArrowheads="1"/>
                  </p:cNvSpPr>
                  <p:nvPr/>
                </p:nvSpPr>
                <p:spPr bwMode="auto">
                  <a:xfrm>
                    <a:off x="5129" y="2722"/>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grpSp>
          </p:grpSp>
          <mc:AlternateContent xmlns:mc="http://schemas.openxmlformats.org/markup-compatibility/2006" xmlns:a14="http://schemas.microsoft.com/office/drawing/2010/main">
            <mc:Choice Requires="a14">
              <p:sp>
                <p:nvSpPr>
                  <p:cNvPr id="217" name="Object 25">
                    <a:extLst>
                      <a:ext uri="{FF2B5EF4-FFF2-40B4-BE49-F238E27FC236}">
                        <a16:creationId xmlns:a16="http://schemas.microsoft.com/office/drawing/2014/main" id="{171E7CA9-CDD3-4F58-8C2B-B80C2C663369}"/>
                      </a:ext>
                    </a:extLst>
                  </p:cNvPr>
                  <p:cNvSpPr txBox="1"/>
                  <p:nvPr/>
                </p:nvSpPr>
                <p:spPr bwMode="auto">
                  <a:xfrm>
                    <a:off x="10403150" y="4536847"/>
                    <a:ext cx="325438" cy="357188"/>
                  </a:xfrm>
                  <a:prstGeom prst="rect">
                    <a:avLst/>
                  </a:prstGeom>
                  <a:noFill/>
                  <a:extLst>
                    <a:ext uri="{909E8E84-426E-40dd-AFC4-6F175D3DCCD1}">
                      <a14:hiddenFill xmlns="">
                        <a:solidFill>
                          <a:srgbClr val="FFFFFF"/>
                        </a:solidFill>
                      </a14:hiddenFill>
                    </a:ext>
                  </a:ex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𝑡</m:t>
                          </m:r>
                        </m:oMath>
                      </m:oMathPara>
                    </a14:m>
                    <a:endParaRPr lang="zh-CN" altLang="en-US" dirty="0"/>
                  </a:p>
                </p:txBody>
              </p:sp>
            </mc:Choice>
            <mc:Fallback xmlns="">
              <p:sp>
                <p:nvSpPr>
                  <p:cNvPr id="217" name="Object 25">
                    <a:extLst>
                      <a:ext uri="{FF2B5EF4-FFF2-40B4-BE49-F238E27FC236}">
                        <a16:creationId xmlns:a16="http://schemas.microsoft.com/office/drawing/2014/main" id="{171E7CA9-CDD3-4F58-8C2B-B80C2C663369}"/>
                      </a:ext>
                    </a:extLst>
                  </p:cNvPr>
                  <p:cNvSpPr txBox="1">
                    <a:spLocks noRot="1" noChangeAspect="1" noMove="1" noResize="1" noEditPoints="1" noAdjustHandles="1" noChangeArrowheads="1" noChangeShapeType="1" noTextEdit="1"/>
                  </p:cNvSpPr>
                  <p:nvPr/>
                </p:nvSpPr>
                <p:spPr bwMode="auto">
                  <a:xfrm>
                    <a:off x="10403150" y="4536847"/>
                    <a:ext cx="325438" cy="357188"/>
                  </a:xfrm>
                  <a:prstGeom prst="rect">
                    <a:avLst/>
                  </a:prstGeom>
                  <a:blipFill>
                    <a:blip r:embed="rId15"/>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15" name="Object 7">
                  <a:extLst>
                    <a:ext uri="{FF2B5EF4-FFF2-40B4-BE49-F238E27FC236}">
                      <a16:creationId xmlns:a16="http://schemas.microsoft.com/office/drawing/2014/main" id="{A997A5F6-F618-429E-9193-91D40B70BC04}"/>
                    </a:ext>
                  </a:extLst>
                </p:cNvPr>
                <p:cNvSpPr txBox="1"/>
                <p:nvPr/>
              </p:nvSpPr>
              <p:spPr bwMode="auto">
                <a:xfrm>
                  <a:off x="2206676" y="2737380"/>
                  <a:ext cx="776505" cy="430000"/>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𝑛</m:t>
                            </m:r>
                          </m:e>
                        </m:d>
                      </m:oMath>
                    </m:oMathPara>
                  </a14:m>
                  <a:endParaRPr lang="zh-CN" altLang="en-US" dirty="0"/>
                </a:p>
              </p:txBody>
            </p:sp>
          </mc:Choice>
          <mc:Fallback xmlns="">
            <p:sp>
              <p:nvSpPr>
                <p:cNvPr id="215" name="Object 7">
                  <a:extLst>
                    <a:ext uri="{FF2B5EF4-FFF2-40B4-BE49-F238E27FC236}">
                      <a16:creationId xmlns:a16="http://schemas.microsoft.com/office/drawing/2014/main" id="{A997A5F6-F618-429E-9193-91D40B70BC04}"/>
                    </a:ext>
                  </a:extLst>
                </p:cNvPr>
                <p:cNvSpPr txBox="1">
                  <a:spLocks noRot="1" noChangeAspect="1" noMove="1" noResize="1" noEditPoints="1" noAdjustHandles="1" noChangeArrowheads="1" noChangeShapeType="1" noTextEdit="1"/>
                </p:cNvSpPr>
                <p:nvPr/>
              </p:nvSpPr>
              <p:spPr bwMode="auto">
                <a:xfrm>
                  <a:off x="2206676" y="2737380"/>
                  <a:ext cx="776505" cy="430000"/>
                </a:xfrm>
                <a:prstGeom prst="rect">
                  <a:avLst/>
                </a:prstGeom>
                <a:blipFill>
                  <a:blip r:embed="rId16"/>
                  <a:stretch>
                    <a:fillRect l="-943" b="-12069"/>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cxnSp>
        <p:nvCxnSpPr>
          <p:cNvPr id="140" name="直接箭头连接符 139">
            <a:extLst>
              <a:ext uri="{FF2B5EF4-FFF2-40B4-BE49-F238E27FC236}">
                <a16:creationId xmlns:a16="http://schemas.microsoft.com/office/drawing/2014/main" id="{1D0BD349-27FC-48A3-B191-0460791C89E9}"/>
              </a:ext>
            </a:extLst>
          </p:cNvPr>
          <p:cNvCxnSpPr>
            <a:cxnSpLocks/>
          </p:cNvCxnSpPr>
          <p:nvPr/>
        </p:nvCxnSpPr>
        <p:spPr>
          <a:xfrm>
            <a:off x="4270729" y="5482392"/>
            <a:ext cx="953737" cy="0"/>
          </a:xfrm>
          <a:prstGeom prst="straightConnector1">
            <a:avLst/>
          </a:prstGeom>
          <a:ln w="28575">
            <a:solidFill>
              <a:srgbClr val="42556E"/>
            </a:solidFill>
            <a:headEnd type="arrow" w="med" len="med"/>
            <a:tailEnd type="arrow" w="med" len="med"/>
          </a:ln>
        </p:spPr>
        <p:style>
          <a:lnRef idx="3">
            <a:schemeClr val="accent2"/>
          </a:lnRef>
          <a:fillRef idx="0">
            <a:schemeClr val="accent2"/>
          </a:fillRef>
          <a:effectRef idx="2">
            <a:schemeClr val="accent2"/>
          </a:effectRef>
          <a:fontRef idx="minor">
            <a:schemeClr val="tx1"/>
          </a:fontRef>
        </p:style>
      </p:cxnSp>
      <p:grpSp>
        <p:nvGrpSpPr>
          <p:cNvPr id="141" name="组合 140">
            <a:extLst>
              <a:ext uri="{FF2B5EF4-FFF2-40B4-BE49-F238E27FC236}">
                <a16:creationId xmlns:a16="http://schemas.microsoft.com/office/drawing/2014/main" id="{EF050912-A826-400A-8C32-EE1474EB1B46}"/>
              </a:ext>
            </a:extLst>
          </p:cNvPr>
          <p:cNvGrpSpPr>
            <a:grpSpLocks noChangeAspect="1"/>
          </p:cNvGrpSpPr>
          <p:nvPr/>
        </p:nvGrpSpPr>
        <p:grpSpPr>
          <a:xfrm>
            <a:off x="5088098" y="4853715"/>
            <a:ext cx="4467432" cy="1430386"/>
            <a:chOff x="5873386" y="4494434"/>
            <a:chExt cx="6152813" cy="1970012"/>
          </a:xfrm>
        </p:grpSpPr>
        <p:grpSp>
          <p:nvGrpSpPr>
            <p:cNvPr id="142" name="组合 141">
              <a:extLst>
                <a:ext uri="{FF2B5EF4-FFF2-40B4-BE49-F238E27FC236}">
                  <a16:creationId xmlns:a16="http://schemas.microsoft.com/office/drawing/2014/main" id="{83B92C5E-74F9-4000-AA2B-F66B57079422}"/>
                </a:ext>
              </a:extLst>
            </p:cNvPr>
            <p:cNvGrpSpPr>
              <a:grpSpLocks noChangeAspect="1"/>
            </p:cNvGrpSpPr>
            <p:nvPr/>
          </p:nvGrpSpPr>
          <p:grpSpPr>
            <a:xfrm>
              <a:off x="5873386" y="4745438"/>
              <a:ext cx="6152813" cy="1719008"/>
              <a:chOff x="4485168" y="4854040"/>
              <a:chExt cx="6152813" cy="1719008"/>
            </a:xfrm>
          </p:grpSpPr>
          <p:grpSp>
            <p:nvGrpSpPr>
              <p:cNvPr id="144" name="组合 143">
                <a:extLst>
                  <a:ext uri="{FF2B5EF4-FFF2-40B4-BE49-F238E27FC236}">
                    <a16:creationId xmlns:a16="http://schemas.microsoft.com/office/drawing/2014/main" id="{8CEA667B-4620-4407-A23F-C46A414F84EB}"/>
                  </a:ext>
                </a:extLst>
              </p:cNvPr>
              <p:cNvGrpSpPr/>
              <p:nvPr/>
            </p:nvGrpSpPr>
            <p:grpSpPr>
              <a:xfrm>
                <a:off x="6529860" y="5068354"/>
                <a:ext cx="1598514" cy="1000132"/>
                <a:chOff x="3473552" y="5000636"/>
                <a:chExt cx="1598514" cy="1000132"/>
              </a:xfrm>
            </p:grpSpPr>
            <p:cxnSp>
              <p:nvCxnSpPr>
                <p:cNvPr id="212" name="直接连接符 211">
                  <a:extLst>
                    <a:ext uri="{FF2B5EF4-FFF2-40B4-BE49-F238E27FC236}">
                      <a16:creationId xmlns:a16="http://schemas.microsoft.com/office/drawing/2014/main" id="{A83C6724-B1D0-4B47-9223-F40A64525035}"/>
                    </a:ext>
                  </a:extLst>
                </p:cNvPr>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213" name="直接连接符 212">
                  <a:extLst>
                    <a:ext uri="{FF2B5EF4-FFF2-40B4-BE49-F238E27FC236}">
                      <a16:creationId xmlns:a16="http://schemas.microsoft.com/office/drawing/2014/main" id="{2E660941-C895-43AB-BF2E-CAAA346BDCC6}"/>
                    </a:ext>
                  </a:extLst>
                </p:cNvPr>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grpSp>
            <p:nvGrpSpPr>
              <p:cNvPr id="145" name="Group 66">
                <a:extLst>
                  <a:ext uri="{FF2B5EF4-FFF2-40B4-BE49-F238E27FC236}">
                    <a16:creationId xmlns:a16="http://schemas.microsoft.com/office/drawing/2014/main" id="{840EC939-39BE-4D9E-B335-D9923BE37A23}"/>
                  </a:ext>
                </a:extLst>
              </p:cNvPr>
              <p:cNvGrpSpPr>
                <a:grpSpLocks/>
              </p:cNvGrpSpPr>
              <p:nvPr/>
            </p:nvGrpSpPr>
            <p:grpSpPr bwMode="auto">
              <a:xfrm>
                <a:off x="4485168" y="4854041"/>
                <a:ext cx="5759474" cy="1584325"/>
                <a:chOff x="2541" y="1071"/>
                <a:chExt cx="3628" cy="998"/>
              </a:xfrm>
            </p:grpSpPr>
            <p:sp>
              <p:nvSpPr>
                <p:cNvPr id="210" name="Line 30">
                  <a:extLst>
                    <a:ext uri="{FF2B5EF4-FFF2-40B4-BE49-F238E27FC236}">
                      <a16:creationId xmlns:a16="http://schemas.microsoft.com/office/drawing/2014/main" id="{9572A20E-1F41-4F17-9B7F-C96F65E7E9D3}"/>
                    </a:ext>
                  </a:extLst>
                </p:cNvPr>
                <p:cNvSpPr>
                  <a:spLocks noChangeShapeType="1"/>
                </p:cNvSpPr>
                <p:nvPr/>
              </p:nvSpPr>
              <p:spPr bwMode="auto">
                <a:xfrm>
                  <a:off x="2541" y="1842"/>
                  <a:ext cx="3628"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211" name="Line 31">
                  <a:extLst>
                    <a:ext uri="{FF2B5EF4-FFF2-40B4-BE49-F238E27FC236}">
                      <a16:creationId xmlns:a16="http://schemas.microsoft.com/office/drawing/2014/main" id="{C4D83131-EE2B-4B38-BA6B-0A87919C2AD7}"/>
                    </a:ext>
                  </a:extLst>
                </p:cNvPr>
                <p:cNvSpPr>
                  <a:spLocks noChangeShapeType="1"/>
                </p:cNvSpPr>
                <p:nvPr/>
              </p:nvSpPr>
              <p:spPr bwMode="auto">
                <a:xfrm flipV="1">
                  <a:off x="4332" y="1071"/>
                  <a:ext cx="0" cy="998"/>
                </a:xfrm>
                <a:prstGeom prst="line">
                  <a:avLst/>
                </a:prstGeom>
                <a:noFill/>
                <a:ln w="22225">
                  <a:solidFill>
                    <a:schemeClr val="tx1"/>
                  </a:solidFill>
                  <a:round/>
                  <a:headEnd type="none" w="med" len="med"/>
                  <a:tailEnd type="arrow" w="med" len="med"/>
                </a:ln>
              </p:spPr>
              <p:txBody>
                <a:bodyPr wrap="none" anchor="ctr"/>
                <a:lstStyle/>
                <a:p>
                  <a:endParaRPr lang="zh-CN" altLang="en-US"/>
                </a:p>
              </p:txBody>
            </p:sp>
          </p:grpSp>
          <p:grpSp>
            <p:nvGrpSpPr>
              <p:cNvPr id="198" name="组合 197">
                <a:extLst>
                  <a:ext uri="{FF2B5EF4-FFF2-40B4-BE49-F238E27FC236}">
                    <a16:creationId xmlns:a16="http://schemas.microsoft.com/office/drawing/2014/main" id="{684CB815-E482-4A17-B780-9AC7F1E2F6BE}"/>
                  </a:ext>
                </a:extLst>
              </p:cNvPr>
              <p:cNvGrpSpPr/>
              <p:nvPr/>
            </p:nvGrpSpPr>
            <p:grpSpPr>
              <a:xfrm>
                <a:off x="8315810" y="5068354"/>
                <a:ext cx="1598514" cy="1000132"/>
                <a:chOff x="3473552" y="5000636"/>
                <a:chExt cx="1598514" cy="1000132"/>
              </a:xfrm>
            </p:grpSpPr>
            <p:cxnSp>
              <p:nvCxnSpPr>
                <p:cNvPr id="208" name="直接连接符 207">
                  <a:extLst>
                    <a:ext uri="{FF2B5EF4-FFF2-40B4-BE49-F238E27FC236}">
                      <a16:creationId xmlns:a16="http://schemas.microsoft.com/office/drawing/2014/main" id="{F92063C2-BA3C-4838-860D-F6901751106C}"/>
                    </a:ext>
                  </a:extLst>
                </p:cNvPr>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209" name="直接连接符 208">
                  <a:extLst>
                    <a:ext uri="{FF2B5EF4-FFF2-40B4-BE49-F238E27FC236}">
                      <a16:creationId xmlns:a16="http://schemas.microsoft.com/office/drawing/2014/main" id="{B2119607-A5A8-4F24-9A48-49A2B2915E96}"/>
                    </a:ext>
                  </a:extLst>
                </p:cNvPr>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grpSp>
            <p:nvGrpSpPr>
              <p:cNvPr id="199" name="组合 198">
                <a:extLst>
                  <a:ext uri="{FF2B5EF4-FFF2-40B4-BE49-F238E27FC236}">
                    <a16:creationId xmlns:a16="http://schemas.microsoft.com/office/drawing/2014/main" id="{5F3C9AAE-C699-4388-AEFE-499A61C7ADE1}"/>
                  </a:ext>
                </a:extLst>
              </p:cNvPr>
              <p:cNvGrpSpPr/>
              <p:nvPr/>
            </p:nvGrpSpPr>
            <p:grpSpPr>
              <a:xfrm>
                <a:off x="4717032" y="5068354"/>
                <a:ext cx="1598514" cy="1000132"/>
                <a:chOff x="3473552" y="5000636"/>
                <a:chExt cx="1598514" cy="1000132"/>
              </a:xfrm>
            </p:grpSpPr>
            <p:cxnSp>
              <p:nvCxnSpPr>
                <p:cNvPr id="206" name="直接连接符 205">
                  <a:extLst>
                    <a:ext uri="{FF2B5EF4-FFF2-40B4-BE49-F238E27FC236}">
                      <a16:creationId xmlns:a16="http://schemas.microsoft.com/office/drawing/2014/main" id="{E8B258A9-6D26-4B62-83EF-0D22F4E6B5A5}"/>
                    </a:ext>
                  </a:extLst>
                </p:cNvPr>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207" name="直接连接符 206">
                  <a:extLst>
                    <a:ext uri="{FF2B5EF4-FFF2-40B4-BE49-F238E27FC236}">
                      <a16:creationId xmlns:a16="http://schemas.microsoft.com/office/drawing/2014/main" id="{DEF92946-D603-4635-95D8-E6396B7DCFC3}"/>
                    </a:ext>
                  </a:extLst>
                </p:cNvPr>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sp>
            <p:nvSpPr>
              <p:cNvPr id="200" name="Line 39">
                <a:extLst>
                  <a:ext uri="{FF2B5EF4-FFF2-40B4-BE49-F238E27FC236}">
                    <a16:creationId xmlns:a16="http://schemas.microsoft.com/office/drawing/2014/main" id="{73521F3A-D364-4D4D-92E9-0B551EBC6C13}"/>
                  </a:ext>
                </a:extLst>
              </p:cNvPr>
              <p:cNvSpPr>
                <a:spLocks noChangeShapeType="1"/>
              </p:cNvSpPr>
              <p:nvPr/>
            </p:nvSpPr>
            <p:spPr bwMode="auto">
              <a:xfrm>
                <a:off x="7315677" y="6282800"/>
                <a:ext cx="648000" cy="0"/>
              </a:xfrm>
              <a:prstGeom prst="line">
                <a:avLst/>
              </a:prstGeom>
              <a:noFill/>
              <a:ln w="22225">
                <a:solidFill>
                  <a:schemeClr val="tx1"/>
                </a:solidFill>
                <a:round/>
                <a:headEnd/>
                <a:tailEnd type="triangle" w="sm" len="lg"/>
              </a:ln>
            </p:spPr>
            <p:txBody>
              <a:bodyPr wrap="none" anchor="ctr"/>
              <a:lstStyle/>
              <a:p>
                <a:endParaRPr lang="zh-CN" altLang="en-US"/>
              </a:p>
            </p:txBody>
          </p:sp>
          <p:sp>
            <p:nvSpPr>
              <p:cNvPr id="201" name="Line 40">
                <a:extLst>
                  <a:ext uri="{FF2B5EF4-FFF2-40B4-BE49-F238E27FC236}">
                    <a16:creationId xmlns:a16="http://schemas.microsoft.com/office/drawing/2014/main" id="{2024E83A-B953-481C-9332-911C2E5CA779}"/>
                  </a:ext>
                </a:extLst>
              </p:cNvPr>
              <p:cNvSpPr>
                <a:spLocks noChangeShapeType="1"/>
              </p:cNvSpPr>
              <p:nvPr/>
            </p:nvSpPr>
            <p:spPr bwMode="auto">
              <a:xfrm flipH="1">
                <a:off x="8458686" y="6282800"/>
                <a:ext cx="648000" cy="0"/>
              </a:xfrm>
              <a:prstGeom prst="line">
                <a:avLst/>
              </a:prstGeom>
              <a:noFill/>
              <a:ln w="22225">
                <a:solidFill>
                  <a:schemeClr val="tx1"/>
                </a:solidFill>
                <a:round/>
                <a:headEnd/>
                <a:tailEnd type="triangle" w="sm" len="lg"/>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202" name="Object 41">
                    <a:extLst>
                      <a:ext uri="{FF2B5EF4-FFF2-40B4-BE49-F238E27FC236}">
                        <a16:creationId xmlns:a16="http://schemas.microsoft.com/office/drawing/2014/main" id="{DBEEBC8C-A76D-41BC-B4F9-A7D8AC55D4C6}"/>
                      </a:ext>
                    </a:extLst>
                  </p:cNvPr>
                  <p:cNvSpPr txBox="1"/>
                  <p:nvPr/>
                </p:nvSpPr>
                <p:spPr bwMode="auto">
                  <a:xfrm>
                    <a:off x="7958621" y="5997048"/>
                    <a:ext cx="593725" cy="576000"/>
                  </a:xfrm>
                  <a:prstGeom prst="rect">
                    <a:avLst/>
                  </a:prstGeom>
                  <a:noFill/>
                  <a:extLst>
                    <a:ext uri="{909E8E84-426E-40dd-AFC4-6F175D3DCCD1}">
                      <a14:hiddenFill xmlns="">
                        <a:solidFill>
                          <a:srgbClr val="FFFFFF"/>
                        </a:solidFill>
                      </a14:hiddenFill>
                    </a:ext>
                  </a:extLst>
                </p:spPr>
                <p:txBody>
                  <a:bodyPr>
                    <a:noAutofit/>
                  </a:bodyPr>
                  <a:lstStyle/>
                  <a:p>
                    <a:pPr>
                      <a:lnSpc>
                        <a:spcPct val="120000"/>
                      </a:lnSpc>
                    </a:pPr>
                    <a14:m>
                      <m:oMathPara xmlns:m="http://schemas.openxmlformats.org/officeDocument/2006/math">
                        <m:oMathParaPr>
                          <m:jc m:val="center"/>
                        </m:oMathParaPr>
                        <m:oMath xmlns:m="http://schemas.openxmlformats.org/officeDocument/2006/math">
                          <m:f>
                            <m:fPr>
                              <m:ctrlPr>
                                <a:rPr lang="zh-CN" altLang="en-US" sz="1400" b="1" i="1">
                                  <a:solidFill>
                                    <a:srgbClr val="000000"/>
                                  </a:solidFill>
                                  <a:latin typeface="Cambria Math" panose="02040503050406030204" pitchFamily="18" charset="0"/>
                                </a:rPr>
                              </m:ctrlPr>
                            </m:fPr>
                            <m:num>
                              <m:r>
                                <a:rPr lang="zh-CN" altLang="en-US" sz="1400" b="1" i="1">
                                  <a:solidFill>
                                    <a:srgbClr val="000000"/>
                                  </a:solidFill>
                                  <a:latin typeface="Cambria Math" panose="02040503050406030204" pitchFamily="18" charset="0"/>
                                </a:rPr>
                                <m:t>𝟐</m:t>
                              </m:r>
                              <m:r>
                                <a:rPr lang="zh-CN" altLang="en-US" sz="1400" b="1" i="1">
                                  <a:solidFill>
                                    <a:srgbClr val="000000"/>
                                  </a:solidFill>
                                  <a:latin typeface="Cambria Math" panose="02040503050406030204" pitchFamily="18" charset="0"/>
                                </a:rPr>
                                <m:t>𝝅</m:t>
                              </m:r>
                            </m:num>
                            <m:den>
                              <m:sSub>
                                <m:sSubPr>
                                  <m:ctrlPr>
                                    <a:rPr lang="zh-CN" altLang="en-US" sz="1400" b="1" i="1">
                                      <a:solidFill>
                                        <a:srgbClr val="000000"/>
                                      </a:solidFill>
                                      <a:latin typeface="Cambria Math" panose="02040503050406030204" pitchFamily="18" charset="0"/>
                                    </a:rPr>
                                  </m:ctrlPr>
                                </m:sSubPr>
                                <m:e>
                                  <m:r>
                                    <a:rPr lang="zh-CN" altLang="en-US" sz="1400" b="1" i="1">
                                      <a:solidFill>
                                        <a:srgbClr val="000000"/>
                                      </a:solidFill>
                                      <a:latin typeface="Cambria Math" panose="02040503050406030204" pitchFamily="18" charset="0"/>
                                    </a:rPr>
                                    <m:t>𝑻</m:t>
                                  </m:r>
                                </m:e>
                                <m:sub>
                                  <m:r>
                                    <a:rPr lang="zh-CN" altLang="en-US" sz="1400" b="1" i="1">
                                      <a:solidFill>
                                        <a:srgbClr val="000000"/>
                                      </a:solidFill>
                                      <a:latin typeface="Cambria Math" panose="02040503050406030204" pitchFamily="18" charset="0"/>
                                    </a:rPr>
                                    <m:t>𝒔</m:t>
                                  </m:r>
                                </m:sub>
                              </m:sSub>
                            </m:den>
                          </m:f>
                        </m:oMath>
                      </m:oMathPara>
                    </a14:m>
                    <a:endParaRPr lang="zh-CN" altLang="en-US" sz="1400" b="1" i="1" dirty="0"/>
                  </a:p>
                </p:txBody>
              </p:sp>
            </mc:Choice>
            <mc:Fallback xmlns="">
              <p:sp>
                <p:nvSpPr>
                  <p:cNvPr id="53" name="Object 41">
                    <a:extLst>
                      <a:ext uri="{FF2B5EF4-FFF2-40B4-BE49-F238E27FC236}">
                        <a16:creationId xmlns:a16="http://schemas.microsoft.com/office/drawing/2014/main" id="{C36DF6E7-9CBC-455F-8396-9D5EE81E3353}"/>
                      </a:ext>
                    </a:extLst>
                  </p:cNvPr>
                  <p:cNvSpPr txBox="1">
                    <a:spLocks noRot="1" noChangeAspect="1" noMove="1" noResize="1" noEditPoints="1" noAdjustHandles="1" noChangeArrowheads="1" noChangeShapeType="1" noTextEdit="1"/>
                  </p:cNvSpPr>
                  <p:nvPr/>
                </p:nvSpPr>
                <p:spPr bwMode="auto">
                  <a:xfrm>
                    <a:off x="7958621" y="5997048"/>
                    <a:ext cx="593725" cy="576000"/>
                  </a:xfrm>
                  <a:prstGeom prst="rect">
                    <a:avLst/>
                  </a:prstGeom>
                  <a:blipFill>
                    <a:blip r:embed="rId17"/>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sp>
            <p:nvSpPr>
              <p:cNvPr id="203" name="Line 36">
                <a:extLst>
                  <a:ext uri="{FF2B5EF4-FFF2-40B4-BE49-F238E27FC236}">
                    <a16:creationId xmlns:a16="http://schemas.microsoft.com/office/drawing/2014/main" id="{24FFABCF-A8CA-4CDF-B5D4-72B899EAB873}"/>
                  </a:ext>
                </a:extLst>
              </p:cNvPr>
              <p:cNvSpPr>
                <a:spLocks noChangeShapeType="1"/>
              </p:cNvSpPr>
              <p:nvPr/>
            </p:nvSpPr>
            <p:spPr bwMode="auto">
              <a:xfrm flipV="1">
                <a:off x="5515214" y="4854040"/>
                <a:ext cx="0" cy="122400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204" name="Line 36">
                <a:extLst>
                  <a:ext uri="{FF2B5EF4-FFF2-40B4-BE49-F238E27FC236}">
                    <a16:creationId xmlns:a16="http://schemas.microsoft.com/office/drawing/2014/main" id="{56335F9C-EE0A-4C60-9BD2-08F36084833C}"/>
                  </a:ext>
                </a:extLst>
              </p:cNvPr>
              <p:cNvSpPr>
                <a:spLocks noChangeShapeType="1"/>
              </p:cNvSpPr>
              <p:nvPr/>
            </p:nvSpPr>
            <p:spPr bwMode="auto">
              <a:xfrm flipV="1">
                <a:off x="9116142" y="4854040"/>
                <a:ext cx="0" cy="1584000"/>
              </a:xfrm>
              <a:prstGeom prst="line">
                <a:avLst/>
              </a:prstGeom>
              <a:noFill/>
              <a:ln w="22225">
                <a:solidFill>
                  <a:schemeClr val="tx1"/>
                </a:solidFill>
                <a:round/>
                <a:headEnd type="none" w="med" len="med"/>
                <a:tailEnd type="arrow" w="med" len="med"/>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205" name="Object 42">
                    <a:extLst>
                      <a:ext uri="{FF2B5EF4-FFF2-40B4-BE49-F238E27FC236}">
                        <a16:creationId xmlns:a16="http://schemas.microsoft.com/office/drawing/2014/main" id="{7BF4BCB3-EEB1-4492-9863-98D64B121A96}"/>
                      </a:ext>
                    </a:extLst>
                  </p:cNvPr>
                  <p:cNvSpPr txBox="1"/>
                  <p:nvPr/>
                </p:nvSpPr>
                <p:spPr bwMode="auto">
                  <a:xfrm>
                    <a:off x="10129981" y="5924817"/>
                    <a:ext cx="508000" cy="287338"/>
                  </a:xfrm>
                  <a:prstGeom prst="rect">
                    <a:avLst/>
                  </a:prstGeom>
                  <a:noFill/>
                  <a:extLst>
                    <a:ext uri="{909E8E84-426E-40dd-AFC4-6F175D3DCCD1}">
                      <a14:hiddenFill xmlns="">
                        <a:solidFill>
                          <a:srgbClr val="FFFFFF"/>
                        </a:solidFill>
                      </a14:hiddenFill>
                    </a:ext>
                  </a:extLst>
                </p:spPr>
                <p:txBody>
                  <a:bodyPr anchor="ctr" anchorCtr="0">
                    <a:noAutofit/>
                  </a:bodyPr>
                  <a:lstStyle/>
                  <a:p>
                    <a:pPr/>
                    <a14:m>
                      <m:oMathPara xmlns:m="http://schemas.openxmlformats.org/officeDocument/2006/math">
                        <m:oMathParaPr>
                          <m:jc m:val="center"/>
                        </m:oMathParaPr>
                        <m:oMath xmlns:m="http://schemas.openxmlformats.org/officeDocument/2006/math">
                          <m:r>
                            <a:rPr lang="zh-CN" altLang="en-US" i="1">
                              <a:solidFill>
                                <a:srgbClr val="000000"/>
                              </a:solidFill>
                              <a:latin typeface="Cambria Math" panose="02040503050406030204" pitchFamily="18" charset="0"/>
                            </a:rPr>
                            <m:t>𝜔</m:t>
                          </m:r>
                        </m:oMath>
                      </m:oMathPara>
                    </a14:m>
                    <a:endParaRPr lang="zh-CN" altLang="en-US" dirty="0"/>
                  </a:p>
                </p:txBody>
              </p:sp>
            </mc:Choice>
            <mc:Fallback xmlns="">
              <p:sp>
                <p:nvSpPr>
                  <p:cNvPr id="56" name="Object 42">
                    <a:extLst>
                      <a:ext uri="{FF2B5EF4-FFF2-40B4-BE49-F238E27FC236}">
                        <a16:creationId xmlns:a16="http://schemas.microsoft.com/office/drawing/2014/main" id="{08230BF1-0568-4E0C-A294-054808D4073B}"/>
                      </a:ext>
                    </a:extLst>
                  </p:cNvPr>
                  <p:cNvSpPr txBox="1">
                    <a:spLocks noRot="1" noChangeAspect="1" noMove="1" noResize="1" noEditPoints="1" noAdjustHandles="1" noChangeArrowheads="1" noChangeShapeType="1" noTextEdit="1"/>
                  </p:cNvSpPr>
                  <p:nvPr/>
                </p:nvSpPr>
                <p:spPr bwMode="auto">
                  <a:xfrm>
                    <a:off x="10129981" y="5924817"/>
                    <a:ext cx="508000" cy="287338"/>
                  </a:xfrm>
                  <a:prstGeom prst="rect">
                    <a:avLst/>
                  </a:prstGeom>
                  <a:blipFill>
                    <a:blip r:embed="rId3"/>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3" name="矩形 142">
                  <a:extLst>
                    <a:ext uri="{FF2B5EF4-FFF2-40B4-BE49-F238E27FC236}">
                      <a16:creationId xmlns:a16="http://schemas.microsoft.com/office/drawing/2014/main" id="{A6C59D44-7057-4D83-A65F-32B6E24989FD}"/>
                    </a:ext>
                  </a:extLst>
                </p:cNvPr>
                <p:cNvSpPr/>
                <p:nvPr/>
              </p:nvSpPr>
              <p:spPr>
                <a:xfrm>
                  <a:off x="8796327" y="4494434"/>
                  <a:ext cx="827984" cy="3742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rgbClr val="000000"/>
                                </a:solidFill>
                                <a:latin typeface="Cambria Math" panose="02040503050406030204" pitchFamily="18" charset="0"/>
                              </a:rPr>
                            </m:ctrlPr>
                          </m:sSubPr>
                          <m:e>
                            <m:acc>
                              <m:accPr>
                                <m:chr m:val="̃"/>
                                <m:ctrlPr>
                                  <a:rPr lang="en-US" altLang="zh-CN" i="1">
                                    <a:solidFill>
                                      <a:srgbClr val="000000"/>
                                    </a:solidFill>
                                    <a:latin typeface="Cambria Math" panose="02040503050406030204" pitchFamily="18" charset="0"/>
                                  </a:rPr>
                                </m:ctrlPr>
                              </m:accPr>
                              <m:e>
                                <m:r>
                                  <a:rPr lang="en-US" altLang="zh-CN" b="0" i="1">
                                    <a:solidFill>
                                      <a:srgbClr val="000000"/>
                                    </a:solidFill>
                                    <a:latin typeface="Cambria Math" panose="02040503050406030204" pitchFamily="18" charset="0"/>
                                  </a:rPr>
                                  <m:t>𝐹</m:t>
                                </m:r>
                              </m:e>
                            </m:acc>
                          </m:e>
                          <m:sub>
                            <m:r>
                              <a:rPr lang="en-US" altLang="zh-CN" b="0" i="1">
                                <a:solidFill>
                                  <a:srgbClr val="000000"/>
                                </a:solidFill>
                                <a:latin typeface="Cambria Math" panose="02040503050406030204" pitchFamily="18" charset="0"/>
                              </a:rPr>
                              <m:t>𝑛</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e>
                        </m:d>
                      </m:oMath>
                    </m:oMathPara>
                  </a14:m>
                  <a:endParaRPr lang="zh-CN" altLang="en-US" dirty="0"/>
                </a:p>
              </p:txBody>
            </p:sp>
          </mc:Choice>
          <mc:Fallback xmlns="">
            <p:sp>
              <p:nvSpPr>
                <p:cNvPr id="143" name="矩形 142">
                  <a:extLst>
                    <a:ext uri="{FF2B5EF4-FFF2-40B4-BE49-F238E27FC236}">
                      <a16:creationId xmlns:a16="http://schemas.microsoft.com/office/drawing/2014/main" id="{A6C59D44-7057-4D83-A65F-32B6E24989FD}"/>
                    </a:ext>
                  </a:extLst>
                </p:cNvPr>
                <p:cNvSpPr>
                  <a:spLocks noRot="1" noChangeAspect="1" noMove="1" noResize="1" noEditPoints="1" noAdjustHandles="1" noChangeArrowheads="1" noChangeShapeType="1" noTextEdit="1"/>
                </p:cNvSpPr>
                <p:nvPr/>
              </p:nvSpPr>
              <p:spPr>
                <a:xfrm>
                  <a:off x="8796327" y="4494434"/>
                  <a:ext cx="827984" cy="374270"/>
                </a:xfrm>
                <a:prstGeom prst="rect">
                  <a:avLst/>
                </a:prstGeom>
                <a:blipFill>
                  <a:blip r:embed="rId18"/>
                  <a:stretch>
                    <a:fillRect t="-4444" r="-10204" b="-33333"/>
                  </a:stretch>
                </a:blipFill>
              </p:spPr>
              <p:txBody>
                <a:bodyPr/>
                <a:lstStyle/>
                <a:p>
                  <a:r>
                    <a:rPr lang="zh-CN" altLang="en-US">
                      <a:noFill/>
                    </a:rPr>
                    <a:t> </a:t>
                  </a:r>
                </a:p>
              </p:txBody>
            </p:sp>
          </mc:Fallback>
        </mc:AlternateContent>
      </p:grpSp>
      <p:grpSp>
        <p:nvGrpSpPr>
          <p:cNvPr id="4" name="组合 3">
            <a:extLst>
              <a:ext uri="{FF2B5EF4-FFF2-40B4-BE49-F238E27FC236}">
                <a16:creationId xmlns:a16="http://schemas.microsoft.com/office/drawing/2014/main" id="{803EC3C7-6492-47F1-9B53-B638CD9908D6}"/>
              </a:ext>
            </a:extLst>
          </p:cNvPr>
          <p:cNvGrpSpPr>
            <a:grpSpLocks noChangeAspect="1"/>
          </p:cNvGrpSpPr>
          <p:nvPr/>
        </p:nvGrpSpPr>
        <p:grpSpPr>
          <a:xfrm>
            <a:off x="689046" y="2757178"/>
            <a:ext cx="4637280" cy="1565832"/>
            <a:chOff x="433116" y="4057086"/>
            <a:chExt cx="5190266" cy="1752555"/>
          </a:xfrm>
        </p:grpSpPr>
        <p:grpSp>
          <p:nvGrpSpPr>
            <p:cNvPr id="306" name="Group 5">
              <a:extLst>
                <a:ext uri="{FF2B5EF4-FFF2-40B4-BE49-F238E27FC236}">
                  <a16:creationId xmlns:a16="http://schemas.microsoft.com/office/drawing/2014/main" id="{C06E5857-45C0-475C-9715-5B7759256764}"/>
                </a:ext>
              </a:extLst>
            </p:cNvPr>
            <p:cNvGrpSpPr>
              <a:grpSpLocks/>
            </p:cNvGrpSpPr>
            <p:nvPr/>
          </p:nvGrpSpPr>
          <p:grpSpPr bwMode="auto">
            <a:xfrm>
              <a:off x="433116" y="4585678"/>
              <a:ext cx="4227513" cy="1223963"/>
              <a:chOff x="3061" y="3067"/>
              <a:chExt cx="2663" cy="771"/>
            </a:xfrm>
          </p:grpSpPr>
          <p:sp>
            <p:nvSpPr>
              <p:cNvPr id="307" name="Line 6">
                <a:extLst>
                  <a:ext uri="{FF2B5EF4-FFF2-40B4-BE49-F238E27FC236}">
                    <a16:creationId xmlns:a16="http://schemas.microsoft.com/office/drawing/2014/main" id="{A14BACAF-B0DF-4BA1-99EA-1EF606350891}"/>
                  </a:ext>
                </a:extLst>
              </p:cNvPr>
              <p:cNvSpPr>
                <a:spLocks noChangeShapeType="1"/>
              </p:cNvSpPr>
              <p:nvPr/>
            </p:nvSpPr>
            <p:spPr bwMode="auto">
              <a:xfrm>
                <a:off x="3061" y="3657"/>
                <a:ext cx="2495"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308" name="Line 7">
                <a:extLst>
                  <a:ext uri="{FF2B5EF4-FFF2-40B4-BE49-F238E27FC236}">
                    <a16:creationId xmlns:a16="http://schemas.microsoft.com/office/drawing/2014/main" id="{4F4D6154-DCD6-4B07-88AB-09723A143559}"/>
                  </a:ext>
                </a:extLst>
              </p:cNvPr>
              <p:cNvSpPr>
                <a:spLocks noChangeShapeType="1"/>
              </p:cNvSpPr>
              <p:nvPr/>
            </p:nvSpPr>
            <p:spPr bwMode="auto">
              <a:xfrm flipV="1">
                <a:off x="4332" y="3067"/>
                <a:ext cx="0" cy="736"/>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309" name="Line 8">
                <a:extLst>
                  <a:ext uri="{FF2B5EF4-FFF2-40B4-BE49-F238E27FC236}">
                    <a16:creationId xmlns:a16="http://schemas.microsoft.com/office/drawing/2014/main" id="{C5E67CC2-F4D5-4F2B-8BA1-19E065BCA93B}"/>
                  </a:ext>
                </a:extLst>
              </p:cNvPr>
              <p:cNvSpPr>
                <a:spLocks noChangeShapeType="1"/>
              </p:cNvSpPr>
              <p:nvPr/>
            </p:nvSpPr>
            <p:spPr bwMode="auto">
              <a:xfrm flipV="1">
                <a:off x="3243"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0" name="Line 9">
                <a:extLst>
                  <a:ext uri="{FF2B5EF4-FFF2-40B4-BE49-F238E27FC236}">
                    <a16:creationId xmlns:a16="http://schemas.microsoft.com/office/drawing/2014/main" id="{F6B435B8-8B08-4BC1-BE8F-2EB386A09903}"/>
                  </a:ext>
                </a:extLst>
              </p:cNvPr>
              <p:cNvSpPr>
                <a:spLocks noChangeShapeType="1"/>
              </p:cNvSpPr>
              <p:nvPr/>
            </p:nvSpPr>
            <p:spPr bwMode="auto">
              <a:xfrm flipV="1">
                <a:off x="3379"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1" name="Line 10">
                <a:extLst>
                  <a:ext uri="{FF2B5EF4-FFF2-40B4-BE49-F238E27FC236}">
                    <a16:creationId xmlns:a16="http://schemas.microsoft.com/office/drawing/2014/main" id="{066B2580-6941-46C4-AE8E-86AF4B4E60FA}"/>
                  </a:ext>
                </a:extLst>
              </p:cNvPr>
              <p:cNvSpPr>
                <a:spLocks noChangeShapeType="1"/>
              </p:cNvSpPr>
              <p:nvPr/>
            </p:nvSpPr>
            <p:spPr bwMode="auto">
              <a:xfrm flipV="1">
                <a:off x="3515"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2" name="Line 11">
                <a:extLst>
                  <a:ext uri="{FF2B5EF4-FFF2-40B4-BE49-F238E27FC236}">
                    <a16:creationId xmlns:a16="http://schemas.microsoft.com/office/drawing/2014/main" id="{83E421B3-FD8E-4043-A68D-8CE0E13BD8FF}"/>
                  </a:ext>
                </a:extLst>
              </p:cNvPr>
              <p:cNvSpPr>
                <a:spLocks noChangeShapeType="1"/>
              </p:cNvSpPr>
              <p:nvPr/>
            </p:nvSpPr>
            <p:spPr bwMode="auto">
              <a:xfrm flipV="1">
                <a:off x="3651"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3" name="Line 12">
                <a:extLst>
                  <a:ext uri="{FF2B5EF4-FFF2-40B4-BE49-F238E27FC236}">
                    <a16:creationId xmlns:a16="http://schemas.microsoft.com/office/drawing/2014/main" id="{962D0F05-0596-41BF-95AA-F690C5479A38}"/>
                  </a:ext>
                </a:extLst>
              </p:cNvPr>
              <p:cNvSpPr>
                <a:spLocks noChangeShapeType="1"/>
              </p:cNvSpPr>
              <p:nvPr/>
            </p:nvSpPr>
            <p:spPr bwMode="auto">
              <a:xfrm flipV="1">
                <a:off x="3787"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4" name="Line 13">
                <a:extLst>
                  <a:ext uri="{FF2B5EF4-FFF2-40B4-BE49-F238E27FC236}">
                    <a16:creationId xmlns:a16="http://schemas.microsoft.com/office/drawing/2014/main" id="{F0E0B855-6730-471F-8F86-117C93D7A33B}"/>
                  </a:ext>
                </a:extLst>
              </p:cNvPr>
              <p:cNvSpPr>
                <a:spLocks noChangeShapeType="1"/>
              </p:cNvSpPr>
              <p:nvPr/>
            </p:nvSpPr>
            <p:spPr bwMode="auto">
              <a:xfrm flipV="1">
                <a:off x="3923"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5" name="Line 14">
                <a:extLst>
                  <a:ext uri="{FF2B5EF4-FFF2-40B4-BE49-F238E27FC236}">
                    <a16:creationId xmlns:a16="http://schemas.microsoft.com/office/drawing/2014/main" id="{CA677A75-9C98-466E-884A-D0748D1F11D8}"/>
                  </a:ext>
                </a:extLst>
              </p:cNvPr>
              <p:cNvSpPr>
                <a:spLocks noChangeShapeType="1"/>
              </p:cNvSpPr>
              <p:nvPr/>
            </p:nvSpPr>
            <p:spPr bwMode="auto">
              <a:xfrm flipV="1">
                <a:off x="4059"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6" name="Line 15">
                <a:extLst>
                  <a:ext uri="{FF2B5EF4-FFF2-40B4-BE49-F238E27FC236}">
                    <a16:creationId xmlns:a16="http://schemas.microsoft.com/office/drawing/2014/main" id="{63FA7703-6331-405D-8B1C-A2C3568D1813}"/>
                  </a:ext>
                </a:extLst>
              </p:cNvPr>
              <p:cNvSpPr>
                <a:spLocks noChangeShapeType="1"/>
              </p:cNvSpPr>
              <p:nvPr/>
            </p:nvSpPr>
            <p:spPr bwMode="auto">
              <a:xfrm flipV="1">
                <a:off x="4195"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7" name="Line 16">
                <a:extLst>
                  <a:ext uri="{FF2B5EF4-FFF2-40B4-BE49-F238E27FC236}">
                    <a16:creationId xmlns:a16="http://schemas.microsoft.com/office/drawing/2014/main" id="{4F7BB966-9EFA-4C03-87F7-83200A175963}"/>
                  </a:ext>
                </a:extLst>
              </p:cNvPr>
              <p:cNvSpPr>
                <a:spLocks noChangeShapeType="1"/>
              </p:cNvSpPr>
              <p:nvPr/>
            </p:nvSpPr>
            <p:spPr bwMode="auto">
              <a:xfrm flipV="1">
                <a:off x="4332"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8" name="Line 17">
                <a:extLst>
                  <a:ext uri="{FF2B5EF4-FFF2-40B4-BE49-F238E27FC236}">
                    <a16:creationId xmlns:a16="http://schemas.microsoft.com/office/drawing/2014/main" id="{B24EA06F-07F8-4A8B-A7B8-7CD08056B558}"/>
                  </a:ext>
                </a:extLst>
              </p:cNvPr>
              <p:cNvSpPr>
                <a:spLocks noChangeShapeType="1"/>
              </p:cNvSpPr>
              <p:nvPr/>
            </p:nvSpPr>
            <p:spPr bwMode="auto">
              <a:xfrm flipV="1">
                <a:off x="4468"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19" name="Line 18">
                <a:extLst>
                  <a:ext uri="{FF2B5EF4-FFF2-40B4-BE49-F238E27FC236}">
                    <a16:creationId xmlns:a16="http://schemas.microsoft.com/office/drawing/2014/main" id="{0BEBF40C-9261-4A5A-BC79-FD08BE7721F4}"/>
                  </a:ext>
                </a:extLst>
              </p:cNvPr>
              <p:cNvSpPr>
                <a:spLocks noChangeShapeType="1"/>
              </p:cNvSpPr>
              <p:nvPr/>
            </p:nvSpPr>
            <p:spPr bwMode="auto">
              <a:xfrm flipV="1">
                <a:off x="4604"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20" name="Line 19">
                <a:extLst>
                  <a:ext uri="{FF2B5EF4-FFF2-40B4-BE49-F238E27FC236}">
                    <a16:creationId xmlns:a16="http://schemas.microsoft.com/office/drawing/2014/main" id="{FB628716-D4E2-4F1A-B093-54134EDB1B91}"/>
                  </a:ext>
                </a:extLst>
              </p:cNvPr>
              <p:cNvSpPr>
                <a:spLocks noChangeShapeType="1"/>
              </p:cNvSpPr>
              <p:nvPr/>
            </p:nvSpPr>
            <p:spPr bwMode="auto">
              <a:xfrm flipV="1">
                <a:off x="4740"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21" name="Line 20">
                <a:extLst>
                  <a:ext uri="{FF2B5EF4-FFF2-40B4-BE49-F238E27FC236}">
                    <a16:creationId xmlns:a16="http://schemas.microsoft.com/office/drawing/2014/main" id="{09A485B6-DFDE-4141-9E42-67E3809B71EC}"/>
                  </a:ext>
                </a:extLst>
              </p:cNvPr>
              <p:cNvSpPr>
                <a:spLocks noChangeShapeType="1"/>
              </p:cNvSpPr>
              <p:nvPr/>
            </p:nvSpPr>
            <p:spPr bwMode="auto">
              <a:xfrm flipV="1">
                <a:off x="4876"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22" name="Line 21">
                <a:extLst>
                  <a:ext uri="{FF2B5EF4-FFF2-40B4-BE49-F238E27FC236}">
                    <a16:creationId xmlns:a16="http://schemas.microsoft.com/office/drawing/2014/main" id="{8BA91B1A-01B9-4BBA-B94F-736DD675F8A9}"/>
                  </a:ext>
                </a:extLst>
              </p:cNvPr>
              <p:cNvSpPr>
                <a:spLocks noChangeShapeType="1"/>
              </p:cNvSpPr>
              <p:nvPr/>
            </p:nvSpPr>
            <p:spPr bwMode="auto">
              <a:xfrm flipV="1">
                <a:off x="5012"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23" name="Line 22">
                <a:extLst>
                  <a:ext uri="{FF2B5EF4-FFF2-40B4-BE49-F238E27FC236}">
                    <a16:creationId xmlns:a16="http://schemas.microsoft.com/office/drawing/2014/main" id="{D31EC18E-195A-4827-A12B-8D8021919BC7}"/>
                  </a:ext>
                </a:extLst>
              </p:cNvPr>
              <p:cNvSpPr>
                <a:spLocks noChangeShapeType="1"/>
              </p:cNvSpPr>
              <p:nvPr/>
            </p:nvSpPr>
            <p:spPr bwMode="auto">
              <a:xfrm flipV="1">
                <a:off x="5148"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24" name="Line 23">
                <a:extLst>
                  <a:ext uri="{FF2B5EF4-FFF2-40B4-BE49-F238E27FC236}">
                    <a16:creationId xmlns:a16="http://schemas.microsoft.com/office/drawing/2014/main" id="{96122C53-7D73-4851-886C-F4F95B1103DE}"/>
                  </a:ext>
                </a:extLst>
              </p:cNvPr>
              <p:cNvSpPr>
                <a:spLocks noChangeShapeType="1"/>
              </p:cNvSpPr>
              <p:nvPr/>
            </p:nvSpPr>
            <p:spPr bwMode="auto">
              <a:xfrm flipV="1">
                <a:off x="5284" y="3249"/>
                <a:ext cx="0" cy="408"/>
              </a:xfrm>
              <a:prstGeom prst="line">
                <a:avLst/>
              </a:prstGeom>
              <a:noFill/>
              <a:ln w="22225">
                <a:solidFill>
                  <a:schemeClr val="tx1"/>
                </a:solidFill>
                <a:round/>
                <a:headEnd/>
                <a:tailEnd type="triangle" w="sm" len="lg"/>
              </a:ln>
            </p:spPr>
            <p:txBody>
              <a:bodyPr wrap="none" anchor="ctr"/>
              <a:lstStyle/>
              <a:p>
                <a:endParaRPr lang="zh-CN" altLang="en-US"/>
              </a:p>
            </p:txBody>
          </p:sp>
          <p:sp>
            <p:nvSpPr>
              <p:cNvPr id="325" name="Line 24">
                <a:extLst>
                  <a:ext uri="{FF2B5EF4-FFF2-40B4-BE49-F238E27FC236}">
                    <a16:creationId xmlns:a16="http://schemas.microsoft.com/office/drawing/2014/main" id="{C815F6FB-55CB-4D08-8AA3-FBE16F82D6FC}"/>
                  </a:ext>
                </a:extLst>
              </p:cNvPr>
              <p:cNvSpPr>
                <a:spLocks noChangeShapeType="1"/>
              </p:cNvSpPr>
              <p:nvPr/>
            </p:nvSpPr>
            <p:spPr bwMode="auto">
              <a:xfrm flipV="1">
                <a:off x="5420" y="3249"/>
                <a:ext cx="0" cy="408"/>
              </a:xfrm>
              <a:prstGeom prst="line">
                <a:avLst/>
              </a:prstGeom>
              <a:noFill/>
              <a:ln w="22225">
                <a:solidFill>
                  <a:schemeClr val="tx1"/>
                </a:solidFill>
                <a:round/>
                <a:headEnd/>
                <a:tailEnd type="triangle" w="sm" len="lg"/>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326" name="Object 25">
                    <a:extLst>
                      <a:ext uri="{FF2B5EF4-FFF2-40B4-BE49-F238E27FC236}">
                        <a16:creationId xmlns:a16="http://schemas.microsoft.com/office/drawing/2014/main" id="{DCA28B93-C093-40D5-83AB-200E6F1272D8}"/>
                      </a:ext>
                    </a:extLst>
                  </p:cNvPr>
                  <p:cNvSpPr txBox="1"/>
                  <p:nvPr/>
                </p:nvSpPr>
                <p:spPr bwMode="auto">
                  <a:xfrm>
                    <a:off x="5519" y="3544"/>
                    <a:ext cx="205" cy="225"/>
                  </a:xfrm>
                  <a:prstGeom prst="rect">
                    <a:avLst/>
                  </a:prstGeom>
                  <a:noFill/>
                  <a:extLst>
                    <a:ext uri="{909E8E84-426E-40dd-AFC4-6F175D3DCCD1}">
                      <a14:hiddenFill xmlns="">
                        <a:solidFill>
                          <a:srgbClr val="FFFFFF"/>
                        </a:solidFill>
                      </a14:hiddenFill>
                    </a:ext>
                  </a:ex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𝑡</m:t>
                          </m:r>
                        </m:oMath>
                      </m:oMathPara>
                    </a14:m>
                    <a:endParaRPr lang="zh-CN" altLang="en-US" dirty="0"/>
                  </a:p>
                </p:txBody>
              </p:sp>
            </mc:Choice>
            <mc:Fallback xmlns="">
              <p:sp>
                <p:nvSpPr>
                  <p:cNvPr id="326" name="Object 25">
                    <a:extLst>
                      <a:ext uri="{FF2B5EF4-FFF2-40B4-BE49-F238E27FC236}">
                        <a16:creationId xmlns:a16="http://schemas.microsoft.com/office/drawing/2014/main" id="{DCA28B93-C093-40D5-83AB-200E6F1272D8}"/>
                      </a:ext>
                    </a:extLst>
                  </p:cNvPr>
                  <p:cNvSpPr txBox="1">
                    <a:spLocks noRot="1" noChangeAspect="1" noMove="1" noResize="1" noEditPoints="1" noAdjustHandles="1" noChangeArrowheads="1" noChangeShapeType="1" noTextEdit="1"/>
                  </p:cNvSpPr>
                  <p:nvPr/>
                </p:nvSpPr>
                <p:spPr bwMode="auto">
                  <a:xfrm>
                    <a:off x="5519" y="3544"/>
                    <a:ext cx="205" cy="225"/>
                  </a:xfrm>
                  <a:prstGeom prst="rect">
                    <a:avLst/>
                  </a:prstGeom>
                  <a:blipFill>
                    <a:blip r:embed="rId19"/>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7" name="Object 26">
                    <a:extLst>
                      <a:ext uri="{FF2B5EF4-FFF2-40B4-BE49-F238E27FC236}">
                        <a16:creationId xmlns:a16="http://schemas.microsoft.com/office/drawing/2014/main" id="{F06DFC94-4548-472A-8FC9-69269D189A89}"/>
                      </a:ext>
                    </a:extLst>
                  </p:cNvPr>
                  <p:cNvSpPr txBox="1"/>
                  <p:nvPr/>
                </p:nvSpPr>
                <p:spPr bwMode="auto">
                  <a:xfrm>
                    <a:off x="4181" y="3626"/>
                    <a:ext cx="151" cy="212"/>
                  </a:xfrm>
                  <a:prstGeom prst="rect">
                    <a:avLst/>
                  </a:prstGeom>
                  <a:noFill/>
                  <a:extLst>
                    <a:ext uri="{909E8E84-426E-40dd-AFC4-6F175D3DCCD1}">
                      <a14:hiddenFill xmlns="">
                        <a:solidFill>
                          <a:srgbClr val="FFFFFF"/>
                        </a:solidFill>
                      </a14:hiddenFill>
                    </a:ext>
                  </a:ex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327" name="Object 26">
                    <a:extLst>
                      <a:ext uri="{FF2B5EF4-FFF2-40B4-BE49-F238E27FC236}">
                        <a16:creationId xmlns:a16="http://schemas.microsoft.com/office/drawing/2014/main" id="{F06DFC94-4548-472A-8FC9-69269D189A89}"/>
                      </a:ext>
                    </a:extLst>
                  </p:cNvPr>
                  <p:cNvSpPr txBox="1">
                    <a:spLocks noRot="1" noChangeAspect="1" noMove="1" noResize="1" noEditPoints="1" noAdjustHandles="1" noChangeArrowheads="1" noChangeShapeType="1" noTextEdit="1"/>
                  </p:cNvSpPr>
                  <p:nvPr/>
                </p:nvSpPr>
                <p:spPr bwMode="auto">
                  <a:xfrm>
                    <a:off x="4181" y="3626"/>
                    <a:ext cx="151" cy="212"/>
                  </a:xfrm>
                  <a:prstGeom prst="rect">
                    <a:avLst/>
                  </a:prstGeom>
                  <a:blipFill>
                    <a:blip r:embed="rId20"/>
                    <a:stretch>
                      <a:fillRect r="-11429"/>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sp>
            <p:nvSpPr>
              <p:cNvPr id="328" name="Object 27">
                <a:extLst>
                  <a:ext uri="{FF2B5EF4-FFF2-40B4-BE49-F238E27FC236}">
                    <a16:creationId xmlns:a16="http://schemas.microsoft.com/office/drawing/2014/main" id="{F272555B-347A-4FD9-8030-D68C5469A233}"/>
                  </a:ext>
                </a:extLst>
              </p:cNvPr>
              <p:cNvSpPr txBox="1"/>
              <p:nvPr/>
            </p:nvSpPr>
            <p:spPr bwMode="auto">
              <a:xfrm>
                <a:off x="4189" y="3104"/>
                <a:ext cx="135" cy="258"/>
              </a:xfrm>
              <a:prstGeom prst="rect">
                <a:avLst/>
              </a:prstGeom>
              <a:noFill/>
              <a:extLst>
                <a:ext uri="{909E8E84-426E-40dd-AFC4-6F175D3DCCD1}">
                  <a14:hiddenFill xmlns:mc="http://schemas.openxmlformats.org/markup-compatibility/2006" xmlns="" xmlns:a14="http://schemas.microsoft.com/office/drawing/2010/main">
                    <a:solidFill>
                      <a:srgbClr val="FFFFFF"/>
                    </a:solidFill>
                  </a14:hiddenFill>
                </a:ext>
              </a:extLst>
            </p:spPr>
            <p:txBody>
              <a:bodyPr>
                <a:normAutofit/>
              </a:bodyPr>
              <a:lstStyle/>
              <a:p>
                <a:endParaRPr lang="zh-CN" altLang="en-US"/>
              </a:p>
            </p:txBody>
          </p:sp>
        </p:grpSp>
        <mc:AlternateContent xmlns:mc="http://schemas.openxmlformats.org/markup-compatibility/2006" xmlns:a14="http://schemas.microsoft.com/office/drawing/2010/main">
          <mc:Choice Requires="a14">
            <p:sp>
              <p:nvSpPr>
                <p:cNvPr id="329" name="Object 7">
                  <a:extLst>
                    <a:ext uri="{FF2B5EF4-FFF2-40B4-BE49-F238E27FC236}">
                      <a16:creationId xmlns:a16="http://schemas.microsoft.com/office/drawing/2014/main" id="{652A193B-EC54-46AE-8D68-1A0F889A49C3}"/>
                    </a:ext>
                  </a:extLst>
                </p:cNvPr>
                <p:cNvSpPr txBox="1"/>
                <p:nvPr/>
              </p:nvSpPr>
              <p:spPr bwMode="auto">
                <a:xfrm>
                  <a:off x="1783219" y="4057086"/>
                  <a:ext cx="3840163" cy="835025"/>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𝐶𝑜𝑚𝑏</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𝛿</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𝑠</m:t>
                                    </m:r>
                                  </m:sub>
                                </m:sSub>
                              </m:e>
                            </m:d>
                          </m:e>
                        </m:nary>
                      </m:oMath>
                    </m:oMathPara>
                  </a14:m>
                  <a:endParaRPr lang="zh-CN" altLang="en-US" dirty="0"/>
                </a:p>
              </p:txBody>
            </p:sp>
          </mc:Choice>
          <mc:Fallback xmlns="">
            <p:sp>
              <p:nvSpPr>
                <p:cNvPr id="329" name="Object 7">
                  <a:extLst>
                    <a:ext uri="{FF2B5EF4-FFF2-40B4-BE49-F238E27FC236}">
                      <a16:creationId xmlns:a16="http://schemas.microsoft.com/office/drawing/2014/main" id="{652A193B-EC54-46AE-8D68-1A0F889A49C3}"/>
                    </a:ext>
                  </a:extLst>
                </p:cNvPr>
                <p:cNvSpPr txBox="1">
                  <a:spLocks noRot="1" noChangeAspect="1" noMove="1" noResize="1" noEditPoints="1" noAdjustHandles="1" noChangeArrowheads="1" noChangeShapeType="1" noTextEdit="1"/>
                </p:cNvSpPr>
                <p:nvPr/>
              </p:nvSpPr>
              <p:spPr bwMode="auto">
                <a:xfrm>
                  <a:off x="1783219" y="4057086"/>
                  <a:ext cx="3840163" cy="835025"/>
                </a:xfrm>
                <a:prstGeom prst="rect">
                  <a:avLst/>
                </a:prstGeom>
                <a:blipFill>
                  <a:blip r:embed="rId21"/>
                  <a:stretch>
                    <a:fillRect/>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grpSp>
        <p:nvGrpSpPr>
          <p:cNvPr id="330" name="组合 329">
            <a:extLst>
              <a:ext uri="{FF2B5EF4-FFF2-40B4-BE49-F238E27FC236}">
                <a16:creationId xmlns:a16="http://schemas.microsoft.com/office/drawing/2014/main" id="{1BC7B133-0CD7-42BE-9A5B-87E464B5EAFD}"/>
              </a:ext>
            </a:extLst>
          </p:cNvPr>
          <p:cNvGrpSpPr/>
          <p:nvPr/>
        </p:nvGrpSpPr>
        <p:grpSpPr>
          <a:xfrm>
            <a:off x="953000" y="1199411"/>
            <a:ext cx="3470593" cy="1449984"/>
            <a:chOff x="2260570" y="2446288"/>
            <a:chExt cx="3470593" cy="1449984"/>
          </a:xfrm>
        </p:grpSpPr>
        <p:grpSp>
          <p:nvGrpSpPr>
            <p:cNvPr id="331" name="Group 66">
              <a:extLst>
                <a:ext uri="{FF2B5EF4-FFF2-40B4-BE49-F238E27FC236}">
                  <a16:creationId xmlns:a16="http://schemas.microsoft.com/office/drawing/2014/main" id="{CBD66024-E5C9-4A03-845D-DB7E9AE555F1}"/>
                </a:ext>
              </a:extLst>
            </p:cNvPr>
            <p:cNvGrpSpPr>
              <a:grpSpLocks/>
            </p:cNvGrpSpPr>
            <p:nvPr/>
          </p:nvGrpSpPr>
          <p:grpSpPr bwMode="auto">
            <a:xfrm>
              <a:off x="2260570" y="2479382"/>
              <a:ext cx="3168650" cy="1368425"/>
              <a:chOff x="3379" y="1071"/>
              <a:chExt cx="1996" cy="862"/>
            </a:xfrm>
          </p:grpSpPr>
          <p:sp>
            <p:nvSpPr>
              <p:cNvPr id="334" name="Line 30">
                <a:extLst>
                  <a:ext uri="{FF2B5EF4-FFF2-40B4-BE49-F238E27FC236}">
                    <a16:creationId xmlns:a16="http://schemas.microsoft.com/office/drawing/2014/main" id="{0FFF0516-05AC-4350-A161-AB04093E77D8}"/>
                  </a:ext>
                </a:extLst>
              </p:cNvPr>
              <p:cNvSpPr>
                <a:spLocks noChangeShapeType="1"/>
              </p:cNvSpPr>
              <p:nvPr/>
            </p:nvSpPr>
            <p:spPr bwMode="auto">
              <a:xfrm>
                <a:off x="3379" y="1842"/>
                <a:ext cx="1996"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335" name="Line 31">
                <a:extLst>
                  <a:ext uri="{FF2B5EF4-FFF2-40B4-BE49-F238E27FC236}">
                    <a16:creationId xmlns:a16="http://schemas.microsoft.com/office/drawing/2014/main" id="{893757DB-733F-411F-98A1-38C7C25F1717}"/>
                  </a:ext>
                </a:extLst>
              </p:cNvPr>
              <p:cNvSpPr>
                <a:spLocks noChangeShapeType="1"/>
              </p:cNvSpPr>
              <p:nvPr/>
            </p:nvSpPr>
            <p:spPr bwMode="auto">
              <a:xfrm>
                <a:off x="4332" y="1071"/>
                <a:ext cx="0" cy="862"/>
              </a:xfrm>
              <a:prstGeom prst="line">
                <a:avLst/>
              </a:prstGeom>
              <a:noFill/>
              <a:ln w="22225">
                <a:solidFill>
                  <a:schemeClr val="tx1"/>
                </a:solidFill>
                <a:round/>
                <a:headEnd type="arrow" w="med" len="med"/>
                <a:tailEnd type="none" w="med" len="med"/>
              </a:ln>
            </p:spPr>
            <p:txBody>
              <a:bodyPr wrap="none" anchor="ctr"/>
              <a:lstStyle/>
              <a:p>
                <a:endParaRPr lang="zh-CN" altLang="en-US"/>
              </a:p>
            </p:txBody>
          </p:sp>
          <p:sp>
            <p:nvSpPr>
              <p:cNvPr id="336" name="Freeform 32">
                <a:extLst>
                  <a:ext uri="{FF2B5EF4-FFF2-40B4-BE49-F238E27FC236}">
                    <a16:creationId xmlns:a16="http://schemas.microsoft.com/office/drawing/2014/main" id="{43AEC184-231F-4AA6-9884-6B6E0A49C114}"/>
                  </a:ext>
                </a:extLst>
              </p:cNvPr>
              <p:cNvSpPr>
                <a:spLocks/>
              </p:cNvSpPr>
              <p:nvPr/>
            </p:nvSpPr>
            <p:spPr bwMode="auto">
              <a:xfrm>
                <a:off x="3560" y="1207"/>
                <a:ext cx="1588" cy="407"/>
              </a:xfrm>
              <a:custGeom>
                <a:avLst/>
                <a:gdLst>
                  <a:gd name="T0" fmla="*/ 0 w 1588"/>
                  <a:gd name="T1" fmla="*/ 272 h 407"/>
                  <a:gd name="T2" fmla="*/ 91 w 1588"/>
                  <a:gd name="T3" fmla="*/ 136 h 407"/>
                  <a:gd name="T4" fmla="*/ 227 w 1588"/>
                  <a:gd name="T5" fmla="*/ 181 h 407"/>
                  <a:gd name="T6" fmla="*/ 363 w 1588"/>
                  <a:gd name="T7" fmla="*/ 136 h 407"/>
                  <a:gd name="T8" fmla="*/ 454 w 1588"/>
                  <a:gd name="T9" fmla="*/ 90 h 407"/>
                  <a:gd name="T10" fmla="*/ 545 w 1588"/>
                  <a:gd name="T11" fmla="*/ 45 h 407"/>
                  <a:gd name="T12" fmla="*/ 681 w 1588"/>
                  <a:gd name="T13" fmla="*/ 362 h 407"/>
                  <a:gd name="T14" fmla="*/ 953 w 1588"/>
                  <a:gd name="T15" fmla="*/ 317 h 407"/>
                  <a:gd name="T16" fmla="*/ 1134 w 1588"/>
                  <a:gd name="T17" fmla="*/ 136 h 407"/>
                  <a:gd name="T18" fmla="*/ 1270 w 1588"/>
                  <a:gd name="T19" fmla="*/ 90 h 407"/>
                  <a:gd name="T20" fmla="*/ 1452 w 1588"/>
                  <a:gd name="T21" fmla="*/ 226 h 407"/>
                  <a:gd name="T22" fmla="*/ 1588 w 1588"/>
                  <a:gd name="T23" fmla="*/ 317 h 4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8"/>
                  <a:gd name="T37" fmla="*/ 0 h 407"/>
                  <a:gd name="T38" fmla="*/ 1588 w 1588"/>
                  <a:gd name="T39" fmla="*/ 407 h 4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8" h="407">
                    <a:moveTo>
                      <a:pt x="0" y="272"/>
                    </a:moveTo>
                    <a:cubicBezTo>
                      <a:pt x="26" y="211"/>
                      <a:pt x="53" y="151"/>
                      <a:pt x="91" y="136"/>
                    </a:cubicBezTo>
                    <a:cubicBezTo>
                      <a:pt x="129" y="121"/>
                      <a:pt x="182" y="181"/>
                      <a:pt x="227" y="181"/>
                    </a:cubicBezTo>
                    <a:cubicBezTo>
                      <a:pt x="272" y="181"/>
                      <a:pt x="325" y="151"/>
                      <a:pt x="363" y="136"/>
                    </a:cubicBezTo>
                    <a:cubicBezTo>
                      <a:pt x="401" y="121"/>
                      <a:pt x="424" y="105"/>
                      <a:pt x="454" y="90"/>
                    </a:cubicBezTo>
                    <a:cubicBezTo>
                      <a:pt x="484" y="75"/>
                      <a:pt x="507" y="0"/>
                      <a:pt x="545" y="45"/>
                    </a:cubicBezTo>
                    <a:cubicBezTo>
                      <a:pt x="583" y="90"/>
                      <a:pt x="613" y="317"/>
                      <a:pt x="681" y="362"/>
                    </a:cubicBezTo>
                    <a:cubicBezTo>
                      <a:pt x="749" y="407"/>
                      <a:pt x="878" y="355"/>
                      <a:pt x="953" y="317"/>
                    </a:cubicBezTo>
                    <a:cubicBezTo>
                      <a:pt x="1028" y="279"/>
                      <a:pt x="1081" y="174"/>
                      <a:pt x="1134" y="136"/>
                    </a:cubicBezTo>
                    <a:cubicBezTo>
                      <a:pt x="1187" y="98"/>
                      <a:pt x="1217" y="75"/>
                      <a:pt x="1270" y="90"/>
                    </a:cubicBezTo>
                    <a:cubicBezTo>
                      <a:pt x="1323" y="105"/>
                      <a:pt x="1399" y="188"/>
                      <a:pt x="1452" y="226"/>
                    </a:cubicBezTo>
                    <a:cubicBezTo>
                      <a:pt x="1505" y="264"/>
                      <a:pt x="1565" y="302"/>
                      <a:pt x="1588" y="317"/>
                    </a:cubicBezTo>
                  </a:path>
                </a:pathLst>
              </a:custGeom>
              <a:noFill/>
              <a:ln w="22225">
                <a:solidFill>
                  <a:schemeClr val="tx1"/>
                </a:solidFill>
                <a:round/>
                <a:headEnd/>
                <a:tailEnd type="none" w="sm" len="lg"/>
              </a:ln>
            </p:spPr>
            <p:txBody>
              <a:bodyPr wrap="none" anchor="ctr"/>
              <a:lstStyle/>
              <a:p>
                <a:endParaRPr lang="zh-CN" altLang="en-US"/>
              </a:p>
            </p:txBody>
          </p:sp>
        </p:grpSp>
        <mc:AlternateContent xmlns:mc="http://schemas.openxmlformats.org/markup-compatibility/2006" xmlns:a14="http://schemas.microsoft.com/office/drawing/2010/main">
          <mc:Choice Requires="a14">
            <p:sp>
              <p:nvSpPr>
                <p:cNvPr id="332" name="Object 7">
                  <a:extLst>
                    <a:ext uri="{FF2B5EF4-FFF2-40B4-BE49-F238E27FC236}">
                      <a16:creationId xmlns:a16="http://schemas.microsoft.com/office/drawing/2014/main" id="{6AA25281-9814-4A2D-8FC5-0F5B37EB2BB8}"/>
                    </a:ext>
                  </a:extLst>
                </p:cNvPr>
                <p:cNvSpPr txBox="1"/>
                <p:nvPr/>
              </p:nvSpPr>
              <p:spPr bwMode="auto">
                <a:xfrm>
                  <a:off x="3756958" y="2446288"/>
                  <a:ext cx="885825" cy="490537"/>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𝑎</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oMath>
                    </m:oMathPara>
                  </a14:m>
                  <a:endParaRPr lang="zh-CN" altLang="en-US" dirty="0"/>
                </a:p>
              </p:txBody>
            </p:sp>
          </mc:Choice>
          <mc:Fallback xmlns="">
            <p:sp>
              <p:nvSpPr>
                <p:cNvPr id="332" name="Object 7">
                  <a:extLst>
                    <a:ext uri="{FF2B5EF4-FFF2-40B4-BE49-F238E27FC236}">
                      <a16:creationId xmlns:a16="http://schemas.microsoft.com/office/drawing/2014/main" id="{6AA25281-9814-4A2D-8FC5-0F5B37EB2BB8}"/>
                    </a:ext>
                  </a:extLst>
                </p:cNvPr>
                <p:cNvSpPr txBox="1">
                  <a:spLocks noRot="1" noChangeAspect="1" noMove="1" noResize="1" noEditPoints="1" noAdjustHandles="1" noChangeArrowheads="1" noChangeShapeType="1" noTextEdit="1"/>
                </p:cNvSpPr>
                <p:nvPr/>
              </p:nvSpPr>
              <p:spPr bwMode="auto">
                <a:xfrm>
                  <a:off x="3756958" y="2446288"/>
                  <a:ext cx="885825" cy="490537"/>
                </a:xfrm>
                <a:prstGeom prst="rect">
                  <a:avLst/>
                </a:prstGeom>
                <a:blipFill>
                  <a:blip r:embed="rId22"/>
                  <a:stretch>
                    <a:fillRect l="-2069"/>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3" name="Object 25">
                  <a:extLst>
                    <a:ext uri="{FF2B5EF4-FFF2-40B4-BE49-F238E27FC236}">
                      <a16:creationId xmlns:a16="http://schemas.microsoft.com/office/drawing/2014/main" id="{83E0D4EF-2A70-4B79-94A7-DBCA396E0B03}"/>
                    </a:ext>
                  </a:extLst>
                </p:cNvPr>
                <p:cNvSpPr txBox="1"/>
                <p:nvPr/>
              </p:nvSpPr>
              <p:spPr bwMode="auto">
                <a:xfrm>
                  <a:off x="5405725" y="3539084"/>
                  <a:ext cx="325438" cy="357188"/>
                </a:xfrm>
                <a:prstGeom prst="rect">
                  <a:avLst/>
                </a:prstGeom>
                <a:noFill/>
                <a:extLst>
                  <a:ext uri="{909E8E84-426E-40dd-AFC4-6F175D3DCCD1}">
                    <a14:hiddenFill xmlns="">
                      <a:solidFill>
                        <a:srgbClr val="FFFFFF"/>
                      </a:solidFill>
                    </a14:hiddenFill>
                  </a:ext>
                </a:extLst>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𝑡</m:t>
                        </m:r>
                      </m:oMath>
                    </m:oMathPara>
                  </a14:m>
                  <a:endParaRPr lang="zh-CN" altLang="en-US" dirty="0"/>
                </a:p>
              </p:txBody>
            </p:sp>
          </mc:Choice>
          <mc:Fallback xmlns="">
            <p:sp>
              <p:nvSpPr>
                <p:cNvPr id="78" name="Object 25">
                  <a:extLst>
                    <a:ext uri="{FF2B5EF4-FFF2-40B4-BE49-F238E27FC236}">
                      <a16:creationId xmlns:a16="http://schemas.microsoft.com/office/drawing/2014/main" id="{6C0327C3-D18E-4807-9CB7-C9301F08542F}"/>
                    </a:ext>
                  </a:extLst>
                </p:cNvPr>
                <p:cNvSpPr txBox="1">
                  <a:spLocks noRot="1" noChangeAspect="1" noMove="1" noResize="1" noEditPoints="1" noAdjustHandles="1" noChangeArrowheads="1" noChangeShapeType="1" noTextEdit="1"/>
                </p:cNvSpPr>
                <p:nvPr/>
              </p:nvSpPr>
              <p:spPr bwMode="auto">
                <a:xfrm>
                  <a:off x="5405725" y="3539084"/>
                  <a:ext cx="325438" cy="357188"/>
                </a:xfrm>
                <a:prstGeom prst="rect">
                  <a:avLst/>
                </a:prstGeom>
                <a:blipFill>
                  <a:blip r:embed="rId23"/>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p:cxnSp>
        <p:nvCxnSpPr>
          <p:cNvPr id="337" name="直接箭头连接符 336">
            <a:extLst>
              <a:ext uri="{FF2B5EF4-FFF2-40B4-BE49-F238E27FC236}">
                <a16:creationId xmlns:a16="http://schemas.microsoft.com/office/drawing/2014/main" id="{022D98E7-44A3-4C6F-A2B8-7EE7E36C5D9D}"/>
              </a:ext>
            </a:extLst>
          </p:cNvPr>
          <p:cNvCxnSpPr>
            <a:cxnSpLocks/>
          </p:cNvCxnSpPr>
          <p:nvPr/>
        </p:nvCxnSpPr>
        <p:spPr>
          <a:xfrm>
            <a:off x="4421499" y="3647869"/>
            <a:ext cx="953737" cy="0"/>
          </a:xfrm>
          <a:prstGeom prst="straightConnector1">
            <a:avLst/>
          </a:prstGeom>
          <a:ln w="28575">
            <a:solidFill>
              <a:srgbClr val="42556E"/>
            </a:solidFill>
            <a:headEnd type="arrow"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338" name="直接箭头连接符 337">
            <a:extLst>
              <a:ext uri="{FF2B5EF4-FFF2-40B4-BE49-F238E27FC236}">
                <a16:creationId xmlns:a16="http://schemas.microsoft.com/office/drawing/2014/main" id="{2DC66253-DD31-4563-93F3-2BBAE9C81069}"/>
              </a:ext>
            </a:extLst>
          </p:cNvPr>
          <p:cNvCxnSpPr>
            <a:cxnSpLocks/>
          </p:cNvCxnSpPr>
          <p:nvPr/>
        </p:nvCxnSpPr>
        <p:spPr>
          <a:xfrm>
            <a:off x="4420568" y="1946775"/>
            <a:ext cx="953737" cy="0"/>
          </a:xfrm>
          <a:prstGeom prst="straightConnector1">
            <a:avLst/>
          </a:prstGeom>
          <a:ln w="28575">
            <a:solidFill>
              <a:srgbClr val="42556E"/>
            </a:solidFill>
            <a:headEnd type="arrow" w="med" len="med"/>
            <a:tailEnd type="arrow" w="med" len="med"/>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339" name="文本框 338">
                <a:extLst>
                  <a:ext uri="{FF2B5EF4-FFF2-40B4-BE49-F238E27FC236}">
                    <a16:creationId xmlns:a16="http://schemas.microsoft.com/office/drawing/2014/main" id="{FBF70525-C731-452F-918C-92E545186DA7}"/>
                  </a:ext>
                </a:extLst>
              </p:cNvPr>
              <p:cNvSpPr txBox="1"/>
              <p:nvPr/>
            </p:nvSpPr>
            <p:spPr>
              <a:xfrm>
                <a:off x="6893589" y="2526698"/>
                <a:ext cx="593726" cy="58477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200" b="1" i="1" smtClean="0">
                          <a:latin typeface="Cambria Math" panose="02040503050406030204" pitchFamily="18" charset="0"/>
                          <a:ea typeface="Cambria Math" panose="02040503050406030204" pitchFamily="18" charset="0"/>
                        </a:rPr>
                        <m:t>∗</m:t>
                      </m:r>
                      <m:r>
                        <a:rPr lang="en-US" altLang="zh-CN" sz="3200" b="1" i="1" smtClean="0">
                          <a:latin typeface="Cambria Math" panose="02040503050406030204" pitchFamily="18" charset="0"/>
                        </a:rPr>
                        <m:t> </m:t>
                      </m:r>
                    </m:oMath>
                  </m:oMathPara>
                </a14:m>
                <a:endParaRPr lang="zh-CN" altLang="en-US" sz="3200" b="1" dirty="0"/>
              </a:p>
            </p:txBody>
          </p:sp>
        </mc:Choice>
        <mc:Fallback xmlns="">
          <p:sp>
            <p:nvSpPr>
              <p:cNvPr id="339" name="文本框 338">
                <a:extLst>
                  <a:ext uri="{FF2B5EF4-FFF2-40B4-BE49-F238E27FC236}">
                    <a16:creationId xmlns:a16="http://schemas.microsoft.com/office/drawing/2014/main" id="{FBF70525-C731-452F-918C-92E545186DA7}"/>
                  </a:ext>
                </a:extLst>
              </p:cNvPr>
              <p:cNvSpPr txBox="1">
                <a:spLocks noRot="1" noChangeAspect="1" noMove="1" noResize="1" noEditPoints="1" noAdjustHandles="1" noChangeArrowheads="1" noChangeShapeType="1" noTextEdit="1"/>
              </p:cNvSpPr>
              <p:nvPr/>
            </p:nvSpPr>
            <p:spPr>
              <a:xfrm>
                <a:off x="6893589" y="2526698"/>
                <a:ext cx="593726" cy="584775"/>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0" name="文本框 339">
                <a:extLst>
                  <a:ext uri="{FF2B5EF4-FFF2-40B4-BE49-F238E27FC236}">
                    <a16:creationId xmlns:a16="http://schemas.microsoft.com/office/drawing/2014/main" id="{E2D7C6B6-26E1-4D06-BA29-9D4318AC2E51}"/>
                  </a:ext>
                </a:extLst>
              </p:cNvPr>
              <p:cNvSpPr txBox="1"/>
              <p:nvPr/>
            </p:nvSpPr>
            <p:spPr>
              <a:xfrm>
                <a:off x="2234029" y="2503130"/>
                <a:ext cx="593726" cy="58477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200" b="1" i="1" smtClean="0">
                          <a:latin typeface="Cambria Math" panose="02040503050406030204" pitchFamily="18" charset="0"/>
                          <a:ea typeface="Cambria Math" panose="02040503050406030204" pitchFamily="18" charset="0"/>
                        </a:rPr>
                        <m:t>⋅</m:t>
                      </m:r>
                      <m:r>
                        <a:rPr lang="en-US" altLang="zh-CN" sz="3200" b="1" i="1" smtClean="0">
                          <a:latin typeface="Cambria Math" panose="02040503050406030204" pitchFamily="18" charset="0"/>
                        </a:rPr>
                        <m:t> </m:t>
                      </m:r>
                    </m:oMath>
                  </m:oMathPara>
                </a14:m>
                <a:endParaRPr lang="zh-CN" altLang="en-US" sz="3200" b="1" dirty="0"/>
              </a:p>
            </p:txBody>
          </p:sp>
        </mc:Choice>
        <mc:Fallback xmlns="">
          <p:sp>
            <p:nvSpPr>
              <p:cNvPr id="340" name="文本框 339">
                <a:extLst>
                  <a:ext uri="{FF2B5EF4-FFF2-40B4-BE49-F238E27FC236}">
                    <a16:creationId xmlns:a16="http://schemas.microsoft.com/office/drawing/2014/main" id="{E2D7C6B6-26E1-4D06-BA29-9D4318AC2E51}"/>
                  </a:ext>
                </a:extLst>
              </p:cNvPr>
              <p:cNvSpPr txBox="1">
                <a:spLocks noRot="1" noChangeAspect="1" noMove="1" noResize="1" noEditPoints="1" noAdjustHandles="1" noChangeArrowheads="1" noChangeShapeType="1" noTextEdit="1"/>
              </p:cNvSpPr>
              <p:nvPr/>
            </p:nvSpPr>
            <p:spPr>
              <a:xfrm>
                <a:off x="2234029" y="2503130"/>
                <a:ext cx="593726" cy="584775"/>
              </a:xfrm>
              <a:prstGeom prst="rect">
                <a:avLst/>
              </a:prstGeom>
              <a:blipFill>
                <a:blip r:embed="rId25"/>
                <a:stretch>
                  <a:fillRect/>
                </a:stretch>
              </a:blipFill>
            </p:spPr>
            <p:txBody>
              <a:bodyPr/>
              <a:lstStyle/>
              <a:p>
                <a:r>
                  <a:rPr lang="zh-CN" altLang="en-US">
                    <a:noFill/>
                  </a:rPr>
                  <a:t> </a:t>
                </a:r>
              </a:p>
            </p:txBody>
          </p:sp>
        </mc:Fallback>
      </mc:AlternateContent>
      <p:sp>
        <p:nvSpPr>
          <p:cNvPr id="341" name="文本框 340">
            <a:extLst>
              <a:ext uri="{FF2B5EF4-FFF2-40B4-BE49-F238E27FC236}">
                <a16:creationId xmlns:a16="http://schemas.microsoft.com/office/drawing/2014/main" id="{FEA2EBF9-BAF7-42A4-99D5-8EC353718E27}"/>
              </a:ext>
            </a:extLst>
          </p:cNvPr>
          <p:cNvSpPr txBox="1"/>
          <p:nvPr/>
        </p:nvSpPr>
        <p:spPr>
          <a:xfrm>
            <a:off x="8415949" y="4326119"/>
            <a:ext cx="3845858" cy="369332"/>
          </a:xfrm>
          <a:prstGeom prst="rect">
            <a:avLst/>
          </a:prstGeom>
          <a:noFill/>
        </p:spPr>
        <p:txBody>
          <a:bodyPr wrap="square">
            <a:spAutoFit/>
          </a:bodyPr>
          <a:lstStyle/>
          <a:p>
            <a:r>
              <a:rPr lang="zh-CN" altLang="en-US" sz="1800" spc="50" dirty="0">
                <a:ln w="13500">
                  <a:solidFill>
                    <a:schemeClr val="accent1">
                      <a:shade val="2500"/>
                      <a:alpha val="6500"/>
                    </a:schemeClr>
                  </a:solidFill>
                  <a:prstDash val="solid"/>
                </a:ln>
                <a:effectLst>
                  <a:innerShdw blurRad="50900" dist="38500" dir="13500000">
                    <a:srgbClr val="000000">
                      <a:alpha val="60000"/>
                    </a:srgbClr>
                  </a:innerShdw>
                </a:effectLst>
                <a:latin typeface="微软雅黑" pitchFamily="34" charset="-122"/>
                <a:ea typeface="微软雅黑" pitchFamily="34" charset="-122"/>
              </a:rPr>
              <a:t>频谱复制，冲击函数的卷积的性质。</a:t>
            </a:r>
            <a:endParaRPr lang="zh-CN" altLang="en-US" dirty="0"/>
          </a:p>
        </p:txBody>
      </p:sp>
      <mc:AlternateContent xmlns:mc="http://schemas.openxmlformats.org/markup-compatibility/2006" xmlns:a14="http://schemas.microsoft.com/office/drawing/2010/main">
        <mc:Choice Requires="a14">
          <p:sp>
            <p:nvSpPr>
              <p:cNvPr id="343" name="文本框 342">
                <a:extLst>
                  <a:ext uri="{FF2B5EF4-FFF2-40B4-BE49-F238E27FC236}">
                    <a16:creationId xmlns:a16="http://schemas.microsoft.com/office/drawing/2014/main" id="{3983231D-973B-4895-9EE5-D1388457E5FC}"/>
                  </a:ext>
                </a:extLst>
              </p:cNvPr>
              <p:cNvSpPr txBox="1"/>
              <p:nvPr/>
            </p:nvSpPr>
            <p:spPr>
              <a:xfrm>
                <a:off x="2458454" y="869090"/>
                <a:ext cx="5678693" cy="458908"/>
              </a:xfrm>
              <a:prstGeom prst="rect">
                <a:avLst/>
              </a:prstGeom>
              <a:noFill/>
            </p:spPr>
            <p:txBody>
              <a:bodyPr wrap="square">
                <a:spAutoFit/>
              </a:bodyPr>
              <a:lstStyle/>
              <a:p>
                <a:pPr algn="ctr">
                  <a:lnSpc>
                    <a:spcPct val="150000"/>
                  </a:lnSpc>
                  <a:spcBef>
                    <a:spcPct val="20000"/>
                  </a:spcBef>
                  <a:defRPr/>
                </a:pPr>
                <a:r>
                  <a:rPr lang="zh-CN" altLang="en-US" sz="1800" spc="50" dirty="0">
                    <a:ln w="13500">
                      <a:solidFill>
                        <a:schemeClr val="accent1">
                          <a:shade val="2500"/>
                          <a:alpha val="6500"/>
                        </a:schemeClr>
                      </a:solidFill>
                      <a:prstDash val="solid"/>
                    </a:ln>
                    <a:effectLst>
                      <a:innerShdw blurRad="50900" dist="38500" dir="13500000">
                        <a:srgbClr val="000000">
                          <a:alpha val="60000"/>
                        </a:srgbClr>
                      </a:innerShdw>
                    </a:effectLst>
                    <a:latin typeface="微软雅黑" pitchFamily="34" charset="-122"/>
                    <a:ea typeface="微软雅黑" pitchFamily="34" charset="-122"/>
                  </a:rPr>
                  <a:t>卷积定理：</a:t>
                </a:r>
                <a14:m>
                  <m:oMath xmlns:m="http://schemas.openxmlformats.org/officeDocument/2006/math">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𝑡</m:t>
                        </m:r>
                      </m:e>
                    </m:d>
                    <m:r>
                      <a:rPr lang="zh-CN" altLang="en-US" sz="1800" i="1">
                        <a:solidFill>
                          <a:srgbClr val="000000"/>
                        </a:solidFill>
                        <a:latin typeface="Cambria Math" panose="02040503050406030204" pitchFamily="18" charset="0"/>
                      </a:rPr>
                      <m:t>𝐶𝑜𝑚𝑏</m:t>
                    </m:r>
                    <m:d>
                      <m:dPr>
                        <m:ctrlPr>
                          <a:rPr lang="zh-CN" altLang="en-US" sz="1800" i="1">
                            <a:solidFill>
                              <a:srgbClr val="000000"/>
                            </a:solidFill>
                            <a:latin typeface="Cambria Math" panose="02040503050406030204" pitchFamily="18" charset="0"/>
                          </a:rPr>
                        </m:ctrlPr>
                      </m:dPr>
                      <m:e>
                        <m:r>
                          <a:rPr lang="zh-CN" altLang="en-US" sz="1800" i="1">
                            <a:solidFill>
                              <a:srgbClr val="000000"/>
                            </a:solidFill>
                            <a:latin typeface="Cambria Math" panose="02040503050406030204" pitchFamily="18" charset="0"/>
                          </a:rPr>
                          <m:t>𝑡</m:t>
                        </m:r>
                      </m:e>
                    </m:d>
                    <m:r>
                      <a:rPr lang="en-US" altLang="zh-CN" sz="1800" i="1">
                        <a:latin typeface="Cambria Math" panose="02040503050406030204" pitchFamily="18" charset="0"/>
                        <a:ea typeface="Cambria Math" panose="02040503050406030204" pitchFamily="18" charset="0"/>
                      </a:rPr>
                      <m:t>↔</m:t>
                    </m:r>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𝐹</m:t>
                        </m:r>
                      </m:e>
                      <m:sub>
                        <m:r>
                          <a:rPr lang="zh-CN" altLang="en-US" sz="1800" i="1">
                            <a:solidFill>
                              <a:srgbClr val="000000"/>
                            </a:solidFill>
                            <a:latin typeface="Cambria Math" panose="02040503050406030204" pitchFamily="18" charset="0"/>
                          </a:rPr>
                          <m:t>𝑎</m:t>
                        </m:r>
                      </m:sub>
                    </m:sSub>
                    <m:d>
                      <m:dPr>
                        <m:ctrlPr>
                          <a:rPr lang="zh-CN" altLang="en-US" sz="1800" i="1">
                            <a:solidFill>
                              <a:srgbClr val="000000"/>
                            </a:solidFill>
                            <a:latin typeface="Cambria Math" panose="02040503050406030204" pitchFamily="18" charset="0"/>
                          </a:rPr>
                        </m:ctrlPr>
                      </m:dPr>
                      <m:e>
                        <m:r>
                          <a:rPr lang="zh-CN" altLang="en-US" sz="1800" i="1">
                            <a:solidFill>
                              <a:srgbClr val="000000"/>
                            </a:solidFill>
                            <a:latin typeface="Cambria Math" panose="02040503050406030204" pitchFamily="18" charset="0"/>
                          </a:rPr>
                          <m:t>𝜔</m:t>
                        </m:r>
                      </m:e>
                    </m:d>
                    <m:r>
                      <a:rPr lang="en-US" altLang="zh-CN" sz="1800" i="1">
                        <a:solidFill>
                          <a:srgbClr val="000000"/>
                        </a:solidFill>
                        <a:latin typeface="Cambria Math" panose="02040503050406030204" pitchFamily="18" charset="0"/>
                      </a:rPr>
                      <m:t>∗</m:t>
                    </m:r>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𝐹</m:t>
                        </m:r>
                      </m:e>
                      <m:sub>
                        <m:r>
                          <a:rPr lang="zh-CN" altLang="en-US" sz="1800" i="1">
                            <a:solidFill>
                              <a:srgbClr val="000000"/>
                            </a:solidFill>
                            <a:latin typeface="Cambria Math" panose="02040503050406030204" pitchFamily="18" charset="0"/>
                          </a:rPr>
                          <m:t>𝐶𝑜𝑚𝑏</m:t>
                        </m:r>
                      </m:sub>
                    </m:sSub>
                    <m:d>
                      <m:dPr>
                        <m:ctrlPr>
                          <a:rPr lang="zh-CN" altLang="en-US" sz="1800" i="1">
                            <a:solidFill>
                              <a:srgbClr val="000000"/>
                            </a:solidFill>
                            <a:latin typeface="Cambria Math" panose="02040503050406030204" pitchFamily="18" charset="0"/>
                          </a:rPr>
                        </m:ctrlPr>
                      </m:dPr>
                      <m:e>
                        <m:r>
                          <a:rPr lang="zh-CN" altLang="en-US" sz="1800" i="1">
                            <a:solidFill>
                              <a:srgbClr val="000000"/>
                            </a:solidFill>
                            <a:latin typeface="Cambria Math" panose="02040503050406030204" pitchFamily="18" charset="0"/>
                          </a:rPr>
                          <m:t>𝜔</m:t>
                        </m:r>
                      </m:e>
                    </m:d>
                  </m:oMath>
                </a14:m>
                <a:endParaRPr lang="en-US" altLang="zh-CN" sz="1800" spc="50" dirty="0">
                  <a:ln w="13500">
                    <a:solidFill>
                      <a:schemeClr val="accent1">
                        <a:shade val="2500"/>
                        <a:alpha val="6500"/>
                      </a:schemeClr>
                    </a:solidFill>
                    <a:prstDash val="solid"/>
                  </a:ln>
                  <a:effectLst>
                    <a:innerShdw blurRad="50900" dist="38500" dir="13500000">
                      <a:srgbClr val="000000">
                        <a:alpha val="60000"/>
                      </a:srgbClr>
                    </a:innerShdw>
                  </a:effectLst>
                  <a:latin typeface="微软雅黑" pitchFamily="34" charset="-122"/>
                  <a:ea typeface="微软雅黑" pitchFamily="34" charset="-122"/>
                </a:endParaRPr>
              </a:p>
            </p:txBody>
          </p:sp>
        </mc:Choice>
        <mc:Fallback xmlns="">
          <p:sp>
            <p:nvSpPr>
              <p:cNvPr id="343" name="文本框 342">
                <a:extLst>
                  <a:ext uri="{FF2B5EF4-FFF2-40B4-BE49-F238E27FC236}">
                    <a16:creationId xmlns:a16="http://schemas.microsoft.com/office/drawing/2014/main" id="{3983231D-973B-4895-9EE5-D1388457E5FC}"/>
                  </a:ext>
                </a:extLst>
              </p:cNvPr>
              <p:cNvSpPr txBox="1">
                <a:spLocks noRot="1" noChangeAspect="1" noMove="1" noResize="1" noEditPoints="1" noAdjustHandles="1" noChangeArrowheads="1" noChangeShapeType="1" noTextEdit="1"/>
              </p:cNvSpPr>
              <p:nvPr/>
            </p:nvSpPr>
            <p:spPr>
              <a:xfrm>
                <a:off x="2458454" y="869090"/>
                <a:ext cx="5678693" cy="458908"/>
              </a:xfrm>
              <a:prstGeom prst="rect">
                <a:avLst/>
              </a:prstGeom>
              <a:blipFill>
                <a:blip r:embed="rId26"/>
                <a:stretch>
                  <a:fillRect b="-12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6882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内容占位符 15"/>
              <p:cNvSpPr txBox="1">
                <a:spLocks/>
              </p:cNvSpPr>
              <p:nvPr/>
            </p:nvSpPr>
            <p:spPr>
              <a:xfrm>
                <a:off x="577479" y="921916"/>
                <a:ext cx="11102839" cy="1452247"/>
              </a:xfrm>
              <a:prstGeom prst="rect">
                <a:avLst/>
              </a:prstGeom>
            </p:spPr>
            <p:txBody>
              <a:bodyPr vert="horz" lIns="91440" tIns="45720" rIns="91440" bIns="45720" rtlCol="0">
                <a:noAutofit/>
              </a:bodyPr>
              <a:lstStyle/>
              <a:p>
                <a:pPr>
                  <a:lnSpc>
                    <a:spcPct val="150000"/>
                  </a:lnSpc>
                  <a:spcBef>
                    <a:spcPct val="20000"/>
                  </a:spcBef>
                  <a:defRPr/>
                </a:pPr>
                <a:r>
                  <a:rPr lang="zh-CN" altLang="en-US" sz="2000" spc="50" dirty="0">
                    <a:ln w="13500">
                      <a:solidFill>
                        <a:schemeClr val="accent1">
                          <a:shade val="2500"/>
                          <a:alpha val="6500"/>
                        </a:schemeClr>
                      </a:solidFill>
                      <a:prstDash val="solid"/>
                    </a:ln>
                    <a:effectLst>
                      <a:innerShdw blurRad="50900" dist="38500" dir="13500000">
                        <a:srgbClr val="000000">
                          <a:alpha val="60000"/>
                        </a:srgbClr>
                      </a:innerShdw>
                    </a:effectLst>
                    <a:latin typeface="微软雅黑" pitchFamily="34" charset="-122"/>
                    <a:ea typeface="微软雅黑" pitchFamily="34" charset="-122"/>
                  </a:rPr>
                  <a:t>       如果梳状函数的频率足够高（</a:t>
                </a:r>
                <a:r>
                  <a:rPr lang="zh-CN" altLang="en-US" sz="2000" dirty="0">
                    <a:solidFill>
                      <a:srgbClr val="000000"/>
                    </a:solidFill>
                  </a:rPr>
                  <a:t> </a:t>
                </a:r>
                <a14:m>
                  <m:oMath xmlns:m="http://schemas.openxmlformats.org/officeDocument/2006/math">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𝜋</m:t>
                        </m:r>
                      </m:num>
                      <m:den>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𝑇</m:t>
                            </m:r>
                          </m:e>
                          <m:sub>
                            <m:r>
                              <a:rPr lang="zh-CN" altLang="en-US" sz="2000" i="1">
                                <a:solidFill>
                                  <a:srgbClr val="000000"/>
                                </a:solidFill>
                                <a:latin typeface="Cambria Math" panose="02040503050406030204" pitchFamily="18" charset="0"/>
                              </a:rPr>
                              <m:t>𝑠</m:t>
                            </m:r>
                          </m:sub>
                        </m:sSub>
                      </m:den>
                    </m:f>
                    <m:r>
                      <a:rPr lang="zh-CN" altLang="en-US" sz="2000" i="1">
                        <a:solidFill>
                          <a:srgbClr val="000000"/>
                        </a:solidFill>
                        <a:latin typeface="Cambria Math" panose="02040503050406030204" pitchFamily="18" charset="0"/>
                      </a:rPr>
                      <m:t>≥2</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𝜔</m:t>
                        </m:r>
                      </m:e>
                      <m:sub>
                        <m:r>
                          <a:rPr lang="zh-CN" altLang="en-US" sz="2000" i="1">
                            <a:solidFill>
                              <a:srgbClr val="000000"/>
                            </a:solidFill>
                            <a:latin typeface="Cambria Math" panose="02040503050406030204" pitchFamily="18" charset="0"/>
                          </a:rPr>
                          <m:t>𝑐</m:t>
                        </m:r>
                      </m:sub>
                    </m:sSub>
                    <m:r>
                      <a:rPr lang="zh-CN" altLang="en-US" sz="2000" i="1">
                        <a:solidFill>
                          <a:srgbClr val="000000"/>
                        </a:solidFill>
                        <a:latin typeface="Cambria Math" panose="02040503050406030204" pitchFamily="18" charset="0"/>
                      </a:rPr>
                      <m:t> </m:t>
                    </m:r>
                  </m:oMath>
                </a14:m>
                <a:r>
                  <a:rPr lang="zh-CN" altLang="en-US" sz="2000" spc="50" dirty="0">
                    <a:ln w="13500">
                      <a:solidFill>
                        <a:schemeClr val="accent1">
                          <a:shade val="2500"/>
                          <a:alpha val="6500"/>
                        </a:schemeClr>
                      </a:solidFill>
                      <a:prstDash val="solid"/>
                    </a:ln>
                    <a:effectLst>
                      <a:innerShdw blurRad="50900" dist="38500" dir="13500000">
                        <a:srgbClr val="000000">
                          <a:alpha val="60000"/>
                        </a:srgbClr>
                      </a:innerShdw>
                    </a:effectLst>
                    <a:latin typeface="微软雅黑" pitchFamily="34" charset="-122"/>
                    <a:ea typeface="微软雅黑" pitchFamily="34" charset="-122"/>
                  </a:rPr>
                  <a:t>），可通过加窗操作，取到完整的傅里叶变换，逆变换后可得原函数，也就是复制后的频谱没有混叠。</a:t>
                </a:r>
                <a:endParaRPr lang="en-US" altLang="zh-CN" sz="2000" spc="50" dirty="0">
                  <a:ln w="13500">
                    <a:solidFill>
                      <a:schemeClr val="accent1">
                        <a:shade val="2500"/>
                        <a:alpha val="6500"/>
                      </a:schemeClr>
                    </a:solidFill>
                    <a:prstDash val="solid"/>
                  </a:ln>
                  <a:effectLst>
                    <a:innerShdw blurRad="50900" dist="38500" dir="13500000">
                      <a:srgbClr val="000000">
                        <a:alpha val="60000"/>
                      </a:srgbClr>
                    </a:innerShdw>
                  </a:effectLst>
                  <a:latin typeface="微软雅黑" pitchFamily="34" charset="-122"/>
                  <a:ea typeface="微软雅黑" pitchFamily="34" charset="-122"/>
                </a:endParaRPr>
              </a:p>
            </p:txBody>
          </p:sp>
        </mc:Choice>
        <mc:Fallback xmlns="">
          <p:sp>
            <p:nvSpPr>
              <p:cNvPr id="5" name="内容占位符 15"/>
              <p:cNvSpPr txBox="1">
                <a:spLocks noRot="1" noChangeAspect="1" noMove="1" noResize="1" noEditPoints="1" noAdjustHandles="1" noChangeArrowheads="1" noChangeShapeType="1" noTextEdit="1"/>
              </p:cNvSpPr>
              <p:nvPr/>
            </p:nvSpPr>
            <p:spPr>
              <a:xfrm>
                <a:off x="577479" y="921916"/>
                <a:ext cx="11102839" cy="1452247"/>
              </a:xfrm>
              <a:prstGeom prst="rect">
                <a:avLst/>
              </a:prstGeom>
              <a:blipFill>
                <a:blip r:embed="rId2"/>
                <a:stretch>
                  <a:fillRect/>
                </a:stretch>
              </a:blipFill>
            </p:spPr>
            <p:txBody>
              <a:bodyPr/>
              <a:lstStyle/>
              <a:p>
                <a:r>
                  <a:rPr lang="zh-CN" altLang="en-US">
                    <a:noFill/>
                  </a:rPr>
                  <a:t> </a:t>
                </a:r>
              </a:p>
            </p:txBody>
          </p:sp>
        </mc:Fallback>
      </mc:AlternateContent>
      <p:grpSp>
        <p:nvGrpSpPr>
          <p:cNvPr id="27" name="组合 67"/>
          <p:cNvGrpSpPr/>
          <p:nvPr/>
        </p:nvGrpSpPr>
        <p:grpSpPr>
          <a:xfrm>
            <a:off x="5029776" y="5185943"/>
            <a:ext cx="1598514" cy="1000132"/>
            <a:chOff x="3473552" y="5000636"/>
            <a:chExt cx="1598514" cy="1000132"/>
          </a:xfrm>
        </p:grpSpPr>
        <p:cxnSp>
          <p:nvCxnSpPr>
            <p:cNvPr id="28" name="直接连接符 27"/>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29" name="直接连接符 28"/>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sp>
        <p:nvSpPr>
          <p:cNvPr id="31" name="Line 30"/>
          <p:cNvSpPr>
            <a:spLocks noChangeShapeType="1"/>
          </p:cNvSpPr>
          <p:nvPr/>
        </p:nvSpPr>
        <p:spPr bwMode="auto">
          <a:xfrm>
            <a:off x="2985084" y="6195593"/>
            <a:ext cx="5759474" cy="0"/>
          </a:xfrm>
          <a:prstGeom prst="line">
            <a:avLst/>
          </a:prstGeom>
          <a:noFill/>
          <a:ln w="19050">
            <a:solidFill>
              <a:schemeClr val="tx1"/>
            </a:solidFill>
            <a:round/>
            <a:headEnd type="none" w="med" len="med"/>
            <a:tailEnd type="arrow" w="med" len="med"/>
          </a:ln>
        </p:spPr>
        <p:txBody>
          <a:bodyPr wrap="none" anchor="ctr"/>
          <a:lstStyle/>
          <a:p>
            <a:endParaRPr lang="zh-CN" altLang="en-US"/>
          </a:p>
        </p:txBody>
      </p:sp>
      <p:sp>
        <p:nvSpPr>
          <p:cNvPr id="32" name="Line 31"/>
          <p:cNvSpPr>
            <a:spLocks noChangeShapeType="1"/>
          </p:cNvSpPr>
          <p:nvPr/>
        </p:nvSpPr>
        <p:spPr bwMode="auto">
          <a:xfrm>
            <a:off x="5828308" y="4982262"/>
            <a:ext cx="0" cy="1584325"/>
          </a:xfrm>
          <a:prstGeom prst="line">
            <a:avLst/>
          </a:prstGeom>
          <a:noFill/>
          <a:ln w="22225">
            <a:solidFill>
              <a:schemeClr val="tx1"/>
            </a:solidFill>
            <a:round/>
            <a:headEnd type="arrow" w="med" len="med"/>
            <a:tailEnd type="none" w="med" len="med"/>
          </a:ln>
        </p:spPr>
        <p:txBody>
          <a:bodyPr wrap="none" anchor="ctr"/>
          <a:lstStyle/>
          <a:p>
            <a:endParaRPr lang="zh-CN" altLang="en-US"/>
          </a:p>
        </p:txBody>
      </p:sp>
      <p:grpSp>
        <p:nvGrpSpPr>
          <p:cNvPr id="33" name="组合 68"/>
          <p:cNvGrpSpPr/>
          <p:nvPr/>
        </p:nvGrpSpPr>
        <p:grpSpPr>
          <a:xfrm>
            <a:off x="6315666" y="5185943"/>
            <a:ext cx="1598514" cy="1000132"/>
            <a:chOff x="3473552" y="5000636"/>
            <a:chExt cx="1598514" cy="1000132"/>
          </a:xfrm>
        </p:grpSpPr>
        <p:cxnSp>
          <p:nvCxnSpPr>
            <p:cNvPr id="34" name="直接连接符 33"/>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35" name="直接连接符 34"/>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grpSp>
        <p:nvGrpSpPr>
          <p:cNvPr id="36" name="组合 71"/>
          <p:cNvGrpSpPr/>
          <p:nvPr/>
        </p:nvGrpSpPr>
        <p:grpSpPr>
          <a:xfrm>
            <a:off x="3788458" y="5185943"/>
            <a:ext cx="1598514" cy="1000132"/>
            <a:chOff x="3473552" y="5000636"/>
            <a:chExt cx="1598514" cy="1000132"/>
          </a:xfrm>
        </p:grpSpPr>
        <p:cxnSp>
          <p:nvCxnSpPr>
            <p:cNvPr id="37" name="直接连接符 36"/>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38" name="直接连接符 37"/>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sp>
        <p:nvSpPr>
          <p:cNvPr id="39" name="Line 39"/>
          <p:cNvSpPr>
            <a:spLocks noChangeShapeType="1"/>
          </p:cNvSpPr>
          <p:nvPr/>
        </p:nvSpPr>
        <p:spPr bwMode="auto">
          <a:xfrm>
            <a:off x="5815593" y="6400389"/>
            <a:ext cx="396000" cy="0"/>
          </a:xfrm>
          <a:prstGeom prst="line">
            <a:avLst/>
          </a:prstGeom>
          <a:noFill/>
          <a:ln w="22225">
            <a:solidFill>
              <a:schemeClr val="tx1"/>
            </a:solidFill>
            <a:round/>
            <a:headEnd/>
            <a:tailEnd type="triangle" w="sm" len="lg"/>
          </a:ln>
        </p:spPr>
        <p:txBody>
          <a:bodyPr wrap="none" anchor="ctr"/>
          <a:lstStyle/>
          <a:p>
            <a:endParaRPr lang="zh-CN" altLang="en-US"/>
          </a:p>
        </p:txBody>
      </p:sp>
      <p:sp>
        <p:nvSpPr>
          <p:cNvPr id="40" name="Line 40"/>
          <p:cNvSpPr>
            <a:spLocks noChangeShapeType="1"/>
          </p:cNvSpPr>
          <p:nvPr/>
        </p:nvSpPr>
        <p:spPr bwMode="auto">
          <a:xfrm flipH="1">
            <a:off x="6744294" y="6400389"/>
            <a:ext cx="396000" cy="0"/>
          </a:xfrm>
          <a:prstGeom prst="line">
            <a:avLst/>
          </a:prstGeom>
          <a:noFill/>
          <a:ln w="22225">
            <a:solidFill>
              <a:schemeClr val="tx1"/>
            </a:solidFill>
            <a:round/>
            <a:headEnd/>
            <a:tailEnd type="triangle" w="sm" len="lg"/>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41" name="Object 41"/>
              <p:cNvSpPr txBox="1"/>
              <p:nvPr/>
            </p:nvSpPr>
            <p:spPr bwMode="auto">
              <a:xfrm>
                <a:off x="6158409" y="6170029"/>
                <a:ext cx="593725" cy="668941"/>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center"/>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𝑠</m:t>
                              </m:r>
                            </m:sub>
                          </m:sSub>
                        </m:den>
                      </m:f>
                    </m:oMath>
                  </m:oMathPara>
                </a14:m>
                <a:endParaRPr lang="zh-CN" altLang="en-US" dirty="0"/>
              </a:p>
            </p:txBody>
          </p:sp>
        </mc:Choice>
        <mc:Fallback xmlns="">
          <p:sp>
            <p:nvSpPr>
              <p:cNvPr id="41" name="Object 41"/>
              <p:cNvSpPr txBox="1">
                <a:spLocks noRot="1" noChangeAspect="1" noMove="1" noResize="1" noEditPoints="1" noAdjustHandles="1" noChangeArrowheads="1" noChangeShapeType="1" noTextEdit="1"/>
              </p:cNvSpPr>
              <p:nvPr/>
            </p:nvSpPr>
            <p:spPr bwMode="auto">
              <a:xfrm>
                <a:off x="6158409" y="6170029"/>
                <a:ext cx="593725" cy="668941"/>
              </a:xfrm>
              <a:prstGeom prst="rect">
                <a:avLst/>
              </a:prstGeom>
              <a:blipFill>
                <a:blip r:embed="rId5"/>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sp>
        <p:nvSpPr>
          <p:cNvPr id="43" name="Line 36"/>
          <p:cNvSpPr>
            <a:spLocks noChangeShapeType="1"/>
          </p:cNvSpPr>
          <p:nvPr/>
        </p:nvSpPr>
        <p:spPr bwMode="auto">
          <a:xfrm flipV="1">
            <a:off x="4586640" y="4982261"/>
            <a:ext cx="0" cy="122400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44" name="Line 36"/>
          <p:cNvSpPr>
            <a:spLocks noChangeShapeType="1"/>
          </p:cNvSpPr>
          <p:nvPr/>
        </p:nvSpPr>
        <p:spPr bwMode="auto">
          <a:xfrm flipV="1">
            <a:off x="7115998" y="4982261"/>
            <a:ext cx="0" cy="1584000"/>
          </a:xfrm>
          <a:prstGeom prst="line">
            <a:avLst/>
          </a:prstGeom>
          <a:noFill/>
          <a:ln w="22225">
            <a:solidFill>
              <a:schemeClr val="tx1"/>
            </a:solidFill>
            <a:round/>
            <a:headEnd type="none" w="med" len="med"/>
            <a:tailEnd type="arrow" w="med" len="med"/>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45" name="Object 4"/>
              <p:cNvSpPr txBox="1"/>
              <p:nvPr/>
            </p:nvSpPr>
            <p:spPr bwMode="auto">
              <a:xfrm>
                <a:off x="6498231" y="5848302"/>
                <a:ext cx="492125" cy="588963"/>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45" name="Object 4"/>
              <p:cNvSpPr txBox="1">
                <a:spLocks noRot="1" noChangeAspect="1" noMove="1" noResize="1" noEditPoints="1" noAdjustHandles="1" noChangeArrowheads="1" noChangeShapeType="1" noTextEdit="1"/>
              </p:cNvSpPr>
              <p:nvPr/>
            </p:nvSpPr>
            <p:spPr bwMode="auto">
              <a:xfrm>
                <a:off x="6498231" y="5848302"/>
                <a:ext cx="492125" cy="588963"/>
              </a:xfrm>
              <a:prstGeom prst="rect">
                <a:avLst/>
              </a:prstGeom>
              <a:blipFill>
                <a:blip r:embed="rId6"/>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sp>
        <p:nvSpPr>
          <p:cNvPr id="42" name="标题 1">
            <a:extLst>
              <a:ext uri="{FF2B5EF4-FFF2-40B4-BE49-F238E27FC236}">
                <a16:creationId xmlns:a16="http://schemas.microsoft.com/office/drawing/2014/main" id="{6B407ADA-FAA3-42AD-A0F8-FF06EBACEC07}"/>
              </a:ext>
            </a:extLst>
          </p:cNvPr>
          <p:cNvSpPr txBox="1">
            <a:spLocks noGrp="1"/>
          </p:cNvSpPr>
          <p:nvPr/>
        </p:nvSpPr>
        <p:spPr>
          <a:xfrm>
            <a:off x="381168" y="130775"/>
            <a:ext cx="3590728"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图像的采样：采样定理</a:t>
            </a:r>
          </a:p>
        </p:txBody>
      </p:sp>
      <p:grpSp>
        <p:nvGrpSpPr>
          <p:cNvPr id="3" name="组合 2">
            <a:extLst>
              <a:ext uri="{FF2B5EF4-FFF2-40B4-BE49-F238E27FC236}">
                <a16:creationId xmlns:a16="http://schemas.microsoft.com/office/drawing/2014/main" id="{95451206-664A-4DAC-BBCA-C3D533944623}"/>
              </a:ext>
            </a:extLst>
          </p:cNvPr>
          <p:cNvGrpSpPr/>
          <p:nvPr/>
        </p:nvGrpSpPr>
        <p:grpSpPr>
          <a:xfrm>
            <a:off x="2985084" y="2736613"/>
            <a:ext cx="5759474" cy="2302746"/>
            <a:chOff x="2985084" y="2736613"/>
            <a:chExt cx="5759474" cy="2302746"/>
          </a:xfrm>
        </p:grpSpPr>
        <p:sp>
          <p:nvSpPr>
            <p:cNvPr id="2" name="矩形 1">
              <a:extLst>
                <a:ext uri="{FF2B5EF4-FFF2-40B4-BE49-F238E27FC236}">
                  <a16:creationId xmlns:a16="http://schemas.microsoft.com/office/drawing/2014/main" id="{D856E6E4-DF6D-4BFE-AAFF-A10416939A13}"/>
                </a:ext>
              </a:extLst>
            </p:cNvPr>
            <p:cNvSpPr/>
            <p:nvPr/>
          </p:nvSpPr>
          <p:spPr>
            <a:xfrm>
              <a:off x="4911635" y="3135086"/>
              <a:ext cx="1795916" cy="10436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67"/>
            <p:cNvGrpSpPr/>
            <p:nvPr/>
          </p:nvGrpSpPr>
          <p:grpSpPr>
            <a:xfrm>
              <a:off x="5029776" y="3174561"/>
              <a:ext cx="1598514" cy="1000132"/>
              <a:chOff x="3473552" y="5000636"/>
              <a:chExt cx="1598514" cy="1000132"/>
            </a:xfrm>
          </p:grpSpPr>
          <p:cxnSp>
            <p:nvCxnSpPr>
              <p:cNvPr id="9" name="直接连接符 8"/>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10" name="直接连接符 9"/>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grpSp>
          <p:nvGrpSpPr>
            <p:cNvPr id="11" name="Group 66"/>
            <p:cNvGrpSpPr>
              <a:grpSpLocks/>
            </p:cNvGrpSpPr>
            <p:nvPr/>
          </p:nvGrpSpPr>
          <p:grpSpPr bwMode="auto">
            <a:xfrm>
              <a:off x="2985084" y="2960248"/>
              <a:ext cx="5759474" cy="1584325"/>
              <a:chOff x="2541" y="1071"/>
              <a:chExt cx="3628" cy="998"/>
            </a:xfrm>
          </p:grpSpPr>
          <p:sp>
            <p:nvSpPr>
              <p:cNvPr id="12" name="Line 30"/>
              <p:cNvSpPr>
                <a:spLocks noChangeShapeType="1"/>
              </p:cNvSpPr>
              <p:nvPr/>
            </p:nvSpPr>
            <p:spPr bwMode="auto">
              <a:xfrm>
                <a:off x="2541" y="1842"/>
                <a:ext cx="3628" cy="0"/>
              </a:xfrm>
              <a:prstGeom prst="line">
                <a:avLst/>
              </a:prstGeom>
              <a:noFill/>
              <a:ln w="19050">
                <a:solidFill>
                  <a:schemeClr val="tx1"/>
                </a:solidFill>
                <a:round/>
                <a:headEnd type="none" w="med" len="med"/>
                <a:tailEnd type="arrow" w="med" len="med"/>
              </a:ln>
            </p:spPr>
            <p:txBody>
              <a:bodyPr wrap="none" anchor="ctr"/>
              <a:lstStyle/>
              <a:p>
                <a:endParaRPr lang="zh-CN" altLang="en-US"/>
              </a:p>
            </p:txBody>
          </p:sp>
          <p:sp>
            <p:nvSpPr>
              <p:cNvPr id="13" name="Line 31"/>
              <p:cNvSpPr>
                <a:spLocks noChangeShapeType="1"/>
              </p:cNvSpPr>
              <p:nvPr/>
            </p:nvSpPr>
            <p:spPr bwMode="auto">
              <a:xfrm>
                <a:off x="4332" y="1071"/>
                <a:ext cx="0" cy="998"/>
              </a:xfrm>
              <a:prstGeom prst="line">
                <a:avLst/>
              </a:prstGeom>
              <a:noFill/>
              <a:ln w="22225">
                <a:solidFill>
                  <a:schemeClr val="tx1"/>
                </a:solidFill>
                <a:round/>
                <a:headEnd type="arrow" w="med" len="med"/>
                <a:tailEnd type="none" w="med" len="med"/>
              </a:ln>
            </p:spPr>
            <p:txBody>
              <a:bodyPr wrap="none" anchor="ctr"/>
              <a:lstStyle/>
              <a:p>
                <a:endParaRPr lang="zh-CN" altLang="en-US"/>
              </a:p>
            </p:txBody>
          </p:sp>
        </p:grpSp>
        <p:grpSp>
          <p:nvGrpSpPr>
            <p:cNvPr id="14" name="组合 68"/>
            <p:cNvGrpSpPr/>
            <p:nvPr/>
          </p:nvGrpSpPr>
          <p:grpSpPr>
            <a:xfrm>
              <a:off x="6815726" y="3174561"/>
              <a:ext cx="1598514" cy="1000132"/>
              <a:chOff x="3473552" y="5000636"/>
              <a:chExt cx="1598514" cy="1000132"/>
            </a:xfrm>
          </p:grpSpPr>
          <p:cxnSp>
            <p:nvCxnSpPr>
              <p:cNvPr id="15" name="直接连接符 14"/>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5"/>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grpSp>
          <p:nvGrpSpPr>
            <p:cNvPr id="17" name="组合 71"/>
            <p:cNvGrpSpPr/>
            <p:nvPr/>
          </p:nvGrpSpPr>
          <p:grpSpPr>
            <a:xfrm>
              <a:off x="3216948" y="3174561"/>
              <a:ext cx="1598514" cy="1000132"/>
              <a:chOff x="3473552" y="5000636"/>
              <a:chExt cx="1598514" cy="1000132"/>
            </a:xfrm>
          </p:grpSpPr>
          <p:cxnSp>
            <p:nvCxnSpPr>
              <p:cNvPr id="18" name="直接连接符 17"/>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19" name="直接连接符 18"/>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sp>
          <p:nvSpPr>
            <p:cNvPr id="20" name="Line 39"/>
            <p:cNvSpPr>
              <a:spLocks noChangeShapeType="1"/>
            </p:cNvSpPr>
            <p:nvPr/>
          </p:nvSpPr>
          <p:spPr bwMode="auto">
            <a:xfrm>
              <a:off x="5815593" y="4389007"/>
              <a:ext cx="648000" cy="0"/>
            </a:xfrm>
            <a:prstGeom prst="line">
              <a:avLst/>
            </a:prstGeom>
            <a:noFill/>
            <a:ln w="22225">
              <a:solidFill>
                <a:schemeClr val="tx1"/>
              </a:solidFill>
              <a:round/>
              <a:headEnd/>
              <a:tailEnd type="triangle" w="sm" len="lg"/>
            </a:ln>
          </p:spPr>
          <p:txBody>
            <a:bodyPr wrap="none" anchor="ctr"/>
            <a:lstStyle/>
            <a:p>
              <a:endParaRPr lang="zh-CN" altLang="en-US"/>
            </a:p>
          </p:txBody>
        </p:sp>
        <p:sp>
          <p:nvSpPr>
            <p:cNvPr id="21" name="Line 40"/>
            <p:cNvSpPr>
              <a:spLocks noChangeShapeType="1"/>
            </p:cNvSpPr>
            <p:nvPr/>
          </p:nvSpPr>
          <p:spPr bwMode="auto">
            <a:xfrm flipH="1">
              <a:off x="6958602" y="4389007"/>
              <a:ext cx="648000" cy="0"/>
            </a:xfrm>
            <a:prstGeom prst="line">
              <a:avLst/>
            </a:prstGeom>
            <a:noFill/>
            <a:ln w="22225">
              <a:solidFill>
                <a:schemeClr val="tx1"/>
              </a:solidFill>
              <a:round/>
              <a:headEnd/>
              <a:tailEnd type="triangle" w="sm" len="lg"/>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22" name="Object 41"/>
                <p:cNvSpPr txBox="1"/>
                <p:nvPr/>
              </p:nvSpPr>
              <p:spPr bwMode="auto">
                <a:xfrm>
                  <a:off x="6458537" y="4193221"/>
                  <a:ext cx="593725" cy="846138"/>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center"/>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𝑠</m:t>
                                </m:r>
                              </m:sub>
                            </m:sSub>
                          </m:den>
                        </m:f>
                      </m:oMath>
                    </m:oMathPara>
                  </a14:m>
                  <a:endParaRPr lang="zh-CN" altLang="en-US" dirty="0"/>
                </a:p>
              </p:txBody>
            </p:sp>
          </mc:Choice>
          <mc:Fallback xmlns="">
            <p:sp>
              <p:nvSpPr>
                <p:cNvPr id="22" name="Object 41"/>
                <p:cNvSpPr txBox="1">
                  <a:spLocks noRot="1" noChangeAspect="1" noMove="1" noResize="1" noEditPoints="1" noAdjustHandles="1" noChangeArrowheads="1" noChangeShapeType="1" noTextEdit="1"/>
                </p:cNvSpPr>
                <p:nvPr/>
              </p:nvSpPr>
              <p:spPr bwMode="auto">
                <a:xfrm>
                  <a:off x="6458537" y="4193221"/>
                  <a:ext cx="593725" cy="846138"/>
                </a:xfrm>
                <a:prstGeom prst="rect">
                  <a:avLst/>
                </a:prstGeom>
                <a:blipFill>
                  <a:blip r:embed="rId7"/>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sp>
          <p:nvSpPr>
            <p:cNvPr id="24" name="Line 36"/>
            <p:cNvSpPr>
              <a:spLocks noChangeShapeType="1"/>
            </p:cNvSpPr>
            <p:nvPr/>
          </p:nvSpPr>
          <p:spPr bwMode="auto">
            <a:xfrm flipV="1">
              <a:off x="4015130" y="2960247"/>
              <a:ext cx="0" cy="122400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25" name="Line 36"/>
            <p:cNvSpPr>
              <a:spLocks noChangeShapeType="1"/>
            </p:cNvSpPr>
            <p:nvPr/>
          </p:nvSpPr>
          <p:spPr bwMode="auto">
            <a:xfrm flipV="1">
              <a:off x="7616058" y="2960247"/>
              <a:ext cx="0" cy="1584000"/>
            </a:xfrm>
            <a:prstGeom prst="line">
              <a:avLst/>
            </a:prstGeom>
            <a:noFill/>
            <a:ln w="22225">
              <a:solidFill>
                <a:schemeClr val="tx1"/>
              </a:solidFill>
              <a:round/>
              <a:headEnd type="none" w="med" len="med"/>
              <a:tailEnd type="arrow" w="med" len="med"/>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110596" name="Object 4"/>
                <p:cNvSpPr txBox="1"/>
                <p:nvPr/>
              </p:nvSpPr>
              <p:spPr bwMode="auto">
                <a:xfrm>
                  <a:off x="6463355" y="3831880"/>
                  <a:ext cx="517307" cy="412204"/>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110596" name="Object 4"/>
                <p:cNvSpPr txBox="1">
                  <a:spLocks noRot="1" noChangeAspect="1" noMove="1" noResize="1" noEditPoints="1" noAdjustHandles="1" noChangeArrowheads="1" noChangeShapeType="1" noTextEdit="1"/>
                </p:cNvSpPr>
                <p:nvPr/>
              </p:nvSpPr>
              <p:spPr bwMode="auto">
                <a:xfrm>
                  <a:off x="6463355" y="3831880"/>
                  <a:ext cx="517307" cy="412204"/>
                </a:xfrm>
                <a:prstGeom prst="rect">
                  <a:avLst/>
                </a:prstGeom>
                <a:blipFill>
                  <a:blip r:embed="rId8"/>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1980D86A-14DB-4B1B-AD0D-9C881029104A}"/>
                    </a:ext>
                  </a:extLst>
                </p:cNvPr>
                <p:cNvSpPr/>
                <p:nvPr/>
              </p:nvSpPr>
              <p:spPr>
                <a:xfrm>
                  <a:off x="5828308" y="2736613"/>
                  <a:ext cx="601182" cy="2717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rgbClr val="000000"/>
                                </a:solidFill>
                                <a:latin typeface="Cambria Math" panose="02040503050406030204" pitchFamily="18" charset="0"/>
                              </a:rPr>
                            </m:ctrlPr>
                          </m:sSubPr>
                          <m:e>
                            <m:acc>
                              <m:accPr>
                                <m:chr m:val="̃"/>
                                <m:ctrlPr>
                                  <a:rPr lang="en-US" altLang="zh-CN" i="1">
                                    <a:solidFill>
                                      <a:srgbClr val="000000"/>
                                    </a:solidFill>
                                    <a:latin typeface="Cambria Math" panose="02040503050406030204" pitchFamily="18" charset="0"/>
                                  </a:rPr>
                                </m:ctrlPr>
                              </m:accPr>
                              <m:e>
                                <m:r>
                                  <a:rPr lang="en-US" altLang="zh-CN" b="0" i="1">
                                    <a:solidFill>
                                      <a:srgbClr val="000000"/>
                                    </a:solidFill>
                                    <a:latin typeface="Cambria Math" panose="02040503050406030204" pitchFamily="18" charset="0"/>
                                  </a:rPr>
                                  <m:t>𝐹</m:t>
                                </m:r>
                              </m:e>
                            </m:acc>
                          </m:e>
                          <m:sub>
                            <m:r>
                              <a:rPr lang="en-US" altLang="zh-CN" b="0" i="1">
                                <a:solidFill>
                                  <a:srgbClr val="000000"/>
                                </a:solidFill>
                                <a:latin typeface="Cambria Math" panose="02040503050406030204" pitchFamily="18" charset="0"/>
                              </a:rPr>
                              <m:t>𝑛</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e>
                        </m:d>
                      </m:oMath>
                    </m:oMathPara>
                  </a14:m>
                  <a:endParaRPr lang="zh-CN" altLang="en-US" dirty="0"/>
                </a:p>
              </p:txBody>
            </p:sp>
          </mc:Choice>
          <mc:Fallback xmlns="">
            <p:sp>
              <p:nvSpPr>
                <p:cNvPr id="47" name="矩形 46">
                  <a:extLst>
                    <a:ext uri="{FF2B5EF4-FFF2-40B4-BE49-F238E27FC236}">
                      <a16:creationId xmlns:a16="http://schemas.microsoft.com/office/drawing/2014/main" id="{1980D86A-14DB-4B1B-AD0D-9C881029104A}"/>
                    </a:ext>
                  </a:extLst>
                </p:cNvPr>
                <p:cNvSpPr>
                  <a:spLocks noRot="1" noChangeAspect="1" noMove="1" noResize="1" noEditPoints="1" noAdjustHandles="1" noChangeArrowheads="1" noChangeShapeType="1" noTextEdit="1"/>
                </p:cNvSpPr>
                <p:nvPr/>
              </p:nvSpPr>
              <p:spPr>
                <a:xfrm>
                  <a:off x="5828308" y="2736613"/>
                  <a:ext cx="601182" cy="271750"/>
                </a:xfrm>
                <a:prstGeom prst="rect">
                  <a:avLst/>
                </a:prstGeom>
                <a:blipFill>
                  <a:blip r:embed="rId9"/>
                  <a:stretch>
                    <a:fillRect t="-4545" r="-9091" b="-36364"/>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A1013AE3-98EB-4799-949E-DE7ADA47CD9F}"/>
                  </a:ext>
                </a:extLst>
              </p:cNvPr>
              <p:cNvSpPr/>
              <p:nvPr/>
            </p:nvSpPr>
            <p:spPr>
              <a:xfrm>
                <a:off x="5864821" y="4780529"/>
                <a:ext cx="601182" cy="2717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rgbClr val="000000"/>
                              </a:solidFill>
                              <a:latin typeface="Cambria Math" panose="02040503050406030204" pitchFamily="18" charset="0"/>
                            </a:rPr>
                          </m:ctrlPr>
                        </m:sSubPr>
                        <m:e>
                          <m:acc>
                            <m:accPr>
                              <m:chr m:val="̃"/>
                              <m:ctrlPr>
                                <a:rPr lang="en-US" altLang="zh-CN" i="1">
                                  <a:solidFill>
                                    <a:srgbClr val="000000"/>
                                  </a:solidFill>
                                  <a:latin typeface="Cambria Math" panose="02040503050406030204" pitchFamily="18" charset="0"/>
                                </a:rPr>
                              </m:ctrlPr>
                            </m:accPr>
                            <m:e>
                              <m:r>
                                <a:rPr lang="en-US" altLang="zh-CN" b="0" i="1">
                                  <a:solidFill>
                                    <a:srgbClr val="000000"/>
                                  </a:solidFill>
                                  <a:latin typeface="Cambria Math" panose="02040503050406030204" pitchFamily="18" charset="0"/>
                                </a:rPr>
                                <m:t>𝐹</m:t>
                              </m:r>
                            </m:e>
                          </m:acc>
                        </m:e>
                        <m:sub>
                          <m:r>
                            <a:rPr lang="en-US" altLang="zh-CN" b="0" i="1">
                              <a:solidFill>
                                <a:srgbClr val="000000"/>
                              </a:solidFill>
                              <a:latin typeface="Cambria Math" panose="02040503050406030204" pitchFamily="18" charset="0"/>
                            </a:rPr>
                            <m:t>𝑛</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e>
                      </m:d>
                    </m:oMath>
                  </m:oMathPara>
                </a14:m>
                <a:endParaRPr lang="zh-CN" altLang="en-US" dirty="0"/>
              </a:p>
            </p:txBody>
          </p:sp>
        </mc:Choice>
        <mc:Fallback xmlns="">
          <p:sp>
            <p:nvSpPr>
              <p:cNvPr id="48" name="矩形 47">
                <a:extLst>
                  <a:ext uri="{FF2B5EF4-FFF2-40B4-BE49-F238E27FC236}">
                    <a16:creationId xmlns:a16="http://schemas.microsoft.com/office/drawing/2014/main" id="{A1013AE3-98EB-4799-949E-DE7ADA47CD9F}"/>
                  </a:ext>
                </a:extLst>
              </p:cNvPr>
              <p:cNvSpPr>
                <a:spLocks noRot="1" noChangeAspect="1" noMove="1" noResize="1" noEditPoints="1" noAdjustHandles="1" noChangeArrowheads="1" noChangeShapeType="1" noTextEdit="1"/>
              </p:cNvSpPr>
              <p:nvPr/>
            </p:nvSpPr>
            <p:spPr>
              <a:xfrm>
                <a:off x="5864821" y="4780529"/>
                <a:ext cx="601182" cy="271750"/>
              </a:xfrm>
              <a:prstGeom prst="rect">
                <a:avLst/>
              </a:prstGeom>
              <a:blipFill>
                <a:blip r:embed="rId10"/>
                <a:stretch>
                  <a:fillRect t="-4444" r="-9091" b="-33333"/>
                </a:stretch>
              </a:blipFill>
            </p:spPr>
            <p:txBody>
              <a:bodyPr/>
              <a:lstStyle/>
              <a:p>
                <a:r>
                  <a:rPr lang="zh-CN" altLang="en-US">
                    <a:noFill/>
                  </a:rPr>
                  <a:t> </a:t>
                </a:r>
              </a:p>
            </p:txBody>
          </p:sp>
        </mc:Fallback>
      </mc:AlternateContent>
      <p:sp>
        <p:nvSpPr>
          <p:cNvPr id="49" name="矩形 48">
            <a:extLst>
              <a:ext uri="{FF2B5EF4-FFF2-40B4-BE49-F238E27FC236}">
                <a16:creationId xmlns:a16="http://schemas.microsoft.com/office/drawing/2014/main" id="{D227208B-E911-4B38-ABAF-1A342222D321}"/>
              </a:ext>
            </a:extLst>
          </p:cNvPr>
          <p:cNvSpPr/>
          <p:nvPr/>
        </p:nvSpPr>
        <p:spPr>
          <a:xfrm>
            <a:off x="4930288" y="5152951"/>
            <a:ext cx="1795916" cy="10436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2853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1">
            <a:extLst>
              <a:ext uri="{FF2B5EF4-FFF2-40B4-BE49-F238E27FC236}">
                <a16:creationId xmlns:a16="http://schemas.microsoft.com/office/drawing/2014/main" id="{6B407ADA-FAA3-42AD-A0F8-FF06EBACEC07}"/>
              </a:ext>
            </a:extLst>
          </p:cNvPr>
          <p:cNvSpPr txBox="1">
            <a:spLocks noGrp="1"/>
          </p:cNvSpPr>
          <p:nvPr/>
        </p:nvSpPr>
        <p:spPr>
          <a:xfrm>
            <a:off x="381168" y="130775"/>
            <a:ext cx="3590728"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图像的采样：采样定理</a:t>
            </a:r>
          </a:p>
        </p:txBody>
      </p:sp>
      <p:grpSp>
        <p:nvGrpSpPr>
          <p:cNvPr id="7" name="组合 6">
            <a:extLst>
              <a:ext uri="{FF2B5EF4-FFF2-40B4-BE49-F238E27FC236}">
                <a16:creationId xmlns:a16="http://schemas.microsoft.com/office/drawing/2014/main" id="{A55A8AED-8EFD-414C-8A77-F758504EEC5A}"/>
              </a:ext>
            </a:extLst>
          </p:cNvPr>
          <p:cNvGrpSpPr>
            <a:grpSpLocks noChangeAspect="1"/>
          </p:cNvGrpSpPr>
          <p:nvPr/>
        </p:nvGrpSpPr>
        <p:grpSpPr>
          <a:xfrm>
            <a:off x="2471492" y="1078936"/>
            <a:ext cx="2507477" cy="1214229"/>
            <a:chOff x="1922852" y="636105"/>
            <a:chExt cx="3333641" cy="1614288"/>
          </a:xfrm>
        </p:grpSpPr>
        <p:sp>
          <p:nvSpPr>
            <p:cNvPr id="2" name="矩形 1">
              <a:extLst>
                <a:ext uri="{FF2B5EF4-FFF2-40B4-BE49-F238E27FC236}">
                  <a16:creationId xmlns:a16="http://schemas.microsoft.com/office/drawing/2014/main" id="{D856E6E4-DF6D-4BFE-AAFF-A10416939A13}"/>
                </a:ext>
              </a:extLst>
            </p:cNvPr>
            <p:cNvSpPr/>
            <p:nvPr/>
          </p:nvSpPr>
          <p:spPr>
            <a:xfrm>
              <a:off x="2684506" y="1037701"/>
              <a:ext cx="1795916" cy="10436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E50B4DEA-8AFA-4F71-8C98-F864D44894A1}"/>
                </a:ext>
              </a:extLst>
            </p:cNvPr>
            <p:cNvGrpSpPr>
              <a:grpSpLocks noChangeAspect="1"/>
            </p:cNvGrpSpPr>
            <p:nvPr/>
          </p:nvGrpSpPr>
          <p:grpSpPr>
            <a:xfrm>
              <a:off x="1922852" y="636105"/>
              <a:ext cx="3333641" cy="1614288"/>
              <a:chOff x="1922852" y="636105"/>
              <a:chExt cx="3333641" cy="1614288"/>
            </a:xfrm>
          </p:grpSpPr>
          <p:grpSp>
            <p:nvGrpSpPr>
              <p:cNvPr id="11" name="Group 66"/>
              <p:cNvGrpSpPr>
                <a:grpSpLocks/>
              </p:cNvGrpSpPr>
              <p:nvPr/>
            </p:nvGrpSpPr>
            <p:grpSpPr bwMode="auto">
              <a:xfrm>
                <a:off x="1922852" y="666068"/>
                <a:ext cx="3333641" cy="1584325"/>
                <a:chOff x="2541" y="949"/>
                <a:chExt cx="3628" cy="998"/>
              </a:xfrm>
            </p:grpSpPr>
            <p:sp>
              <p:nvSpPr>
                <p:cNvPr id="12" name="Line 30"/>
                <p:cNvSpPr>
                  <a:spLocks noChangeShapeType="1"/>
                </p:cNvSpPr>
                <p:nvPr/>
              </p:nvSpPr>
              <p:spPr bwMode="auto">
                <a:xfrm>
                  <a:off x="2541" y="1842"/>
                  <a:ext cx="3628" cy="0"/>
                </a:xfrm>
                <a:prstGeom prst="line">
                  <a:avLst/>
                </a:prstGeom>
                <a:noFill/>
                <a:ln w="19050">
                  <a:solidFill>
                    <a:schemeClr val="tx1"/>
                  </a:solidFill>
                  <a:round/>
                  <a:headEnd type="none" w="med" len="med"/>
                  <a:tailEnd type="arrow" w="med" len="med"/>
                </a:ln>
              </p:spPr>
              <p:txBody>
                <a:bodyPr wrap="none" anchor="ctr"/>
                <a:lstStyle/>
                <a:p>
                  <a:endParaRPr lang="zh-CN" altLang="en-US"/>
                </a:p>
              </p:txBody>
            </p:sp>
            <p:sp>
              <p:nvSpPr>
                <p:cNvPr id="13" name="Line 31"/>
                <p:cNvSpPr>
                  <a:spLocks noChangeShapeType="1"/>
                </p:cNvSpPr>
                <p:nvPr/>
              </p:nvSpPr>
              <p:spPr bwMode="auto">
                <a:xfrm>
                  <a:off x="4332" y="949"/>
                  <a:ext cx="0" cy="998"/>
                </a:xfrm>
                <a:prstGeom prst="line">
                  <a:avLst/>
                </a:prstGeom>
                <a:noFill/>
                <a:ln w="22225">
                  <a:solidFill>
                    <a:schemeClr val="tx1"/>
                  </a:solidFill>
                  <a:round/>
                  <a:headEnd type="arrow" w="med" len="med"/>
                  <a:tailEnd type="none" w="med" len="med"/>
                </a:ln>
              </p:spPr>
              <p:txBody>
                <a:bodyPr wrap="none" anchor="ctr"/>
                <a:lstStyle/>
                <a:p>
                  <a:endParaRPr lang="zh-CN" altLang="en-US" dirty="0"/>
                </a:p>
              </p:txBody>
            </p:sp>
          </p:grpSp>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1980D86A-14DB-4B1B-AD0D-9C881029104A}"/>
                      </a:ext>
                    </a:extLst>
                  </p:cNvPr>
                  <p:cNvSpPr/>
                  <p:nvPr/>
                </p:nvSpPr>
                <p:spPr>
                  <a:xfrm>
                    <a:off x="3586722" y="636105"/>
                    <a:ext cx="10762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rPr>
                            <m:t>𝑅𝑒𝑐𝑡</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e>
                          </m:d>
                        </m:oMath>
                      </m:oMathPara>
                    </a14:m>
                    <a:endParaRPr lang="zh-CN" altLang="en-US" dirty="0"/>
                  </a:p>
                </p:txBody>
              </p:sp>
            </mc:Choice>
            <mc:Fallback xmlns="">
              <p:sp>
                <p:nvSpPr>
                  <p:cNvPr id="47" name="矩形 46">
                    <a:extLst>
                      <a:ext uri="{FF2B5EF4-FFF2-40B4-BE49-F238E27FC236}">
                        <a16:creationId xmlns:a16="http://schemas.microsoft.com/office/drawing/2014/main" id="{1980D86A-14DB-4B1B-AD0D-9C881029104A}"/>
                      </a:ext>
                    </a:extLst>
                  </p:cNvPr>
                  <p:cNvSpPr>
                    <a:spLocks noRot="1" noChangeAspect="1" noMove="1" noResize="1" noEditPoints="1" noAdjustHandles="1" noChangeArrowheads="1" noChangeShapeType="1" noTextEdit="1"/>
                  </p:cNvSpPr>
                  <p:nvPr/>
                </p:nvSpPr>
                <p:spPr>
                  <a:xfrm>
                    <a:off x="3586722" y="636105"/>
                    <a:ext cx="1076257" cy="369332"/>
                  </a:xfrm>
                  <a:prstGeom prst="rect">
                    <a:avLst/>
                  </a:prstGeom>
                  <a:blipFill>
                    <a:blip r:embed="rId2"/>
                    <a:stretch>
                      <a:fillRect r="-11278" b="-23913"/>
                    </a:stretch>
                  </a:blipFill>
                </p:spPr>
                <p:txBody>
                  <a:bodyPr/>
                  <a:lstStyle/>
                  <a:p>
                    <a:r>
                      <a:rPr lang="zh-CN" altLang="en-US">
                        <a:noFill/>
                      </a:rPr>
                      <a:t> </a:t>
                    </a:r>
                  </a:p>
                </p:txBody>
              </p:sp>
            </mc:Fallback>
          </mc:AlternateContent>
        </p:grpSp>
      </p:grpSp>
      <p:grpSp>
        <p:nvGrpSpPr>
          <p:cNvPr id="6" name="组合 5">
            <a:extLst>
              <a:ext uri="{FF2B5EF4-FFF2-40B4-BE49-F238E27FC236}">
                <a16:creationId xmlns:a16="http://schemas.microsoft.com/office/drawing/2014/main" id="{401E612E-C127-4904-8820-99FE151825AF}"/>
              </a:ext>
            </a:extLst>
          </p:cNvPr>
          <p:cNvGrpSpPr>
            <a:grpSpLocks noChangeAspect="1"/>
          </p:cNvGrpSpPr>
          <p:nvPr/>
        </p:nvGrpSpPr>
        <p:grpSpPr>
          <a:xfrm>
            <a:off x="7273449" y="959486"/>
            <a:ext cx="1584242" cy="1396215"/>
            <a:chOff x="6782450" y="511873"/>
            <a:chExt cx="2716860" cy="2394408"/>
          </a:xfrm>
        </p:grpSpPr>
        <p:pic>
          <p:nvPicPr>
            <p:cNvPr id="46" name="Picture 2" descr="查看源图像">
              <a:extLst>
                <a:ext uri="{FF2B5EF4-FFF2-40B4-BE49-F238E27FC236}">
                  <a16:creationId xmlns:a16="http://schemas.microsoft.com/office/drawing/2014/main" id="{D1CF3326-4F3C-49AB-A491-D5389A0CF1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2450" y="806650"/>
              <a:ext cx="2716860" cy="20996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AA6B304F-DD5C-4D70-8E0C-AFD0FE97BF84}"/>
                    </a:ext>
                  </a:extLst>
                </p:cNvPr>
                <p:cNvSpPr txBox="1"/>
                <p:nvPr/>
              </p:nvSpPr>
              <p:spPr>
                <a:xfrm>
                  <a:off x="7493944" y="511873"/>
                  <a:ext cx="125548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rPr>
                          <m:t>𝑆𝑖𝑛𝑐</m:t>
                        </m:r>
                        <m:d>
                          <m:dPr>
                            <m:ctrlPr>
                              <a:rPr lang="zh-CN" altLang="en-US" i="1">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𝑡</m:t>
                            </m:r>
                          </m:e>
                        </m:d>
                      </m:oMath>
                    </m:oMathPara>
                  </a14:m>
                  <a:endParaRPr lang="zh-CN" altLang="en-US" dirty="0"/>
                </a:p>
              </p:txBody>
            </p:sp>
          </mc:Choice>
          <mc:Fallback xmlns="">
            <p:sp>
              <p:nvSpPr>
                <p:cNvPr id="50" name="文本框 49">
                  <a:extLst>
                    <a:ext uri="{FF2B5EF4-FFF2-40B4-BE49-F238E27FC236}">
                      <a16:creationId xmlns:a16="http://schemas.microsoft.com/office/drawing/2014/main" id="{AA6B304F-DD5C-4D70-8E0C-AFD0FE97BF84}"/>
                    </a:ext>
                  </a:extLst>
                </p:cNvPr>
                <p:cNvSpPr txBox="1">
                  <a:spLocks noRot="1" noChangeAspect="1" noMove="1" noResize="1" noEditPoints="1" noAdjustHandles="1" noChangeArrowheads="1" noChangeShapeType="1" noTextEdit="1"/>
                </p:cNvSpPr>
                <p:nvPr/>
              </p:nvSpPr>
              <p:spPr>
                <a:xfrm>
                  <a:off x="7493944" y="511873"/>
                  <a:ext cx="1255489" cy="369332"/>
                </a:xfrm>
                <a:prstGeom prst="rect">
                  <a:avLst/>
                </a:prstGeom>
                <a:blipFill>
                  <a:blip r:embed="rId4"/>
                  <a:stretch>
                    <a:fillRect r="-10000" b="-61111"/>
                  </a:stretch>
                </a:blipFill>
              </p:spPr>
              <p:txBody>
                <a:bodyPr/>
                <a:lstStyle/>
                <a:p>
                  <a:r>
                    <a:rPr lang="zh-CN" altLang="en-US">
                      <a:noFill/>
                    </a:rPr>
                    <a:t> </a:t>
                  </a:r>
                </a:p>
              </p:txBody>
            </p:sp>
          </mc:Fallback>
        </mc:AlternateContent>
      </p:grpSp>
      <p:grpSp>
        <p:nvGrpSpPr>
          <p:cNvPr id="51" name="组合 50">
            <a:extLst>
              <a:ext uri="{FF2B5EF4-FFF2-40B4-BE49-F238E27FC236}">
                <a16:creationId xmlns:a16="http://schemas.microsoft.com/office/drawing/2014/main" id="{7B625A2D-9F5B-4F6C-8806-C14B4541AD46}"/>
              </a:ext>
            </a:extLst>
          </p:cNvPr>
          <p:cNvGrpSpPr/>
          <p:nvPr/>
        </p:nvGrpSpPr>
        <p:grpSpPr>
          <a:xfrm>
            <a:off x="1552697" y="2885647"/>
            <a:ext cx="4431888" cy="1565812"/>
            <a:chOff x="2985084" y="2736613"/>
            <a:chExt cx="5759474" cy="2302746"/>
          </a:xfrm>
        </p:grpSpPr>
        <p:grpSp>
          <p:nvGrpSpPr>
            <p:cNvPr id="53" name="组合 67">
              <a:extLst>
                <a:ext uri="{FF2B5EF4-FFF2-40B4-BE49-F238E27FC236}">
                  <a16:creationId xmlns:a16="http://schemas.microsoft.com/office/drawing/2014/main" id="{45AD6CC0-942C-46EA-9517-E9EA64FA61D2}"/>
                </a:ext>
              </a:extLst>
            </p:cNvPr>
            <p:cNvGrpSpPr/>
            <p:nvPr/>
          </p:nvGrpSpPr>
          <p:grpSpPr>
            <a:xfrm>
              <a:off x="5029776" y="3174561"/>
              <a:ext cx="1598514" cy="1000132"/>
              <a:chOff x="3473552" y="5000636"/>
              <a:chExt cx="1598514" cy="1000132"/>
            </a:xfrm>
          </p:grpSpPr>
          <p:cxnSp>
            <p:nvCxnSpPr>
              <p:cNvPr id="70" name="直接连接符 69">
                <a:extLst>
                  <a:ext uri="{FF2B5EF4-FFF2-40B4-BE49-F238E27FC236}">
                    <a16:creationId xmlns:a16="http://schemas.microsoft.com/office/drawing/2014/main" id="{6ACDFF73-2C3B-4349-BAE7-9E1388F8E238}"/>
                  </a:ext>
                </a:extLst>
              </p:cNvPr>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71" name="直接连接符 70">
                <a:extLst>
                  <a:ext uri="{FF2B5EF4-FFF2-40B4-BE49-F238E27FC236}">
                    <a16:creationId xmlns:a16="http://schemas.microsoft.com/office/drawing/2014/main" id="{9CA4A5C2-95AA-4D41-998E-0B4A209C8F4E}"/>
                  </a:ext>
                </a:extLst>
              </p:cNvPr>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grpSp>
          <p:nvGrpSpPr>
            <p:cNvPr id="54" name="Group 66">
              <a:extLst>
                <a:ext uri="{FF2B5EF4-FFF2-40B4-BE49-F238E27FC236}">
                  <a16:creationId xmlns:a16="http://schemas.microsoft.com/office/drawing/2014/main" id="{AC900811-4A56-4185-B9B3-C2F118BDB22E}"/>
                </a:ext>
              </a:extLst>
            </p:cNvPr>
            <p:cNvGrpSpPr>
              <a:grpSpLocks/>
            </p:cNvGrpSpPr>
            <p:nvPr/>
          </p:nvGrpSpPr>
          <p:grpSpPr bwMode="auto">
            <a:xfrm>
              <a:off x="2985084" y="2960248"/>
              <a:ext cx="5759474" cy="1584325"/>
              <a:chOff x="2541" y="1071"/>
              <a:chExt cx="3628" cy="998"/>
            </a:xfrm>
          </p:grpSpPr>
          <p:sp>
            <p:nvSpPr>
              <p:cNvPr id="68" name="Line 30">
                <a:extLst>
                  <a:ext uri="{FF2B5EF4-FFF2-40B4-BE49-F238E27FC236}">
                    <a16:creationId xmlns:a16="http://schemas.microsoft.com/office/drawing/2014/main" id="{5EE8A820-3140-419F-9F98-D2952E583F13}"/>
                  </a:ext>
                </a:extLst>
              </p:cNvPr>
              <p:cNvSpPr>
                <a:spLocks noChangeShapeType="1"/>
              </p:cNvSpPr>
              <p:nvPr/>
            </p:nvSpPr>
            <p:spPr bwMode="auto">
              <a:xfrm>
                <a:off x="2541" y="1842"/>
                <a:ext cx="3628" cy="0"/>
              </a:xfrm>
              <a:prstGeom prst="line">
                <a:avLst/>
              </a:prstGeom>
              <a:noFill/>
              <a:ln w="19050">
                <a:solidFill>
                  <a:schemeClr val="tx1"/>
                </a:solidFill>
                <a:round/>
                <a:headEnd type="none" w="med" len="med"/>
                <a:tailEnd type="arrow" w="med" len="med"/>
              </a:ln>
            </p:spPr>
            <p:txBody>
              <a:bodyPr wrap="none" anchor="ctr"/>
              <a:lstStyle/>
              <a:p>
                <a:endParaRPr lang="zh-CN" altLang="en-US"/>
              </a:p>
            </p:txBody>
          </p:sp>
          <p:sp>
            <p:nvSpPr>
              <p:cNvPr id="69" name="Line 31">
                <a:extLst>
                  <a:ext uri="{FF2B5EF4-FFF2-40B4-BE49-F238E27FC236}">
                    <a16:creationId xmlns:a16="http://schemas.microsoft.com/office/drawing/2014/main" id="{11BDF836-0EDF-4E7D-BFC4-5C2A13F64F9B}"/>
                  </a:ext>
                </a:extLst>
              </p:cNvPr>
              <p:cNvSpPr>
                <a:spLocks noChangeShapeType="1"/>
              </p:cNvSpPr>
              <p:nvPr/>
            </p:nvSpPr>
            <p:spPr bwMode="auto">
              <a:xfrm>
                <a:off x="4332" y="1071"/>
                <a:ext cx="0" cy="998"/>
              </a:xfrm>
              <a:prstGeom prst="line">
                <a:avLst/>
              </a:prstGeom>
              <a:noFill/>
              <a:ln w="22225">
                <a:solidFill>
                  <a:schemeClr val="tx1"/>
                </a:solidFill>
                <a:round/>
                <a:headEnd type="arrow" w="med" len="med"/>
                <a:tailEnd type="none" w="med" len="med"/>
              </a:ln>
            </p:spPr>
            <p:txBody>
              <a:bodyPr wrap="none" anchor="ctr"/>
              <a:lstStyle/>
              <a:p>
                <a:endParaRPr lang="zh-CN" altLang="en-US"/>
              </a:p>
            </p:txBody>
          </p:sp>
        </p:grpSp>
        <p:grpSp>
          <p:nvGrpSpPr>
            <p:cNvPr id="55" name="组合 68">
              <a:extLst>
                <a:ext uri="{FF2B5EF4-FFF2-40B4-BE49-F238E27FC236}">
                  <a16:creationId xmlns:a16="http://schemas.microsoft.com/office/drawing/2014/main" id="{B3255019-53E1-402C-B303-0A7AFE25595D}"/>
                </a:ext>
              </a:extLst>
            </p:cNvPr>
            <p:cNvGrpSpPr/>
            <p:nvPr/>
          </p:nvGrpSpPr>
          <p:grpSpPr>
            <a:xfrm>
              <a:off x="6815726" y="3174561"/>
              <a:ext cx="1598514" cy="1000132"/>
              <a:chOff x="3473552" y="5000636"/>
              <a:chExt cx="1598514" cy="1000132"/>
            </a:xfrm>
          </p:grpSpPr>
          <p:cxnSp>
            <p:nvCxnSpPr>
              <p:cNvPr id="66" name="直接连接符 65">
                <a:extLst>
                  <a:ext uri="{FF2B5EF4-FFF2-40B4-BE49-F238E27FC236}">
                    <a16:creationId xmlns:a16="http://schemas.microsoft.com/office/drawing/2014/main" id="{58763141-8950-4AFC-8D17-E9530F0D0734}"/>
                  </a:ext>
                </a:extLst>
              </p:cNvPr>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67" name="直接连接符 66">
                <a:extLst>
                  <a:ext uri="{FF2B5EF4-FFF2-40B4-BE49-F238E27FC236}">
                    <a16:creationId xmlns:a16="http://schemas.microsoft.com/office/drawing/2014/main" id="{1B9D2E1B-0C83-43A9-946E-EE93A1493FEB}"/>
                  </a:ext>
                </a:extLst>
              </p:cNvPr>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grpSp>
          <p:nvGrpSpPr>
            <p:cNvPr id="56" name="组合 71">
              <a:extLst>
                <a:ext uri="{FF2B5EF4-FFF2-40B4-BE49-F238E27FC236}">
                  <a16:creationId xmlns:a16="http://schemas.microsoft.com/office/drawing/2014/main" id="{A01DAB8A-65B6-4FFB-B01D-1F6B622647DD}"/>
                </a:ext>
              </a:extLst>
            </p:cNvPr>
            <p:cNvGrpSpPr/>
            <p:nvPr/>
          </p:nvGrpSpPr>
          <p:grpSpPr>
            <a:xfrm>
              <a:off x="3216948" y="3174561"/>
              <a:ext cx="1598514" cy="1000132"/>
              <a:chOff x="3473552" y="5000636"/>
              <a:chExt cx="1598514" cy="1000132"/>
            </a:xfrm>
          </p:grpSpPr>
          <p:cxnSp>
            <p:nvCxnSpPr>
              <p:cNvPr id="64" name="直接连接符 63">
                <a:extLst>
                  <a:ext uri="{FF2B5EF4-FFF2-40B4-BE49-F238E27FC236}">
                    <a16:creationId xmlns:a16="http://schemas.microsoft.com/office/drawing/2014/main" id="{6D410331-A625-49EB-8B78-75448AD4F62D}"/>
                  </a:ext>
                </a:extLst>
              </p:cNvPr>
              <p:cNvCxnSpPr/>
              <p:nvPr/>
            </p:nvCxnSpPr>
            <p:spPr>
              <a:xfrm rot="5400000">
                <a:off x="3369486" y="5104702"/>
                <a:ext cx="1000132" cy="792000"/>
              </a:xfrm>
              <a:prstGeom prst="line">
                <a:avLst/>
              </a:prstGeom>
            </p:spPr>
            <p:style>
              <a:lnRef idx="2">
                <a:schemeClr val="dk1"/>
              </a:lnRef>
              <a:fillRef idx="0">
                <a:schemeClr val="dk1"/>
              </a:fillRef>
              <a:effectRef idx="1">
                <a:schemeClr val="dk1"/>
              </a:effectRef>
              <a:fontRef idx="minor">
                <a:schemeClr val="tx1"/>
              </a:fontRef>
            </p:style>
          </p:cxnSp>
          <p:cxnSp>
            <p:nvCxnSpPr>
              <p:cNvPr id="65" name="直接连接符 64">
                <a:extLst>
                  <a:ext uri="{FF2B5EF4-FFF2-40B4-BE49-F238E27FC236}">
                    <a16:creationId xmlns:a16="http://schemas.microsoft.com/office/drawing/2014/main" id="{778017B9-805D-4DF7-9125-AE90704E49F1}"/>
                  </a:ext>
                </a:extLst>
              </p:cNvPr>
              <p:cNvCxnSpPr/>
              <p:nvPr/>
            </p:nvCxnSpPr>
            <p:spPr>
              <a:xfrm rot="16200000" flipH="1">
                <a:off x="4176000" y="5104702"/>
                <a:ext cx="1000132" cy="792000"/>
              </a:xfrm>
              <a:prstGeom prst="line">
                <a:avLst/>
              </a:prstGeom>
            </p:spPr>
            <p:style>
              <a:lnRef idx="2">
                <a:schemeClr val="dk1"/>
              </a:lnRef>
              <a:fillRef idx="0">
                <a:schemeClr val="dk1"/>
              </a:fillRef>
              <a:effectRef idx="1">
                <a:schemeClr val="dk1"/>
              </a:effectRef>
              <a:fontRef idx="minor">
                <a:schemeClr val="tx1"/>
              </a:fontRef>
            </p:style>
          </p:cxnSp>
        </p:grpSp>
        <p:sp>
          <p:nvSpPr>
            <p:cNvPr id="57" name="Line 39">
              <a:extLst>
                <a:ext uri="{FF2B5EF4-FFF2-40B4-BE49-F238E27FC236}">
                  <a16:creationId xmlns:a16="http://schemas.microsoft.com/office/drawing/2014/main" id="{AF051552-5704-4C4F-BC5E-E89D0DF76E7F}"/>
                </a:ext>
              </a:extLst>
            </p:cNvPr>
            <p:cNvSpPr>
              <a:spLocks noChangeShapeType="1"/>
            </p:cNvSpPr>
            <p:nvPr/>
          </p:nvSpPr>
          <p:spPr bwMode="auto">
            <a:xfrm>
              <a:off x="5815593" y="4389007"/>
              <a:ext cx="648000" cy="0"/>
            </a:xfrm>
            <a:prstGeom prst="line">
              <a:avLst/>
            </a:prstGeom>
            <a:noFill/>
            <a:ln w="22225">
              <a:solidFill>
                <a:schemeClr val="tx1"/>
              </a:solidFill>
              <a:round/>
              <a:headEnd/>
              <a:tailEnd type="triangle" w="sm" len="lg"/>
            </a:ln>
          </p:spPr>
          <p:txBody>
            <a:bodyPr wrap="none" anchor="ctr"/>
            <a:lstStyle/>
            <a:p>
              <a:endParaRPr lang="zh-CN" altLang="en-US"/>
            </a:p>
          </p:txBody>
        </p:sp>
        <p:sp>
          <p:nvSpPr>
            <p:cNvPr id="58" name="Line 40">
              <a:extLst>
                <a:ext uri="{FF2B5EF4-FFF2-40B4-BE49-F238E27FC236}">
                  <a16:creationId xmlns:a16="http://schemas.microsoft.com/office/drawing/2014/main" id="{97D308C8-9D42-475F-99B1-69187E27CB1D}"/>
                </a:ext>
              </a:extLst>
            </p:cNvPr>
            <p:cNvSpPr>
              <a:spLocks noChangeShapeType="1"/>
            </p:cNvSpPr>
            <p:nvPr/>
          </p:nvSpPr>
          <p:spPr bwMode="auto">
            <a:xfrm flipH="1">
              <a:off x="6958602" y="4389007"/>
              <a:ext cx="648000" cy="0"/>
            </a:xfrm>
            <a:prstGeom prst="line">
              <a:avLst/>
            </a:prstGeom>
            <a:noFill/>
            <a:ln w="22225">
              <a:solidFill>
                <a:schemeClr val="tx1"/>
              </a:solidFill>
              <a:round/>
              <a:headEnd/>
              <a:tailEnd type="triangle" w="sm" len="lg"/>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59" name="Object 41">
                  <a:extLst>
                    <a:ext uri="{FF2B5EF4-FFF2-40B4-BE49-F238E27FC236}">
                      <a16:creationId xmlns:a16="http://schemas.microsoft.com/office/drawing/2014/main" id="{4A8F03B4-B925-4A4E-BAA4-CBAF9B301095}"/>
                    </a:ext>
                  </a:extLst>
                </p:cNvPr>
                <p:cNvSpPr txBox="1"/>
                <p:nvPr/>
              </p:nvSpPr>
              <p:spPr bwMode="auto">
                <a:xfrm>
                  <a:off x="6458537" y="4193221"/>
                  <a:ext cx="593725" cy="846138"/>
                </a:xfrm>
                <a:prstGeom prst="rect">
                  <a:avLst/>
                </a:prstGeom>
                <a:noFill/>
                <a:extLst>
                  <a:ext uri="{909E8E84-426E-40dd-AFC4-6F175D3DCCD1}">
                    <a14:hiddenFill xmlns="">
                      <a:solidFill>
                        <a:srgbClr val="FFFFFF"/>
                      </a:solidFill>
                    </a14:hiddenFill>
                  </a:ext>
                </a:extLst>
              </p:spPr>
              <p:txBody>
                <a:bodyPr>
                  <a:normAutofit fontScale="85000" lnSpcReduction="10000"/>
                </a:bodyPr>
                <a:lstStyle/>
                <a:p>
                  <a:pPr/>
                  <a14:m>
                    <m:oMathPara xmlns:m="http://schemas.openxmlformats.org/officeDocument/2006/math">
                      <m:oMathParaPr>
                        <m:jc m:val="center"/>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𝑠</m:t>
                                </m:r>
                              </m:sub>
                            </m:sSub>
                          </m:den>
                        </m:f>
                      </m:oMath>
                    </m:oMathPara>
                  </a14:m>
                  <a:endParaRPr lang="zh-CN" altLang="en-US" dirty="0"/>
                </a:p>
              </p:txBody>
            </p:sp>
          </mc:Choice>
          <mc:Fallback xmlns="">
            <p:sp>
              <p:nvSpPr>
                <p:cNvPr id="59" name="Object 41">
                  <a:extLst>
                    <a:ext uri="{FF2B5EF4-FFF2-40B4-BE49-F238E27FC236}">
                      <a16:creationId xmlns:a16="http://schemas.microsoft.com/office/drawing/2014/main" id="{4A8F03B4-B925-4A4E-BAA4-CBAF9B301095}"/>
                    </a:ext>
                  </a:extLst>
                </p:cNvPr>
                <p:cNvSpPr txBox="1">
                  <a:spLocks noRot="1" noChangeAspect="1" noMove="1" noResize="1" noEditPoints="1" noAdjustHandles="1" noChangeArrowheads="1" noChangeShapeType="1" noTextEdit="1"/>
                </p:cNvSpPr>
                <p:nvPr/>
              </p:nvSpPr>
              <p:spPr bwMode="auto">
                <a:xfrm>
                  <a:off x="6458537" y="4193221"/>
                  <a:ext cx="593725" cy="846138"/>
                </a:xfrm>
                <a:prstGeom prst="rect">
                  <a:avLst/>
                </a:prstGeom>
                <a:blipFill>
                  <a:blip r:embed="rId5"/>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sp>
          <p:nvSpPr>
            <p:cNvPr id="60" name="Line 36">
              <a:extLst>
                <a:ext uri="{FF2B5EF4-FFF2-40B4-BE49-F238E27FC236}">
                  <a16:creationId xmlns:a16="http://schemas.microsoft.com/office/drawing/2014/main" id="{95D32C49-461E-498C-A963-9C0E0580F366}"/>
                </a:ext>
              </a:extLst>
            </p:cNvPr>
            <p:cNvSpPr>
              <a:spLocks noChangeShapeType="1"/>
            </p:cNvSpPr>
            <p:nvPr/>
          </p:nvSpPr>
          <p:spPr bwMode="auto">
            <a:xfrm flipV="1">
              <a:off x="4015130" y="2960247"/>
              <a:ext cx="0" cy="122400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61" name="Line 36">
              <a:extLst>
                <a:ext uri="{FF2B5EF4-FFF2-40B4-BE49-F238E27FC236}">
                  <a16:creationId xmlns:a16="http://schemas.microsoft.com/office/drawing/2014/main" id="{A6577247-EAAD-415D-A322-981CAE16269C}"/>
                </a:ext>
              </a:extLst>
            </p:cNvPr>
            <p:cNvSpPr>
              <a:spLocks noChangeShapeType="1"/>
            </p:cNvSpPr>
            <p:nvPr/>
          </p:nvSpPr>
          <p:spPr bwMode="auto">
            <a:xfrm flipV="1">
              <a:off x="7616058" y="2960247"/>
              <a:ext cx="0" cy="1584000"/>
            </a:xfrm>
            <a:prstGeom prst="line">
              <a:avLst/>
            </a:prstGeom>
            <a:noFill/>
            <a:ln w="22225">
              <a:solidFill>
                <a:schemeClr val="tx1"/>
              </a:solidFill>
              <a:round/>
              <a:headEnd type="none" w="med" len="med"/>
              <a:tailEnd type="arrow" w="med" len="med"/>
            </a:ln>
          </p:spPr>
          <p:txBody>
            <a:bodyPr wrap="none" anchor="ctr"/>
            <a:lstStyle/>
            <a:p>
              <a:endParaRPr lang="zh-CN" altLang="en-US"/>
            </a:p>
          </p:txBody>
        </p:sp>
        <mc:AlternateContent xmlns:mc="http://schemas.openxmlformats.org/markup-compatibility/2006" xmlns:a14="http://schemas.microsoft.com/office/drawing/2010/main">
          <mc:Choice Requires="a14">
            <p:sp>
              <p:nvSpPr>
                <p:cNvPr id="62" name="Object 4">
                  <a:extLst>
                    <a:ext uri="{FF2B5EF4-FFF2-40B4-BE49-F238E27FC236}">
                      <a16:creationId xmlns:a16="http://schemas.microsoft.com/office/drawing/2014/main" id="{0F8DC6EF-5F4F-497B-95B7-87029A550315}"/>
                    </a:ext>
                  </a:extLst>
                </p:cNvPr>
                <p:cNvSpPr txBox="1"/>
                <p:nvPr/>
              </p:nvSpPr>
              <p:spPr bwMode="auto">
                <a:xfrm>
                  <a:off x="6463355" y="3831880"/>
                  <a:ext cx="517307" cy="412204"/>
                </a:xfrm>
                <a:prstGeom prst="rect">
                  <a:avLst/>
                </a:prstGeom>
                <a:noFill/>
                <a:extLst>
                  <a:ext uri="{909E8E84-426E-40dd-AFC4-6F175D3DCCD1}">
                    <a14:hiddenFill xmlns="">
                      <a:solidFill>
                        <a:srgbClr val="FFFFFF"/>
                      </a:solidFill>
                    </a14:hiddenFill>
                  </a:ext>
                </a:ex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62" name="Object 4">
                  <a:extLst>
                    <a:ext uri="{FF2B5EF4-FFF2-40B4-BE49-F238E27FC236}">
                      <a16:creationId xmlns:a16="http://schemas.microsoft.com/office/drawing/2014/main" id="{0F8DC6EF-5F4F-497B-95B7-87029A550315}"/>
                    </a:ext>
                  </a:extLst>
                </p:cNvPr>
                <p:cNvSpPr txBox="1">
                  <a:spLocks noRot="1" noChangeAspect="1" noMove="1" noResize="1" noEditPoints="1" noAdjustHandles="1" noChangeArrowheads="1" noChangeShapeType="1" noTextEdit="1"/>
                </p:cNvSpPr>
                <p:nvPr/>
              </p:nvSpPr>
              <p:spPr bwMode="auto">
                <a:xfrm>
                  <a:off x="6463355" y="3831880"/>
                  <a:ext cx="517307" cy="412204"/>
                </a:xfrm>
                <a:prstGeom prst="rect">
                  <a:avLst/>
                </a:prstGeom>
                <a:blipFill>
                  <a:blip r:embed="rId6"/>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1DDBF11E-B6D0-41A3-8201-35D58899F6A5}"/>
                    </a:ext>
                  </a:extLst>
                </p:cNvPr>
                <p:cNvSpPr/>
                <p:nvPr/>
              </p:nvSpPr>
              <p:spPr>
                <a:xfrm>
                  <a:off x="5828308" y="2736613"/>
                  <a:ext cx="601182" cy="2717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rgbClr val="000000"/>
                                </a:solidFill>
                                <a:latin typeface="Cambria Math" panose="02040503050406030204" pitchFamily="18" charset="0"/>
                              </a:rPr>
                            </m:ctrlPr>
                          </m:sSubPr>
                          <m:e>
                            <m:acc>
                              <m:accPr>
                                <m:chr m:val="̃"/>
                                <m:ctrlPr>
                                  <a:rPr lang="en-US" altLang="zh-CN" i="1">
                                    <a:solidFill>
                                      <a:srgbClr val="000000"/>
                                    </a:solidFill>
                                    <a:latin typeface="Cambria Math" panose="02040503050406030204" pitchFamily="18" charset="0"/>
                                  </a:rPr>
                                </m:ctrlPr>
                              </m:accPr>
                              <m:e>
                                <m:r>
                                  <a:rPr lang="en-US" altLang="zh-CN" b="0" i="1">
                                    <a:solidFill>
                                      <a:srgbClr val="000000"/>
                                    </a:solidFill>
                                    <a:latin typeface="Cambria Math" panose="02040503050406030204" pitchFamily="18" charset="0"/>
                                  </a:rPr>
                                  <m:t>𝐹</m:t>
                                </m:r>
                              </m:e>
                            </m:acc>
                          </m:e>
                          <m:sub>
                            <m:r>
                              <a:rPr lang="en-US" altLang="zh-CN" b="0" i="1">
                                <a:solidFill>
                                  <a:srgbClr val="000000"/>
                                </a:solidFill>
                                <a:latin typeface="Cambria Math" panose="02040503050406030204" pitchFamily="18" charset="0"/>
                              </a:rPr>
                              <m:t>𝑛</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e>
                        </m:d>
                      </m:oMath>
                    </m:oMathPara>
                  </a14:m>
                  <a:endParaRPr lang="zh-CN" altLang="en-US" dirty="0"/>
                </a:p>
              </p:txBody>
            </p:sp>
          </mc:Choice>
          <mc:Fallback xmlns="">
            <p:sp>
              <p:nvSpPr>
                <p:cNvPr id="63" name="矩形 62">
                  <a:extLst>
                    <a:ext uri="{FF2B5EF4-FFF2-40B4-BE49-F238E27FC236}">
                      <a16:creationId xmlns:a16="http://schemas.microsoft.com/office/drawing/2014/main" id="{1DDBF11E-B6D0-41A3-8201-35D58899F6A5}"/>
                    </a:ext>
                  </a:extLst>
                </p:cNvPr>
                <p:cNvSpPr>
                  <a:spLocks noRot="1" noChangeAspect="1" noMove="1" noResize="1" noEditPoints="1" noAdjustHandles="1" noChangeArrowheads="1" noChangeShapeType="1" noTextEdit="1"/>
                </p:cNvSpPr>
                <p:nvPr/>
              </p:nvSpPr>
              <p:spPr>
                <a:xfrm>
                  <a:off x="5828308" y="2736613"/>
                  <a:ext cx="601182" cy="271750"/>
                </a:xfrm>
                <a:prstGeom prst="rect">
                  <a:avLst/>
                </a:prstGeom>
                <a:blipFill>
                  <a:blip r:embed="rId7"/>
                  <a:stretch>
                    <a:fillRect t="-6452" r="-44000" b="-93548"/>
                  </a:stretch>
                </a:blipFill>
              </p:spPr>
              <p:txBody>
                <a:bodyPr/>
                <a:lstStyle/>
                <a:p>
                  <a:r>
                    <a:rPr lang="zh-CN" altLang="en-US">
                      <a:noFill/>
                    </a:rPr>
                    <a:t> </a:t>
                  </a:r>
                </a:p>
              </p:txBody>
            </p:sp>
          </mc:Fallback>
        </mc:AlternateContent>
      </p:grpSp>
      <p:cxnSp>
        <p:nvCxnSpPr>
          <p:cNvPr id="72" name="直接箭头连接符 71">
            <a:extLst>
              <a:ext uri="{FF2B5EF4-FFF2-40B4-BE49-F238E27FC236}">
                <a16:creationId xmlns:a16="http://schemas.microsoft.com/office/drawing/2014/main" id="{21C599EF-5179-4FBE-8BA4-8D204C6F21C1}"/>
              </a:ext>
            </a:extLst>
          </p:cNvPr>
          <p:cNvCxnSpPr>
            <a:cxnSpLocks/>
          </p:cNvCxnSpPr>
          <p:nvPr/>
        </p:nvCxnSpPr>
        <p:spPr>
          <a:xfrm>
            <a:off x="6112825" y="1808618"/>
            <a:ext cx="611934" cy="0"/>
          </a:xfrm>
          <a:prstGeom prst="straightConnector1">
            <a:avLst/>
          </a:prstGeom>
          <a:ln w="28575">
            <a:solidFill>
              <a:srgbClr val="42556E"/>
            </a:solidFill>
            <a:headEnd type="arrow" w="med" len="med"/>
            <a:tailEnd type="arrow" w="med" len="med"/>
          </a:ln>
        </p:spPr>
        <p:style>
          <a:lnRef idx="3">
            <a:schemeClr val="accent2"/>
          </a:lnRef>
          <a:fillRef idx="0">
            <a:schemeClr val="accent2"/>
          </a:fillRef>
          <a:effectRef idx="2">
            <a:schemeClr val="accent2"/>
          </a:effectRef>
          <a:fontRef idx="minor">
            <a:schemeClr val="tx1"/>
          </a:fontRef>
        </p:style>
      </p:cxnSp>
      <p:grpSp>
        <p:nvGrpSpPr>
          <p:cNvPr id="73" name="组合 72">
            <a:extLst>
              <a:ext uri="{FF2B5EF4-FFF2-40B4-BE49-F238E27FC236}">
                <a16:creationId xmlns:a16="http://schemas.microsoft.com/office/drawing/2014/main" id="{79F3A5C6-4F2F-4272-A8BE-5348BA4ACBF4}"/>
              </a:ext>
            </a:extLst>
          </p:cNvPr>
          <p:cNvGrpSpPr>
            <a:grpSpLocks noChangeAspect="1"/>
          </p:cNvGrpSpPr>
          <p:nvPr/>
        </p:nvGrpSpPr>
        <p:grpSpPr>
          <a:xfrm>
            <a:off x="6896815" y="2484573"/>
            <a:ext cx="4762804" cy="1693714"/>
            <a:chOff x="7288241" y="3091111"/>
            <a:chExt cx="5583355" cy="1985513"/>
          </a:xfrm>
        </p:grpSpPr>
        <p:grpSp>
          <p:nvGrpSpPr>
            <p:cNvPr id="74" name="组合 73">
              <a:extLst>
                <a:ext uri="{FF2B5EF4-FFF2-40B4-BE49-F238E27FC236}">
                  <a16:creationId xmlns:a16="http://schemas.microsoft.com/office/drawing/2014/main" id="{77A3F949-9A40-4C13-9F7F-893FFF3D6668}"/>
                </a:ext>
              </a:extLst>
            </p:cNvPr>
            <p:cNvGrpSpPr/>
            <p:nvPr/>
          </p:nvGrpSpPr>
          <p:grpSpPr>
            <a:xfrm>
              <a:off x="7288241" y="3492299"/>
              <a:ext cx="3168650" cy="1584325"/>
              <a:chOff x="5364163" y="3644900"/>
              <a:chExt cx="3168650" cy="1584325"/>
            </a:xfrm>
          </p:grpSpPr>
          <p:grpSp>
            <p:nvGrpSpPr>
              <p:cNvPr id="77" name="Group 33">
                <a:extLst>
                  <a:ext uri="{FF2B5EF4-FFF2-40B4-BE49-F238E27FC236}">
                    <a16:creationId xmlns:a16="http://schemas.microsoft.com/office/drawing/2014/main" id="{46B6580C-03F7-4FE1-ABAC-8880F47920FB}"/>
                  </a:ext>
                </a:extLst>
              </p:cNvPr>
              <p:cNvGrpSpPr>
                <a:grpSpLocks/>
              </p:cNvGrpSpPr>
              <p:nvPr/>
            </p:nvGrpSpPr>
            <p:grpSpPr bwMode="auto">
              <a:xfrm>
                <a:off x="5364163" y="3644900"/>
                <a:ext cx="3168650" cy="1584325"/>
                <a:chOff x="3379" y="2296"/>
                <a:chExt cx="1996" cy="998"/>
              </a:xfrm>
            </p:grpSpPr>
            <p:sp>
              <p:nvSpPr>
                <p:cNvPr id="104" name="Line 34">
                  <a:extLst>
                    <a:ext uri="{FF2B5EF4-FFF2-40B4-BE49-F238E27FC236}">
                      <a16:creationId xmlns:a16="http://schemas.microsoft.com/office/drawing/2014/main" id="{F6595749-B66F-4B6E-A494-5A7CD89B6EE7}"/>
                    </a:ext>
                  </a:extLst>
                </p:cNvPr>
                <p:cNvSpPr>
                  <a:spLocks noChangeShapeType="1"/>
                </p:cNvSpPr>
                <p:nvPr/>
              </p:nvSpPr>
              <p:spPr bwMode="auto">
                <a:xfrm>
                  <a:off x="3379" y="3067"/>
                  <a:ext cx="1996" cy="0"/>
                </a:xfrm>
                <a:prstGeom prst="line">
                  <a:avLst/>
                </a:prstGeom>
                <a:noFill/>
                <a:ln w="22225">
                  <a:solidFill>
                    <a:schemeClr val="tx1"/>
                  </a:solidFill>
                  <a:round/>
                  <a:headEnd type="none" w="med" len="med"/>
                  <a:tailEnd type="arrow" w="med" len="med"/>
                </a:ln>
              </p:spPr>
              <p:txBody>
                <a:bodyPr wrap="none" anchor="ctr"/>
                <a:lstStyle/>
                <a:p>
                  <a:endParaRPr lang="zh-CN" altLang="en-US"/>
                </a:p>
              </p:txBody>
            </p:sp>
            <p:sp>
              <p:nvSpPr>
                <p:cNvPr id="105" name="Line 35">
                  <a:extLst>
                    <a:ext uri="{FF2B5EF4-FFF2-40B4-BE49-F238E27FC236}">
                      <a16:creationId xmlns:a16="http://schemas.microsoft.com/office/drawing/2014/main" id="{A4FDCFB0-BE5E-4373-8F9F-2331F75D0C21}"/>
                    </a:ext>
                  </a:extLst>
                </p:cNvPr>
                <p:cNvSpPr>
                  <a:spLocks noChangeShapeType="1"/>
                </p:cNvSpPr>
                <p:nvPr/>
              </p:nvSpPr>
              <p:spPr bwMode="auto">
                <a:xfrm>
                  <a:off x="4332" y="2296"/>
                  <a:ext cx="0" cy="998"/>
                </a:xfrm>
                <a:prstGeom prst="line">
                  <a:avLst/>
                </a:prstGeom>
                <a:noFill/>
                <a:ln w="22225">
                  <a:solidFill>
                    <a:schemeClr val="tx1"/>
                  </a:solidFill>
                  <a:round/>
                  <a:headEnd type="arrow" w="med" len="med"/>
                  <a:tailEnd type="none" w="med" len="med"/>
                </a:ln>
              </p:spPr>
              <p:txBody>
                <a:bodyPr wrap="none" anchor="ctr"/>
                <a:lstStyle/>
                <a:p>
                  <a:endParaRPr lang="zh-CN" altLang="en-US"/>
                </a:p>
              </p:txBody>
            </p:sp>
            <p:sp>
              <p:nvSpPr>
                <p:cNvPr id="106" name="Freeform 36">
                  <a:extLst>
                    <a:ext uri="{FF2B5EF4-FFF2-40B4-BE49-F238E27FC236}">
                      <a16:creationId xmlns:a16="http://schemas.microsoft.com/office/drawing/2014/main" id="{5130B3EA-3D50-45EB-8E7D-02E3C36D93E6}"/>
                    </a:ext>
                  </a:extLst>
                </p:cNvPr>
                <p:cNvSpPr>
                  <a:spLocks/>
                </p:cNvSpPr>
                <p:nvPr/>
              </p:nvSpPr>
              <p:spPr bwMode="auto">
                <a:xfrm>
                  <a:off x="3560" y="2432"/>
                  <a:ext cx="1588" cy="407"/>
                </a:xfrm>
                <a:custGeom>
                  <a:avLst/>
                  <a:gdLst>
                    <a:gd name="T0" fmla="*/ 0 w 1588"/>
                    <a:gd name="T1" fmla="*/ 272 h 407"/>
                    <a:gd name="T2" fmla="*/ 91 w 1588"/>
                    <a:gd name="T3" fmla="*/ 136 h 407"/>
                    <a:gd name="T4" fmla="*/ 227 w 1588"/>
                    <a:gd name="T5" fmla="*/ 181 h 407"/>
                    <a:gd name="T6" fmla="*/ 363 w 1588"/>
                    <a:gd name="T7" fmla="*/ 136 h 407"/>
                    <a:gd name="T8" fmla="*/ 454 w 1588"/>
                    <a:gd name="T9" fmla="*/ 90 h 407"/>
                    <a:gd name="T10" fmla="*/ 545 w 1588"/>
                    <a:gd name="T11" fmla="*/ 45 h 407"/>
                    <a:gd name="T12" fmla="*/ 681 w 1588"/>
                    <a:gd name="T13" fmla="*/ 362 h 407"/>
                    <a:gd name="T14" fmla="*/ 953 w 1588"/>
                    <a:gd name="T15" fmla="*/ 317 h 407"/>
                    <a:gd name="T16" fmla="*/ 1134 w 1588"/>
                    <a:gd name="T17" fmla="*/ 136 h 407"/>
                    <a:gd name="T18" fmla="*/ 1270 w 1588"/>
                    <a:gd name="T19" fmla="*/ 90 h 407"/>
                    <a:gd name="T20" fmla="*/ 1452 w 1588"/>
                    <a:gd name="T21" fmla="*/ 226 h 407"/>
                    <a:gd name="T22" fmla="*/ 1588 w 1588"/>
                    <a:gd name="T23" fmla="*/ 317 h 4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8"/>
                    <a:gd name="T37" fmla="*/ 0 h 407"/>
                    <a:gd name="T38" fmla="*/ 1588 w 1588"/>
                    <a:gd name="T39" fmla="*/ 407 h 4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8" h="407">
                      <a:moveTo>
                        <a:pt x="0" y="272"/>
                      </a:moveTo>
                      <a:cubicBezTo>
                        <a:pt x="26" y="211"/>
                        <a:pt x="53" y="151"/>
                        <a:pt x="91" y="136"/>
                      </a:cubicBezTo>
                      <a:cubicBezTo>
                        <a:pt x="129" y="121"/>
                        <a:pt x="182" y="181"/>
                        <a:pt x="227" y="181"/>
                      </a:cubicBezTo>
                      <a:cubicBezTo>
                        <a:pt x="272" y="181"/>
                        <a:pt x="325" y="151"/>
                        <a:pt x="363" y="136"/>
                      </a:cubicBezTo>
                      <a:cubicBezTo>
                        <a:pt x="401" y="121"/>
                        <a:pt x="424" y="105"/>
                        <a:pt x="454" y="90"/>
                      </a:cubicBezTo>
                      <a:cubicBezTo>
                        <a:pt x="484" y="75"/>
                        <a:pt x="507" y="0"/>
                        <a:pt x="545" y="45"/>
                      </a:cubicBezTo>
                      <a:cubicBezTo>
                        <a:pt x="583" y="90"/>
                        <a:pt x="613" y="317"/>
                        <a:pt x="681" y="362"/>
                      </a:cubicBezTo>
                      <a:cubicBezTo>
                        <a:pt x="749" y="407"/>
                        <a:pt x="878" y="355"/>
                        <a:pt x="953" y="317"/>
                      </a:cubicBezTo>
                      <a:cubicBezTo>
                        <a:pt x="1028" y="279"/>
                        <a:pt x="1081" y="174"/>
                        <a:pt x="1134" y="136"/>
                      </a:cubicBezTo>
                      <a:cubicBezTo>
                        <a:pt x="1187" y="98"/>
                        <a:pt x="1217" y="75"/>
                        <a:pt x="1270" y="90"/>
                      </a:cubicBezTo>
                      <a:cubicBezTo>
                        <a:pt x="1323" y="105"/>
                        <a:pt x="1399" y="188"/>
                        <a:pt x="1452" y="226"/>
                      </a:cubicBezTo>
                      <a:cubicBezTo>
                        <a:pt x="1505" y="264"/>
                        <a:pt x="1565" y="302"/>
                        <a:pt x="1588" y="317"/>
                      </a:cubicBezTo>
                    </a:path>
                  </a:pathLst>
                </a:custGeom>
                <a:noFill/>
                <a:ln w="22225">
                  <a:solidFill>
                    <a:schemeClr val="tx1"/>
                  </a:solidFill>
                  <a:round/>
                  <a:headEnd/>
                  <a:tailEnd type="none" w="sm" len="lg"/>
                </a:ln>
              </p:spPr>
              <p:txBody>
                <a:bodyPr wrap="none" anchor="ctr"/>
                <a:lstStyle/>
                <a:p>
                  <a:endParaRPr lang="zh-CN" altLang="en-US"/>
                </a:p>
              </p:txBody>
            </p:sp>
          </p:grpSp>
          <p:grpSp>
            <p:nvGrpSpPr>
              <p:cNvPr id="78" name="Group 37">
                <a:extLst>
                  <a:ext uri="{FF2B5EF4-FFF2-40B4-BE49-F238E27FC236}">
                    <a16:creationId xmlns:a16="http://schemas.microsoft.com/office/drawing/2014/main" id="{3019511A-0F66-4578-93A9-1A09CDBCD8DA}"/>
                  </a:ext>
                </a:extLst>
              </p:cNvPr>
              <p:cNvGrpSpPr>
                <a:grpSpLocks/>
              </p:cNvGrpSpPr>
              <p:nvPr/>
            </p:nvGrpSpPr>
            <p:grpSpPr bwMode="auto">
              <a:xfrm>
                <a:off x="5795963" y="3933825"/>
                <a:ext cx="2376487" cy="936625"/>
                <a:chOff x="3651" y="2478"/>
                <a:chExt cx="1497" cy="590"/>
              </a:xfrm>
            </p:grpSpPr>
            <p:sp>
              <p:nvSpPr>
                <p:cNvPr id="92" name="Line 38">
                  <a:extLst>
                    <a:ext uri="{FF2B5EF4-FFF2-40B4-BE49-F238E27FC236}">
                      <a16:creationId xmlns:a16="http://schemas.microsoft.com/office/drawing/2014/main" id="{CB6EE16D-F525-4C9A-BD4A-6D2E3692CC17}"/>
                    </a:ext>
                  </a:extLst>
                </p:cNvPr>
                <p:cNvSpPr>
                  <a:spLocks noChangeShapeType="1"/>
                </p:cNvSpPr>
                <p:nvPr/>
              </p:nvSpPr>
              <p:spPr bwMode="auto">
                <a:xfrm flipV="1">
                  <a:off x="3651" y="2568"/>
                  <a:ext cx="0" cy="500"/>
                </a:xfrm>
                <a:prstGeom prst="line">
                  <a:avLst/>
                </a:prstGeom>
                <a:noFill/>
                <a:ln w="22225">
                  <a:solidFill>
                    <a:srgbClr val="FF0000"/>
                  </a:solidFill>
                  <a:round/>
                  <a:headEnd/>
                  <a:tailEnd type="triangle" w="sm" len="lg"/>
                </a:ln>
              </p:spPr>
              <p:txBody>
                <a:bodyPr wrap="none" anchor="ctr"/>
                <a:lstStyle/>
                <a:p>
                  <a:endParaRPr lang="zh-CN" altLang="en-US"/>
                </a:p>
              </p:txBody>
            </p:sp>
            <p:sp>
              <p:nvSpPr>
                <p:cNvPr id="93" name="Line 39">
                  <a:extLst>
                    <a:ext uri="{FF2B5EF4-FFF2-40B4-BE49-F238E27FC236}">
                      <a16:creationId xmlns:a16="http://schemas.microsoft.com/office/drawing/2014/main" id="{D4DCF116-E743-44D6-B752-127F77951F8B}"/>
                    </a:ext>
                  </a:extLst>
                </p:cNvPr>
                <p:cNvSpPr>
                  <a:spLocks noChangeShapeType="1"/>
                </p:cNvSpPr>
                <p:nvPr/>
              </p:nvSpPr>
              <p:spPr bwMode="auto">
                <a:xfrm flipV="1">
                  <a:off x="3787" y="2614"/>
                  <a:ext cx="0" cy="454"/>
                </a:xfrm>
                <a:prstGeom prst="line">
                  <a:avLst/>
                </a:prstGeom>
                <a:noFill/>
                <a:ln w="22225">
                  <a:solidFill>
                    <a:srgbClr val="FF0000"/>
                  </a:solidFill>
                  <a:round/>
                  <a:headEnd/>
                  <a:tailEnd type="triangle" w="sm" len="lg"/>
                </a:ln>
              </p:spPr>
              <p:txBody>
                <a:bodyPr wrap="none" anchor="ctr"/>
                <a:lstStyle/>
                <a:p>
                  <a:endParaRPr lang="zh-CN" altLang="en-US"/>
                </a:p>
              </p:txBody>
            </p:sp>
            <p:sp>
              <p:nvSpPr>
                <p:cNvPr id="94" name="Line 40">
                  <a:extLst>
                    <a:ext uri="{FF2B5EF4-FFF2-40B4-BE49-F238E27FC236}">
                      <a16:creationId xmlns:a16="http://schemas.microsoft.com/office/drawing/2014/main" id="{DFFD9906-9053-477D-B073-13ED899C71F2}"/>
                    </a:ext>
                  </a:extLst>
                </p:cNvPr>
                <p:cNvSpPr>
                  <a:spLocks noChangeShapeType="1"/>
                </p:cNvSpPr>
                <p:nvPr/>
              </p:nvSpPr>
              <p:spPr bwMode="auto">
                <a:xfrm flipV="1">
                  <a:off x="3923" y="2568"/>
                  <a:ext cx="0" cy="500"/>
                </a:xfrm>
                <a:prstGeom prst="line">
                  <a:avLst/>
                </a:prstGeom>
                <a:noFill/>
                <a:ln w="22225">
                  <a:solidFill>
                    <a:srgbClr val="FF0000"/>
                  </a:solidFill>
                  <a:round/>
                  <a:headEnd/>
                  <a:tailEnd type="triangle" w="sm" len="lg"/>
                </a:ln>
              </p:spPr>
              <p:txBody>
                <a:bodyPr wrap="none" anchor="ctr"/>
                <a:lstStyle/>
                <a:p>
                  <a:endParaRPr lang="zh-CN" altLang="en-US"/>
                </a:p>
              </p:txBody>
            </p:sp>
            <p:sp>
              <p:nvSpPr>
                <p:cNvPr id="95" name="Line 41">
                  <a:extLst>
                    <a:ext uri="{FF2B5EF4-FFF2-40B4-BE49-F238E27FC236}">
                      <a16:creationId xmlns:a16="http://schemas.microsoft.com/office/drawing/2014/main" id="{E4DA1301-2972-4012-BAD7-C6AF6CBF9D80}"/>
                    </a:ext>
                  </a:extLst>
                </p:cNvPr>
                <p:cNvSpPr>
                  <a:spLocks noChangeShapeType="1"/>
                </p:cNvSpPr>
                <p:nvPr/>
              </p:nvSpPr>
              <p:spPr bwMode="auto">
                <a:xfrm flipV="1">
                  <a:off x="4059" y="2478"/>
                  <a:ext cx="0" cy="590"/>
                </a:xfrm>
                <a:prstGeom prst="line">
                  <a:avLst/>
                </a:prstGeom>
                <a:noFill/>
                <a:ln w="22225">
                  <a:solidFill>
                    <a:srgbClr val="FF0000"/>
                  </a:solidFill>
                  <a:round/>
                  <a:headEnd/>
                  <a:tailEnd type="triangle" w="sm" len="lg"/>
                </a:ln>
              </p:spPr>
              <p:txBody>
                <a:bodyPr wrap="none" anchor="ctr"/>
                <a:lstStyle/>
                <a:p>
                  <a:endParaRPr lang="zh-CN" altLang="en-US"/>
                </a:p>
              </p:txBody>
            </p:sp>
            <p:sp>
              <p:nvSpPr>
                <p:cNvPr id="96" name="Line 42">
                  <a:extLst>
                    <a:ext uri="{FF2B5EF4-FFF2-40B4-BE49-F238E27FC236}">
                      <a16:creationId xmlns:a16="http://schemas.microsoft.com/office/drawing/2014/main" id="{C66C7F95-ADF3-4EDB-94ED-3D8E497C8BF3}"/>
                    </a:ext>
                  </a:extLst>
                </p:cNvPr>
                <p:cNvSpPr>
                  <a:spLocks noChangeShapeType="1"/>
                </p:cNvSpPr>
                <p:nvPr/>
              </p:nvSpPr>
              <p:spPr bwMode="auto">
                <a:xfrm flipV="1">
                  <a:off x="4195" y="2750"/>
                  <a:ext cx="0" cy="318"/>
                </a:xfrm>
                <a:prstGeom prst="line">
                  <a:avLst/>
                </a:prstGeom>
                <a:noFill/>
                <a:ln w="22225">
                  <a:solidFill>
                    <a:srgbClr val="FF0000"/>
                  </a:solidFill>
                  <a:round/>
                  <a:headEnd/>
                  <a:tailEnd type="triangle" w="sm" len="lg"/>
                </a:ln>
              </p:spPr>
              <p:txBody>
                <a:bodyPr wrap="none" anchor="ctr"/>
                <a:lstStyle/>
                <a:p>
                  <a:endParaRPr lang="zh-CN" altLang="en-US"/>
                </a:p>
              </p:txBody>
            </p:sp>
            <p:sp>
              <p:nvSpPr>
                <p:cNvPr id="97" name="Line 43">
                  <a:extLst>
                    <a:ext uri="{FF2B5EF4-FFF2-40B4-BE49-F238E27FC236}">
                      <a16:creationId xmlns:a16="http://schemas.microsoft.com/office/drawing/2014/main" id="{88511BE4-3F38-4133-BAB5-1DAD58EA6984}"/>
                    </a:ext>
                  </a:extLst>
                </p:cNvPr>
                <p:cNvSpPr>
                  <a:spLocks noChangeShapeType="1"/>
                </p:cNvSpPr>
                <p:nvPr/>
              </p:nvSpPr>
              <p:spPr bwMode="auto">
                <a:xfrm flipV="1">
                  <a:off x="4332" y="2777"/>
                  <a:ext cx="0" cy="273"/>
                </a:xfrm>
                <a:prstGeom prst="line">
                  <a:avLst/>
                </a:prstGeom>
                <a:noFill/>
                <a:ln w="22225">
                  <a:solidFill>
                    <a:srgbClr val="FF0000"/>
                  </a:solidFill>
                  <a:round/>
                  <a:headEnd/>
                  <a:tailEnd type="triangle" w="sm" len="lg"/>
                </a:ln>
              </p:spPr>
              <p:txBody>
                <a:bodyPr wrap="none" anchor="ctr"/>
                <a:lstStyle/>
                <a:p>
                  <a:endParaRPr lang="zh-CN" altLang="en-US"/>
                </a:p>
              </p:txBody>
            </p:sp>
            <p:sp>
              <p:nvSpPr>
                <p:cNvPr id="98" name="Line 44">
                  <a:extLst>
                    <a:ext uri="{FF2B5EF4-FFF2-40B4-BE49-F238E27FC236}">
                      <a16:creationId xmlns:a16="http://schemas.microsoft.com/office/drawing/2014/main" id="{9401E205-41B1-40EA-B3E6-F63E8BE19FA3}"/>
                    </a:ext>
                  </a:extLst>
                </p:cNvPr>
                <p:cNvSpPr>
                  <a:spLocks noChangeShapeType="1"/>
                </p:cNvSpPr>
                <p:nvPr/>
              </p:nvSpPr>
              <p:spPr bwMode="auto">
                <a:xfrm flipV="1">
                  <a:off x="4468" y="2750"/>
                  <a:ext cx="0" cy="317"/>
                </a:xfrm>
                <a:prstGeom prst="line">
                  <a:avLst/>
                </a:prstGeom>
                <a:noFill/>
                <a:ln w="22225">
                  <a:solidFill>
                    <a:srgbClr val="FF0000"/>
                  </a:solidFill>
                  <a:round/>
                  <a:headEnd/>
                  <a:tailEnd type="triangle" w="sm" len="lg"/>
                </a:ln>
              </p:spPr>
              <p:txBody>
                <a:bodyPr wrap="none" anchor="ctr"/>
                <a:lstStyle/>
                <a:p>
                  <a:endParaRPr lang="zh-CN" altLang="en-US"/>
                </a:p>
              </p:txBody>
            </p:sp>
            <p:sp>
              <p:nvSpPr>
                <p:cNvPr id="99" name="Line 45">
                  <a:extLst>
                    <a:ext uri="{FF2B5EF4-FFF2-40B4-BE49-F238E27FC236}">
                      <a16:creationId xmlns:a16="http://schemas.microsoft.com/office/drawing/2014/main" id="{12C9FEF1-1111-4447-9E31-79B22C1BE6EA}"/>
                    </a:ext>
                  </a:extLst>
                </p:cNvPr>
                <p:cNvSpPr>
                  <a:spLocks noChangeShapeType="1"/>
                </p:cNvSpPr>
                <p:nvPr/>
              </p:nvSpPr>
              <p:spPr bwMode="auto">
                <a:xfrm flipV="1">
                  <a:off x="4604" y="2660"/>
                  <a:ext cx="0" cy="408"/>
                </a:xfrm>
                <a:prstGeom prst="line">
                  <a:avLst/>
                </a:prstGeom>
                <a:noFill/>
                <a:ln w="22225">
                  <a:solidFill>
                    <a:srgbClr val="FF0000"/>
                  </a:solidFill>
                  <a:round/>
                  <a:headEnd/>
                  <a:tailEnd type="triangle" w="sm" len="lg"/>
                </a:ln>
              </p:spPr>
              <p:txBody>
                <a:bodyPr wrap="none" anchor="ctr"/>
                <a:lstStyle/>
                <a:p>
                  <a:endParaRPr lang="zh-CN" altLang="en-US"/>
                </a:p>
              </p:txBody>
            </p:sp>
            <p:sp>
              <p:nvSpPr>
                <p:cNvPr id="100" name="Line 46">
                  <a:extLst>
                    <a:ext uri="{FF2B5EF4-FFF2-40B4-BE49-F238E27FC236}">
                      <a16:creationId xmlns:a16="http://schemas.microsoft.com/office/drawing/2014/main" id="{9AA54850-30BC-4933-B174-4934762750D2}"/>
                    </a:ext>
                  </a:extLst>
                </p:cNvPr>
                <p:cNvSpPr>
                  <a:spLocks noChangeShapeType="1"/>
                </p:cNvSpPr>
                <p:nvPr/>
              </p:nvSpPr>
              <p:spPr bwMode="auto">
                <a:xfrm flipV="1">
                  <a:off x="4740" y="2523"/>
                  <a:ext cx="0" cy="545"/>
                </a:xfrm>
                <a:prstGeom prst="line">
                  <a:avLst/>
                </a:prstGeom>
                <a:noFill/>
                <a:ln w="22225">
                  <a:solidFill>
                    <a:srgbClr val="FF0000"/>
                  </a:solidFill>
                  <a:round/>
                  <a:headEnd/>
                  <a:tailEnd type="triangle" w="sm" len="lg"/>
                </a:ln>
              </p:spPr>
              <p:txBody>
                <a:bodyPr wrap="none" anchor="ctr"/>
                <a:lstStyle/>
                <a:p>
                  <a:endParaRPr lang="zh-CN" altLang="en-US"/>
                </a:p>
              </p:txBody>
            </p:sp>
            <p:sp>
              <p:nvSpPr>
                <p:cNvPr id="101" name="Line 47">
                  <a:extLst>
                    <a:ext uri="{FF2B5EF4-FFF2-40B4-BE49-F238E27FC236}">
                      <a16:creationId xmlns:a16="http://schemas.microsoft.com/office/drawing/2014/main" id="{6C6C316A-27C8-4137-BB18-E3B88104896B}"/>
                    </a:ext>
                  </a:extLst>
                </p:cNvPr>
                <p:cNvSpPr>
                  <a:spLocks noChangeShapeType="1"/>
                </p:cNvSpPr>
                <p:nvPr/>
              </p:nvSpPr>
              <p:spPr bwMode="auto">
                <a:xfrm flipV="1">
                  <a:off x="4876" y="2523"/>
                  <a:ext cx="0" cy="545"/>
                </a:xfrm>
                <a:prstGeom prst="line">
                  <a:avLst/>
                </a:prstGeom>
                <a:noFill/>
                <a:ln w="22225">
                  <a:solidFill>
                    <a:srgbClr val="FF0000"/>
                  </a:solidFill>
                  <a:round/>
                  <a:headEnd/>
                  <a:tailEnd type="triangle" w="sm" len="lg"/>
                </a:ln>
              </p:spPr>
              <p:txBody>
                <a:bodyPr wrap="none" anchor="ctr"/>
                <a:lstStyle/>
                <a:p>
                  <a:endParaRPr lang="zh-CN" altLang="en-US"/>
                </a:p>
              </p:txBody>
            </p:sp>
            <p:sp>
              <p:nvSpPr>
                <p:cNvPr id="102" name="Line 48">
                  <a:extLst>
                    <a:ext uri="{FF2B5EF4-FFF2-40B4-BE49-F238E27FC236}">
                      <a16:creationId xmlns:a16="http://schemas.microsoft.com/office/drawing/2014/main" id="{B670A1CC-56BA-4BCC-B38B-B21928EC2573}"/>
                    </a:ext>
                  </a:extLst>
                </p:cNvPr>
                <p:cNvSpPr>
                  <a:spLocks noChangeShapeType="1"/>
                </p:cNvSpPr>
                <p:nvPr/>
              </p:nvSpPr>
              <p:spPr bwMode="auto">
                <a:xfrm flipV="1">
                  <a:off x="5012" y="2660"/>
                  <a:ext cx="0" cy="408"/>
                </a:xfrm>
                <a:prstGeom prst="line">
                  <a:avLst/>
                </a:prstGeom>
                <a:noFill/>
                <a:ln w="22225">
                  <a:solidFill>
                    <a:srgbClr val="FF0000"/>
                  </a:solidFill>
                  <a:round/>
                  <a:headEnd/>
                  <a:tailEnd type="triangle" w="sm" len="lg"/>
                </a:ln>
              </p:spPr>
              <p:txBody>
                <a:bodyPr wrap="none" anchor="ctr"/>
                <a:lstStyle/>
                <a:p>
                  <a:endParaRPr lang="zh-CN" altLang="en-US"/>
                </a:p>
              </p:txBody>
            </p:sp>
            <p:sp>
              <p:nvSpPr>
                <p:cNvPr id="103" name="Line 49">
                  <a:extLst>
                    <a:ext uri="{FF2B5EF4-FFF2-40B4-BE49-F238E27FC236}">
                      <a16:creationId xmlns:a16="http://schemas.microsoft.com/office/drawing/2014/main" id="{76853B95-1C82-4FC1-9D3C-A046595567CA}"/>
                    </a:ext>
                  </a:extLst>
                </p:cNvPr>
                <p:cNvSpPr>
                  <a:spLocks noChangeShapeType="1"/>
                </p:cNvSpPr>
                <p:nvPr/>
              </p:nvSpPr>
              <p:spPr bwMode="auto">
                <a:xfrm flipV="1">
                  <a:off x="5148" y="2750"/>
                  <a:ext cx="0" cy="318"/>
                </a:xfrm>
                <a:prstGeom prst="line">
                  <a:avLst/>
                </a:prstGeom>
                <a:noFill/>
                <a:ln w="22225">
                  <a:solidFill>
                    <a:srgbClr val="FF0000"/>
                  </a:solidFill>
                  <a:round/>
                  <a:headEnd/>
                  <a:tailEnd type="triangle" w="sm" len="lg"/>
                </a:ln>
              </p:spPr>
              <p:txBody>
                <a:bodyPr wrap="none" anchor="ctr"/>
                <a:lstStyle/>
                <a:p>
                  <a:endParaRPr lang="zh-CN" altLang="en-US"/>
                </a:p>
              </p:txBody>
            </p:sp>
          </p:grpSp>
          <p:grpSp>
            <p:nvGrpSpPr>
              <p:cNvPr id="79" name="Group 50">
                <a:extLst>
                  <a:ext uri="{FF2B5EF4-FFF2-40B4-BE49-F238E27FC236}">
                    <a16:creationId xmlns:a16="http://schemas.microsoft.com/office/drawing/2014/main" id="{30B9420A-7BED-4CA6-8F55-1C5EF8B3AAE5}"/>
                  </a:ext>
                </a:extLst>
              </p:cNvPr>
              <p:cNvGrpSpPr>
                <a:grpSpLocks/>
              </p:cNvGrpSpPr>
              <p:nvPr/>
            </p:nvGrpSpPr>
            <p:grpSpPr bwMode="auto">
              <a:xfrm>
                <a:off x="5767388" y="3889375"/>
                <a:ext cx="2446337" cy="620713"/>
                <a:chOff x="3633" y="2450"/>
                <a:chExt cx="1541" cy="391"/>
              </a:xfrm>
            </p:grpSpPr>
            <p:sp>
              <p:nvSpPr>
                <p:cNvPr id="80" name="Oval 51">
                  <a:extLst>
                    <a:ext uri="{FF2B5EF4-FFF2-40B4-BE49-F238E27FC236}">
                      <a16:creationId xmlns:a16="http://schemas.microsoft.com/office/drawing/2014/main" id="{307D474B-2B91-474C-A76B-0CD21BDDE122}"/>
                    </a:ext>
                  </a:extLst>
                </p:cNvPr>
                <p:cNvSpPr>
                  <a:spLocks noChangeArrowheads="1"/>
                </p:cNvSpPr>
                <p:nvPr/>
              </p:nvSpPr>
              <p:spPr bwMode="auto">
                <a:xfrm>
                  <a:off x="3633" y="2541"/>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81" name="Oval 52">
                  <a:extLst>
                    <a:ext uri="{FF2B5EF4-FFF2-40B4-BE49-F238E27FC236}">
                      <a16:creationId xmlns:a16="http://schemas.microsoft.com/office/drawing/2014/main" id="{63A92C7F-13AA-49C8-BE5B-27885F01FBD9}"/>
                    </a:ext>
                  </a:extLst>
                </p:cNvPr>
                <p:cNvSpPr>
                  <a:spLocks noChangeArrowheads="1"/>
                </p:cNvSpPr>
                <p:nvPr/>
              </p:nvSpPr>
              <p:spPr bwMode="auto">
                <a:xfrm>
                  <a:off x="3769" y="2587"/>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82" name="Oval 53">
                  <a:extLst>
                    <a:ext uri="{FF2B5EF4-FFF2-40B4-BE49-F238E27FC236}">
                      <a16:creationId xmlns:a16="http://schemas.microsoft.com/office/drawing/2014/main" id="{416B886A-1157-4109-9D17-97D72D2A0286}"/>
                    </a:ext>
                  </a:extLst>
                </p:cNvPr>
                <p:cNvSpPr>
                  <a:spLocks noChangeArrowheads="1"/>
                </p:cNvSpPr>
                <p:nvPr/>
              </p:nvSpPr>
              <p:spPr bwMode="auto">
                <a:xfrm>
                  <a:off x="3905" y="2541"/>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83" name="Oval 54">
                  <a:extLst>
                    <a:ext uri="{FF2B5EF4-FFF2-40B4-BE49-F238E27FC236}">
                      <a16:creationId xmlns:a16="http://schemas.microsoft.com/office/drawing/2014/main" id="{0521E0BE-D808-48FA-A94C-8C736BABAF9F}"/>
                    </a:ext>
                  </a:extLst>
                </p:cNvPr>
                <p:cNvSpPr>
                  <a:spLocks noChangeArrowheads="1"/>
                </p:cNvSpPr>
                <p:nvPr/>
              </p:nvSpPr>
              <p:spPr bwMode="auto">
                <a:xfrm>
                  <a:off x="4041" y="2450"/>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84" name="Oval 55">
                  <a:extLst>
                    <a:ext uri="{FF2B5EF4-FFF2-40B4-BE49-F238E27FC236}">
                      <a16:creationId xmlns:a16="http://schemas.microsoft.com/office/drawing/2014/main" id="{EE2F22EE-9263-49D0-B723-2106BF2ADC55}"/>
                    </a:ext>
                  </a:extLst>
                </p:cNvPr>
                <p:cNvSpPr>
                  <a:spLocks noChangeArrowheads="1"/>
                </p:cNvSpPr>
                <p:nvPr/>
              </p:nvSpPr>
              <p:spPr bwMode="auto">
                <a:xfrm>
                  <a:off x="4177" y="2732"/>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85" name="Oval 56">
                  <a:extLst>
                    <a:ext uri="{FF2B5EF4-FFF2-40B4-BE49-F238E27FC236}">
                      <a16:creationId xmlns:a16="http://schemas.microsoft.com/office/drawing/2014/main" id="{DE3077D9-6436-477E-AC11-D9BAC20013CC}"/>
                    </a:ext>
                  </a:extLst>
                </p:cNvPr>
                <p:cNvSpPr>
                  <a:spLocks noChangeArrowheads="1"/>
                </p:cNvSpPr>
                <p:nvPr/>
              </p:nvSpPr>
              <p:spPr bwMode="auto">
                <a:xfrm>
                  <a:off x="4313" y="2796"/>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86" name="Oval 57">
                  <a:extLst>
                    <a:ext uri="{FF2B5EF4-FFF2-40B4-BE49-F238E27FC236}">
                      <a16:creationId xmlns:a16="http://schemas.microsoft.com/office/drawing/2014/main" id="{A28F930A-55E2-4A47-939D-12DFAF6FEB45}"/>
                    </a:ext>
                  </a:extLst>
                </p:cNvPr>
                <p:cNvSpPr>
                  <a:spLocks noChangeArrowheads="1"/>
                </p:cNvSpPr>
                <p:nvPr/>
              </p:nvSpPr>
              <p:spPr bwMode="auto">
                <a:xfrm>
                  <a:off x="4449" y="2750"/>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87" name="Oval 58">
                  <a:extLst>
                    <a:ext uri="{FF2B5EF4-FFF2-40B4-BE49-F238E27FC236}">
                      <a16:creationId xmlns:a16="http://schemas.microsoft.com/office/drawing/2014/main" id="{D1B2D301-C271-43D2-A804-A9049EB07E2F}"/>
                    </a:ext>
                  </a:extLst>
                </p:cNvPr>
                <p:cNvSpPr>
                  <a:spLocks noChangeArrowheads="1"/>
                </p:cNvSpPr>
                <p:nvPr/>
              </p:nvSpPr>
              <p:spPr bwMode="auto">
                <a:xfrm>
                  <a:off x="4585" y="2641"/>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88" name="Oval 59">
                  <a:extLst>
                    <a:ext uri="{FF2B5EF4-FFF2-40B4-BE49-F238E27FC236}">
                      <a16:creationId xmlns:a16="http://schemas.microsoft.com/office/drawing/2014/main" id="{A620D19E-0CE4-4CA0-8294-98D9CF3F2CBE}"/>
                    </a:ext>
                  </a:extLst>
                </p:cNvPr>
                <p:cNvSpPr>
                  <a:spLocks noChangeArrowheads="1"/>
                </p:cNvSpPr>
                <p:nvPr/>
              </p:nvSpPr>
              <p:spPr bwMode="auto">
                <a:xfrm>
                  <a:off x="4721" y="2514"/>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89" name="Oval 60">
                  <a:extLst>
                    <a:ext uri="{FF2B5EF4-FFF2-40B4-BE49-F238E27FC236}">
                      <a16:creationId xmlns:a16="http://schemas.microsoft.com/office/drawing/2014/main" id="{7DF2F7EB-E50F-4527-94EE-29EBB1E4C4F2}"/>
                    </a:ext>
                  </a:extLst>
                </p:cNvPr>
                <p:cNvSpPr>
                  <a:spLocks noChangeArrowheads="1"/>
                </p:cNvSpPr>
                <p:nvPr/>
              </p:nvSpPr>
              <p:spPr bwMode="auto">
                <a:xfrm>
                  <a:off x="4857" y="2523"/>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90" name="Oval 61">
                  <a:extLst>
                    <a:ext uri="{FF2B5EF4-FFF2-40B4-BE49-F238E27FC236}">
                      <a16:creationId xmlns:a16="http://schemas.microsoft.com/office/drawing/2014/main" id="{0542B2C0-93BD-49B6-B974-BAF4FCB2A5B0}"/>
                    </a:ext>
                  </a:extLst>
                </p:cNvPr>
                <p:cNvSpPr>
                  <a:spLocks noChangeArrowheads="1"/>
                </p:cNvSpPr>
                <p:nvPr/>
              </p:nvSpPr>
              <p:spPr bwMode="auto">
                <a:xfrm>
                  <a:off x="4993" y="2632"/>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sp>
              <p:nvSpPr>
                <p:cNvPr id="91" name="Oval 62">
                  <a:extLst>
                    <a:ext uri="{FF2B5EF4-FFF2-40B4-BE49-F238E27FC236}">
                      <a16:creationId xmlns:a16="http://schemas.microsoft.com/office/drawing/2014/main" id="{40E860D9-C9D0-49A0-9A99-A837DB609E17}"/>
                    </a:ext>
                  </a:extLst>
                </p:cNvPr>
                <p:cNvSpPr>
                  <a:spLocks noChangeArrowheads="1"/>
                </p:cNvSpPr>
                <p:nvPr/>
              </p:nvSpPr>
              <p:spPr bwMode="auto">
                <a:xfrm>
                  <a:off x="5129" y="2722"/>
                  <a:ext cx="45" cy="45"/>
                </a:xfrm>
                <a:prstGeom prst="ellipse">
                  <a:avLst/>
                </a:prstGeom>
                <a:solidFill>
                  <a:srgbClr val="0000FF"/>
                </a:solidFill>
                <a:ln w="22225">
                  <a:solidFill>
                    <a:srgbClr val="333399"/>
                  </a:solidFill>
                  <a:round/>
                  <a:headEnd/>
                  <a:tailEnd type="none" w="sm" len="lg"/>
                </a:ln>
              </p:spPr>
              <p:txBody>
                <a:bodyPr wrap="none" anchor="ctr"/>
                <a:lstStyle/>
                <a:p>
                  <a:endParaRPr lang="zh-CN" altLang="en-US"/>
                </a:p>
              </p:txBody>
            </p:sp>
          </p:grpSp>
        </p:grpSp>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DDE9A564-5271-4B83-B560-7868288D2490}"/>
                    </a:ext>
                  </a:extLst>
                </p:cNvPr>
                <p:cNvSpPr txBox="1"/>
                <p:nvPr/>
              </p:nvSpPr>
              <p:spPr>
                <a:xfrm>
                  <a:off x="9141737" y="3091111"/>
                  <a:ext cx="3729859" cy="12083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𝑛</m:t>
                            </m:r>
                          </m:e>
                        </m:d>
                        <m:r>
                          <a:rPr lang="zh-CN" altLang="en-US">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𝑎</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𝑡</m:t>
                            </m:r>
                          </m:e>
                        </m:d>
                        <m:nary>
                          <m:naryPr>
                            <m:chr m:val="∑"/>
                            <m:limLoc m:val="undOvr"/>
                            <m:grow m:val="on"/>
                            <m:ctrlPr>
                              <a:rPr lang="zh-CN" altLang="en-US" i="1">
                                <a:latin typeface="Cambria Math" panose="02040503050406030204" pitchFamily="18" charset="0"/>
                              </a:rPr>
                            </m:ctrlPr>
                          </m:naryPr>
                          <m:sub>
                            <m:r>
                              <m:rPr>
                                <m:sty m:val="p"/>
                                <m:brk/>
                                <m:aln/>
                              </m:rPr>
                              <a:rPr lang="en-US" altLang="zh-CN">
                                <a:latin typeface="Cambria Math" panose="02040503050406030204" pitchFamily="18" charset="0"/>
                              </a:rPr>
                              <m:t>n</m:t>
                            </m:r>
                            <m:r>
                              <a:rPr lang="en-US" altLang="zh-CN">
                                <a:latin typeface="Cambria Math" panose="02040503050406030204" pitchFamily="18" charset="0"/>
                              </a:rPr>
                              <m:t>=−</m:t>
                            </m:r>
                            <m:r>
                              <a:rPr lang="zh-CN" altLang="en-US">
                                <a:latin typeface="Cambria Math" panose="02040503050406030204" pitchFamily="18" charset="0"/>
                              </a:rPr>
                              <m:t>∞</m:t>
                            </m:r>
                          </m:sub>
                          <m:sup>
                            <m:r>
                              <a:rPr lang="zh-CN" altLang="en-US">
                                <a:latin typeface="Cambria Math" panose="02040503050406030204" pitchFamily="18" charset="0"/>
                              </a:rPr>
                              <m:t>∞</m:t>
                            </m:r>
                          </m:sup>
                          <m:e>
                            <m:r>
                              <a:rPr lang="zh-CN" altLang="en-US" i="1">
                                <a:latin typeface="Cambria Math" panose="02040503050406030204" pitchFamily="18" charset="0"/>
                              </a:rPr>
                              <m:t>𝛿</m:t>
                            </m:r>
                            <m:d>
                              <m:dPr>
                                <m:ctrlPr>
                                  <a:rPr lang="zh-CN" altLang="en-US" i="1">
                                    <a:latin typeface="Cambria Math" panose="02040503050406030204" pitchFamily="18" charset="0"/>
                                  </a:rPr>
                                </m:ctrlPr>
                              </m:dPr>
                              <m:e>
                                <m:r>
                                  <a:rPr lang="en-US" altLang="zh-CN" i="1">
                                    <a:latin typeface="Cambria Math" panose="02040503050406030204" pitchFamily="18" charset="0"/>
                                  </a:rPr>
                                  <m:t>𝑡</m:t>
                                </m:r>
                                <m:r>
                                  <a:rPr lang="zh-CN" altLang="en-US">
                                    <a:latin typeface="Cambria Math" panose="02040503050406030204" pitchFamily="18" charset="0"/>
                                  </a:rPr>
                                  <m:t>−</m:t>
                                </m:r>
                                <m:r>
                                  <a:rPr lang="zh-CN" altLang="en-US" i="1">
                                    <a:latin typeface="Cambria Math" panose="02040503050406030204" pitchFamily="18" charset="0"/>
                                  </a:rPr>
                                  <m:t>𝑛</m:t>
                                </m:r>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1">
                                        <a:latin typeface="Cambria Math" panose="02040503050406030204" pitchFamily="18" charset="0"/>
                                      </a:rPr>
                                      <m:t>𝑠</m:t>
                                    </m:r>
                                  </m:sub>
                                </m:sSub>
                              </m:e>
                            </m:d>
                          </m:e>
                        </m:nary>
                      </m:oMath>
                    </m:oMathPara>
                  </a14:m>
                  <a:endParaRPr lang="zh-CN" altLang="en-US" dirty="0"/>
                </a:p>
                <a:p>
                  <a:endParaRPr lang="zh-CN" altLang="en-US" dirty="0"/>
                </a:p>
              </p:txBody>
            </p:sp>
          </mc:Choice>
          <mc:Fallback xmlns="">
            <p:sp>
              <p:nvSpPr>
                <p:cNvPr id="75" name="文本框 74">
                  <a:extLst>
                    <a:ext uri="{FF2B5EF4-FFF2-40B4-BE49-F238E27FC236}">
                      <a16:creationId xmlns:a16="http://schemas.microsoft.com/office/drawing/2014/main" id="{DDE9A564-5271-4B83-B560-7868288D2490}"/>
                    </a:ext>
                  </a:extLst>
                </p:cNvPr>
                <p:cNvSpPr txBox="1">
                  <a:spLocks noRot="1" noChangeAspect="1" noMove="1" noResize="1" noEditPoints="1" noAdjustHandles="1" noChangeArrowheads="1" noChangeShapeType="1" noTextEdit="1"/>
                </p:cNvSpPr>
                <p:nvPr/>
              </p:nvSpPr>
              <p:spPr>
                <a:xfrm>
                  <a:off x="9141737" y="3091111"/>
                  <a:ext cx="3729859" cy="120838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Object 25">
                  <a:extLst>
                    <a:ext uri="{FF2B5EF4-FFF2-40B4-BE49-F238E27FC236}">
                      <a16:creationId xmlns:a16="http://schemas.microsoft.com/office/drawing/2014/main" id="{1C266320-129F-49BB-91EB-A826BAD5AE07}"/>
                    </a:ext>
                  </a:extLst>
                </p:cNvPr>
                <p:cNvSpPr txBox="1"/>
                <p:nvPr/>
              </p:nvSpPr>
              <p:spPr bwMode="auto">
                <a:xfrm>
                  <a:off x="10403150" y="4536847"/>
                  <a:ext cx="325438" cy="357188"/>
                </a:xfrm>
                <a:prstGeom prst="rect">
                  <a:avLst/>
                </a:prstGeom>
                <a:noFill/>
                <a:extLst>
                  <a:ext uri="{909E8E84-426E-40dd-AFC4-6F175D3DCCD1}">
                    <a14:hiddenFill xmlns="">
                      <a:solidFill>
                        <a:srgbClr val="FFFFFF"/>
                      </a:solidFill>
                    </a14:hiddenFill>
                  </a:ext>
                </a:ex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𝑡</m:t>
                        </m:r>
                      </m:oMath>
                    </m:oMathPara>
                  </a14:m>
                  <a:endParaRPr lang="zh-CN" altLang="en-US" dirty="0"/>
                </a:p>
              </p:txBody>
            </p:sp>
          </mc:Choice>
          <mc:Fallback xmlns="">
            <p:sp>
              <p:nvSpPr>
                <p:cNvPr id="76" name="Object 25">
                  <a:extLst>
                    <a:ext uri="{FF2B5EF4-FFF2-40B4-BE49-F238E27FC236}">
                      <a16:creationId xmlns:a16="http://schemas.microsoft.com/office/drawing/2014/main" id="{1C266320-129F-49BB-91EB-A826BAD5AE07}"/>
                    </a:ext>
                  </a:extLst>
                </p:cNvPr>
                <p:cNvSpPr txBox="1">
                  <a:spLocks noRot="1" noChangeAspect="1" noMove="1" noResize="1" noEditPoints="1" noAdjustHandles="1" noChangeArrowheads="1" noChangeShapeType="1" noTextEdit="1"/>
                </p:cNvSpPr>
                <p:nvPr/>
              </p:nvSpPr>
              <p:spPr bwMode="auto">
                <a:xfrm>
                  <a:off x="10403150" y="4536847"/>
                  <a:ext cx="325438" cy="357188"/>
                </a:xfrm>
                <a:prstGeom prst="rect">
                  <a:avLst/>
                </a:prstGeom>
                <a:blipFill>
                  <a:blip r:embed="rId9"/>
                  <a:stretch>
                    <a:fillRect/>
                  </a:stretch>
                </a:blipFill>
                <a:extLst>
                  <a:ext uri="{909E8E84-426E-40dd-AFC4-6F175D3DCCD1}">
                    <a14:hiddenFill xmlns="" xmlns:a14="http://schemas.microsoft.com/office/drawing/2010/main">
                      <a:solidFill>
                        <a:srgbClr val="FFFFFF"/>
                      </a:solidFill>
                    </a14:hiddenFill>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F51093E4-A941-4144-98D2-848C2D72C066}"/>
                  </a:ext>
                </a:extLst>
              </p:cNvPr>
              <p:cNvSpPr txBox="1"/>
              <p:nvPr/>
            </p:nvSpPr>
            <p:spPr>
              <a:xfrm>
                <a:off x="7924730" y="2275253"/>
                <a:ext cx="593726" cy="58477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200" b="1" i="1" smtClean="0">
                          <a:latin typeface="Cambria Math" panose="02040503050406030204" pitchFamily="18" charset="0"/>
                          <a:ea typeface="Cambria Math" panose="02040503050406030204" pitchFamily="18" charset="0"/>
                        </a:rPr>
                        <m:t>∗</m:t>
                      </m:r>
                      <m:r>
                        <a:rPr lang="en-US" altLang="zh-CN" sz="3200" b="1" i="1" smtClean="0">
                          <a:latin typeface="Cambria Math" panose="02040503050406030204" pitchFamily="18" charset="0"/>
                        </a:rPr>
                        <m:t> </m:t>
                      </m:r>
                    </m:oMath>
                  </m:oMathPara>
                </a14:m>
                <a:endParaRPr lang="zh-CN" altLang="en-US" sz="3200" b="1" dirty="0"/>
              </a:p>
            </p:txBody>
          </p:sp>
        </mc:Choice>
        <mc:Fallback xmlns="">
          <p:sp>
            <p:nvSpPr>
              <p:cNvPr id="107" name="文本框 106">
                <a:extLst>
                  <a:ext uri="{FF2B5EF4-FFF2-40B4-BE49-F238E27FC236}">
                    <a16:creationId xmlns:a16="http://schemas.microsoft.com/office/drawing/2014/main" id="{F51093E4-A941-4144-98D2-848C2D72C066}"/>
                  </a:ext>
                </a:extLst>
              </p:cNvPr>
              <p:cNvSpPr txBox="1">
                <a:spLocks noRot="1" noChangeAspect="1" noMove="1" noResize="1" noEditPoints="1" noAdjustHandles="1" noChangeArrowheads="1" noChangeShapeType="1" noTextEdit="1"/>
              </p:cNvSpPr>
              <p:nvPr/>
            </p:nvSpPr>
            <p:spPr>
              <a:xfrm>
                <a:off x="7924730" y="2275253"/>
                <a:ext cx="593726" cy="58477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0FABF17C-7CB1-4C32-A710-0F786C3C4171}"/>
                  </a:ext>
                </a:extLst>
              </p:cNvPr>
              <p:cNvSpPr txBox="1"/>
              <p:nvPr/>
            </p:nvSpPr>
            <p:spPr>
              <a:xfrm>
                <a:off x="3488064" y="2257265"/>
                <a:ext cx="593726" cy="58477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200" b="1" i="1" smtClean="0">
                          <a:latin typeface="Cambria Math" panose="02040503050406030204" pitchFamily="18" charset="0"/>
                          <a:ea typeface="Cambria Math" panose="02040503050406030204" pitchFamily="18" charset="0"/>
                        </a:rPr>
                        <m:t>⋅</m:t>
                      </m:r>
                      <m:r>
                        <a:rPr lang="en-US" altLang="zh-CN" sz="3200" b="1" i="1" smtClean="0">
                          <a:latin typeface="Cambria Math" panose="02040503050406030204" pitchFamily="18" charset="0"/>
                        </a:rPr>
                        <m:t> </m:t>
                      </m:r>
                    </m:oMath>
                  </m:oMathPara>
                </a14:m>
                <a:endParaRPr lang="zh-CN" altLang="en-US" sz="3200" b="1" dirty="0"/>
              </a:p>
            </p:txBody>
          </p:sp>
        </mc:Choice>
        <mc:Fallback xmlns="">
          <p:sp>
            <p:nvSpPr>
              <p:cNvPr id="108" name="文本框 107">
                <a:extLst>
                  <a:ext uri="{FF2B5EF4-FFF2-40B4-BE49-F238E27FC236}">
                    <a16:creationId xmlns:a16="http://schemas.microsoft.com/office/drawing/2014/main" id="{0FABF17C-7CB1-4C32-A710-0F786C3C4171}"/>
                  </a:ext>
                </a:extLst>
              </p:cNvPr>
              <p:cNvSpPr txBox="1">
                <a:spLocks noRot="1" noChangeAspect="1" noMove="1" noResize="1" noEditPoints="1" noAdjustHandles="1" noChangeArrowheads="1" noChangeShapeType="1" noTextEdit="1"/>
              </p:cNvSpPr>
              <p:nvPr/>
            </p:nvSpPr>
            <p:spPr>
              <a:xfrm>
                <a:off x="3488064" y="2257265"/>
                <a:ext cx="593726" cy="584775"/>
              </a:xfrm>
              <a:prstGeom prst="rect">
                <a:avLst/>
              </a:prstGeom>
              <a:blipFill>
                <a:blip r:embed="rId11"/>
                <a:stretch>
                  <a:fillRect/>
                </a:stretch>
              </a:blipFill>
            </p:spPr>
            <p:txBody>
              <a:bodyPr/>
              <a:lstStyle/>
              <a:p>
                <a:r>
                  <a:rPr lang="zh-CN" altLang="en-US">
                    <a:noFill/>
                  </a:rPr>
                  <a:t> </a:t>
                </a:r>
              </a:p>
            </p:txBody>
          </p:sp>
        </mc:Fallback>
      </mc:AlternateContent>
      <p:pic>
        <p:nvPicPr>
          <p:cNvPr id="109" name="图片 108">
            <a:extLst>
              <a:ext uri="{FF2B5EF4-FFF2-40B4-BE49-F238E27FC236}">
                <a16:creationId xmlns:a16="http://schemas.microsoft.com/office/drawing/2014/main" id="{5EC278F8-9295-4C86-AC1A-B4D10B0EC7BE}"/>
              </a:ext>
            </a:extLst>
          </p:cNvPr>
          <p:cNvPicPr>
            <a:picLocks noChangeAspect="1"/>
          </p:cNvPicPr>
          <p:nvPr/>
        </p:nvPicPr>
        <p:blipFill>
          <a:blip r:embed="rId12"/>
          <a:stretch>
            <a:fillRect/>
          </a:stretch>
        </p:blipFill>
        <p:spPr>
          <a:xfrm>
            <a:off x="1612235" y="4304654"/>
            <a:ext cx="5565987" cy="2373207"/>
          </a:xfrm>
          <a:prstGeom prst="rect">
            <a:avLst/>
          </a:prstGeom>
          <a:ln>
            <a:solidFill>
              <a:schemeClr val="accent1"/>
            </a:solidFill>
          </a:ln>
        </p:spPr>
      </p:pic>
      <mc:AlternateContent xmlns:mc="http://schemas.openxmlformats.org/markup-compatibility/2006" xmlns:a14="http://schemas.microsoft.com/office/drawing/2010/main">
        <mc:Choice Requires="a14">
          <p:sp>
            <p:nvSpPr>
              <p:cNvPr id="110" name="文本框 109">
                <a:extLst>
                  <a:ext uri="{FF2B5EF4-FFF2-40B4-BE49-F238E27FC236}">
                    <a16:creationId xmlns:a16="http://schemas.microsoft.com/office/drawing/2014/main" id="{3407BF3C-6620-4DBE-9C6E-555481500CAA}"/>
                  </a:ext>
                </a:extLst>
              </p:cNvPr>
              <p:cNvSpPr txBox="1"/>
              <p:nvPr/>
            </p:nvSpPr>
            <p:spPr>
              <a:xfrm>
                <a:off x="8222572" y="5002011"/>
                <a:ext cx="27976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𝑓</m:t>
                      </m:r>
                      <m:r>
                        <a:rPr lang="en-US" altLang="zh-CN" i="1" smtClean="0">
                          <a:latin typeface="Cambria Math" panose="02040503050406030204" pitchFamily="18" charset="0"/>
                        </a:rPr>
                        <m:t>(</m:t>
                      </m:r>
                      <m:r>
                        <a:rPr lang="en-US" altLang="zh-CN" i="1" smtClean="0">
                          <a:latin typeface="Cambria Math" panose="02040503050406030204" pitchFamily="18" charset="0"/>
                        </a:rPr>
                        <m:t>𝑡</m:t>
                      </m:r>
                      <m:r>
                        <a:rPr lang="en-US" altLang="zh-CN" i="1" smtClean="0">
                          <a:latin typeface="Cambria Math" panose="02040503050406030204" pitchFamily="18" charset="0"/>
                        </a:rPr>
                        <m:t>) </m:t>
                      </m:r>
                      <m:r>
                        <a:rPr lang="el-GR" altLang="zh-CN" i="1">
                          <a:latin typeface="Cambria Math" panose="02040503050406030204" pitchFamily="18" charset="0"/>
                        </a:rPr>
                        <m:t>𝛿</m:t>
                      </m:r>
                      <m:r>
                        <a:rPr lang="el-GR"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 = </m:t>
                      </m:r>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b="0" i="1" smtClean="0">
                          <a:latin typeface="Cambria Math" panose="02040503050406030204" pitchFamily="18" charset="0"/>
                        </a:rPr>
                        <m:t>𝑡</m:t>
                      </m:r>
                      <m:r>
                        <a:rPr lang="en-US" altLang="zh-CN" i="1">
                          <a:latin typeface="Cambria Math" panose="02040503050406030204" pitchFamily="18" charset="0"/>
                        </a:rPr>
                        <m:t>)</m:t>
                      </m:r>
                    </m:oMath>
                  </m:oMathPara>
                </a14:m>
                <a:endParaRPr lang="zh-CN" altLang="en-US" dirty="0"/>
              </a:p>
            </p:txBody>
          </p:sp>
        </mc:Choice>
        <mc:Fallback xmlns="">
          <p:sp>
            <p:nvSpPr>
              <p:cNvPr id="110" name="文本框 109">
                <a:extLst>
                  <a:ext uri="{FF2B5EF4-FFF2-40B4-BE49-F238E27FC236}">
                    <a16:creationId xmlns:a16="http://schemas.microsoft.com/office/drawing/2014/main" id="{3407BF3C-6620-4DBE-9C6E-555481500CAA}"/>
                  </a:ext>
                </a:extLst>
              </p:cNvPr>
              <p:cNvSpPr txBox="1">
                <a:spLocks noRot="1" noChangeAspect="1" noMove="1" noResize="1" noEditPoints="1" noAdjustHandles="1" noChangeArrowheads="1" noChangeShapeType="1" noTextEdit="1"/>
              </p:cNvSpPr>
              <p:nvPr/>
            </p:nvSpPr>
            <p:spPr>
              <a:xfrm>
                <a:off x="8222572" y="5002011"/>
                <a:ext cx="2797612" cy="369332"/>
              </a:xfrm>
              <a:prstGeom prst="rect">
                <a:avLst/>
              </a:prstGeom>
              <a:blipFill>
                <a:blip r:embed="rId13"/>
                <a:stretch>
                  <a:fillRect b="-15000"/>
                </a:stretch>
              </a:blipFill>
            </p:spPr>
            <p:txBody>
              <a:bodyPr/>
              <a:lstStyle/>
              <a:p>
                <a:r>
                  <a:rPr lang="zh-CN" altLang="en-US">
                    <a:noFill/>
                  </a:rPr>
                  <a:t> </a:t>
                </a:r>
              </a:p>
            </p:txBody>
          </p:sp>
        </mc:Fallback>
      </mc:AlternateContent>
      <p:sp>
        <p:nvSpPr>
          <p:cNvPr id="111" name="文本框 110">
            <a:extLst>
              <a:ext uri="{FF2B5EF4-FFF2-40B4-BE49-F238E27FC236}">
                <a16:creationId xmlns:a16="http://schemas.microsoft.com/office/drawing/2014/main" id="{9641108D-9B3A-4988-8CD5-EC9FEF51CEA9}"/>
              </a:ext>
            </a:extLst>
          </p:cNvPr>
          <p:cNvSpPr txBox="1"/>
          <p:nvPr/>
        </p:nvSpPr>
        <p:spPr>
          <a:xfrm>
            <a:off x="7698449" y="4704685"/>
            <a:ext cx="3845858" cy="369332"/>
          </a:xfrm>
          <a:prstGeom prst="rect">
            <a:avLst/>
          </a:prstGeom>
          <a:noFill/>
        </p:spPr>
        <p:txBody>
          <a:bodyPr wrap="square">
            <a:spAutoFit/>
          </a:bodyPr>
          <a:lstStyle/>
          <a:p>
            <a:r>
              <a:rPr lang="zh-CN" altLang="en-US" sz="1800" spc="50" dirty="0">
                <a:ln w="13500">
                  <a:solidFill>
                    <a:schemeClr val="accent1">
                      <a:shade val="2500"/>
                      <a:alpha val="6500"/>
                    </a:schemeClr>
                  </a:solidFill>
                  <a:prstDash val="solid"/>
                </a:ln>
                <a:effectLst>
                  <a:innerShdw blurRad="50900" dist="38500" dir="13500000">
                    <a:srgbClr val="000000">
                      <a:alpha val="60000"/>
                    </a:srgbClr>
                  </a:innerShdw>
                </a:effectLst>
                <a:latin typeface="微软雅黑" pitchFamily="34" charset="-122"/>
                <a:ea typeface="微软雅黑" pitchFamily="34" charset="-122"/>
              </a:rPr>
              <a:t>频谱复制，冲击函数的卷积的性质。</a:t>
            </a:r>
            <a:endParaRPr lang="zh-CN" altLang="en-US" dirty="0"/>
          </a:p>
        </p:txBody>
      </p:sp>
    </p:spTree>
    <p:extLst>
      <p:ext uri="{BB962C8B-B14F-4D97-AF65-F5344CB8AC3E}">
        <p14:creationId xmlns:p14="http://schemas.microsoft.com/office/powerpoint/2010/main" val="156333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500" fill="hold"/>
                                        <p:tgtEl>
                                          <p:spTgt spid="109"/>
                                        </p:tgtEl>
                                        <p:attrNameLst>
                                          <p:attrName>ppt_x</p:attrName>
                                        </p:attrNameLst>
                                      </p:cBhvr>
                                      <p:tavLst>
                                        <p:tav tm="0">
                                          <p:val>
                                            <p:strVal val="#ppt_x"/>
                                          </p:val>
                                        </p:tav>
                                        <p:tav tm="100000">
                                          <p:val>
                                            <p:strVal val="#ppt_x"/>
                                          </p:val>
                                        </p:tav>
                                      </p:tavLst>
                                    </p:anim>
                                    <p:anim calcmode="lin" valueType="num">
                                      <p:cBhvr additive="base">
                                        <p:cTn id="8"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52429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2"/>
          <a:stretch>
            <a:fillRect/>
          </a:stretch>
        </p:blipFill>
        <p:spPr>
          <a:xfrm>
            <a:off x="4189751" y="106300"/>
            <a:ext cx="4522866" cy="532848"/>
          </a:xfrm>
          <a:prstGeom prst="rect">
            <a:avLst/>
          </a:prstGeom>
        </p:spPr>
      </p:pic>
      <p:sp>
        <p:nvSpPr>
          <p:cNvPr id="3" name="文本框 2"/>
          <p:cNvSpPr txBox="1"/>
          <p:nvPr/>
        </p:nvSpPr>
        <p:spPr>
          <a:xfrm>
            <a:off x="3162050" y="167604"/>
            <a:ext cx="1027701" cy="420564"/>
          </a:xfrm>
          <a:prstGeom prst="rect">
            <a:avLst/>
          </a:prstGeom>
          <a:noFill/>
        </p:spPr>
        <p:txBody>
          <a:bodyPr wrap="square" rtlCol="0" anchor="t">
            <a:spAutoFit/>
          </a:bodyPr>
          <a:lstStyle/>
          <a:p>
            <a:r>
              <a:rPr lang="zh-CN" altLang="en-US" sz="2133" dirty="0" smtClean="0">
                <a:solidFill>
                  <a:srgbClr val="C0000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a:t>
            </a:r>
            <a:r>
              <a:rPr lang="en-US" altLang="zh-CN" sz="2133" dirty="0" smtClean="0">
                <a:solidFill>
                  <a:srgbClr val="C0000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2D</a:t>
            </a:r>
            <a:r>
              <a:rPr lang="zh-CN" altLang="en-US" sz="2133" dirty="0" smtClean="0">
                <a:solidFill>
                  <a:srgbClr val="C0000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a:t>
            </a:r>
            <a:endParaRPr lang="zh-CN" altLang="en-US" sz="2133" dirty="0">
              <a:solidFill>
                <a:srgbClr val="C0000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endParaRPr>
          </a:p>
        </p:txBody>
      </p:sp>
      <p:pic>
        <p:nvPicPr>
          <p:cNvPr id="11" name="图片 10"/>
          <p:cNvPicPr>
            <a:picLocks noChangeAspect="1" noChangeArrowheads="1"/>
          </p:cNvPicPr>
          <p:nvPr/>
        </p:nvPicPr>
        <p:blipFill>
          <a:blip r:embed="rId3" cstate="print"/>
          <a:srcRect/>
          <a:stretch>
            <a:fillRect/>
          </a:stretch>
        </p:blipFill>
        <p:spPr>
          <a:xfrm>
            <a:off x="8259580" y="1379818"/>
            <a:ext cx="3855907" cy="1005227"/>
          </a:xfrm>
          <a:prstGeom prst="rect">
            <a:avLst/>
          </a:prstGeom>
          <a:noFill/>
          <a:ln w="9525">
            <a:noFill/>
            <a:miter lim="800000"/>
            <a:headEnd/>
            <a:tailEnd/>
          </a:ln>
        </p:spPr>
      </p:pic>
      <p:sp>
        <p:nvSpPr>
          <p:cNvPr id="8" name="标题 1">
            <a:extLst>
              <a:ext uri="{FF2B5EF4-FFF2-40B4-BE49-F238E27FC236}">
                <a16:creationId xmlns:a16="http://schemas.microsoft.com/office/drawing/2014/main" id="{22C31E4E-4483-4B9C-95C9-CD8A4E123CAE}"/>
              </a:ext>
            </a:extLst>
          </p:cNvPr>
          <p:cNvSpPr txBox="1">
            <a:spLocks noGrp="1"/>
          </p:cNvSpPr>
          <p:nvPr/>
        </p:nvSpPr>
        <p:spPr>
          <a:xfrm>
            <a:off x="229680" y="157281"/>
            <a:ext cx="2872581"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gn="ct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图像的采样：采样</a:t>
            </a:r>
          </a:p>
        </p:txBody>
      </p:sp>
      <p:pic>
        <p:nvPicPr>
          <p:cNvPr id="6" name="图片 5"/>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9680" y="959369"/>
            <a:ext cx="7730376" cy="5351489"/>
          </a:xfrm>
          <a:prstGeom prst="rect">
            <a:avLst/>
          </a:prstGeom>
        </p:spPr>
      </p:pic>
      <p:sp>
        <p:nvSpPr>
          <p:cNvPr id="2" name="矩形 1"/>
          <p:cNvSpPr/>
          <p:nvPr/>
        </p:nvSpPr>
        <p:spPr>
          <a:xfrm>
            <a:off x="3888753" y="4933968"/>
            <a:ext cx="412229" cy="404735"/>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697898" y="6261747"/>
            <a:ext cx="2262158" cy="369332"/>
          </a:xfrm>
          <a:prstGeom prst="rect">
            <a:avLst/>
          </a:prstGeom>
        </p:spPr>
        <p:txBody>
          <a:bodyPr wrap="none">
            <a:spAutoFit/>
          </a:bodyPr>
          <a:lstStyle/>
          <a:p>
            <a:r>
              <a:rPr lang="en-US" altLang="zh-CN"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引入了邻近平移频谱</a:t>
            </a:r>
            <a:endParaRPr lang="zh-CN" altLang="en-US" dirty="0"/>
          </a:p>
        </p:txBody>
      </p:sp>
      <p:sp>
        <p:nvSpPr>
          <p:cNvPr id="5" name="矩形 4"/>
          <p:cNvSpPr/>
          <p:nvPr/>
        </p:nvSpPr>
        <p:spPr>
          <a:xfrm>
            <a:off x="3289504" y="6261747"/>
            <a:ext cx="1800493" cy="369332"/>
          </a:xfrm>
          <a:prstGeom prst="rect">
            <a:avLst/>
          </a:prstGeom>
        </p:spPr>
        <p:txBody>
          <a:bodyPr wrap="none">
            <a:spAutoFit/>
          </a:bodyPr>
          <a:lstStyle/>
          <a:p>
            <a:r>
              <a:rPr lang="en-US" altLang="zh-CN" dirty="0" err="1">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丢失了高频信息</a:t>
            </a:r>
            <a:endParaRPr lang="zh-CN" altLang="en-US" dirty="0"/>
          </a:p>
        </p:txBody>
      </p:sp>
      <p:pic>
        <p:nvPicPr>
          <p:cNvPr id="13" name="图片 12"/>
          <p:cNvPicPr>
            <a:picLocks noChangeAspect="1"/>
          </p:cNvPicPr>
          <p:nvPr/>
        </p:nvPicPr>
        <p:blipFill>
          <a:blip r:embed="rId5"/>
          <a:stretch>
            <a:fillRect/>
          </a:stretch>
        </p:blipFill>
        <p:spPr>
          <a:xfrm>
            <a:off x="8299373" y="2658675"/>
            <a:ext cx="3319756" cy="3337137"/>
          </a:xfrm>
          <a:prstGeom prst="rect">
            <a:avLst/>
          </a:prstGeom>
        </p:spPr>
      </p:pic>
      <p:sp>
        <p:nvSpPr>
          <p:cNvPr id="14" name="矩形 13"/>
          <p:cNvSpPr/>
          <p:nvPr/>
        </p:nvSpPr>
        <p:spPr>
          <a:xfrm>
            <a:off x="8990319" y="4110958"/>
            <a:ext cx="407254" cy="461042"/>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noGrp="1"/>
          </p:cNvSpPr>
          <p:nvPr/>
        </p:nvSpPr>
        <p:spPr>
          <a:xfrm>
            <a:off x="407007" y="161790"/>
            <a:ext cx="2194560" cy="430887"/>
          </a:xfrm>
          <a:prstGeom prst="rect">
            <a:avLst/>
          </a:prstGeom>
          <a:noFill/>
        </p:spPr>
        <p:txBody>
          <a:bodyPr vert="horz" wrap="squar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lvl="0">
              <a:lnSpc>
                <a:spcPct val="100000"/>
              </a:lnSpc>
              <a:buClrTx/>
              <a:buSzTx/>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图像的量化</a:t>
            </a:r>
          </a:p>
        </p:txBody>
      </p:sp>
      <p:sp>
        <p:nvSpPr>
          <p:cNvPr id="6" name="装饰  9"/>
          <p:cNvSpPr>
            <a:spLocks noGrp="1"/>
          </p:cNvSpPr>
          <p:nvPr>
            <p:custDataLst>
              <p:tags r:id="rId1"/>
            </p:custDataLst>
          </p:nvPr>
        </p:nvSpPr>
        <p:spPr>
          <a:xfrm>
            <a:off x="2094140" y="1714393"/>
            <a:ext cx="1295400" cy="1382303"/>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vert="horz" lIns="121920" tIns="60960" rIns="121920" bIns="6096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733"/>
              <a:t> </a:t>
            </a:r>
          </a:p>
        </p:txBody>
      </p:sp>
      <p:sp>
        <p:nvSpPr>
          <p:cNvPr id="7" name="文本占位符 3"/>
          <p:cNvSpPr>
            <a:spLocks noGrp="1"/>
          </p:cNvSpPr>
          <p:nvPr>
            <p:custDataLst>
              <p:tags r:id="rId2"/>
            </p:custDataLst>
          </p:nvPr>
        </p:nvSpPr>
        <p:spPr>
          <a:xfrm>
            <a:off x="2259240" y="1927600"/>
            <a:ext cx="965200" cy="812800"/>
          </a:xfrm>
          <a:prstGeom prst="rect">
            <a:avLst/>
          </a:prstGeom>
          <a:noFill/>
        </p:spPr>
        <p:txBody>
          <a:bodyPr vert="horz" wrap="none" lIns="0" tIns="0" rIns="0" bIns="0" rtlCol="0" anchor="ctr">
            <a:noAutofit/>
          </a:bodyPr>
          <a:lstStyle>
            <a:lvl1pPr marL="0" indent="0" algn="ctr" defTabSz="914400" rtl="0" eaLnBrk="1" latinLnBrk="0" hangingPunct="1">
              <a:lnSpc>
                <a:spcPct val="109000"/>
              </a:lnSpc>
              <a:spcBef>
                <a:spcPct val="0"/>
              </a:spcBef>
              <a:spcAft>
                <a:spcPct val="0"/>
              </a:spcAft>
              <a:buFont typeface="Arial" panose="020B0604020202020204" pitchFamily="34" charset="0"/>
              <a:buNone/>
              <a:defRPr sz="4800" b="0" kern="1200" spc="0">
                <a:solidFill>
                  <a:srgbClr val="FFFFF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5867" dirty="0">
                <a:solidFill>
                  <a:schemeClr val="lt1"/>
                </a:solidFill>
              </a:rPr>
              <a:t>01</a:t>
            </a:r>
          </a:p>
        </p:txBody>
      </p:sp>
      <p:sp>
        <p:nvSpPr>
          <p:cNvPr id="9" name="文本占位符 4"/>
          <p:cNvSpPr>
            <a:spLocks noGrp="1"/>
          </p:cNvSpPr>
          <p:nvPr>
            <p:custDataLst>
              <p:tags r:id="rId3"/>
            </p:custDataLst>
          </p:nvPr>
        </p:nvSpPr>
        <p:spPr>
          <a:xfrm>
            <a:off x="1226431" y="3300731"/>
            <a:ext cx="3048000" cy="541867"/>
          </a:xfrm>
          <a:prstGeom prst="rect">
            <a:avLst/>
          </a:prstGeom>
          <a:noFill/>
        </p:spPr>
        <p:txBody>
          <a:bodyPr vert="horz" lIns="0" tIns="0" rIns="0" bIns="0" rtlCol="0" anchor="t">
            <a:normAutofit/>
          </a:bodyPr>
          <a:lstStyle>
            <a:lvl1pPr marL="0" indent="0" algn="ctr"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chemeClr val="accent5">
                    <a:lumMod val="50000"/>
                  </a:schemeClr>
                </a:solidFill>
                <a:latin typeface="微软雅黑" panose="020B0503020204020204" pitchFamily="34" charset="-122"/>
                <a:ea typeface="微软雅黑" panose="020B0503020204020204" pitchFamily="34" charset="-122"/>
              </a:rPr>
              <a:t>图像量化过程</a:t>
            </a:r>
          </a:p>
        </p:txBody>
      </p:sp>
      <p:sp>
        <p:nvSpPr>
          <p:cNvPr id="11" name="文本占位符 5"/>
          <p:cNvSpPr>
            <a:spLocks noGrp="1"/>
          </p:cNvSpPr>
          <p:nvPr>
            <p:custDataLst>
              <p:tags r:id="rId4"/>
            </p:custDataLst>
          </p:nvPr>
        </p:nvSpPr>
        <p:spPr>
          <a:xfrm>
            <a:off x="1667779" y="3952027"/>
            <a:ext cx="2052000" cy="1625600"/>
          </a:xfrm>
          <a:prstGeom prst="rect">
            <a:avLst/>
          </a:prstGeom>
          <a:noFill/>
        </p:spPr>
        <p:txBody>
          <a:bodyPr vert="horz" lIns="0" tIns="0" rIns="0" bIns="0" rtlCol="0" anchor="t">
            <a:noAutofit/>
          </a:bodyPr>
          <a:lstStyle>
            <a:lvl1pPr marL="0" indent="0" algn="ctr"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smtClean="0">
                <a:latin typeface="微软雅黑" panose="020B0503020204020204" pitchFamily="34" charset="-122"/>
                <a:ea typeface="微软雅黑" panose="020B0503020204020204" pitchFamily="34" charset="-122"/>
              </a:rPr>
              <a:t>连续灰度</a:t>
            </a:r>
            <a:r>
              <a:rPr lang="en-US" altLang="zh-CN" b="1" dirty="0" smtClean="0">
                <a:latin typeface="微软雅黑" panose="020B0503020204020204" pitchFamily="34" charset="-122"/>
                <a:ea typeface="微软雅黑" panose="020B0503020204020204" pitchFamily="34" charset="-122"/>
              </a:rPr>
              <a:t>-&gt;</a:t>
            </a:r>
            <a:r>
              <a:rPr lang="zh-CN" altLang="en-US" b="1" dirty="0" smtClean="0">
                <a:latin typeface="微软雅黑" panose="020B0503020204020204" pitchFamily="34" charset="-122"/>
                <a:ea typeface="微软雅黑" panose="020B0503020204020204" pitchFamily="34" charset="-122"/>
              </a:rPr>
              <a:t>离散整数</a:t>
            </a:r>
            <a:endParaRPr lang="zh-CN" altLang="en-US" b="1" dirty="0">
              <a:latin typeface="微软雅黑" panose="020B0503020204020204" pitchFamily="34" charset="-122"/>
              <a:ea typeface="微软雅黑" panose="020B0503020204020204" pitchFamily="34" charset="-122"/>
            </a:endParaRPr>
          </a:p>
        </p:txBody>
      </p:sp>
      <p:sp>
        <p:nvSpPr>
          <p:cNvPr id="14" name="文本占位符 8"/>
          <p:cNvSpPr>
            <a:spLocks noGrp="1"/>
          </p:cNvSpPr>
          <p:nvPr>
            <p:custDataLst>
              <p:tags r:id="rId5"/>
            </p:custDataLst>
          </p:nvPr>
        </p:nvSpPr>
        <p:spPr>
          <a:xfrm>
            <a:off x="3567307" y="3300731"/>
            <a:ext cx="2715939" cy="541867"/>
          </a:xfrm>
          <a:prstGeom prst="rect">
            <a:avLst/>
          </a:prstGeom>
          <a:noFill/>
        </p:spPr>
        <p:txBody>
          <a:bodyPr vert="horz" lIns="0" tIns="0" rIns="0" bIns="0" rtlCol="0" anchor="t">
            <a:normAutofit/>
          </a:bodyPr>
          <a:lstStyle>
            <a:lvl1pPr marL="0" indent="0" algn="ctr"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Tx/>
              <a:buSzTx/>
            </a:pPr>
            <a:r>
              <a:rPr lang="zh-CN" altLang="en-US" b="1" dirty="0">
                <a:solidFill>
                  <a:schemeClr val="accent5">
                    <a:lumMod val="50000"/>
                  </a:schemeClr>
                </a:solidFill>
                <a:latin typeface="微软雅黑" panose="020B0503020204020204" pitchFamily="34" charset="-122"/>
                <a:ea typeface="微软雅黑" panose="020B0503020204020204" pitchFamily="34" charset="-122"/>
              </a:rPr>
              <a:t>量化误差影响</a:t>
            </a:r>
          </a:p>
        </p:txBody>
      </p:sp>
      <p:sp>
        <p:nvSpPr>
          <p:cNvPr id="15" name="文本占位符 9"/>
          <p:cNvSpPr>
            <a:spLocks noGrp="1"/>
          </p:cNvSpPr>
          <p:nvPr>
            <p:custDataLst>
              <p:tags r:id="rId6"/>
            </p:custDataLst>
          </p:nvPr>
        </p:nvSpPr>
        <p:spPr>
          <a:xfrm>
            <a:off x="3859967" y="3952027"/>
            <a:ext cx="2181999" cy="1625600"/>
          </a:xfrm>
          <a:prstGeom prst="rect">
            <a:avLst/>
          </a:prstGeom>
          <a:noFill/>
        </p:spPr>
        <p:txBody>
          <a:bodyPr vert="horz" lIns="0" tIns="0" rIns="0" bIns="0" rtlCol="0" anchor="t">
            <a:noAutofit/>
          </a:bodyPr>
          <a:lstStyle>
            <a:lvl1pPr marL="0" indent="0" algn="ctr"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buSzTx/>
            </a:pPr>
            <a:r>
              <a:rPr lang="zh-CN" altLang="en-US" b="1" dirty="0" smtClean="0">
                <a:latin typeface="微软雅黑" panose="020B0503020204020204" pitchFamily="34" charset="-122"/>
                <a:ea typeface="微软雅黑" panose="020B0503020204020204" pitchFamily="34" charset="-122"/>
              </a:rPr>
              <a:t>灰度水平高</a:t>
            </a:r>
            <a:r>
              <a:rPr lang="en-US" altLang="zh-CN" b="1" dirty="0" smtClean="0">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量化误差小</a:t>
            </a:r>
            <a:endParaRPr lang="zh-CN" altLang="en-US" b="1" dirty="0">
              <a:latin typeface="微软雅黑" panose="020B0503020204020204" pitchFamily="34" charset="-122"/>
              <a:ea typeface="微软雅黑" panose="020B0503020204020204" pitchFamily="34" charset="-122"/>
            </a:endParaRPr>
          </a:p>
        </p:txBody>
      </p:sp>
      <p:sp>
        <p:nvSpPr>
          <p:cNvPr id="18" name="文本占位符 12"/>
          <p:cNvSpPr>
            <a:spLocks noGrp="1"/>
          </p:cNvSpPr>
          <p:nvPr>
            <p:custDataLst>
              <p:tags r:id="rId7"/>
            </p:custDataLst>
          </p:nvPr>
        </p:nvSpPr>
        <p:spPr>
          <a:xfrm>
            <a:off x="5626745" y="3300731"/>
            <a:ext cx="3048000" cy="541867"/>
          </a:xfrm>
          <a:prstGeom prst="rect">
            <a:avLst/>
          </a:prstGeom>
          <a:noFill/>
        </p:spPr>
        <p:txBody>
          <a:bodyPr vert="horz" lIns="0" tIns="0" rIns="0" bIns="0" rtlCol="0" anchor="t">
            <a:normAutofit/>
          </a:bodyPr>
          <a:lstStyle>
            <a:lvl1pPr marL="0" indent="0" algn="ctr"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Tx/>
              <a:buSzTx/>
            </a:pPr>
            <a:r>
              <a:rPr lang="zh-CN" altLang="en-US" b="1" dirty="0">
                <a:solidFill>
                  <a:schemeClr val="accent5">
                    <a:lumMod val="50000"/>
                  </a:schemeClr>
                </a:solidFill>
                <a:latin typeface="微软雅黑" panose="020B0503020204020204" pitchFamily="34" charset="-122"/>
                <a:ea typeface="微软雅黑" panose="020B0503020204020204" pitchFamily="34" charset="-122"/>
              </a:rPr>
              <a:t>量化准则设计</a:t>
            </a:r>
          </a:p>
        </p:txBody>
      </p:sp>
      <p:sp>
        <p:nvSpPr>
          <p:cNvPr id="19" name="文本占位符 13"/>
          <p:cNvSpPr>
            <a:spLocks noGrp="1"/>
          </p:cNvSpPr>
          <p:nvPr>
            <p:custDataLst>
              <p:tags r:id="rId8"/>
            </p:custDataLst>
          </p:nvPr>
        </p:nvSpPr>
        <p:spPr>
          <a:xfrm>
            <a:off x="6195747" y="3952027"/>
            <a:ext cx="2052000" cy="1800860"/>
          </a:xfrm>
          <a:prstGeom prst="rect">
            <a:avLst/>
          </a:prstGeom>
          <a:noFill/>
        </p:spPr>
        <p:txBody>
          <a:bodyPr vert="horz" lIns="0" tIns="0" rIns="0" bIns="0" rtlCol="0" anchor="t">
            <a:noAutofit/>
          </a:bodyPr>
          <a:lstStyle>
            <a:lvl1pPr marL="0" indent="0" algn="ctr"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smtClean="0">
                <a:latin typeface="微软雅黑" panose="020B0503020204020204" pitchFamily="34" charset="-122"/>
                <a:ea typeface="微软雅黑" panose="020B0503020204020204" pitchFamily="34" charset="-122"/>
              </a:rPr>
              <a:t>最小</a:t>
            </a:r>
            <a:r>
              <a:rPr lang="zh-CN" altLang="en-US" b="1" dirty="0">
                <a:latin typeface="微软雅黑" panose="020B0503020204020204" pitchFamily="34" charset="-122"/>
                <a:ea typeface="微软雅黑" panose="020B0503020204020204" pitchFamily="34" charset="-122"/>
              </a:rPr>
              <a:t>平方</a:t>
            </a:r>
            <a:r>
              <a:rPr lang="zh-CN" altLang="en-US" b="1" dirty="0" smtClean="0">
                <a:latin typeface="微软雅黑" panose="020B0503020204020204" pitchFamily="34" charset="-122"/>
                <a:ea typeface="微软雅黑" panose="020B0503020204020204" pitchFamily="34" charset="-122"/>
              </a:rPr>
              <a:t>误差</a:t>
            </a:r>
            <a:endParaRPr lang="en-US" altLang="zh-CN" b="1" dirty="0" smtClean="0">
              <a:latin typeface="微软雅黑" panose="020B0503020204020204" pitchFamily="34" charset="-122"/>
              <a:ea typeface="微软雅黑" panose="020B0503020204020204" pitchFamily="34" charset="-122"/>
            </a:endParaRPr>
          </a:p>
          <a:p>
            <a:r>
              <a:rPr lang="zh-CN" altLang="en-US" b="1" dirty="0" smtClean="0">
                <a:latin typeface="微软雅黑" panose="020B0503020204020204" pitchFamily="34" charset="-122"/>
                <a:ea typeface="微软雅黑" panose="020B0503020204020204" pitchFamily="34" charset="-122"/>
              </a:rPr>
              <a:t>人</a:t>
            </a:r>
            <a:r>
              <a:rPr lang="zh-CN" altLang="en-US" b="1" dirty="0">
                <a:latin typeface="微软雅黑" panose="020B0503020204020204" pitchFamily="34" charset="-122"/>
                <a:ea typeface="微软雅黑" panose="020B0503020204020204" pitchFamily="34" charset="-122"/>
              </a:rPr>
              <a:t>眼</a:t>
            </a:r>
            <a:r>
              <a:rPr lang="zh-CN" altLang="en-US" b="1" dirty="0" smtClean="0">
                <a:latin typeface="微软雅黑" panose="020B0503020204020204" pitchFamily="34" charset="-122"/>
                <a:ea typeface="微软雅黑" panose="020B0503020204020204" pitchFamily="34" charset="-122"/>
              </a:rPr>
              <a:t>感知等</a:t>
            </a:r>
            <a:endParaRPr lang="en-US" altLang="zh-CN" b="1" dirty="0" smtClean="0">
              <a:latin typeface="微软雅黑" panose="020B0503020204020204" pitchFamily="34" charset="-122"/>
              <a:ea typeface="微软雅黑" panose="020B0503020204020204" pitchFamily="34" charset="-122"/>
            </a:endParaRPr>
          </a:p>
        </p:txBody>
      </p:sp>
      <p:sp>
        <p:nvSpPr>
          <p:cNvPr id="22" name="文本占位符 16"/>
          <p:cNvSpPr>
            <a:spLocks noGrp="1"/>
          </p:cNvSpPr>
          <p:nvPr>
            <p:custDataLst>
              <p:tags r:id="rId9"/>
            </p:custDataLst>
          </p:nvPr>
        </p:nvSpPr>
        <p:spPr>
          <a:xfrm>
            <a:off x="7876056" y="3313905"/>
            <a:ext cx="3048000" cy="541867"/>
          </a:xfrm>
          <a:prstGeom prst="rect">
            <a:avLst/>
          </a:prstGeom>
          <a:noFill/>
        </p:spPr>
        <p:txBody>
          <a:bodyPr vert="horz" lIns="0" tIns="0" rIns="0" bIns="0" rtlCol="0" anchor="t">
            <a:normAutofit/>
          </a:bodyPr>
          <a:lstStyle>
            <a:lvl1pPr marL="0" indent="0" algn="ctr"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Tx/>
              <a:buSzTx/>
            </a:pPr>
            <a:r>
              <a:rPr lang="zh-CN" altLang="en-US" b="1" dirty="0">
                <a:solidFill>
                  <a:schemeClr val="accent5">
                    <a:lumMod val="50000"/>
                  </a:schemeClr>
                </a:solidFill>
                <a:latin typeface="微软雅黑" panose="020B0503020204020204" pitchFamily="34" charset="-122"/>
                <a:ea typeface="微软雅黑" panose="020B0503020204020204" pitchFamily="34" charset="-122"/>
              </a:rPr>
              <a:t>常见量化器分类</a:t>
            </a:r>
          </a:p>
        </p:txBody>
      </p:sp>
      <p:sp>
        <p:nvSpPr>
          <p:cNvPr id="23" name="文本占位符 17"/>
          <p:cNvSpPr>
            <a:spLocks noGrp="1"/>
          </p:cNvSpPr>
          <p:nvPr>
            <p:custDataLst>
              <p:tags r:id="rId10"/>
            </p:custDataLst>
          </p:nvPr>
        </p:nvSpPr>
        <p:spPr>
          <a:xfrm>
            <a:off x="8442561" y="3952027"/>
            <a:ext cx="2052000" cy="1625600"/>
          </a:xfrm>
          <a:prstGeom prst="rect">
            <a:avLst/>
          </a:prstGeom>
          <a:noFill/>
        </p:spPr>
        <p:txBody>
          <a:bodyPr vert="horz" lIns="0" tIns="0" rIns="0" bIns="0" rtlCol="0" anchor="t">
            <a:noAutofit/>
          </a:bodyPr>
          <a:lstStyle>
            <a:lvl1pPr marL="0" indent="0" algn="ctr"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buSzTx/>
            </a:pPr>
            <a:r>
              <a:rPr lang="zh-CN" altLang="en-US" b="1" dirty="0" smtClean="0">
                <a:latin typeface="微软雅黑" panose="020B0503020204020204" pitchFamily="34" charset="-122"/>
                <a:ea typeface="微软雅黑" panose="020B0503020204020204" pitchFamily="34" charset="-122"/>
              </a:rPr>
              <a:t>四</a:t>
            </a:r>
            <a:r>
              <a:rPr lang="zh-CN" altLang="en-US" b="1" dirty="0">
                <a:latin typeface="微软雅黑" panose="020B0503020204020204" pitchFamily="34" charset="-122"/>
                <a:ea typeface="微软雅黑" panose="020B0503020204020204" pitchFamily="34" charset="-122"/>
              </a:rPr>
              <a:t>种典型</a:t>
            </a:r>
            <a:r>
              <a:rPr lang="zh-CN" altLang="en-US" b="1" dirty="0" smtClean="0">
                <a:latin typeface="微软雅黑" panose="020B0503020204020204" pitchFamily="34" charset="-122"/>
                <a:ea typeface="微软雅黑" panose="020B0503020204020204" pitchFamily="34" charset="-122"/>
              </a:rPr>
              <a:t>量化器</a:t>
            </a:r>
            <a:endParaRPr lang="zh-CN" altLang="en-US" b="1" dirty="0">
              <a:latin typeface="微软雅黑" panose="020B0503020204020204" pitchFamily="34" charset="-122"/>
              <a:ea typeface="微软雅黑" panose="020B0503020204020204" pitchFamily="34" charset="-122"/>
            </a:endParaRPr>
          </a:p>
        </p:txBody>
      </p:sp>
      <p:sp>
        <p:nvSpPr>
          <p:cNvPr id="24" name="装饰  9"/>
          <p:cNvSpPr>
            <a:spLocks noGrp="1"/>
          </p:cNvSpPr>
          <p:nvPr>
            <p:custDataLst>
              <p:tags r:id="rId11"/>
            </p:custDataLst>
          </p:nvPr>
        </p:nvSpPr>
        <p:spPr>
          <a:xfrm>
            <a:off x="4237900" y="1721933"/>
            <a:ext cx="1295400" cy="1382303"/>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vert="horz" lIns="121920" tIns="60960" rIns="121920" bIns="6096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733"/>
              <a:t> </a:t>
            </a:r>
          </a:p>
        </p:txBody>
      </p:sp>
      <p:sp>
        <p:nvSpPr>
          <p:cNvPr id="26" name="文本占位符 3"/>
          <p:cNvSpPr>
            <a:spLocks noGrp="1"/>
          </p:cNvSpPr>
          <p:nvPr>
            <p:custDataLst>
              <p:tags r:id="rId12"/>
            </p:custDataLst>
          </p:nvPr>
        </p:nvSpPr>
        <p:spPr>
          <a:xfrm>
            <a:off x="4420173" y="1946583"/>
            <a:ext cx="965200" cy="812800"/>
          </a:xfrm>
          <a:prstGeom prst="rect">
            <a:avLst/>
          </a:prstGeom>
          <a:noFill/>
        </p:spPr>
        <p:txBody>
          <a:bodyPr vert="horz" wrap="none" lIns="0" tIns="0" rIns="0" bIns="0" rtlCol="0" anchor="ctr">
            <a:noAutofit/>
          </a:bodyPr>
          <a:lstStyle>
            <a:lvl1pPr marL="0" indent="0" algn="ctr" defTabSz="914400" rtl="0" eaLnBrk="1" latinLnBrk="0" hangingPunct="1">
              <a:lnSpc>
                <a:spcPct val="109000"/>
              </a:lnSpc>
              <a:spcBef>
                <a:spcPct val="0"/>
              </a:spcBef>
              <a:spcAft>
                <a:spcPct val="0"/>
              </a:spcAft>
              <a:buFont typeface="Arial" panose="020B0604020202020204" pitchFamily="34" charset="0"/>
              <a:buNone/>
              <a:defRPr sz="4800" b="0" kern="1200" spc="0">
                <a:solidFill>
                  <a:srgbClr val="FFFFF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5867" dirty="0">
                <a:solidFill>
                  <a:schemeClr val="lt1"/>
                </a:solidFill>
              </a:rPr>
              <a:t>0</a:t>
            </a:r>
            <a:r>
              <a:rPr lang="en-US" altLang="zh-CN" sz="5867" dirty="0">
                <a:solidFill>
                  <a:schemeClr val="lt1"/>
                </a:solidFill>
              </a:rPr>
              <a:t>2</a:t>
            </a:r>
            <a:endParaRPr lang="zh-CN" altLang="en-US" sz="5867" dirty="0">
              <a:solidFill>
                <a:schemeClr val="lt1"/>
              </a:solidFill>
            </a:endParaRPr>
          </a:p>
        </p:txBody>
      </p:sp>
      <p:sp>
        <p:nvSpPr>
          <p:cNvPr id="27" name="装饰  9"/>
          <p:cNvSpPr>
            <a:spLocks noGrp="1"/>
          </p:cNvSpPr>
          <p:nvPr>
            <p:custDataLst>
              <p:tags r:id="rId13"/>
            </p:custDataLst>
          </p:nvPr>
        </p:nvSpPr>
        <p:spPr>
          <a:xfrm>
            <a:off x="6390095" y="1719069"/>
            <a:ext cx="1295400" cy="1382303"/>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vert="horz" lIns="121920" tIns="60960" rIns="121920" bIns="6096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733"/>
              <a:t> </a:t>
            </a:r>
          </a:p>
        </p:txBody>
      </p:sp>
      <p:sp>
        <p:nvSpPr>
          <p:cNvPr id="28" name="文本占位符 3"/>
          <p:cNvSpPr>
            <a:spLocks noGrp="1"/>
          </p:cNvSpPr>
          <p:nvPr>
            <p:custDataLst>
              <p:tags r:id="rId14"/>
            </p:custDataLst>
          </p:nvPr>
        </p:nvSpPr>
        <p:spPr>
          <a:xfrm>
            <a:off x="6572368" y="1943719"/>
            <a:ext cx="965200" cy="812800"/>
          </a:xfrm>
          <a:prstGeom prst="rect">
            <a:avLst/>
          </a:prstGeom>
          <a:noFill/>
        </p:spPr>
        <p:txBody>
          <a:bodyPr vert="horz" wrap="none" lIns="0" tIns="0" rIns="0" bIns="0" rtlCol="0" anchor="ctr">
            <a:noAutofit/>
          </a:bodyPr>
          <a:lstStyle>
            <a:lvl1pPr marL="0" indent="0" algn="ctr" defTabSz="914400" rtl="0" eaLnBrk="1" latinLnBrk="0" hangingPunct="1">
              <a:lnSpc>
                <a:spcPct val="109000"/>
              </a:lnSpc>
              <a:spcBef>
                <a:spcPct val="0"/>
              </a:spcBef>
              <a:spcAft>
                <a:spcPct val="0"/>
              </a:spcAft>
              <a:buFont typeface="Arial" panose="020B0604020202020204" pitchFamily="34" charset="0"/>
              <a:buNone/>
              <a:defRPr sz="4800" b="0" kern="1200" spc="0">
                <a:solidFill>
                  <a:srgbClr val="FFFFF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5867" dirty="0">
                <a:solidFill>
                  <a:schemeClr val="lt1"/>
                </a:solidFill>
              </a:rPr>
              <a:t>0</a:t>
            </a:r>
            <a:r>
              <a:rPr lang="en-US" altLang="zh-CN" sz="5867" dirty="0">
                <a:solidFill>
                  <a:schemeClr val="lt1"/>
                </a:solidFill>
              </a:rPr>
              <a:t>3</a:t>
            </a:r>
            <a:endParaRPr lang="zh-CN" altLang="en-US" sz="5867" dirty="0">
              <a:solidFill>
                <a:schemeClr val="lt1"/>
              </a:solidFill>
            </a:endParaRPr>
          </a:p>
        </p:txBody>
      </p:sp>
      <p:sp>
        <p:nvSpPr>
          <p:cNvPr id="29" name="装饰  9"/>
          <p:cNvSpPr>
            <a:spLocks noGrp="1"/>
          </p:cNvSpPr>
          <p:nvPr>
            <p:custDataLst>
              <p:tags r:id="rId15"/>
            </p:custDataLst>
          </p:nvPr>
        </p:nvSpPr>
        <p:spPr>
          <a:xfrm>
            <a:off x="8628168" y="1719082"/>
            <a:ext cx="1295400" cy="1382303"/>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vert="horz" lIns="121920" tIns="60960" rIns="121920" bIns="6096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733"/>
              <a:t> </a:t>
            </a:r>
          </a:p>
        </p:txBody>
      </p:sp>
      <p:sp>
        <p:nvSpPr>
          <p:cNvPr id="30" name="文本占位符 3"/>
          <p:cNvSpPr>
            <a:spLocks noGrp="1"/>
          </p:cNvSpPr>
          <p:nvPr>
            <p:custDataLst>
              <p:tags r:id="rId16"/>
            </p:custDataLst>
          </p:nvPr>
        </p:nvSpPr>
        <p:spPr>
          <a:xfrm>
            <a:off x="8810441" y="1943732"/>
            <a:ext cx="965200" cy="812800"/>
          </a:xfrm>
          <a:prstGeom prst="rect">
            <a:avLst/>
          </a:prstGeom>
          <a:noFill/>
        </p:spPr>
        <p:txBody>
          <a:bodyPr vert="horz" wrap="none" lIns="0" tIns="0" rIns="0" bIns="0" rtlCol="0" anchor="ctr">
            <a:noAutofit/>
          </a:bodyPr>
          <a:lstStyle>
            <a:lvl1pPr marL="0" indent="0" algn="ctr" defTabSz="914400" rtl="0" eaLnBrk="1" latinLnBrk="0" hangingPunct="1">
              <a:lnSpc>
                <a:spcPct val="109000"/>
              </a:lnSpc>
              <a:spcBef>
                <a:spcPct val="0"/>
              </a:spcBef>
              <a:spcAft>
                <a:spcPct val="0"/>
              </a:spcAft>
              <a:buFont typeface="Arial" panose="020B0604020202020204" pitchFamily="34" charset="0"/>
              <a:buNone/>
              <a:defRPr sz="4800" b="0" kern="1200" spc="0">
                <a:solidFill>
                  <a:srgbClr val="FFFFF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5867" dirty="0">
                <a:solidFill>
                  <a:schemeClr val="lt1"/>
                </a:solidFill>
              </a:rPr>
              <a:t>0</a:t>
            </a:r>
            <a:r>
              <a:rPr lang="en-US" altLang="zh-CN" sz="5867" dirty="0">
                <a:solidFill>
                  <a:schemeClr val="lt1"/>
                </a:solidFill>
              </a:rPr>
              <a:t>4</a:t>
            </a:r>
            <a:endParaRPr lang="zh-CN" altLang="en-US" sz="5867" dirty="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407007" y="1063384"/>
            <a:ext cx="8491469" cy="461665"/>
          </a:xfrm>
          <a:prstGeom prst="rect">
            <a:avLst/>
          </a:prstGeom>
          <a:noFill/>
        </p:spPr>
        <p:txBody>
          <a:bodyPr wrap="square">
            <a:spAutoFit/>
          </a:bodyPr>
          <a:lstStyle/>
          <a:p>
            <a:r>
              <a:rPr lang="zh-CN" altLang="en-US" sz="2133" b="1" dirty="0">
                <a:solidFill>
                  <a:schemeClr val="accent1">
                    <a:lumMod val="50000"/>
                  </a:schemeClr>
                </a:solidFill>
                <a:latin typeface="微软雅黑" panose="020B0503020204020204" pitchFamily="34" charset="-122"/>
                <a:ea typeface="微软雅黑" panose="020B0503020204020204" pitchFamily="34" charset="-122"/>
                <a:sym typeface="+mn-ea"/>
              </a:rPr>
              <a:t>目前，根据量化方案的策略和角度不同，有四类常见的量化器</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sym typeface="+mn-ea"/>
              </a:rPr>
              <a:t>。</a:t>
            </a:r>
            <a:endParaRPr lang="zh-CN" altLang="en-US" sz="2400" dirty="0"/>
          </a:p>
        </p:txBody>
      </p:sp>
      <p:sp>
        <p:nvSpPr>
          <p:cNvPr id="10" name="文本框 20"/>
          <p:cNvSpPr txBox="1"/>
          <p:nvPr/>
        </p:nvSpPr>
        <p:spPr>
          <a:xfrm>
            <a:off x="682052" y="2107289"/>
            <a:ext cx="5373974" cy="3555929"/>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355591">
              <a:lnSpc>
                <a:spcPct val="150000"/>
              </a:lnSpc>
              <a:spcAft>
                <a:spcPct val="0"/>
              </a:spcAft>
            </a:pP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）均匀量化和非均匀量化。</a:t>
            </a:r>
          </a:p>
          <a:p>
            <a:pPr indent="355591" algn="just" defTabSz="355591">
              <a:lnSpc>
                <a:spcPct val="150000"/>
              </a:lnSpc>
              <a:spcAft>
                <a:spcPct val="0"/>
              </a:spcAft>
            </a:pPr>
            <a:r>
              <a:rPr lang="zh-CN" altLang="en-US"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均匀量化步长</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保持一致，非均匀量化</a:t>
            </a:r>
            <a:r>
              <a:rPr lang="zh-CN" altLang="en-US"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步长不</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一致的。</a:t>
            </a:r>
          </a:p>
          <a:p>
            <a:pPr indent="355591" algn="just" defTabSz="355591">
              <a:lnSpc>
                <a:spcPct val="150000"/>
              </a:lnSpc>
              <a:spcAft>
                <a:spcPct val="0"/>
              </a:spcAft>
            </a:pPr>
            <a:endParaRPr lang="en-US" altLang="zh-CN"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just" defTabSz="355591">
              <a:lnSpc>
                <a:spcPct val="150000"/>
              </a:lnSpc>
              <a:spcAft>
                <a:spcPct val="0"/>
              </a:spcAft>
            </a:pP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）对称量化和非对称量化。</a:t>
            </a:r>
          </a:p>
          <a:p>
            <a:pPr indent="355591" algn="just" defTabSz="355591">
              <a:lnSpc>
                <a:spcPct val="150000"/>
              </a:lnSpc>
              <a:spcAft>
                <a:spcPct val="0"/>
              </a:spcAft>
            </a:pPr>
            <a:r>
              <a:rPr lang="zh-CN" altLang="en-US"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对称量化最常见，典型为：</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中央上升</a:t>
            </a:r>
            <a:r>
              <a:rPr lang="zh-CN" altLang="en-US"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型、中央</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平稳型。</a:t>
            </a:r>
            <a:endPar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355591" algn="just" defTabSz="355591">
              <a:lnSpc>
                <a:spcPct val="150000"/>
              </a:lnSpc>
              <a:spcAft>
                <a:spcPct val="0"/>
              </a:spcAft>
            </a:pPr>
            <a:endPar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21"/>
          <p:cNvSpPr txBox="1"/>
          <p:nvPr/>
        </p:nvSpPr>
        <p:spPr>
          <a:xfrm>
            <a:off x="6179595" y="2107289"/>
            <a:ext cx="5287880" cy="3555929"/>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355591">
              <a:lnSpc>
                <a:spcPct val="150000"/>
              </a:lnSpc>
              <a:spcAft>
                <a:spcPct val="0"/>
              </a:spcAft>
            </a:pP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（3）无记忆量化和有记忆量化</a:t>
            </a:r>
          </a:p>
          <a:p>
            <a:pPr indent="355591" algn="just" defTabSz="355591">
              <a:lnSpc>
                <a:spcPct val="150000"/>
              </a:lnSpc>
              <a:spcAft>
                <a:spcPct val="0"/>
              </a:spcAft>
            </a:pPr>
            <a:r>
              <a:rPr lang="zh-CN" altLang="en-US"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采样点间相关性，考虑</a:t>
            </a:r>
            <a:r>
              <a:rPr lang="en-US" altLang="zh-CN"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有记忆，不考虑</a:t>
            </a:r>
            <a:r>
              <a:rPr lang="en-US" altLang="zh-CN"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无</a:t>
            </a:r>
            <a:r>
              <a:rPr lang="zh-CN" altLang="en-US"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zh-CN" altLang="en-US" sz="1600" b="1"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355591" algn="just" defTabSz="355591">
              <a:lnSpc>
                <a:spcPct val="150000"/>
              </a:lnSpc>
              <a:spcAft>
                <a:spcPct val="0"/>
              </a:spcAft>
            </a:pPr>
            <a:endParaRPr lang="en-US" altLang="zh-CN"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355591">
              <a:lnSpc>
                <a:spcPct val="150000"/>
              </a:lnSpc>
              <a:spcAft>
                <a:spcPct val="0"/>
              </a:spcAft>
            </a:pP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（4）标量量化和向量量化</a:t>
            </a:r>
          </a:p>
          <a:p>
            <a:pPr indent="355591" algn="just" defTabSz="355591">
              <a:lnSpc>
                <a:spcPct val="150000"/>
              </a:lnSpc>
              <a:spcAft>
                <a:spcPct val="0"/>
              </a:spcAft>
            </a:pP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前者将数值逐个量化</a:t>
            </a:r>
            <a:r>
              <a:rPr lang="zh-CN" altLang="en-US" sz="16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，后者一次量化多个数值。</a:t>
            </a:r>
            <a:endPar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标题 1">
            <a:extLst>
              <a:ext uri="{FF2B5EF4-FFF2-40B4-BE49-F238E27FC236}">
                <a16:creationId xmlns:a16="http://schemas.microsoft.com/office/drawing/2014/main" id="{9F37DEFF-F230-4B95-8444-DBE982DA87D1}"/>
              </a:ext>
            </a:extLst>
          </p:cNvPr>
          <p:cNvSpPr txBox="1">
            <a:spLocks noGrp="1"/>
          </p:cNvSpPr>
          <p:nvPr/>
        </p:nvSpPr>
        <p:spPr>
          <a:xfrm>
            <a:off x="407007" y="161790"/>
            <a:ext cx="2194560" cy="430887"/>
          </a:xfrm>
          <a:prstGeom prst="rect">
            <a:avLst/>
          </a:prstGeom>
          <a:noFill/>
        </p:spPr>
        <p:txBody>
          <a:bodyPr vert="horz" wrap="squar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lvl="0">
              <a:lnSpc>
                <a:spcPct val="100000"/>
              </a:lnSpc>
              <a:buClrTx/>
              <a:buSzTx/>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图像的量化</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装饰  9"/>
          <p:cNvSpPr>
            <a:spLocks noGrp="1"/>
          </p:cNvSpPr>
          <p:nvPr/>
        </p:nvSpPr>
        <p:spPr>
          <a:xfrm>
            <a:off x="1895863" y="963884"/>
            <a:ext cx="8400273" cy="56276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vert="horz" lIns="121920" tIns="60960" rIns="121920" bIns="6096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733"/>
              <a:t> </a:t>
            </a:r>
          </a:p>
        </p:txBody>
      </p:sp>
      <p:sp>
        <p:nvSpPr>
          <p:cNvPr id="6" name="文本占位符 4"/>
          <p:cNvSpPr>
            <a:spLocks noGrp="1"/>
          </p:cNvSpPr>
          <p:nvPr/>
        </p:nvSpPr>
        <p:spPr>
          <a:xfrm>
            <a:off x="2025742" y="1096407"/>
            <a:ext cx="8164653" cy="678215"/>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均匀量化和非均匀量化：</a:t>
            </a:r>
            <a:r>
              <a:rPr lang="zh-CN" altLang="en-US" sz="1600" dirty="0">
                <a:latin typeface="微软雅黑" panose="020B0503020204020204" pitchFamily="34" charset="-122"/>
                <a:ea typeface="微软雅黑" panose="020B0503020204020204" pitchFamily="34" charset="-122"/>
                <a:sym typeface="+mn-ea"/>
              </a:rPr>
              <a:t>均匀量化步长一致，非均匀量化按数据分布调整，减少图像失真</a:t>
            </a:r>
            <a:endParaRPr lang="zh-CN" altLang="en-US" sz="3200" dirty="0">
              <a:latin typeface="微软雅黑" panose="020B0503020204020204" pitchFamily="34" charset="-122"/>
              <a:ea typeface="微软雅黑" panose="020B0503020204020204" pitchFamily="34" charset="-122"/>
            </a:endParaRPr>
          </a:p>
          <a:p>
            <a:endParaRPr lang="zh-CN" altLang="en-US" sz="3200" b="1"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15" name="图片 14"/>
          <p:cNvPicPr>
            <a:picLocks noChangeAspect="1" noChangeArrowheads="1"/>
          </p:cNvPicPr>
          <p:nvPr/>
        </p:nvPicPr>
        <p:blipFill>
          <a:blip r:embed="rId2" cstate="print"/>
          <a:srcRect/>
          <a:stretch>
            <a:fillRect/>
          </a:stretch>
        </p:blipFill>
        <p:spPr>
          <a:xfrm>
            <a:off x="1134725" y="1968100"/>
            <a:ext cx="3448297" cy="562759"/>
          </a:xfrm>
          <a:prstGeom prst="rect">
            <a:avLst/>
          </a:prstGeom>
          <a:noFill/>
          <a:ln w="9525">
            <a:noFill/>
            <a:miter lim="800000"/>
            <a:headEnd/>
            <a:tailEnd/>
          </a:ln>
        </p:spPr>
      </p:pic>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072" y="3866474"/>
            <a:ext cx="5024282" cy="2115457"/>
          </a:xfrm>
          <a:prstGeom prst="rect">
            <a:avLst/>
          </a:prstGeom>
        </p:spPr>
      </p:pic>
      <p:sp>
        <p:nvSpPr>
          <p:cNvPr id="19" name="文本框 17"/>
          <p:cNvSpPr txBox="1"/>
          <p:nvPr/>
        </p:nvSpPr>
        <p:spPr>
          <a:xfrm>
            <a:off x="1004135" y="2445037"/>
            <a:ext cx="3881897" cy="52674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55591">
              <a:lnSpc>
                <a:spcPct val="150000"/>
              </a:lnSpc>
              <a:spcAft>
                <a:spcPct val="0"/>
              </a:spcAft>
            </a:pPr>
            <a:r>
              <a:rPr lang="en-US" altLang="zh-CN" sz="21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均匀量化的示例图</a:t>
            </a:r>
            <a:endParaRPr lang="zh-CN" altLang="en-US" sz="2133"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文本框 20"/>
          <p:cNvSpPr txBox="1"/>
          <p:nvPr/>
        </p:nvSpPr>
        <p:spPr>
          <a:xfrm>
            <a:off x="513072" y="5903563"/>
            <a:ext cx="4831090" cy="461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55591">
              <a:lnSpc>
                <a:spcPct val="150000"/>
              </a:lnSpc>
              <a:spcAft>
                <a:spcPts val="933"/>
              </a:spcAft>
            </a:pPr>
            <a:r>
              <a:rPr lang="en-US" altLang="zh-CN" sz="1400" dirty="0">
                <a:solidFill>
                  <a:srgbClr val="000000"/>
                </a:solidFill>
                <a:latin typeface="Times New Roman" panose="02020603050405020304"/>
                <a:ea typeface="宋体" panose="02010600030101010101" pitchFamily="2" charset="-122"/>
              </a:rPr>
              <a:t> </a:t>
            </a:r>
            <a:r>
              <a:rPr lang="zh-CN" altLang="en-US" sz="1600" b="1" dirty="0">
                <a:solidFill>
                  <a:srgbClr val="000000"/>
                </a:solidFill>
                <a:latin typeface="微软雅黑" panose="020B0503020204020204" pitchFamily="34" charset="-122"/>
                <a:ea typeface="微软雅黑" panose="020B0503020204020204" pitchFamily="34" charset="-122"/>
              </a:rPr>
              <a:t>灰度分布为高斯分布时的非均匀量化示意图</a:t>
            </a:r>
            <a:endParaRPr lang="zh-CN" altLang="en-US" sz="1467" b="1" dirty="0">
              <a:solidFill>
                <a:srgbClr val="000000"/>
              </a:solidFill>
              <a:latin typeface="微软雅黑" panose="020B0503020204020204" pitchFamily="34" charset="-122"/>
              <a:ea typeface="微软雅黑" panose="020B0503020204020204" pitchFamily="34" charset="-122"/>
            </a:endParaRPr>
          </a:p>
        </p:txBody>
      </p:sp>
      <p:sp>
        <p:nvSpPr>
          <p:cNvPr id="21" name="文本框 107"/>
          <p:cNvSpPr txBox="1"/>
          <p:nvPr/>
        </p:nvSpPr>
        <p:spPr>
          <a:xfrm>
            <a:off x="5708820" y="1687394"/>
            <a:ext cx="4827725" cy="2333413"/>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355591">
              <a:lnSpc>
                <a:spcPct val="150000"/>
              </a:lnSpc>
              <a:spcAft>
                <a:spcPts val="267"/>
              </a:spcAft>
            </a:pPr>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均匀量化是最简单常见的量化形式，</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rPr>
              <a:t>属于线性量化</a:t>
            </a:r>
            <a:r>
              <a:rPr lang="zh-CN" altLang="en-US" sz="1600" dirty="0">
                <a:solidFill>
                  <a:srgbClr val="000000"/>
                </a:solidFill>
                <a:latin typeface="微软雅黑" panose="020B0503020204020204" pitchFamily="34" charset="-122"/>
                <a:ea typeface="微软雅黑" panose="020B0503020204020204" pitchFamily="34" charset="-122"/>
              </a:rPr>
              <a:t>。设图像采样值范围为</a:t>
            </a:r>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，将区间</a:t>
            </a:r>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，等间隔的分割为</a:t>
            </a:r>
            <a:r>
              <a:rPr lang="en-US" altLang="zh-CN" sz="1600" dirty="0">
                <a:solidFill>
                  <a:srgbClr val="000000"/>
                </a:solidFill>
                <a:latin typeface="微软雅黑" panose="020B0503020204020204" pitchFamily="34" charset="-122"/>
                <a:ea typeface="微软雅黑" panose="020B0503020204020204" pitchFamily="34" charset="-122"/>
              </a:rPr>
              <a:t>k</a:t>
            </a:r>
            <a:r>
              <a:rPr lang="zh-CN" altLang="en-US" sz="1600" dirty="0">
                <a:solidFill>
                  <a:srgbClr val="000000"/>
                </a:solidFill>
                <a:latin typeface="微软雅黑" panose="020B0503020204020204" pitchFamily="34" charset="-122"/>
                <a:ea typeface="微软雅黑" panose="020B0503020204020204" pitchFamily="34" charset="-122"/>
              </a:rPr>
              <a:t>个子区间，一般</a:t>
            </a:r>
            <a:r>
              <a:rPr lang="en-US" altLang="zh-CN" sz="1600" dirty="0">
                <a:solidFill>
                  <a:srgbClr val="000000"/>
                </a:solidFill>
                <a:latin typeface="微软雅黑" panose="020B0503020204020204" pitchFamily="34" charset="-122"/>
                <a:ea typeface="微软雅黑" panose="020B0503020204020204" pitchFamily="34" charset="-122"/>
              </a:rPr>
              <a:t>k</a:t>
            </a:r>
            <a:r>
              <a:rPr lang="zh-CN" altLang="en-US" sz="1600" dirty="0">
                <a:solidFill>
                  <a:srgbClr val="000000"/>
                </a:solidFill>
                <a:latin typeface="微软雅黑" panose="020B0503020204020204" pitchFamily="34" charset="-122"/>
                <a:ea typeface="微软雅黑" panose="020B0503020204020204" pitchFamily="34" charset="-122"/>
              </a:rPr>
              <a:t>取</a:t>
            </a:r>
            <a:r>
              <a:rPr lang="en-US" altLang="zh-CN" sz="1600" dirty="0">
                <a:solidFill>
                  <a:srgbClr val="000000"/>
                </a:solidFill>
                <a:latin typeface="微软雅黑" panose="020B0503020204020204" pitchFamily="34" charset="-122"/>
                <a:ea typeface="微软雅黑" panose="020B0503020204020204" pitchFamily="34" charset="-122"/>
              </a:rPr>
              <a:t>2</a:t>
            </a:r>
            <a:r>
              <a:rPr lang="zh-CN" altLang="en-US" sz="1600" dirty="0">
                <a:solidFill>
                  <a:srgbClr val="000000"/>
                </a:solidFill>
                <a:latin typeface="微软雅黑" panose="020B0503020204020204" pitchFamily="34" charset="-122"/>
                <a:ea typeface="微软雅黑" panose="020B0503020204020204" pitchFamily="34" charset="-122"/>
              </a:rPr>
              <a:t>的整数次幂，</a:t>
            </a:r>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。当           时，则</a:t>
            </a:r>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，表示</a:t>
            </a:r>
            <a:r>
              <a:rPr lang="en-US" altLang="zh-CN" sz="1600" dirty="0">
                <a:solidFill>
                  <a:srgbClr val="000000"/>
                </a:solidFill>
                <a:latin typeface="微软雅黑" panose="020B0503020204020204" pitchFamily="34" charset="-122"/>
                <a:ea typeface="微软雅黑" panose="020B0503020204020204" pitchFamily="34" charset="-122"/>
              </a:rPr>
              <a:t>256</a:t>
            </a:r>
            <a:r>
              <a:rPr lang="zh-CN" altLang="en-US" sz="1600" dirty="0">
                <a:solidFill>
                  <a:srgbClr val="000000"/>
                </a:solidFill>
                <a:latin typeface="微软雅黑" panose="020B0503020204020204" pitchFamily="34" charset="-122"/>
                <a:ea typeface="微软雅黑" panose="020B0503020204020204" pitchFamily="34" charset="-122"/>
              </a:rPr>
              <a:t>个灰度级。</a:t>
            </a:r>
          </a:p>
          <a:p>
            <a:pPr algn="just" defTabSz="355591">
              <a:lnSpc>
                <a:spcPct val="150000"/>
              </a:lnSpc>
              <a:spcAft>
                <a:spcPts val="267"/>
              </a:spcAft>
            </a:pPr>
            <a:endParaRPr lang="zh-CN" altLang="en-US" sz="1600" dirty="0">
              <a:solidFill>
                <a:srgbClr val="000000"/>
              </a:solidFill>
              <a:latin typeface="微软雅黑" panose="020B0503020204020204" pitchFamily="34" charset="-122"/>
              <a:ea typeface="微软雅黑" panose="020B0503020204020204" pitchFamily="34" charset="-122"/>
            </a:endParaRPr>
          </a:p>
          <a:p>
            <a:pPr algn="just" defTabSz="355591">
              <a:lnSpc>
                <a:spcPct val="150000"/>
              </a:lnSpc>
              <a:spcAft>
                <a:spcPts val="267"/>
              </a:spcAft>
            </a:pPr>
            <a:endParaRPr lang="zh-CN" altLang="en-US" sz="1600" dirty="0">
              <a:solidFill>
                <a:srgbClr val="000000"/>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a:blip r:embed="rId4"/>
          <a:stretch>
            <a:fillRect/>
          </a:stretch>
        </p:blipFill>
        <p:spPr>
          <a:xfrm>
            <a:off x="8340941" y="2098461"/>
            <a:ext cx="1241031" cy="410567"/>
          </a:xfrm>
          <a:prstGeom prst="rect">
            <a:avLst/>
          </a:prstGeom>
        </p:spPr>
      </p:pic>
      <p:pic>
        <p:nvPicPr>
          <p:cNvPr id="27" name="图片 26"/>
          <p:cNvPicPr>
            <a:picLocks noChangeAspect="1"/>
          </p:cNvPicPr>
          <p:nvPr/>
        </p:nvPicPr>
        <p:blipFill>
          <a:blip r:embed="rId5"/>
          <a:stretch>
            <a:fillRect/>
          </a:stretch>
        </p:blipFill>
        <p:spPr>
          <a:xfrm>
            <a:off x="6096000" y="2492410"/>
            <a:ext cx="1141195" cy="371552"/>
          </a:xfrm>
          <a:prstGeom prst="rect">
            <a:avLst/>
          </a:prstGeom>
        </p:spPr>
      </p:pic>
      <p:pic>
        <p:nvPicPr>
          <p:cNvPr id="31" name="图片 30"/>
          <p:cNvPicPr>
            <a:picLocks noChangeAspect="1"/>
          </p:cNvPicPr>
          <p:nvPr/>
        </p:nvPicPr>
        <p:blipFill>
          <a:blip r:embed="rId6"/>
          <a:stretch>
            <a:fillRect/>
          </a:stretch>
        </p:blipFill>
        <p:spPr>
          <a:xfrm>
            <a:off x="7354395" y="2850742"/>
            <a:ext cx="660899" cy="301003"/>
          </a:xfrm>
          <a:prstGeom prst="rect">
            <a:avLst/>
          </a:prstGeom>
        </p:spPr>
      </p:pic>
      <p:pic>
        <p:nvPicPr>
          <p:cNvPr id="36" name="图片 35"/>
          <p:cNvPicPr>
            <a:picLocks noChangeAspect="1"/>
          </p:cNvPicPr>
          <p:nvPr/>
        </p:nvPicPr>
        <p:blipFill>
          <a:blip r:embed="rId7"/>
          <a:stretch>
            <a:fillRect/>
          </a:stretch>
        </p:blipFill>
        <p:spPr>
          <a:xfrm>
            <a:off x="8340941" y="2870494"/>
            <a:ext cx="669709" cy="321093"/>
          </a:xfrm>
          <a:prstGeom prst="rect">
            <a:avLst/>
          </a:prstGeom>
        </p:spPr>
      </p:pic>
      <p:pic>
        <p:nvPicPr>
          <p:cNvPr id="38" name="图片 37"/>
          <p:cNvPicPr>
            <a:picLocks noChangeAspect="1"/>
          </p:cNvPicPr>
          <p:nvPr/>
        </p:nvPicPr>
        <p:blipFill>
          <a:blip r:embed="rId8"/>
          <a:stretch>
            <a:fillRect/>
          </a:stretch>
        </p:blipFill>
        <p:spPr>
          <a:xfrm>
            <a:off x="9642554" y="2885196"/>
            <a:ext cx="704543" cy="260237"/>
          </a:xfrm>
          <a:prstGeom prst="rect">
            <a:avLst/>
          </a:prstGeom>
        </p:spPr>
      </p:pic>
      <p:sp>
        <p:nvSpPr>
          <p:cNvPr id="40" name="文本框 39"/>
          <p:cNvSpPr txBox="1"/>
          <p:nvPr/>
        </p:nvSpPr>
        <p:spPr>
          <a:xfrm>
            <a:off x="5793067" y="4343235"/>
            <a:ext cx="4659229" cy="1526187"/>
          </a:xfrm>
          <a:prstGeom prst="rect">
            <a:avLst/>
          </a:prstGeom>
          <a:noFill/>
        </p:spPr>
        <p:txBody>
          <a:bodyPr wrap="square">
            <a:spAutoFit/>
          </a:bodyPr>
          <a:lstStyle/>
          <a:p>
            <a:pPr indent="374217" algn="just" defTabSz="355591">
              <a:lnSpc>
                <a:spcPct val="150000"/>
              </a:lnSpc>
              <a:spcAft>
                <a:spcPct val="0"/>
              </a:spcAft>
            </a:pPr>
            <a:endParaRPr lang="zh-CN" altLang="en-US" sz="1600" dirty="0">
              <a:solidFill>
                <a:srgbClr val="000000"/>
              </a:solidFill>
              <a:latin typeface="微软雅黑" panose="020B0503020204020204" pitchFamily="34" charset="-122"/>
              <a:ea typeface="微软雅黑" panose="020B0503020204020204" pitchFamily="34" charset="-122"/>
            </a:endParaRPr>
          </a:p>
          <a:p>
            <a:pPr indent="374217" algn="just" defTabSz="355591">
              <a:lnSpc>
                <a:spcPct val="150000"/>
              </a:lnSpc>
              <a:spcAft>
                <a:spcPct val="0"/>
              </a:spcAft>
            </a:pPr>
            <a:r>
              <a:rPr lang="zh-CN" altLang="en-US" sz="1600" dirty="0">
                <a:solidFill>
                  <a:srgbClr val="000000"/>
                </a:solidFill>
                <a:latin typeface="微软雅黑" panose="020B0503020204020204" pitchFamily="34" charset="-122"/>
                <a:ea typeface="微软雅黑" panose="020B0503020204020204" pitchFamily="34" charset="-122"/>
              </a:rPr>
              <a:t>若灰度区间</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rPr>
              <a:t>不是以等间隔分割</a:t>
            </a:r>
            <a:r>
              <a:rPr lang="zh-CN" altLang="en-US" sz="1600" dirty="0">
                <a:solidFill>
                  <a:srgbClr val="000000"/>
                </a:solidFill>
                <a:latin typeface="微软雅黑" panose="020B0503020204020204" pitchFamily="34" charset="-122"/>
                <a:ea typeface="微软雅黑" panose="020B0503020204020204" pitchFamily="34" charset="-122"/>
              </a:rPr>
              <a:t>，则称为非线性量化或非均匀量化。</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rPr>
              <a:t>非均匀量化可以获得更小的图像量化误差</a:t>
            </a:r>
            <a:r>
              <a:rPr lang="zh-CN" altLang="en-US" sz="1600" dirty="0">
                <a:solidFill>
                  <a:srgbClr val="000000"/>
                </a:solidFill>
                <a:latin typeface="微软雅黑" panose="020B0503020204020204" pitchFamily="34" charset="-122"/>
                <a:ea typeface="微软雅黑" panose="020B0503020204020204" pitchFamily="34" charset="-122"/>
              </a:rPr>
              <a:t>。</a:t>
            </a:r>
          </a:p>
        </p:txBody>
      </p:sp>
      <p:sp>
        <p:nvSpPr>
          <p:cNvPr id="18" name="标题 1">
            <a:extLst>
              <a:ext uri="{FF2B5EF4-FFF2-40B4-BE49-F238E27FC236}">
                <a16:creationId xmlns:a16="http://schemas.microsoft.com/office/drawing/2014/main" id="{DED66701-4AC0-40AF-AD64-907291B409C5}"/>
              </a:ext>
            </a:extLst>
          </p:cNvPr>
          <p:cNvSpPr txBox="1">
            <a:spLocks noGrp="1"/>
          </p:cNvSpPr>
          <p:nvPr/>
        </p:nvSpPr>
        <p:spPr>
          <a:xfrm>
            <a:off x="343631" y="169413"/>
            <a:ext cx="5386090"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图像的量化：标量量化的基本原理</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
          <p:cNvSpPr txBox="1"/>
          <p:nvPr/>
        </p:nvSpPr>
        <p:spPr>
          <a:xfrm>
            <a:off x="202713" y="984530"/>
            <a:ext cx="8315988" cy="52674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355591" algn="just" defTabSz="355591">
              <a:lnSpc>
                <a:spcPct val="150000"/>
              </a:lnSpc>
            </a:pPr>
            <a:r>
              <a:rPr lang="zh-CN" altLang="en-US" sz="2133"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定义总体量化误差（目标函数）</a:t>
            </a:r>
          </a:p>
        </p:txBody>
      </p:sp>
      <p:grpSp>
        <p:nvGrpSpPr>
          <p:cNvPr id="8" name="组合 7">
            <a:extLst>
              <a:ext uri="{FF2B5EF4-FFF2-40B4-BE49-F238E27FC236}">
                <a16:creationId xmlns:a16="http://schemas.microsoft.com/office/drawing/2014/main" id="{80C2F0CD-15A9-48F2-8233-972233BCD2F2}"/>
              </a:ext>
            </a:extLst>
          </p:cNvPr>
          <p:cNvGrpSpPr/>
          <p:nvPr/>
        </p:nvGrpSpPr>
        <p:grpSpPr>
          <a:xfrm>
            <a:off x="1765374" y="4163869"/>
            <a:ext cx="8509258" cy="1334596"/>
            <a:chOff x="3255694" y="4158817"/>
            <a:chExt cx="8509258" cy="1334596"/>
          </a:xfrm>
        </p:grpSpPr>
        <p:sp>
          <p:nvSpPr>
            <p:cNvPr id="9" name="文本框 8"/>
            <p:cNvSpPr txBox="1"/>
            <p:nvPr/>
          </p:nvSpPr>
          <p:spPr>
            <a:xfrm>
              <a:off x="3255694" y="4158817"/>
              <a:ext cx="8509258" cy="1334596"/>
            </a:xfrm>
            <a:prstGeom prst="rect">
              <a:avLst/>
            </a:prstGeom>
            <a:noFill/>
          </p:spPr>
          <p:txBody>
            <a:bodyPr wrap="square">
              <a:spAutoFit/>
            </a:bodyPr>
            <a:lstStyle/>
            <a:p>
              <a:pPr indent="355591" algn="just" defTabSz="355591">
                <a:lnSpc>
                  <a:spcPct val="150000"/>
                </a:lnSpc>
              </a:pPr>
              <a:r>
                <a:rPr lang="zh-CN" altLang="en-US" sz="1867" dirty="0">
                  <a:solidFill>
                    <a:srgbClr val="000000"/>
                  </a:solidFill>
                  <a:latin typeface="微软雅黑" panose="020B0503020204020204" pitchFamily="34" charset="-122"/>
                  <a:ea typeface="微软雅黑" panose="020B0503020204020204" pitchFamily="34" charset="-122"/>
                </a:rPr>
                <a:t>最优的量化器应该使得目标损失函数</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达到</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rPr>
                <a:t>最小</a:t>
              </a:r>
              <a:r>
                <a:rPr lang="zh-CN" altLang="en-US" sz="1867" dirty="0">
                  <a:solidFill>
                    <a:srgbClr val="000000"/>
                  </a:solidFill>
                  <a:latin typeface="微软雅黑" panose="020B0503020204020204" pitchFamily="34" charset="-122"/>
                  <a:ea typeface="微软雅黑" panose="020B0503020204020204" pitchFamily="34" charset="-122"/>
                </a:rPr>
                <a:t>，其目标变量包括量化器的判决电平</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和量化器的输出电平</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，由多元函数求极小的原理，应该使目标损失函数</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分别对判决电平</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，和输出电平</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变量求偏导数，并置其为</a:t>
              </a:r>
              <a:r>
                <a:rPr lang="en-US" altLang="zh-CN" sz="1867" dirty="0">
                  <a:solidFill>
                    <a:srgbClr val="000000"/>
                  </a:solidFill>
                  <a:latin typeface="微软雅黑" panose="020B0503020204020204" pitchFamily="34" charset="-122"/>
                  <a:ea typeface="微软雅黑" panose="020B0503020204020204" pitchFamily="34" charset="-122"/>
                </a:rPr>
                <a:t>0</a:t>
              </a:r>
              <a:r>
                <a:rPr lang="zh-CN" altLang="en-US" sz="1867" dirty="0">
                  <a:solidFill>
                    <a:srgbClr val="000000"/>
                  </a:solidFill>
                  <a:latin typeface="微软雅黑" panose="020B0503020204020204" pitchFamily="34" charset="-122"/>
                  <a:ea typeface="微软雅黑" panose="020B0503020204020204" pitchFamily="34" charset="-122"/>
                </a:rPr>
                <a:t>。</a:t>
              </a:r>
            </a:p>
          </p:txBody>
        </p:sp>
        <p:pic>
          <p:nvPicPr>
            <p:cNvPr id="11" name="图片 10"/>
            <p:cNvPicPr>
              <a:picLocks noChangeAspect="1"/>
            </p:cNvPicPr>
            <p:nvPr/>
          </p:nvPicPr>
          <p:blipFill>
            <a:blip r:embed="rId3"/>
            <a:stretch>
              <a:fillRect/>
            </a:stretch>
          </p:blipFill>
          <p:spPr>
            <a:xfrm>
              <a:off x="7555810" y="4240012"/>
              <a:ext cx="351703" cy="379839"/>
            </a:xfrm>
            <a:prstGeom prst="rect">
              <a:avLst/>
            </a:prstGeom>
          </p:spPr>
        </p:pic>
        <p:pic>
          <p:nvPicPr>
            <p:cNvPr id="13" name="图片 12"/>
            <p:cNvPicPr>
              <a:picLocks noChangeAspect="1"/>
            </p:cNvPicPr>
            <p:nvPr/>
          </p:nvPicPr>
          <p:blipFill>
            <a:blip r:embed="rId4"/>
            <a:stretch>
              <a:fillRect/>
            </a:stretch>
          </p:blipFill>
          <p:spPr>
            <a:xfrm>
              <a:off x="4348506" y="4677252"/>
              <a:ext cx="471735" cy="379839"/>
            </a:xfrm>
            <a:prstGeom prst="rect">
              <a:avLst/>
            </a:prstGeom>
          </p:spPr>
        </p:pic>
        <p:pic>
          <p:nvPicPr>
            <p:cNvPr id="15" name="图片 14"/>
            <p:cNvPicPr>
              <a:picLocks noChangeAspect="1"/>
            </p:cNvPicPr>
            <p:nvPr/>
          </p:nvPicPr>
          <p:blipFill>
            <a:blip r:embed="rId5"/>
            <a:stretch>
              <a:fillRect/>
            </a:stretch>
          </p:blipFill>
          <p:spPr>
            <a:xfrm>
              <a:off x="6907609" y="4677000"/>
              <a:ext cx="510965" cy="395817"/>
            </a:xfrm>
            <a:prstGeom prst="rect">
              <a:avLst/>
            </a:prstGeom>
          </p:spPr>
        </p:pic>
        <p:pic>
          <p:nvPicPr>
            <p:cNvPr id="17" name="图片 16"/>
            <p:cNvPicPr>
              <a:picLocks noChangeAspect="1"/>
            </p:cNvPicPr>
            <p:nvPr/>
          </p:nvPicPr>
          <p:blipFill>
            <a:blip r:embed="rId3"/>
            <a:stretch>
              <a:fillRect/>
            </a:stretch>
          </p:blipFill>
          <p:spPr>
            <a:xfrm>
              <a:off x="4290079" y="5087973"/>
              <a:ext cx="352761" cy="380983"/>
            </a:xfrm>
            <a:prstGeom prst="rect">
              <a:avLst/>
            </a:prstGeom>
          </p:spPr>
        </p:pic>
        <p:pic>
          <p:nvPicPr>
            <p:cNvPr id="20" name="图片 19"/>
            <p:cNvPicPr>
              <a:picLocks noChangeAspect="1"/>
            </p:cNvPicPr>
            <p:nvPr/>
          </p:nvPicPr>
          <p:blipFill>
            <a:blip r:embed="rId6"/>
            <a:stretch>
              <a:fillRect/>
            </a:stretch>
          </p:blipFill>
          <p:spPr>
            <a:xfrm>
              <a:off x="6279463" y="5086712"/>
              <a:ext cx="474183" cy="382673"/>
            </a:xfrm>
            <a:prstGeom prst="rect">
              <a:avLst/>
            </a:prstGeom>
          </p:spPr>
        </p:pic>
        <p:pic>
          <p:nvPicPr>
            <p:cNvPr id="22" name="图片 21"/>
            <p:cNvPicPr>
              <a:picLocks noChangeAspect="1"/>
            </p:cNvPicPr>
            <p:nvPr/>
          </p:nvPicPr>
          <p:blipFill>
            <a:blip r:embed="rId7"/>
            <a:stretch>
              <a:fillRect/>
            </a:stretch>
          </p:blipFill>
          <p:spPr>
            <a:xfrm>
              <a:off x="8123724" y="5106447"/>
              <a:ext cx="463311" cy="363521"/>
            </a:xfrm>
            <a:prstGeom prst="rect">
              <a:avLst/>
            </a:prstGeom>
          </p:spPr>
        </p:pic>
      </p:grpSp>
      <p:graphicFrame>
        <p:nvGraphicFramePr>
          <p:cNvPr id="3" name="对象 -2147482480"/>
          <p:cNvGraphicFramePr>
            <a:graphicFrameLocks noChangeAspect="1"/>
          </p:cNvGraphicFramePr>
          <p:nvPr>
            <p:extLst>
              <p:ext uri="{D42A27DB-BD31-4B8C-83A1-F6EECF244321}">
                <p14:modId xmlns:p14="http://schemas.microsoft.com/office/powerpoint/2010/main" val="3225335226"/>
              </p:ext>
            </p:extLst>
          </p:nvPr>
        </p:nvGraphicFramePr>
        <p:xfrm>
          <a:off x="5765757" y="2029460"/>
          <a:ext cx="4715933" cy="1054947"/>
        </p:xfrm>
        <a:graphic>
          <a:graphicData uri="http://schemas.openxmlformats.org/presentationml/2006/ole">
            <mc:AlternateContent xmlns:mc="http://schemas.openxmlformats.org/markup-compatibility/2006">
              <mc:Choice xmlns:v="urn:schemas-microsoft-com:vml" Requires="v">
                <p:oleObj spid="_x0000_s6266" r:id="rId8" imgW="1358900" imgH="431800" progId="Equation.DSMT4">
                  <p:embed/>
                </p:oleObj>
              </mc:Choice>
              <mc:Fallback>
                <p:oleObj r:id="rId8" imgW="1358900" imgH="431800" progId="Equation.DSMT4">
                  <p:embed/>
                  <p:pic>
                    <p:nvPicPr>
                      <p:cNvPr id="3" name="对象 -2147482480"/>
                      <p:cNvPicPr/>
                      <p:nvPr/>
                    </p:nvPicPr>
                    <p:blipFill>
                      <a:blip r:embed="rId9"/>
                      <a:stretch>
                        <a:fillRect/>
                      </a:stretch>
                    </p:blipFill>
                    <p:spPr>
                      <a:xfrm>
                        <a:off x="5765757" y="2029460"/>
                        <a:ext cx="4715933" cy="1054947"/>
                      </a:xfrm>
                      <a:prstGeom prst="rect">
                        <a:avLst/>
                      </a:prstGeom>
                      <a:noFill/>
                      <a:ln w="38100">
                        <a:noFill/>
                        <a:miter/>
                      </a:ln>
                    </p:spPr>
                  </p:pic>
                </p:oleObj>
              </mc:Fallback>
            </mc:AlternateContent>
          </a:graphicData>
        </a:graphic>
      </p:graphicFrame>
      <p:graphicFrame>
        <p:nvGraphicFramePr>
          <p:cNvPr id="5" name="对象 -2147482480"/>
          <p:cNvGraphicFramePr>
            <a:graphicFrameLocks noChangeAspect="1"/>
          </p:cNvGraphicFramePr>
          <p:nvPr>
            <p:extLst>
              <p:ext uri="{D42A27DB-BD31-4B8C-83A1-F6EECF244321}">
                <p14:modId xmlns:p14="http://schemas.microsoft.com/office/powerpoint/2010/main" val="3229090188"/>
              </p:ext>
            </p:extLst>
          </p:nvPr>
        </p:nvGraphicFramePr>
        <p:xfrm>
          <a:off x="4468508" y="3461201"/>
          <a:ext cx="5859780" cy="555413"/>
        </p:xfrm>
        <a:graphic>
          <a:graphicData uri="http://schemas.openxmlformats.org/presentationml/2006/ole">
            <mc:AlternateContent xmlns:mc="http://schemas.openxmlformats.org/markup-compatibility/2006">
              <mc:Choice xmlns:v="urn:schemas-microsoft-com:vml" Requires="v">
                <p:oleObj spid="_x0000_s6267" r:id="rId10" imgW="1688465" imgH="203200" progId="Equation.DSMT4">
                  <p:embed/>
                </p:oleObj>
              </mc:Choice>
              <mc:Fallback>
                <p:oleObj r:id="rId10" imgW="1688465" imgH="203200" progId="Equation.DSMT4">
                  <p:embed/>
                  <p:pic>
                    <p:nvPicPr>
                      <p:cNvPr id="5" name="对象 -2147482480"/>
                      <p:cNvPicPr/>
                      <p:nvPr/>
                    </p:nvPicPr>
                    <p:blipFill>
                      <a:blip r:embed="rId11"/>
                      <a:stretch>
                        <a:fillRect/>
                      </a:stretch>
                    </p:blipFill>
                    <p:spPr>
                      <a:xfrm>
                        <a:off x="4468508" y="3461201"/>
                        <a:ext cx="5859780" cy="555413"/>
                      </a:xfrm>
                      <a:prstGeom prst="rect">
                        <a:avLst/>
                      </a:prstGeom>
                      <a:noFill/>
                      <a:ln w="38100">
                        <a:noFill/>
                        <a:miter/>
                      </a:ln>
                    </p:spPr>
                  </p:pic>
                </p:oleObj>
              </mc:Fallback>
            </mc:AlternateContent>
          </a:graphicData>
        </a:graphic>
      </p:graphicFrame>
      <p:sp>
        <p:nvSpPr>
          <p:cNvPr id="18" name="标题 2">
            <a:extLst>
              <a:ext uri="{FF2B5EF4-FFF2-40B4-BE49-F238E27FC236}">
                <a16:creationId xmlns:a16="http://schemas.microsoft.com/office/drawing/2014/main" id="{BC1AE820-D54A-4764-8FF8-84BFECB53DDC}"/>
              </a:ext>
            </a:extLst>
          </p:cNvPr>
          <p:cNvSpPr>
            <a:spLocks noGrp="1"/>
          </p:cNvSpPr>
          <p:nvPr/>
        </p:nvSpPr>
        <p:spPr>
          <a:xfrm>
            <a:off x="450617" y="185099"/>
            <a:ext cx="6824167" cy="483998"/>
          </a:xfrm>
          <a:prstGeom prst="rect">
            <a:avLst/>
          </a:prstGeom>
          <a:noFill/>
        </p:spPr>
        <p:txBody>
          <a:bodyPr vert="horz" lIns="0" tIns="0" rIns="0" bIns="0" rtlCol="0" anchor="t">
            <a:normAutofit/>
          </a:bodyPr>
          <a:lstStyle>
            <a:lvl1pPr marL="0" indent="0" algn="ctr" defTabSz="914400" rtl="0" eaLnBrk="1" latinLnBrk="0" hangingPunct="1">
              <a:lnSpc>
                <a:spcPct val="111000"/>
              </a:lnSpc>
              <a:spcBef>
                <a:spcPct val="0"/>
              </a:spcBef>
              <a:spcAft>
                <a:spcPct val="0"/>
              </a:spcAft>
              <a:buNone/>
              <a:defRPr sz="6000" b="1" kern="1200" spc="0">
                <a:solidFill>
                  <a:schemeClr val="tx1"/>
                </a:solidFill>
                <a:latin typeface="Microsoft YaHei UI" panose="020B0503020204020204" charset="-122"/>
                <a:ea typeface="Microsoft YaHei UI" panose="020B0503020204020204" charset="-122"/>
                <a:cs typeface="Microsoft YaHei UI" panose="020B0503020204020204" charset="-122"/>
              </a:defRPr>
            </a:lvl1pPr>
          </a:lstStyle>
          <a:p>
            <a:pPr algn="l">
              <a:lnSpc>
                <a:spcPct val="100000"/>
              </a:lnSpc>
            </a:pPr>
            <a:r>
              <a:rPr lang="zh-CN" altLang="en-US" sz="2800" dirty="0">
                <a:solidFill>
                  <a:srgbClr val="0C4379"/>
                </a:solidFill>
                <a:latin typeface="微软雅黑" panose="020B0503020204020204" pitchFamily="34" charset="-122"/>
                <a:ea typeface="微软雅黑" panose="020B0503020204020204" pitchFamily="34" charset="-122"/>
                <a:cs typeface="+mn-cs"/>
                <a:sym typeface="+mn-ea"/>
              </a:rPr>
              <a:t>Lloyd-Max 量化器（最小均方误差量化器）</a:t>
            </a:r>
          </a:p>
        </p:txBody>
      </p:sp>
      <p:pic>
        <p:nvPicPr>
          <p:cNvPr id="19" name="图片 18">
            <a:extLst>
              <a:ext uri="{FF2B5EF4-FFF2-40B4-BE49-F238E27FC236}">
                <a16:creationId xmlns:a16="http://schemas.microsoft.com/office/drawing/2014/main" id="{F280EB8E-8E01-4326-AA0B-0D4545822FD3}"/>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811135" y="1659187"/>
            <a:ext cx="4452191" cy="1923430"/>
          </a:xfrm>
          <a:prstGeom prst="rect">
            <a:avLst/>
          </a:prstGeom>
        </p:spPr>
      </p:pic>
      <p:sp>
        <p:nvSpPr>
          <p:cNvPr id="23" name="文本框 22">
            <a:extLst>
              <a:ext uri="{FF2B5EF4-FFF2-40B4-BE49-F238E27FC236}">
                <a16:creationId xmlns:a16="http://schemas.microsoft.com/office/drawing/2014/main" id="{ABAA7C65-9E6B-436D-9977-D93452BF6223}"/>
              </a:ext>
            </a:extLst>
          </p:cNvPr>
          <p:cNvSpPr txBox="1"/>
          <p:nvPr/>
        </p:nvSpPr>
        <p:spPr>
          <a:xfrm>
            <a:off x="4517692" y="2602217"/>
            <a:ext cx="817150" cy="338554"/>
          </a:xfrm>
          <a:prstGeom prst="rect">
            <a:avLst/>
          </a:prstGeom>
          <a:noFill/>
        </p:spPr>
        <p:txBody>
          <a:bodyPr wrap="square">
            <a:spAutoFit/>
          </a:bodyPr>
          <a:lstStyle/>
          <a:p>
            <a:pPr algn="ctr"/>
            <a:r>
              <a:rPr lang="zh-CN" altLang="en-US" sz="1600" b="1" dirty="0">
                <a:solidFill>
                  <a:srgbClr val="114FFB"/>
                </a:solidFill>
                <a:latin typeface="微软雅黑" panose="020B0503020204020204" pitchFamily="34" charset="-122"/>
                <a:ea typeface="微软雅黑" panose="020B0503020204020204" pitchFamily="34" charset="-122"/>
              </a:rPr>
              <a:t>输入</a:t>
            </a:r>
            <a:endParaRPr lang="zh-CN" altLang="en-US" sz="1600" b="1" dirty="0">
              <a:solidFill>
                <a:srgbClr val="114FFB"/>
              </a:solidFill>
            </a:endParaRPr>
          </a:p>
        </p:txBody>
      </p:sp>
      <p:sp>
        <p:nvSpPr>
          <p:cNvPr id="24" name="文本框 23">
            <a:extLst>
              <a:ext uri="{FF2B5EF4-FFF2-40B4-BE49-F238E27FC236}">
                <a16:creationId xmlns:a16="http://schemas.microsoft.com/office/drawing/2014/main" id="{1895CD8A-E235-443A-8C86-453F3B4E5F6D}"/>
              </a:ext>
            </a:extLst>
          </p:cNvPr>
          <p:cNvSpPr txBox="1"/>
          <p:nvPr/>
        </p:nvSpPr>
        <p:spPr>
          <a:xfrm>
            <a:off x="4380568" y="1508313"/>
            <a:ext cx="817150" cy="338554"/>
          </a:xfrm>
          <a:prstGeom prst="rect">
            <a:avLst/>
          </a:prstGeom>
          <a:noFill/>
        </p:spPr>
        <p:txBody>
          <a:bodyPr wrap="square">
            <a:spAutoFit/>
          </a:bodyPr>
          <a:lstStyle/>
          <a:p>
            <a:pPr algn="ctr"/>
            <a:r>
              <a:rPr lang="zh-CN" altLang="en-US" sz="1600" b="1" dirty="0">
                <a:solidFill>
                  <a:srgbClr val="C71437"/>
                </a:solidFill>
                <a:latin typeface="微软雅黑" panose="020B0503020204020204" pitchFamily="34" charset="-122"/>
                <a:ea typeface="微软雅黑" panose="020B0503020204020204" pitchFamily="34" charset="-122"/>
              </a:rPr>
              <a:t>输出</a:t>
            </a:r>
            <a:endParaRPr lang="zh-CN" altLang="en-US" sz="1600" b="1" dirty="0">
              <a:solidFill>
                <a:srgbClr val="C71437"/>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对象 -2147480079"/>
          <p:cNvPicPr>
            <a:picLocks noChangeAspect="1"/>
          </p:cNvPicPr>
          <p:nvPr/>
        </p:nvPicPr>
        <p:blipFill>
          <a:blip r:embed="rId2"/>
          <a:stretch>
            <a:fillRect/>
          </a:stretch>
        </p:blipFill>
        <p:spPr>
          <a:xfrm>
            <a:off x="1622476" y="3008854"/>
            <a:ext cx="1286933" cy="565573"/>
          </a:xfrm>
          <a:noFill/>
          <a:ln w="38100">
            <a:noFill/>
            <a:miter/>
          </a:ln>
        </p:spPr>
      </p:pic>
      <p:pic>
        <p:nvPicPr>
          <p:cNvPr id="28" name="对象 -2147482471"/>
          <p:cNvPicPr>
            <a:picLocks noChangeAspect="1"/>
          </p:cNvPicPr>
          <p:nvPr/>
        </p:nvPicPr>
        <p:blipFill>
          <a:blip r:embed="rId3"/>
          <a:stretch>
            <a:fillRect/>
          </a:stretch>
        </p:blipFill>
        <p:spPr>
          <a:xfrm>
            <a:off x="8582924" y="3061347"/>
            <a:ext cx="2676313" cy="551180"/>
          </a:xfrm>
          <a:noFill/>
          <a:ln w="38100">
            <a:noFill/>
            <a:miter/>
          </a:ln>
        </p:spPr>
      </p:pic>
      <p:pic>
        <p:nvPicPr>
          <p:cNvPr id="36" name="对象 -2147482464"/>
          <p:cNvPicPr>
            <a:picLocks noChangeAspect="1"/>
          </p:cNvPicPr>
          <p:nvPr/>
        </p:nvPicPr>
        <p:blipFill>
          <a:blip r:embed="rId4"/>
          <a:stretch>
            <a:fillRect/>
          </a:stretch>
        </p:blipFill>
        <p:spPr>
          <a:xfrm>
            <a:off x="10650483" y="4486287"/>
            <a:ext cx="436880" cy="528320"/>
          </a:xfrm>
          <a:noFill/>
          <a:ln w="38100">
            <a:noFill/>
            <a:miter/>
          </a:ln>
        </p:spPr>
      </p:pic>
      <p:pic>
        <p:nvPicPr>
          <p:cNvPr id="37" name="对象 -2147482463"/>
          <p:cNvPicPr>
            <a:picLocks noChangeAspect="1"/>
          </p:cNvPicPr>
          <p:nvPr/>
        </p:nvPicPr>
        <p:blipFill>
          <a:blip r:embed="rId5"/>
          <a:stretch>
            <a:fillRect/>
          </a:stretch>
        </p:blipFill>
        <p:spPr>
          <a:xfrm>
            <a:off x="-1556757" y="5014607"/>
            <a:ext cx="433493" cy="509693"/>
          </a:xfrm>
          <a:noFill/>
          <a:ln w="38100">
            <a:noFill/>
            <a:miter/>
          </a:ln>
        </p:spPr>
      </p:pic>
      <p:sp>
        <p:nvSpPr>
          <p:cNvPr id="3" name="标题 1"/>
          <p:cNvSpPr txBox="1">
            <a:spLocks noGrp="1"/>
          </p:cNvSpPr>
          <p:nvPr/>
        </p:nvSpPr>
        <p:spPr>
          <a:xfrm>
            <a:off x="353452" y="194928"/>
            <a:ext cx="6463309"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lvl="0" algn="ctr">
              <a:lnSpc>
                <a:spcPct val="100000"/>
              </a:lnSpc>
              <a:buClrTx/>
              <a:buSzTx/>
              <a:buFontTx/>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数字图像表示与常用概念：图像基本类型</a:t>
            </a:r>
          </a:p>
        </p:txBody>
      </p:sp>
      <p:sp>
        <p:nvSpPr>
          <p:cNvPr id="5" name="文本框 4"/>
          <p:cNvSpPr txBox="1"/>
          <p:nvPr/>
        </p:nvSpPr>
        <p:spPr>
          <a:xfrm>
            <a:off x="747375" y="1120142"/>
            <a:ext cx="11019647" cy="3314769"/>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355591">
              <a:lnSpc>
                <a:spcPct val="150000"/>
              </a:lnSpc>
              <a:spcAft>
                <a:spcPts val="267"/>
              </a:spcAft>
            </a:pP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经过采样和量化，可以得到数字图像。</a:t>
            </a:r>
          </a:p>
          <a:p>
            <a:pPr algn="just" defTabSz="355591">
              <a:lnSpc>
                <a:spcPct val="150000"/>
              </a:lnSpc>
              <a:spcAft>
                <a:spcPts val="267"/>
              </a:spcAft>
            </a:pPr>
            <a:r>
              <a:rPr lang="zh-CN" altLang="en-US" sz="1867" dirty="0">
                <a:solidFill>
                  <a:srgbClr val="000000"/>
                </a:solidFill>
                <a:latin typeface="微软雅黑" panose="020B0503020204020204" pitchFamily="34" charset="-122"/>
                <a:ea typeface="微软雅黑" panose="020B0503020204020204" pitchFamily="34" charset="-122"/>
              </a:rPr>
              <a:t> </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rPr>
              <a:t>数字灰度图像用数字矩阵或2维数组表示</a:t>
            </a:r>
            <a:r>
              <a:rPr lang="zh-CN" altLang="en-US" sz="1867" dirty="0">
                <a:solidFill>
                  <a:srgbClr val="000000"/>
                </a:solidFill>
                <a:latin typeface="微软雅黑" panose="020B0503020204020204" pitchFamily="34" charset="-122"/>
                <a:ea typeface="微软雅黑" panose="020B0503020204020204" pitchFamily="34" charset="-122"/>
              </a:rPr>
              <a:t>，矩阵中的行和列对应元素称为像素（Pixel, 来自术语“Picture Element”），其值对应该像素值。</a:t>
            </a:r>
          </a:p>
          <a:p>
            <a:pPr algn="just" defTabSz="355591">
              <a:lnSpc>
                <a:spcPct val="150000"/>
              </a:lnSpc>
              <a:spcAft>
                <a:spcPts val="267"/>
              </a:spcAft>
            </a:pPr>
            <a:r>
              <a:rPr lang="zh-CN" altLang="en-US" sz="1867" dirty="0">
                <a:solidFill>
                  <a:srgbClr val="000000"/>
                </a:solidFill>
                <a:latin typeface="微软雅黑" panose="020B0503020204020204" pitchFamily="34" charset="-122"/>
                <a:ea typeface="微软雅黑" panose="020B0503020204020204" pitchFamily="34" charset="-122"/>
              </a:rPr>
              <a:t> </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rPr>
              <a:t>像素是广泛应用于表示数字图像元素的词汇，是图像的最小单元。</a:t>
            </a:r>
          </a:p>
          <a:p>
            <a:pPr algn="just" defTabSz="355591">
              <a:lnSpc>
                <a:spcPct val="150000"/>
              </a:lnSpc>
              <a:spcAft>
                <a:spcPts val="267"/>
              </a:spcAft>
            </a:pPr>
            <a:endParaRPr lang="zh-CN" altLang="en-US" sz="1867" b="1" dirty="0">
              <a:solidFill>
                <a:schemeClr val="accent1">
                  <a:lumMod val="50000"/>
                </a:schemeClr>
              </a:solidFill>
              <a:latin typeface="微软雅黑" panose="020B0503020204020204" pitchFamily="34" charset="-122"/>
              <a:ea typeface="微软雅黑" panose="020B0503020204020204" pitchFamily="34" charset="-122"/>
            </a:endParaRPr>
          </a:p>
          <a:p>
            <a:pPr algn="just" defTabSz="355591">
              <a:lnSpc>
                <a:spcPct val="150000"/>
              </a:lnSpc>
              <a:spcAft>
                <a:spcPts val="267"/>
              </a:spcAft>
            </a:pPr>
            <a:r>
              <a:rPr lang="zh-CN" altLang="en-US" sz="1867" dirty="0">
                <a:solidFill>
                  <a:srgbClr val="000000"/>
                </a:solidFill>
                <a:latin typeface="微软雅黑" panose="020B0503020204020204" pitchFamily="34" charset="-122"/>
                <a:ea typeface="微软雅黑" panose="020B0503020204020204" pitchFamily="34" charset="-122"/>
              </a:rPr>
              <a:t> </a:t>
            </a:r>
            <a:r>
              <a:rPr lang="en-US" altLang="zh-CN" sz="1867" dirty="0">
                <a:solidFill>
                  <a:srgbClr val="000000"/>
                </a:solidFill>
                <a:latin typeface="微软雅黑" panose="020B0503020204020204" pitchFamily="34" charset="-122"/>
                <a:ea typeface="微软雅黑" panose="020B0503020204020204" pitchFamily="34" charset="-122"/>
              </a:rPr>
              <a:t>     </a:t>
            </a:r>
            <a:r>
              <a:rPr lang="en-US" altLang="zh-CN" sz="1867" b="1" dirty="0">
                <a:solidFill>
                  <a:srgbClr val="FF0000"/>
                </a:solidFill>
                <a:latin typeface="微软雅黑" panose="020B0503020204020204" pitchFamily="34" charset="-122"/>
                <a:ea typeface="微软雅黑" panose="020B0503020204020204" pitchFamily="34" charset="-122"/>
              </a:rPr>
              <a:t>   </a:t>
            </a:r>
            <a:r>
              <a:rPr lang="zh-CN" altLang="en-US" sz="1867" b="1" dirty="0">
                <a:solidFill>
                  <a:srgbClr val="FF0000"/>
                </a:solidFill>
                <a:latin typeface="微软雅黑" panose="020B0503020204020204" pitchFamily="34" charset="-122"/>
                <a:ea typeface="微软雅黑" panose="020B0503020204020204" pitchFamily="34" charset="-122"/>
              </a:rPr>
              <a:t>数字图像</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rPr>
              <a:t>按照</a:t>
            </a:r>
            <a:r>
              <a:rPr lang="en-US" altLang="zh-CN" sz="1867" b="1" dirty="0">
                <a:solidFill>
                  <a:schemeClr val="accent1">
                    <a:lumMod val="50000"/>
                  </a:schemeClr>
                </a:solidFill>
                <a:latin typeface="微软雅黑" panose="020B0503020204020204" pitchFamily="34" charset="-122"/>
                <a:ea typeface="微软雅黑" panose="020B0503020204020204" pitchFamily="34" charset="-122"/>
              </a:rPr>
              <a:t>2</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rPr>
              <a:t>维数组（矩阵）形式进行存储</a:t>
            </a:r>
            <a:endParaRPr lang="zh-CN" altLang="en-US" sz="1867" dirty="0">
              <a:solidFill>
                <a:srgbClr val="000000"/>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6"/>
          <a:stretch>
            <a:fillRect/>
          </a:stretch>
        </p:blipFill>
        <p:spPr>
          <a:xfrm>
            <a:off x="3759744" y="4176803"/>
            <a:ext cx="4672512" cy="167560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文本框 15"/>
          <p:cNvSpPr txBox="1"/>
          <p:nvPr/>
        </p:nvSpPr>
        <p:spPr>
          <a:xfrm>
            <a:off x="1700108" y="752181"/>
            <a:ext cx="8717280" cy="2689006"/>
          </a:xfrm>
          <a:prstGeom prst="rect">
            <a:avLst/>
          </a:prstGeom>
        </p:spPr>
        <p:txBody>
          <a:bodyPr wrap="square">
            <a:spAutoFit/>
          </a:bodyPr>
          <a:lstStyle/>
          <a:p>
            <a:pPr indent="200655" defTabSz="199808">
              <a:lnSpc>
                <a:spcPct val="150000"/>
              </a:lnSpc>
              <a:spcAft>
                <a:spcPct val="0"/>
              </a:spcAft>
            </a:pPr>
            <a:r>
              <a:rPr lang="en-US" altLang="zh-CN" sz="2133" b="1" dirty="0" err="1">
                <a:solidFill>
                  <a:schemeClr val="accent1">
                    <a:lumMod val="50000"/>
                  </a:schemeClr>
                </a:solidFill>
                <a:latin typeface="微软雅黑" panose="020B0503020204020204" pitchFamily="34" charset="-122"/>
                <a:ea typeface="微软雅黑" panose="020B0503020204020204" pitchFamily="34" charset="-122"/>
              </a:rPr>
              <a:t>数字彩色图像</a:t>
            </a:r>
            <a:endParaRPr lang="en-US" altLang="zh-CN" sz="2133" b="1" dirty="0">
              <a:solidFill>
                <a:schemeClr val="accent1">
                  <a:lumMod val="50000"/>
                </a:schemeClr>
              </a:solidFill>
              <a:latin typeface="微软雅黑" panose="020B0503020204020204" pitchFamily="34" charset="-122"/>
              <a:ea typeface="微软雅黑" panose="020B0503020204020204" pitchFamily="34" charset="-122"/>
            </a:endParaRPr>
          </a:p>
          <a:p>
            <a:pPr indent="200655" defTabSz="199808">
              <a:lnSpc>
                <a:spcPct val="150000"/>
              </a:lnSpc>
              <a:spcAft>
                <a:spcPct val="0"/>
              </a:spcAft>
            </a:pPr>
            <a:r>
              <a:rPr lang="en-US" altLang="zh-CN" sz="1867" b="1" dirty="0">
                <a:solidFill>
                  <a:schemeClr val="accent1">
                    <a:lumMod val="50000"/>
                  </a:schemeClr>
                </a:solidFill>
                <a:latin typeface="微软雅黑" panose="020B0503020204020204" pitchFamily="34" charset="-122"/>
                <a:ea typeface="微软雅黑" panose="020B0503020204020204" pitchFamily="34" charset="-122"/>
              </a:rPr>
              <a:t>       </a:t>
            </a:r>
            <a:r>
              <a:rPr lang="zh-CN" altLang="en-US" sz="1867" dirty="0">
                <a:latin typeface="微软雅黑" panose="020B0503020204020204" pitchFamily="34" charset="-122"/>
                <a:ea typeface="微软雅黑" panose="020B0503020204020204" pitchFamily="34" charset="-122"/>
              </a:rPr>
              <a:t>彩色图像具有三个通道，分别是红、绿和蓝通道，表示</a:t>
            </a:r>
            <a:r>
              <a:rPr lang="en-US" altLang="zh-CN" sz="1867" dirty="0">
                <a:latin typeface="微软雅黑" panose="020B0503020204020204" pitchFamily="34" charset="-122"/>
                <a:ea typeface="微软雅黑" panose="020B0503020204020204" pitchFamily="34" charset="-122"/>
              </a:rPr>
              <a:t>  </a:t>
            </a:r>
            <a:r>
              <a:rPr lang="zh-CN" altLang="en-US" sz="1867" dirty="0">
                <a:latin typeface="微软雅黑" panose="020B0503020204020204" pitchFamily="34" charset="-122"/>
                <a:ea typeface="微软雅黑" panose="020B0503020204020204" pitchFamily="34" charset="-122"/>
              </a:rPr>
              <a:t>，</a:t>
            </a:r>
          </a:p>
          <a:p>
            <a:pPr indent="200655" defTabSz="199808">
              <a:lnSpc>
                <a:spcPct val="150000"/>
              </a:lnSpc>
              <a:spcAft>
                <a:spcPct val="0"/>
              </a:spcAft>
            </a:pPr>
            <a:endParaRPr lang="zh-CN" altLang="en-US" sz="1867" dirty="0">
              <a:latin typeface="微软雅黑" panose="020B0503020204020204" pitchFamily="34" charset="-122"/>
              <a:ea typeface="微软雅黑" panose="020B0503020204020204" pitchFamily="34" charset="-122"/>
            </a:endParaRPr>
          </a:p>
          <a:p>
            <a:pPr indent="200655" defTabSz="199808">
              <a:lnSpc>
                <a:spcPct val="150000"/>
              </a:lnSpc>
              <a:spcAft>
                <a:spcPct val="0"/>
              </a:spcAft>
            </a:pPr>
            <a:r>
              <a:rPr lang="en-US" altLang="zh-CN" sz="1867" dirty="0">
                <a:latin typeface="微软雅黑" panose="020B0503020204020204" pitchFamily="34" charset="-122"/>
                <a:ea typeface="微软雅黑" panose="020B0503020204020204" pitchFamily="34" charset="-122"/>
              </a:rPr>
              <a:t> </a:t>
            </a:r>
          </a:p>
          <a:p>
            <a:pPr indent="200655" defTabSz="199808">
              <a:lnSpc>
                <a:spcPct val="150000"/>
              </a:lnSpc>
              <a:spcAft>
                <a:spcPct val="0"/>
              </a:spcAft>
            </a:pPr>
            <a:endParaRPr lang="en-US" altLang="zh-CN" sz="1867" dirty="0">
              <a:latin typeface="微软雅黑" panose="020B0503020204020204" pitchFamily="34" charset="-122"/>
              <a:ea typeface="微软雅黑" panose="020B0503020204020204" pitchFamily="34" charset="-122"/>
            </a:endParaRPr>
          </a:p>
          <a:p>
            <a:pPr indent="200655" defTabSz="199808">
              <a:lnSpc>
                <a:spcPct val="150000"/>
              </a:lnSpc>
              <a:spcAft>
                <a:spcPct val="0"/>
              </a:spcAft>
            </a:pPr>
            <a:r>
              <a:rPr lang="zh-CN" altLang="en-US" sz="1867" dirty="0">
                <a:latin typeface="微软雅黑" panose="020B0503020204020204" pitchFamily="34" charset="-122"/>
                <a:ea typeface="微软雅黑" panose="020B0503020204020204" pitchFamily="34" charset="-122"/>
              </a:rPr>
              <a:t>       其中各个通道均为一幅灰度图像。数字彩色图像如下图所示：</a:t>
            </a:r>
            <a:r>
              <a:rPr lang="en-US" altLang="zh-CN" sz="1500" dirty="0">
                <a:solidFill>
                  <a:srgbClr val="000000"/>
                </a:solidFill>
                <a:latin typeface="微软雅黑" panose="020B0503020204020204" pitchFamily="34" charset="-122"/>
                <a:ea typeface="微软雅黑" panose="020B0503020204020204" pitchFamily="34" charset="-122"/>
              </a:rPr>
              <a:t>  </a:t>
            </a:r>
          </a:p>
        </p:txBody>
      </p:sp>
      <p:pic>
        <p:nvPicPr>
          <p:cNvPr id="176" name="图片 176"/>
          <p:cNvPicPr>
            <a:picLocks noChangeAspect="1" noChangeArrowheads="1"/>
          </p:cNvPicPr>
          <p:nvPr/>
        </p:nvPicPr>
        <p:blipFill>
          <a:blip r:embed="rId5" cstate="print"/>
          <a:srcRect/>
          <a:stretch>
            <a:fillRect/>
          </a:stretch>
        </p:blipFill>
        <p:spPr>
          <a:xfrm>
            <a:off x="7254570" y="3583586"/>
            <a:ext cx="1825836" cy="1825836"/>
          </a:xfrm>
          <a:prstGeom prst="rect">
            <a:avLst/>
          </a:prstGeom>
          <a:noFill/>
          <a:ln w="9525">
            <a:noFill/>
            <a:miter lim="800000"/>
            <a:headEnd/>
            <a:tailEnd/>
          </a:ln>
        </p:spPr>
      </p:pic>
      <p:pic>
        <p:nvPicPr>
          <p:cNvPr id="78" name="图片 78"/>
          <p:cNvPicPr preferRelativeResize="0">
            <a:picLocks noChangeAspect="1" noChangeArrowheads="1"/>
          </p:cNvPicPr>
          <p:nvPr/>
        </p:nvPicPr>
        <p:blipFill>
          <a:blip r:embed="rId6" cstate="print"/>
          <a:stretch>
            <a:fillRect/>
          </a:stretch>
        </p:blipFill>
        <p:spPr>
          <a:xfrm>
            <a:off x="3083163" y="3614409"/>
            <a:ext cx="1834767" cy="1807976"/>
          </a:xfrm>
          <a:prstGeom prst="rect">
            <a:avLst/>
          </a:prstGeom>
          <a:noFill/>
          <a:ln w="9525">
            <a:noFill/>
            <a:miter lim="800000"/>
            <a:headEnd/>
            <a:tailEnd/>
          </a:ln>
        </p:spPr>
      </p:pic>
      <p:pic>
        <p:nvPicPr>
          <p:cNvPr id="173" name="图片 173"/>
          <p:cNvPicPr>
            <a:picLocks noChangeAspect="1" noChangeArrowheads="1"/>
          </p:cNvPicPr>
          <p:nvPr/>
        </p:nvPicPr>
        <p:blipFill>
          <a:blip r:embed="rId7" cstate="print"/>
          <a:srcRect/>
          <a:stretch>
            <a:fillRect/>
          </a:stretch>
        </p:blipFill>
        <p:spPr>
          <a:xfrm>
            <a:off x="5167377" y="3583531"/>
            <a:ext cx="1837744" cy="1837744"/>
          </a:xfrm>
          <a:prstGeom prst="rect">
            <a:avLst/>
          </a:prstGeom>
          <a:noFill/>
          <a:ln w="9525">
            <a:noFill/>
            <a:miter lim="800000"/>
            <a:headEnd/>
            <a:tailEnd/>
          </a:ln>
        </p:spPr>
      </p:pic>
      <p:sp>
        <p:nvSpPr>
          <p:cNvPr id="3" name="文本框 2"/>
          <p:cNvSpPr txBox="1"/>
          <p:nvPr/>
        </p:nvSpPr>
        <p:spPr>
          <a:xfrm>
            <a:off x="5060104" y="5574493"/>
            <a:ext cx="1997288" cy="568921"/>
          </a:xfrm>
          <a:prstGeom prst="rect">
            <a:avLst/>
          </a:prstGeom>
        </p:spPr>
        <p:txBody>
          <a:bodyPr>
            <a:noAutofit/>
          </a:bodyPr>
          <a:lstStyle/>
          <a:p>
            <a:pPr algn="ctr" defTabSz="199808">
              <a:lnSpc>
                <a:spcPct val="150000"/>
              </a:lnSpc>
              <a:spcAft>
                <a:spcPct val="0"/>
              </a:spcAft>
            </a:pPr>
            <a:r>
              <a:rPr lang="en-US" altLang="zh-CN" sz="1333" b="1" dirty="0">
                <a:solidFill>
                  <a:srgbClr val="000000"/>
                </a:solidFill>
                <a:latin typeface="Times New Roman" panose="02020603050405020304"/>
                <a:ea typeface="宋体" panose="02010600030101010101" pitchFamily="2" charset="-122"/>
              </a:rPr>
              <a:t> </a:t>
            </a:r>
            <a:r>
              <a:rPr lang="zh-CN" altLang="en-US" sz="1467" dirty="0">
                <a:latin typeface="微软雅黑" panose="020B0503020204020204" pitchFamily="34" charset="-122"/>
                <a:ea typeface="微软雅黑" panose="020B0503020204020204" pitchFamily="34" charset="-122"/>
              </a:rPr>
              <a:t>三种类型的图像例子</a:t>
            </a:r>
            <a:endParaRPr lang="zh-CN" altLang="en-US" sz="1867" dirty="0">
              <a:latin typeface="微软雅黑" panose="020B0503020204020204" pitchFamily="34" charset="-122"/>
              <a:ea typeface="微软雅黑" panose="020B0503020204020204" pitchFamily="34" charset="-122"/>
            </a:endParaRPr>
          </a:p>
        </p:txBody>
      </p:sp>
      <p:graphicFrame>
        <p:nvGraphicFramePr>
          <p:cNvPr id="4" name="对象 -2147480068"/>
          <p:cNvGraphicFramePr>
            <a:graphicFrameLocks noChangeAspect="1"/>
          </p:cNvGraphicFramePr>
          <p:nvPr/>
        </p:nvGraphicFramePr>
        <p:xfrm>
          <a:off x="2727961" y="2071794"/>
          <a:ext cx="6237393" cy="471593"/>
        </p:xfrm>
        <a:graphic>
          <a:graphicData uri="http://schemas.openxmlformats.org/presentationml/2006/ole">
            <mc:AlternateContent xmlns:mc="http://schemas.openxmlformats.org/markup-compatibility/2006">
              <mc:Choice xmlns:v="urn:schemas-microsoft-com:vml" Requires="v">
                <p:oleObj spid="_x0000_s20540" r:id="rId8" imgW="3327400" imgH="241300" progId="Equation.DSMT4">
                  <p:embed/>
                </p:oleObj>
              </mc:Choice>
              <mc:Fallback>
                <p:oleObj r:id="rId8" imgW="3327400" imgH="241300" progId="Equation.DSMT4">
                  <p:embed/>
                  <p:pic>
                    <p:nvPicPr>
                      <p:cNvPr id="4" name="对象 -2147480068"/>
                      <p:cNvPicPr/>
                      <p:nvPr/>
                    </p:nvPicPr>
                    <p:blipFill>
                      <a:blip r:embed="rId9"/>
                      <a:stretch>
                        <a:fillRect/>
                      </a:stretch>
                    </p:blipFill>
                    <p:spPr>
                      <a:xfrm>
                        <a:off x="2727961" y="2071794"/>
                        <a:ext cx="6237393" cy="471593"/>
                      </a:xfrm>
                      <a:prstGeom prst="rect">
                        <a:avLst/>
                      </a:prstGeom>
                      <a:noFill/>
                      <a:ln w="38100">
                        <a:noFill/>
                        <a:miter/>
                      </a:ln>
                    </p:spPr>
                  </p:pic>
                </p:oleObj>
              </mc:Fallback>
            </mc:AlternateContent>
          </a:graphicData>
        </a:graphic>
      </p:graphicFrame>
      <p:sp>
        <p:nvSpPr>
          <p:cNvPr id="11" name="标题 1">
            <a:extLst>
              <a:ext uri="{FF2B5EF4-FFF2-40B4-BE49-F238E27FC236}">
                <a16:creationId xmlns:a16="http://schemas.microsoft.com/office/drawing/2014/main" id="{73622330-B51D-401B-A90A-C5899F165C77}"/>
              </a:ext>
            </a:extLst>
          </p:cNvPr>
          <p:cNvSpPr txBox="1">
            <a:spLocks noGrp="1"/>
          </p:cNvSpPr>
          <p:nvPr/>
        </p:nvSpPr>
        <p:spPr>
          <a:xfrm>
            <a:off x="353452" y="194928"/>
            <a:ext cx="6463309"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lvl="0" algn="ctr">
              <a:lnSpc>
                <a:spcPct val="100000"/>
              </a:lnSpc>
              <a:buClrTx/>
              <a:buSzTx/>
              <a:buFontTx/>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数字图像表示与常用概念：图像基本类型</a:t>
            </a:r>
          </a:p>
        </p:txBody>
      </p:sp>
    </p:spTree>
    <p:custDataLst>
      <p:tags r:id="rId3"/>
    </p:custData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文本框 45"/>
          <p:cNvSpPr txBox="1"/>
          <p:nvPr/>
        </p:nvSpPr>
        <p:spPr>
          <a:xfrm>
            <a:off x="515828" y="807761"/>
            <a:ext cx="2439587" cy="582453"/>
          </a:xfrm>
          <a:prstGeom prst="rect">
            <a:avLst/>
          </a:prstGeom>
        </p:spPr>
        <p:txBody>
          <a:bodyPr>
            <a:noAutofit/>
          </a:bodyPr>
          <a:lstStyle/>
          <a:p>
            <a:pPr defTabSz="199808">
              <a:lnSpc>
                <a:spcPct val="150000"/>
              </a:lnSpc>
            </a:pPr>
            <a:r>
              <a:rPr lang="en-US" altLang="zh-CN" sz="1867" b="1" dirty="0" err="1">
                <a:solidFill>
                  <a:schemeClr val="accent1">
                    <a:lumMod val="50000"/>
                  </a:schemeClr>
                </a:solidFill>
                <a:latin typeface="微软雅黑" panose="020B0503020204020204" pitchFamily="34" charset="-122"/>
                <a:ea typeface="微软雅黑" panose="020B0503020204020204" pitchFamily="34" charset="-122"/>
              </a:rPr>
              <a:t>数字二值图像</a:t>
            </a:r>
            <a:endParaRPr lang="en-US" altLang="zh-CN" sz="1867"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1744504" y="1086063"/>
            <a:ext cx="8498544" cy="1326832"/>
          </a:xfrm>
          <a:prstGeom prst="rect">
            <a:avLst/>
          </a:prstGeom>
        </p:spPr>
        <p:txBody>
          <a:bodyPr wrap="square">
            <a:noAutofit/>
          </a:bodyPr>
          <a:lstStyle/>
          <a:p>
            <a:pPr algn="just" defTabSz="199808">
              <a:lnSpc>
                <a:spcPct val="150000"/>
              </a:lnSpc>
              <a:spcAft>
                <a:spcPts val="153"/>
              </a:spcAft>
            </a:pP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如果</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则称图像</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为二值图像。这是一类特殊的图像，此时像素值的量化比特数为</a:t>
            </a:r>
            <a:r>
              <a:rPr lang="en-US" altLang="zh-CN" sz="1867" dirty="0">
                <a:solidFill>
                  <a:srgbClr val="000000"/>
                </a:solidFill>
                <a:latin typeface="微软雅黑" panose="020B0503020204020204" pitchFamily="34" charset="-122"/>
                <a:ea typeface="微软雅黑" panose="020B0503020204020204" pitchFamily="34" charset="-122"/>
              </a:rPr>
              <a:t>1</a:t>
            </a:r>
            <a:r>
              <a:rPr lang="zh-CN" altLang="en-US" sz="1867" dirty="0">
                <a:solidFill>
                  <a:srgbClr val="000000"/>
                </a:solidFill>
                <a:latin typeface="微软雅黑" panose="020B0503020204020204" pitchFamily="34" charset="-122"/>
                <a:ea typeface="微软雅黑" panose="020B0503020204020204" pitchFamily="34" charset="-122"/>
              </a:rPr>
              <a:t>，图像像素取值要么为</a:t>
            </a:r>
            <a:r>
              <a:rPr lang="en-US" altLang="zh-CN" sz="1867" dirty="0">
                <a:solidFill>
                  <a:srgbClr val="000000"/>
                </a:solidFill>
                <a:latin typeface="微软雅黑" panose="020B0503020204020204" pitchFamily="34" charset="-122"/>
                <a:ea typeface="微软雅黑" panose="020B0503020204020204" pitchFamily="34" charset="-122"/>
              </a:rPr>
              <a:t>0</a:t>
            </a:r>
            <a:r>
              <a:rPr lang="zh-CN" altLang="en-US" sz="1867" dirty="0">
                <a:solidFill>
                  <a:srgbClr val="000000"/>
                </a:solidFill>
                <a:latin typeface="微软雅黑" panose="020B0503020204020204" pitchFamily="34" charset="-122"/>
                <a:ea typeface="微软雅黑" panose="020B0503020204020204" pitchFamily="34" charset="-122"/>
              </a:rPr>
              <a:t>（黑色），要么为</a:t>
            </a:r>
            <a:r>
              <a:rPr lang="en-US" altLang="zh-CN" sz="1867" dirty="0">
                <a:solidFill>
                  <a:srgbClr val="000000"/>
                </a:solidFill>
                <a:latin typeface="微软雅黑" panose="020B0503020204020204" pitchFamily="34" charset="-122"/>
                <a:ea typeface="微软雅黑" panose="020B0503020204020204" pitchFamily="34" charset="-122"/>
              </a:rPr>
              <a:t>1</a:t>
            </a:r>
            <a:r>
              <a:rPr lang="zh-CN" altLang="en-US" sz="1867" dirty="0">
                <a:solidFill>
                  <a:srgbClr val="000000"/>
                </a:solidFill>
                <a:latin typeface="微软雅黑" panose="020B0503020204020204" pitchFamily="34" charset="-122"/>
                <a:ea typeface="微软雅黑" panose="020B0503020204020204" pitchFamily="34" charset="-122"/>
              </a:rPr>
              <a:t>（白色）。</a:t>
            </a:r>
          </a:p>
        </p:txBody>
      </p:sp>
      <p:graphicFrame>
        <p:nvGraphicFramePr>
          <p:cNvPr id="3" name="对象 -2147480067"/>
          <p:cNvGraphicFramePr>
            <a:graphicFrameLocks noChangeAspect="1"/>
          </p:cNvGraphicFramePr>
          <p:nvPr/>
        </p:nvGraphicFramePr>
        <p:xfrm>
          <a:off x="3032121" y="1216369"/>
          <a:ext cx="1918203" cy="407672"/>
        </p:xfrm>
        <a:graphic>
          <a:graphicData uri="http://schemas.openxmlformats.org/presentationml/2006/ole">
            <mc:AlternateContent xmlns:mc="http://schemas.openxmlformats.org/markup-compatibility/2006">
              <mc:Choice xmlns:v="urn:schemas-microsoft-com:vml" Requires="v">
                <p:oleObj spid="_x0000_s21919" r:id="rId4" imgW="1028065" imgH="215900" progId="Equation.DSMT4">
                  <p:embed/>
                </p:oleObj>
              </mc:Choice>
              <mc:Fallback>
                <p:oleObj r:id="rId4" imgW="1028065" imgH="215900" progId="Equation.DSMT4">
                  <p:embed/>
                  <p:pic>
                    <p:nvPicPr>
                      <p:cNvPr id="3" name="对象 -2147480067"/>
                      <p:cNvPicPr/>
                      <p:nvPr/>
                    </p:nvPicPr>
                    <p:blipFill>
                      <a:blip r:embed="rId5"/>
                      <a:stretch>
                        <a:fillRect/>
                      </a:stretch>
                    </p:blipFill>
                    <p:spPr>
                      <a:xfrm>
                        <a:off x="3032121" y="1216369"/>
                        <a:ext cx="1918203" cy="407672"/>
                      </a:xfrm>
                      <a:prstGeom prst="rect">
                        <a:avLst/>
                      </a:prstGeom>
                      <a:noFill/>
                      <a:ln w="38100">
                        <a:noFill/>
                        <a:miter/>
                      </a:ln>
                    </p:spPr>
                  </p:pic>
                </p:oleObj>
              </mc:Fallback>
            </mc:AlternateContent>
          </a:graphicData>
        </a:graphic>
      </p:graphicFrame>
      <p:graphicFrame>
        <p:nvGraphicFramePr>
          <p:cNvPr id="5" name="对象 -2147482440"/>
          <p:cNvGraphicFramePr>
            <a:graphicFrameLocks noChangeAspect="1"/>
          </p:cNvGraphicFramePr>
          <p:nvPr/>
        </p:nvGraphicFramePr>
        <p:xfrm>
          <a:off x="5068124" y="1252473"/>
          <a:ext cx="2055637" cy="302731"/>
        </p:xfrm>
        <a:graphic>
          <a:graphicData uri="http://schemas.openxmlformats.org/presentationml/2006/ole">
            <mc:AlternateContent xmlns:mc="http://schemas.openxmlformats.org/markup-compatibility/2006">
              <mc:Choice xmlns:v="urn:schemas-microsoft-com:vml" Requires="v">
                <p:oleObj spid="_x0000_s21920" r:id="rId6" imgW="1434465" imgH="165100" progId="Equation.DSMT4">
                  <p:embed/>
                </p:oleObj>
              </mc:Choice>
              <mc:Fallback>
                <p:oleObj r:id="rId6" imgW="1434465" imgH="165100" progId="Equation.DSMT4">
                  <p:embed/>
                  <p:pic>
                    <p:nvPicPr>
                      <p:cNvPr id="5" name="对象 -2147482440"/>
                      <p:cNvPicPr/>
                      <p:nvPr/>
                    </p:nvPicPr>
                    <p:blipFill>
                      <a:blip r:embed="rId7"/>
                      <a:stretch>
                        <a:fillRect/>
                      </a:stretch>
                    </p:blipFill>
                    <p:spPr>
                      <a:xfrm>
                        <a:off x="5068124" y="1252473"/>
                        <a:ext cx="2055637" cy="302731"/>
                      </a:xfrm>
                      <a:prstGeom prst="rect">
                        <a:avLst/>
                      </a:prstGeom>
                      <a:noFill/>
                      <a:ln w="38100">
                        <a:noFill/>
                        <a:miter/>
                      </a:ln>
                    </p:spPr>
                  </p:pic>
                </p:oleObj>
              </mc:Fallback>
            </mc:AlternateContent>
          </a:graphicData>
        </a:graphic>
      </p:graphicFrame>
      <p:graphicFrame>
        <p:nvGraphicFramePr>
          <p:cNvPr id="7" name="对象 -2147482439"/>
          <p:cNvGraphicFramePr>
            <a:graphicFrameLocks noChangeAspect="1"/>
          </p:cNvGraphicFramePr>
          <p:nvPr/>
        </p:nvGraphicFramePr>
        <p:xfrm>
          <a:off x="8257506" y="1193675"/>
          <a:ext cx="1327665" cy="430367"/>
        </p:xfrm>
        <a:graphic>
          <a:graphicData uri="http://schemas.openxmlformats.org/presentationml/2006/ole">
            <mc:AlternateContent xmlns:mc="http://schemas.openxmlformats.org/markup-compatibility/2006">
              <mc:Choice xmlns:v="urn:schemas-microsoft-com:vml" Requires="v">
                <p:oleObj spid="_x0000_s21921" r:id="rId8" imgW="965200" imgH="241300" progId="Equation.DSMT4">
                  <p:embed/>
                </p:oleObj>
              </mc:Choice>
              <mc:Fallback>
                <p:oleObj r:id="rId8" imgW="965200" imgH="241300" progId="Equation.DSMT4">
                  <p:embed/>
                  <p:pic>
                    <p:nvPicPr>
                      <p:cNvPr id="7" name="对象 -2147482439"/>
                      <p:cNvPicPr/>
                      <p:nvPr/>
                    </p:nvPicPr>
                    <p:blipFill>
                      <a:blip r:embed="rId9"/>
                      <a:stretch>
                        <a:fillRect/>
                      </a:stretch>
                    </p:blipFill>
                    <p:spPr>
                      <a:xfrm>
                        <a:off x="8257506" y="1193675"/>
                        <a:ext cx="1327665" cy="430367"/>
                      </a:xfrm>
                      <a:prstGeom prst="rect">
                        <a:avLst/>
                      </a:prstGeom>
                      <a:noFill/>
                      <a:ln w="38100">
                        <a:noFill/>
                        <a:miter/>
                      </a:ln>
                    </p:spPr>
                  </p:pic>
                </p:oleObj>
              </mc:Fallback>
            </mc:AlternateContent>
          </a:graphicData>
        </a:graphic>
      </p:graphicFrame>
      <p:sp>
        <p:nvSpPr>
          <p:cNvPr id="51" name="文本框 50"/>
          <p:cNvSpPr txBox="1"/>
          <p:nvPr/>
        </p:nvSpPr>
        <p:spPr>
          <a:xfrm>
            <a:off x="515828" y="2526010"/>
            <a:ext cx="3810000" cy="469487"/>
          </a:xfrm>
          <a:prstGeom prst="rect">
            <a:avLst/>
          </a:prstGeom>
        </p:spPr>
        <p:txBody>
          <a:bodyPr>
            <a:spAutoFit/>
          </a:bodyPr>
          <a:lstStyle/>
          <a:p>
            <a:pPr algn="just" defTabSz="199808">
              <a:lnSpc>
                <a:spcPct val="150000"/>
              </a:lnSpc>
              <a:spcAft>
                <a:spcPts val="153"/>
              </a:spcAft>
            </a:pPr>
            <a:r>
              <a:rPr lang="en-US" altLang="zh-CN" sz="1867" b="1" dirty="0" err="1">
                <a:solidFill>
                  <a:schemeClr val="accent1">
                    <a:lumMod val="50000"/>
                  </a:schemeClr>
                </a:solidFill>
                <a:latin typeface="微软雅黑" panose="020B0503020204020204" pitchFamily="34" charset="-122"/>
                <a:ea typeface="微软雅黑" panose="020B0503020204020204" pitchFamily="34" charset="-122"/>
              </a:rPr>
              <a:t>数字灰度图像</a:t>
            </a:r>
            <a:endParaRPr lang="zh-CN" altLang="en-US" sz="1333" b="1" dirty="0">
              <a:solidFill>
                <a:srgbClr val="000000"/>
              </a:solidFill>
              <a:latin typeface="宋体" panose="02010600030101010101" pitchFamily="2" charset="-122"/>
              <a:ea typeface="宋体" panose="02010600030101010101" pitchFamily="2" charset="-122"/>
            </a:endParaRPr>
          </a:p>
        </p:txBody>
      </p:sp>
      <p:sp>
        <p:nvSpPr>
          <p:cNvPr id="52" name="文本框 51"/>
          <p:cNvSpPr txBox="1"/>
          <p:nvPr/>
        </p:nvSpPr>
        <p:spPr>
          <a:xfrm>
            <a:off x="1744504" y="2837585"/>
            <a:ext cx="8762131" cy="1909287"/>
          </a:xfrm>
          <a:prstGeom prst="rect">
            <a:avLst/>
          </a:prstGeom>
        </p:spPr>
        <p:txBody>
          <a:bodyPr wrap="square">
            <a:noAutofit/>
          </a:bodyPr>
          <a:lstStyle/>
          <a:p>
            <a:pPr algn="just" defTabSz="199808">
              <a:lnSpc>
                <a:spcPct val="150000"/>
              </a:lnSpc>
              <a:spcAft>
                <a:spcPts val="153"/>
              </a:spcAft>
            </a:pPr>
            <a:r>
              <a:rPr lang="en-US" altLang="zh-CN" sz="1500"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一幅数字灰度图像表示为</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，其像素</a:t>
            </a:r>
          </a:p>
          <a:p>
            <a:pPr algn="just" defTabSz="199808">
              <a:lnSpc>
                <a:spcPct val="150000"/>
              </a:lnSpc>
              <a:spcAft>
                <a:spcPts val="153"/>
              </a:spcAft>
            </a:pPr>
            <a:r>
              <a:rPr lang="zh-CN" altLang="en-US" sz="1867" dirty="0">
                <a:solidFill>
                  <a:srgbClr val="000000"/>
                </a:solidFill>
                <a:latin typeface="微软雅黑" panose="020B0503020204020204" pitchFamily="34" charset="-122"/>
                <a:ea typeface="微软雅黑" panose="020B0503020204020204" pitchFamily="34" charset="-122"/>
              </a:rPr>
              <a:t>此时</a:t>
            </a:r>
            <a:r>
              <a:rPr lang="en-US" altLang="zh-CN" sz="1867" dirty="0">
                <a:solidFill>
                  <a:srgbClr val="000000"/>
                </a:solidFill>
                <a:latin typeface="微软雅黑" panose="020B0503020204020204" pitchFamily="34" charset="-122"/>
                <a:ea typeface="微软雅黑" panose="020B0503020204020204" pitchFamily="34" charset="-122"/>
              </a:rPr>
              <a:t>B</a:t>
            </a:r>
            <a:r>
              <a:rPr lang="zh-CN" altLang="en-US" sz="1867" dirty="0">
                <a:solidFill>
                  <a:srgbClr val="000000"/>
                </a:solidFill>
                <a:latin typeface="微软雅黑" panose="020B0503020204020204" pitchFamily="34" charset="-122"/>
                <a:ea typeface="微软雅黑" panose="020B0503020204020204" pitchFamily="34" charset="-122"/>
              </a:rPr>
              <a:t>表示像素的量化比特数，通常取</a:t>
            </a:r>
            <a:r>
              <a:rPr lang="en-US" altLang="zh-CN" sz="1867" dirty="0">
                <a:solidFill>
                  <a:srgbClr val="000000"/>
                </a:solidFill>
                <a:latin typeface="微软雅黑" panose="020B0503020204020204" pitchFamily="34" charset="-122"/>
                <a:ea typeface="微软雅黑" panose="020B0503020204020204" pitchFamily="34" charset="-122"/>
              </a:rPr>
              <a:t>B=8</a:t>
            </a:r>
            <a:r>
              <a:rPr lang="zh-CN" altLang="en-US" sz="1867" dirty="0">
                <a:solidFill>
                  <a:srgbClr val="000000"/>
                </a:solidFill>
                <a:latin typeface="微软雅黑" panose="020B0503020204020204" pitchFamily="34" charset="-122"/>
                <a:ea typeface="微软雅黑" panose="020B0503020204020204" pitchFamily="34" charset="-122"/>
              </a:rPr>
              <a:t>，此时灰度的等级</a:t>
            </a: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a:t>
            </a:r>
            <a:r>
              <a:rPr lang="en-US" altLang="zh-CN" sz="1867" dirty="0">
                <a:solidFill>
                  <a:srgbClr val="000000"/>
                </a:solidFill>
                <a:latin typeface="微软雅黑" panose="020B0503020204020204" pitchFamily="34" charset="-122"/>
                <a:ea typeface="微软雅黑" panose="020B0503020204020204" pitchFamily="34" charset="-122"/>
              </a:rPr>
              <a:t>0</a:t>
            </a:r>
            <a:r>
              <a:rPr lang="zh-CN" altLang="en-US" sz="1867" dirty="0">
                <a:solidFill>
                  <a:srgbClr val="000000"/>
                </a:solidFill>
                <a:latin typeface="微软雅黑" panose="020B0503020204020204" pitchFamily="34" charset="-122"/>
                <a:ea typeface="微软雅黑" panose="020B0503020204020204" pitchFamily="34" charset="-122"/>
              </a:rPr>
              <a:t>表示最灰度等级（最黑），</a:t>
            </a:r>
            <a:r>
              <a:rPr lang="en-US" altLang="zh-CN" sz="1867" dirty="0">
                <a:solidFill>
                  <a:srgbClr val="000000"/>
                </a:solidFill>
                <a:latin typeface="微软雅黑" panose="020B0503020204020204" pitchFamily="34" charset="-122"/>
                <a:ea typeface="微软雅黑" panose="020B0503020204020204" pitchFamily="34" charset="-122"/>
              </a:rPr>
              <a:t>255</a:t>
            </a:r>
            <a:r>
              <a:rPr lang="zh-CN" altLang="en-US" sz="1867" dirty="0">
                <a:solidFill>
                  <a:srgbClr val="000000"/>
                </a:solidFill>
                <a:latin typeface="微软雅黑" panose="020B0503020204020204" pitchFamily="34" charset="-122"/>
                <a:ea typeface="微软雅黑" panose="020B0503020204020204" pitchFamily="34" charset="-122"/>
              </a:rPr>
              <a:t>表示最大灰度等级（最亮）。</a:t>
            </a:r>
            <a:endParaRPr lang="en-US" altLang="zh-CN" sz="1867" dirty="0">
              <a:solidFill>
                <a:srgbClr val="000000"/>
              </a:solidFill>
              <a:latin typeface="微软雅黑" panose="020B0503020204020204" pitchFamily="34" charset="-122"/>
              <a:ea typeface="微软雅黑" panose="020B0503020204020204" pitchFamily="34" charset="-122"/>
            </a:endParaRPr>
          </a:p>
        </p:txBody>
      </p:sp>
      <p:graphicFrame>
        <p:nvGraphicFramePr>
          <p:cNvPr id="9" name="对象 -2147482438"/>
          <p:cNvGraphicFramePr>
            <a:graphicFrameLocks noChangeAspect="1"/>
          </p:cNvGraphicFramePr>
          <p:nvPr/>
        </p:nvGraphicFramePr>
        <p:xfrm>
          <a:off x="4858912" y="2954302"/>
          <a:ext cx="1128009" cy="365532"/>
        </p:xfrm>
        <a:graphic>
          <a:graphicData uri="http://schemas.openxmlformats.org/presentationml/2006/ole">
            <mc:AlternateContent xmlns:mc="http://schemas.openxmlformats.org/markup-compatibility/2006">
              <mc:Choice xmlns:v="urn:schemas-microsoft-com:vml" Requires="v">
                <p:oleObj spid="_x0000_s21922" r:id="rId10" imgW="965200" imgH="241300" progId="Equation.DSMT4">
                  <p:embed/>
                </p:oleObj>
              </mc:Choice>
              <mc:Fallback>
                <p:oleObj r:id="rId10" imgW="965200" imgH="241300" progId="Equation.DSMT4">
                  <p:embed/>
                  <p:pic>
                    <p:nvPicPr>
                      <p:cNvPr id="9" name="对象 -2147482438"/>
                      <p:cNvPicPr/>
                      <p:nvPr/>
                    </p:nvPicPr>
                    <p:blipFill>
                      <a:blip r:embed="rId11"/>
                      <a:stretch>
                        <a:fillRect/>
                      </a:stretch>
                    </p:blipFill>
                    <p:spPr>
                      <a:xfrm>
                        <a:off x="4858912" y="2954302"/>
                        <a:ext cx="1128009" cy="365532"/>
                      </a:xfrm>
                      <a:prstGeom prst="rect">
                        <a:avLst/>
                      </a:prstGeom>
                      <a:noFill/>
                      <a:ln w="38100">
                        <a:noFill/>
                        <a:miter/>
                      </a:ln>
                    </p:spPr>
                  </p:pic>
                </p:oleObj>
              </mc:Fallback>
            </mc:AlternateContent>
          </a:graphicData>
        </a:graphic>
      </p:graphicFrame>
      <p:graphicFrame>
        <p:nvGraphicFramePr>
          <p:cNvPr id="11" name="对象 -2147482437"/>
          <p:cNvGraphicFramePr>
            <a:graphicFrameLocks noChangeAspect="1"/>
          </p:cNvGraphicFramePr>
          <p:nvPr/>
        </p:nvGraphicFramePr>
        <p:xfrm>
          <a:off x="6095524" y="2995497"/>
          <a:ext cx="2017536" cy="324337"/>
        </p:xfrm>
        <a:graphic>
          <a:graphicData uri="http://schemas.openxmlformats.org/presentationml/2006/ole">
            <mc:AlternateContent xmlns:mc="http://schemas.openxmlformats.org/markup-compatibility/2006">
              <mc:Choice xmlns:v="urn:schemas-microsoft-com:vml" Requires="v">
                <p:oleObj spid="_x0000_s21923" r:id="rId12" imgW="1434465" imgH="165100" progId="Equation.DSMT4">
                  <p:embed/>
                </p:oleObj>
              </mc:Choice>
              <mc:Fallback>
                <p:oleObj r:id="rId12" imgW="1434465" imgH="165100" progId="Equation.DSMT4">
                  <p:embed/>
                  <p:pic>
                    <p:nvPicPr>
                      <p:cNvPr id="11" name="对象 -2147482437"/>
                      <p:cNvPicPr/>
                      <p:nvPr/>
                    </p:nvPicPr>
                    <p:blipFill>
                      <a:blip r:embed="rId13"/>
                      <a:stretch>
                        <a:fillRect/>
                      </a:stretch>
                    </p:blipFill>
                    <p:spPr>
                      <a:xfrm>
                        <a:off x="6095524" y="2995497"/>
                        <a:ext cx="2017536" cy="324337"/>
                      </a:xfrm>
                      <a:prstGeom prst="rect">
                        <a:avLst/>
                      </a:prstGeom>
                      <a:noFill/>
                      <a:ln w="38100">
                        <a:noFill/>
                        <a:miter/>
                      </a:ln>
                    </p:spPr>
                  </p:pic>
                </p:oleObj>
              </mc:Fallback>
            </mc:AlternateContent>
          </a:graphicData>
        </a:graphic>
      </p:graphicFrame>
      <p:graphicFrame>
        <p:nvGraphicFramePr>
          <p:cNvPr id="56" name="对象 55"/>
          <p:cNvGraphicFramePr>
            <a:graphicFrameLocks noChangeAspect="1"/>
          </p:cNvGraphicFramePr>
          <p:nvPr/>
        </p:nvGraphicFramePr>
        <p:xfrm>
          <a:off x="9011627" y="2985230"/>
          <a:ext cx="1603612" cy="344869"/>
        </p:xfrm>
        <a:graphic>
          <a:graphicData uri="http://schemas.openxmlformats.org/presentationml/2006/ole">
            <mc:AlternateContent xmlns:mc="http://schemas.openxmlformats.org/markup-compatibility/2006">
              <mc:Choice xmlns:v="urn:schemas-microsoft-com:vml" Requires="v">
                <p:oleObj spid="_x0000_s21924" r:id="rId14" imgW="1447165" imgH="215900" progId="Equation.DSMT4">
                  <p:embed/>
                </p:oleObj>
              </mc:Choice>
              <mc:Fallback>
                <p:oleObj r:id="rId14" imgW="1447165" imgH="215900" progId="Equation.DSMT4">
                  <p:embed/>
                  <p:pic>
                    <p:nvPicPr>
                      <p:cNvPr id="56" name="对象 55"/>
                      <p:cNvPicPr/>
                      <p:nvPr/>
                    </p:nvPicPr>
                    <p:blipFill>
                      <a:blip r:embed="rId15"/>
                      <a:stretch>
                        <a:fillRect/>
                      </a:stretch>
                    </p:blipFill>
                    <p:spPr>
                      <a:xfrm>
                        <a:off x="9011627" y="2985230"/>
                        <a:ext cx="1603612" cy="344869"/>
                      </a:xfrm>
                      <a:prstGeom prst="rect">
                        <a:avLst/>
                      </a:prstGeom>
                      <a:noFill/>
                      <a:ln w="38100">
                        <a:noFill/>
                        <a:miter/>
                      </a:ln>
                    </p:spPr>
                  </p:pic>
                </p:oleObj>
              </mc:Fallback>
            </mc:AlternateContent>
          </a:graphicData>
        </a:graphic>
      </p:graphicFrame>
      <p:graphicFrame>
        <p:nvGraphicFramePr>
          <p:cNvPr id="15" name="对象 -2147482433"/>
          <p:cNvGraphicFramePr>
            <a:graphicFrameLocks noChangeAspect="1"/>
          </p:cNvGraphicFramePr>
          <p:nvPr/>
        </p:nvGraphicFramePr>
        <p:xfrm>
          <a:off x="8257223" y="3414751"/>
          <a:ext cx="1442248" cy="326395"/>
        </p:xfrm>
        <a:graphic>
          <a:graphicData uri="http://schemas.openxmlformats.org/presentationml/2006/ole">
            <mc:AlternateContent xmlns:mc="http://schemas.openxmlformats.org/markup-compatibility/2006">
              <mc:Choice xmlns:v="urn:schemas-microsoft-com:vml" Requires="v">
                <p:oleObj spid="_x0000_s21925" r:id="rId16" imgW="825500" imgH="190500" progId="Equation.DSMT4">
                  <p:embed/>
                </p:oleObj>
              </mc:Choice>
              <mc:Fallback>
                <p:oleObj r:id="rId16" imgW="825500" imgH="190500" progId="Equation.DSMT4">
                  <p:embed/>
                  <p:pic>
                    <p:nvPicPr>
                      <p:cNvPr id="15" name="对象 -2147482433"/>
                      <p:cNvPicPr/>
                      <p:nvPr/>
                    </p:nvPicPr>
                    <p:blipFill>
                      <a:blip r:embed="rId17"/>
                      <a:stretch>
                        <a:fillRect/>
                      </a:stretch>
                    </p:blipFill>
                    <p:spPr>
                      <a:xfrm>
                        <a:off x="8257223" y="3414751"/>
                        <a:ext cx="1442248" cy="326395"/>
                      </a:xfrm>
                      <a:prstGeom prst="rect">
                        <a:avLst/>
                      </a:prstGeom>
                      <a:noFill/>
                      <a:ln w="38100">
                        <a:noFill/>
                        <a:miter/>
                      </a:ln>
                    </p:spPr>
                  </p:pic>
                </p:oleObj>
              </mc:Fallback>
            </mc:AlternateContent>
          </a:graphicData>
        </a:graphic>
      </p:graphicFrame>
      <p:pic>
        <p:nvPicPr>
          <p:cNvPr id="59" name="图片 182"/>
          <p:cNvPicPr>
            <a:picLocks noChangeAspect="1" noChangeArrowheads="1"/>
          </p:cNvPicPr>
          <p:nvPr/>
        </p:nvPicPr>
        <p:blipFill>
          <a:blip r:embed="rId18" cstate="print"/>
          <a:srcRect/>
          <a:stretch>
            <a:fillRect/>
          </a:stretch>
        </p:blipFill>
        <p:spPr>
          <a:xfrm>
            <a:off x="2287204" y="4506218"/>
            <a:ext cx="1678781" cy="1678781"/>
          </a:xfrm>
          <a:prstGeom prst="rect">
            <a:avLst/>
          </a:prstGeom>
          <a:noFill/>
          <a:ln w="9525">
            <a:noFill/>
            <a:miter lim="800000"/>
            <a:headEnd/>
            <a:tailEnd/>
          </a:ln>
        </p:spPr>
      </p:pic>
      <p:pic>
        <p:nvPicPr>
          <p:cNvPr id="185" name="图片 185"/>
          <p:cNvPicPr>
            <a:picLocks noChangeAspect="1" noChangeArrowheads="1"/>
          </p:cNvPicPr>
          <p:nvPr/>
        </p:nvPicPr>
        <p:blipFill>
          <a:blip r:embed="rId19" cstate="print"/>
          <a:srcRect/>
          <a:stretch>
            <a:fillRect/>
          </a:stretch>
        </p:blipFill>
        <p:spPr>
          <a:xfrm>
            <a:off x="5783118" y="4648639"/>
            <a:ext cx="4228031" cy="1468043"/>
          </a:xfrm>
          <a:prstGeom prst="rect">
            <a:avLst/>
          </a:prstGeom>
          <a:noFill/>
          <a:ln w="9525">
            <a:noFill/>
            <a:miter lim="800000"/>
            <a:headEnd/>
            <a:tailEnd/>
          </a:ln>
        </p:spPr>
      </p:pic>
      <p:sp>
        <p:nvSpPr>
          <p:cNvPr id="60" name="文本框 59"/>
          <p:cNvSpPr txBox="1"/>
          <p:nvPr/>
        </p:nvSpPr>
        <p:spPr>
          <a:xfrm>
            <a:off x="4226697" y="6117489"/>
            <a:ext cx="803251" cy="300531"/>
          </a:xfrm>
          <a:prstGeom prst="rect">
            <a:avLst/>
          </a:prstGeom>
          <a:noFill/>
        </p:spPr>
        <p:txBody>
          <a:bodyPr wrap="square" rtlCol="0">
            <a:spAutoFit/>
          </a:bodyPr>
          <a:lstStyle/>
          <a:p>
            <a:r>
              <a:rPr lang="zh-CN" altLang="en-US" sz="1353"/>
              <a:t>（</a:t>
            </a:r>
            <a:r>
              <a:rPr lang="en-US" altLang="zh-CN" sz="1353"/>
              <a:t>a</a:t>
            </a:r>
            <a:r>
              <a:rPr lang="zh-CN" altLang="en-US" sz="1353"/>
              <a:t>）</a:t>
            </a:r>
          </a:p>
        </p:txBody>
      </p:sp>
      <p:sp>
        <p:nvSpPr>
          <p:cNvPr id="61" name="文本框 60"/>
          <p:cNvSpPr txBox="1"/>
          <p:nvPr/>
        </p:nvSpPr>
        <p:spPr>
          <a:xfrm>
            <a:off x="7625217" y="6029383"/>
            <a:ext cx="803251" cy="300531"/>
          </a:xfrm>
          <a:prstGeom prst="rect">
            <a:avLst/>
          </a:prstGeom>
          <a:noFill/>
        </p:spPr>
        <p:txBody>
          <a:bodyPr wrap="square" rtlCol="0">
            <a:spAutoFit/>
          </a:bodyPr>
          <a:lstStyle/>
          <a:p>
            <a:r>
              <a:rPr lang="zh-CN" altLang="en-US" sz="1353"/>
              <a:t>（</a:t>
            </a:r>
            <a:r>
              <a:rPr lang="en-US" altLang="zh-CN" sz="1353"/>
              <a:t>b</a:t>
            </a:r>
            <a:r>
              <a:rPr lang="zh-CN" altLang="en-US" sz="1353"/>
              <a:t>）</a:t>
            </a:r>
          </a:p>
        </p:txBody>
      </p:sp>
      <p:sp>
        <p:nvSpPr>
          <p:cNvPr id="20" name="标题 1">
            <a:extLst>
              <a:ext uri="{FF2B5EF4-FFF2-40B4-BE49-F238E27FC236}">
                <a16:creationId xmlns:a16="http://schemas.microsoft.com/office/drawing/2014/main" id="{86AC3DC6-55D7-4DCE-954E-D86BFCF8BCDA}"/>
              </a:ext>
            </a:extLst>
          </p:cNvPr>
          <p:cNvSpPr txBox="1">
            <a:spLocks noGrp="1"/>
          </p:cNvSpPr>
          <p:nvPr/>
        </p:nvSpPr>
        <p:spPr>
          <a:xfrm>
            <a:off x="353452" y="194928"/>
            <a:ext cx="6463309"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lvl="0" algn="ctr">
              <a:lnSpc>
                <a:spcPct val="100000"/>
              </a:lnSpc>
              <a:buClrTx/>
              <a:buSzTx/>
              <a:buFontTx/>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数字图像表示与常用概念：图像基本类型</a:t>
            </a:r>
          </a:p>
        </p:txBody>
      </p:sp>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773320" y="1044893"/>
            <a:ext cx="10894423" cy="1826975"/>
          </a:xfrm>
          <a:prstGeom prst="rect">
            <a:avLst/>
          </a:prstGeom>
        </p:spPr>
        <p:txBody>
          <a:bodyPr wrap="square">
            <a:spAutoFit/>
          </a:bodyPr>
          <a:lstStyle/>
          <a:p>
            <a:pPr indent="200655" defTabSz="199808">
              <a:lnSpc>
                <a:spcPct val="150000"/>
              </a:lnSpc>
              <a:spcAft>
                <a:spcPct val="0"/>
              </a:spcAft>
            </a:pPr>
            <a:r>
              <a:rPr lang="zh-CN" altLang="en-US" sz="2133" b="1" dirty="0">
                <a:solidFill>
                  <a:schemeClr val="accent1">
                    <a:lumMod val="50000"/>
                  </a:schemeClr>
                </a:solidFill>
                <a:latin typeface="微软雅黑" panose="020B0503020204020204" pitchFamily="34" charset="-122"/>
                <a:ea typeface="微软雅黑" panose="020B0503020204020204" pitchFamily="34" charset="-122"/>
              </a:rPr>
              <a:t>多光谱和高光谱图像</a:t>
            </a:r>
          </a:p>
          <a:p>
            <a:pPr indent="200655" defTabSz="199808">
              <a:lnSpc>
                <a:spcPct val="150000"/>
              </a:lnSpc>
              <a:spcAft>
                <a:spcPct val="0"/>
              </a:spcAft>
            </a:pPr>
            <a:r>
              <a:rPr lang="en-US" altLang="zh-CN" sz="1867" dirty="0">
                <a:solidFill>
                  <a:srgbClr val="000000"/>
                </a:solidFill>
                <a:latin typeface="微软雅黑" panose="020B0503020204020204" pitchFamily="34" charset="-122"/>
                <a:ea typeface="微软雅黑" panose="020B0503020204020204" pitchFamily="34" charset="-122"/>
              </a:rPr>
              <a:t>   </a:t>
            </a:r>
            <a:r>
              <a:rPr lang="zh-CN" altLang="en-US" sz="1867" dirty="0">
                <a:solidFill>
                  <a:srgbClr val="000000"/>
                </a:solidFill>
                <a:latin typeface="微软雅黑" panose="020B0503020204020204" pitchFamily="34" charset="-122"/>
                <a:ea typeface="微软雅黑" panose="020B0503020204020204" pitchFamily="34" charset="-122"/>
              </a:rPr>
              <a:t>多光谱和高光谱图像可以看作是普通彩色图像的广义形式，均属于多通道（</a:t>
            </a:r>
            <a:r>
              <a:rPr lang="en-US" altLang="zh-CN" sz="1867" dirty="0">
                <a:solidFill>
                  <a:srgbClr val="000000"/>
                </a:solidFill>
                <a:latin typeface="微软雅黑" panose="020B0503020204020204" pitchFamily="34" charset="-122"/>
                <a:ea typeface="微软雅黑" panose="020B0503020204020204" pitchFamily="34" charset="-122"/>
              </a:rPr>
              <a:t>Multi-Channel</a:t>
            </a:r>
            <a:r>
              <a:rPr lang="zh-CN" altLang="en-US" sz="1867" dirty="0">
                <a:solidFill>
                  <a:srgbClr val="000000"/>
                </a:solidFill>
                <a:latin typeface="微软雅黑" panose="020B0503020204020204" pitchFamily="34" charset="-122"/>
                <a:ea typeface="微软雅黑" panose="020B0503020204020204" pitchFamily="34" charset="-122"/>
              </a:rPr>
              <a:t>）图像。</a:t>
            </a:r>
            <a:endParaRPr lang="en-US" altLang="zh-CN" sz="1867" dirty="0">
              <a:solidFill>
                <a:srgbClr val="000000"/>
              </a:solidFill>
              <a:latin typeface="微软雅黑" panose="020B0503020204020204" pitchFamily="34" charset="-122"/>
              <a:ea typeface="微软雅黑" panose="020B0503020204020204" pitchFamily="34" charset="-122"/>
            </a:endParaRPr>
          </a:p>
          <a:p>
            <a:pPr marL="380990" indent="-380990" defTabSz="199808">
              <a:lnSpc>
                <a:spcPct val="150000"/>
              </a:lnSpc>
              <a:spcAft>
                <a:spcPct val="0"/>
              </a:spcAft>
              <a:buFont typeface="Wingdings" panose="05000000000000000000" charset="0"/>
              <a:buChar char="l"/>
            </a:pPr>
            <a:endParaRPr lang="en-US" altLang="zh-CN" sz="1867" dirty="0">
              <a:solidFill>
                <a:srgbClr val="000000"/>
              </a:solidFill>
              <a:latin typeface="微软雅黑" panose="020B0503020204020204" pitchFamily="34" charset="-122"/>
              <a:ea typeface="微软雅黑" panose="020B0503020204020204" pitchFamily="34" charset="-122"/>
            </a:endParaRPr>
          </a:p>
          <a:p>
            <a:pPr marL="380990" indent="-380990" defTabSz="199808">
              <a:lnSpc>
                <a:spcPct val="150000"/>
              </a:lnSpc>
              <a:spcAft>
                <a:spcPct val="0"/>
              </a:spcAft>
              <a:buFont typeface="Wingdings" panose="05000000000000000000" charset="0"/>
              <a:buChar char="l"/>
            </a:pPr>
            <a:r>
              <a:rPr lang="zh-CN" altLang="en-US" sz="1867" dirty="0">
                <a:solidFill>
                  <a:srgbClr val="000000"/>
                </a:solidFill>
                <a:latin typeface="微软雅黑" panose="020B0503020204020204" pitchFamily="34" charset="-122"/>
                <a:ea typeface="微软雅黑" panose="020B0503020204020204" pitchFamily="34" charset="-122"/>
              </a:rPr>
              <a:t>由图像的两个空间方向维和光谱维等三个维度组成。</a:t>
            </a:r>
          </a:p>
        </p:txBody>
      </p:sp>
      <p:pic>
        <p:nvPicPr>
          <p:cNvPr id="35" name="图片 895" descr="Fig.2.7.PNG"/>
          <p:cNvPicPr>
            <a:picLocks noChangeAspect="1" noChangeArrowheads="1"/>
          </p:cNvPicPr>
          <p:nvPr/>
        </p:nvPicPr>
        <p:blipFill>
          <a:blip r:embed="rId3" cstate="print"/>
          <a:srcRect/>
          <a:stretch>
            <a:fillRect/>
          </a:stretch>
        </p:blipFill>
        <p:spPr>
          <a:xfrm>
            <a:off x="3878809" y="3290946"/>
            <a:ext cx="3647039" cy="1788995"/>
          </a:xfrm>
          <a:prstGeom prst="rect">
            <a:avLst/>
          </a:prstGeom>
          <a:noFill/>
          <a:ln w="9525">
            <a:noFill/>
            <a:miter lim="800000"/>
            <a:headEnd/>
            <a:tailEnd/>
          </a:ln>
        </p:spPr>
      </p:pic>
      <p:sp>
        <p:nvSpPr>
          <p:cNvPr id="5" name="文本框 4"/>
          <p:cNvSpPr txBox="1"/>
          <p:nvPr/>
        </p:nvSpPr>
        <p:spPr>
          <a:xfrm>
            <a:off x="3506493" y="4994124"/>
            <a:ext cx="4528185" cy="553879"/>
          </a:xfrm>
          <a:prstGeom prst="rect">
            <a:avLst/>
          </a:prstGeom>
        </p:spPr>
        <p:txBody>
          <a:bodyPr wrap="square">
            <a:noAutofit/>
          </a:bodyPr>
          <a:lstStyle/>
          <a:p>
            <a:pPr algn="ctr" defTabSz="199808">
              <a:lnSpc>
                <a:spcPct val="150000"/>
              </a:lnSpc>
              <a:spcAft>
                <a:spcPct val="0"/>
              </a:spcAft>
            </a:pPr>
            <a:r>
              <a:rPr lang="zh-CN" altLang="en-US"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p>
          <a:p>
            <a:pPr algn="ctr" defTabSz="199808">
              <a:lnSpc>
                <a:spcPct val="150000"/>
              </a:lnSpc>
              <a:spcAft>
                <a:spcPct val="0"/>
              </a:spcAft>
            </a:pPr>
            <a:r>
              <a:rPr lang="zh-CN" altLang="en-US"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高光谱与多光谱图像的比较：</a:t>
            </a:r>
            <a:r>
              <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 </a:t>
            </a:r>
            <a:r>
              <a:rPr lang="zh-CN" altLang="en-US"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高光谱图像，</a:t>
            </a:r>
            <a:r>
              <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 </a:t>
            </a:r>
            <a:r>
              <a:rPr lang="zh-CN" altLang="en-US"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多光谱图像</a:t>
            </a:r>
          </a:p>
        </p:txBody>
      </p:sp>
      <p:sp>
        <p:nvSpPr>
          <p:cNvPr id="8" name="标题 1">
            <a:extLst>
              <a:ext uri="{FF2B5EF4-FFF2-40B4-BE49-F238E27FC236}">
                <a16:creationId xmlns:a16="http://schemas.microsoft.com/office/drawing/2014/main" id="{310EE183-9AF5-4166-8485-0FC7F26039F1}"/>
              </a:ext>
            </a:extLst>
          </p:cNvPr>
          <p:cNvSpPr txBox="1">
            <a:spLocks noGrp="1"/>
          </p:cNvSpPr>
          <p:nvPr/>
        </p:nvSpPr>
        <p:spPr>
          <a:xfrm>
            <a:off x="353452" y="194928"/>
            <a:ext cx="6463309"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lvl="0" algn="ctr">
              <a:lnSpc>
                <a:spcPct val="100000"/>
              </a:lnSpc>
              <a:buClrTx/>
              <a:buSzTx/>
              <a:buFontTx/>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数字图像表示与常用概念：图像基本类型</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4294967295"/>
            <p:custDataLst>
              <p:tags r:id="rId2"/>
            </p:custDataLst>
          </p:nvPr>
        </p:nvSpPr>
        <p:spPr>
          <a:xfrm>
            <a:off x="209006" y="1126581"/>
            <a:ext cx="11401261" cy="5673322"/>
          </a:xfrm>
        </p:spPr>
        <p:txBody>
          <a:bodyPr>
            <a:noAutofit/>
          </a:bodyPr>
          <a:lstStyle/>
          <a:p>
            <a:pPr marL="0" indent="0" algn="l">
              <a:lnSpc>
                <a:spcPct val="150000"/>
              </a:lnSpc>
              <a:buNone/>
            </a:pPr>
            <a:r>
              <a:rPr lang="zh-CN" altLang="en-US" sz="2400" b="1" dirty="0" smtClean="0">
                <a:solidFill>
                  <a:srgbClr val="C00000"/>
                </a:solidFill>
                <a:latin typeface="微软雅黑" panose="020B0503020204020204" pitchFamily="34" charset="-122"/>
                <a:ea typeface="微软雅黑" panose="020B0503020204020204" pitchFamily="34" charset="-122"/>
              </a:rPr>
              <a:t>分辨率：空间</a:t>
            </a:r>
            <a:r>
              <a:rPr lang="zh-CN" altLang="en-US" sz="2400" b="1" dirty="0">
                <a:solidFill>
                  <a:srgbClr val="C00000"/>
                </a:solidFill>
                <a:latin typeface="微软雅黑" panose="020B0503020204020204" pitchFamily="34" charset="-122"/>
                <a:ea typeface="微软雅黑" panose="020B0503020204020204" pitchFamily="34" charset="-122"/>
              </a:rPr>
              <a:t>、光谱、辐射、</a:t>
            </a:r>
            <a:r>
              <a:rPr lang="zh-CN" altLang="en-US" sz="2400" b="1" dirty="0" smtClean="0">
                <a:solidFill>
                  <a:srgbClr val="C00000"/>
                </a:solidFill>
                <a:latin typeface="微软雅黑" panose="020B0503020204020204" pitchFamily="34" charset="-122"/>
                <a:ea typeface="微软雅黑" panose="020B0503020204020204" pitchFamily="34" charset="-122"/>
              </a:rPr>
              <a:t>时间</a:t>
            </a:r>
            <a:endParaRPr lang="zh-CN" altLang="en-US" sz="2400" b="1" dirty="0"/>
          </a:p>
          <a:p>
            <a:pPr>
              <a:lnSpc>
                <a:spcPct val="150000"/>
              </a:lnSpc>
              <a:buFont typeface="Wingdings" panose="05000000000000000000" pitchFamily="2" charset="2"/>
              <a:buChar char="n"/>
            </a:pPr>
            <a:r>
              <a:rPr lang="en-US" altLang="en-US" sz="2000" b="1" dirty="0" err="1">
                <a:solidFill>
                  <a:schemeClr val="accent1">
                    <a:lumMod val="50000"/>
                  </a:schemeClr>
                </a:solidFill>
                <a:latin typeface="Microsoft YaHei UI" panose="020B0503020204020204" charset="-122"/>
                <a:ea typeface="Microsoft YaHei UI" panose="020B0503020204020204" charset="-122"/>
                <a:cs typeface="Microsoft YaHei UI" panose="020B0503020204020204" charset="-122"/>
              </a:rPr>
              <a:t>空间分辨率</a:t>
            </a:r>
            <a:r>
              <a:rPr lang="zh-CN" altLang="en-US" sz="2000" dirty="0" smtClean="0"/>
              <a:t>：</a:t>
            </a:r>
            <a:r>
              <a:rPr lang="zh-CN" altLang="en-US" sz="2000" b="1" dirty="0" smtClean="0">
                <a:solidFill>
                  <a:schemeClr val="accent1">
                    <a:lumMod val="50000"/>
                  </a:schemeClr>
                </a:solidFill>
                <a:latin typeface="微软雅黑" panose="020B0503020204020204" pitchFamily="34" charset="-122"/>
                <a:ea typeface="微软雅黑" panose="020B0503020204020204" pitchFamily="34" charset="-122"/>
              </a:rPr>
              <a:t>分辨</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两个相邻目标最小距离的尺度，</a:t>
            </a:r>
            <a:r>
              <a:rPr lang="zh-CN" altLang="en-US" sz="2000" b="1" dirty="0" smtClean="0">
                <a:solidFill>
                  <a:schemeClr val="accent1">
                    <a:lumMod val="50000"/>
                  </a:schemeClr>
                </a:solidFill>
                <a:latin typeface="微软雅黑" panose="020B0503020204020204" pitchFamily="34" charset="-122"/>
                <a:ea typeface="微软雅黑" panose="020B0503020204020204" pitchFamily="34" charset="-122"/>
              </a:rPr>
              <a:t>或一</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个像素</a:t>
            </a:r>
            <a:r>
              <a:rPr lang="zh-CN" altLang="en-US" sz="2000" b="1" dirty="0" smtClean="0">
                <a:solidFill>
                  <a:schemeClr val="accent1">
                    <a:lumMod val="50000"/>
                  </a:schemeClr>
                </a:solidFill>
                <a:latin typeface="微软雅黑" panose="020B0503020204020204" pitchFamily="34" charset="-122"/>
                <a:ea typeface="微软雅黑" panose="020B0503020204020204" pitchFamily="34" charset="-122"/>
              </a:rPr>
              <a:t>点代表</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的目标</a:t>
            </a:r>
            <a:r>
              <a:rPr lang="zh-CN" altLang="en-US" sz="2000" b="1" dirty="0" smtClean="0">
                <a:solidFill>
                  <a:schemeClr val="accent1">
                    <a:lumMod val="50000"/>
                  </a:schemeClr>
                </a:solidFill>
                <a:latin typeface="微软雅黑" panose="020B0503020204020204" pitchFamily="34" charset="-122"/>
                <a:ea typeface="微软雅黑" panose="020B0503020204020204" pitchFamily="34" charset="-122"/>
              </a:rPr>
              <a:t>实际尺寸。</a:t>
            </a:r>
            <a:endParaRPr lang="zh-CN" altLang="en-US" sz="2000" b="1" dirty="0">
              <a:solidFill>
                <a:schemeClr val="accent1">
                  <a:lumMod val="50000"/>
                </a:schemeClr>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solidFill>
                  <a:srgbClr val="FF0000"/>
                </a:solidFill>
                <a:latin typeface="微软雅黑" panose="020B0503020204020204" pitchFamily="34" charset="-122"/>
                <a:ea typeface="微软雅黑" panose="020B0503020204020204" pitchFamily="34" charset="-122"/>
              </a:rPr>
              <a:t>例子：</a:t>
            </a:r>
            <a:r>
              <a:rPr lang="zh-CN" altLang="en-US" sz="2000" dirty="0">
                <a:solidFill>
                  <a:srgbClr val="000000"/>
                </a:solidFill>
                <a:latin typeface="微软雅黑" panose="020B0503020204020204" pitchFamily="34" charset="-122"/>
                <a:ea typeface="微软雅黑" panose="020B0503020204020204" pitchFamily="34" charset="-122"/>
              </a:rPr>
              <a:t>对同一成像区域</a:t>
            </a:r>
            <a:r>
              <a:rPr lang="zh-CN" altLang="en-US" sz="2000" dirty="0" smtClean="0">
                <a:solidFill>
                  <a:srgbClr val="000000"/>
                </a:solidFill>
                <a:latin typeface="微软雅黑" panose="020B0503020204020204" pitchFamily="34" charset="-122"/>
                <a:ea typeface="微软雅黑" panose="020B0503020204020204" pitchFamily="34" charset="-122"/>
              </a:rPr>
              <a:t>，像素</a:t>
            </a:r>
            <a:r>
              <a:rPr lang="zh-CN" altLang="en-US" sz="2000" dirty="0">
                <a:solidFill>
                  <a:srgbClr val="000000"/>
                </a:solidFill>
                <a:latin typeface="微软雅黑" panose="020B0503020204020204" pitchFamily="34" charset="-122"/>
                <a:ea typeface="微软雅黑" panose="020B0503020204020204" pitchFamily="34" charset="-122"/>
              </a:rPr>
              <a:t>个数越多，空间分辨率越高。在卫星遥感中，图像空间分辨率可达30米到0</a:t>
            </a:r>
            <a:r>
              <a:rPr lang="zh-CN" altLang="en-US" sz="2000" dirty="0" smtClean="0">
                <a:solidFill>
                  <a:srgbClr val="000000"/>
                </a:solidFill>
                <a:latin typeface="微软雅黑" panose="020B0503020204020204" pitchFamily="34" charset="-122"/>
                <a:ea typeface="微软雅黑" panose="020B0503020204020204" pitchFamily="34" charset="-122"/>
              </a:rPr>
              <a:t>.</a:t>
            </a:r>
            <a:r>
              <a:rPr lang="en-US" altLang="zh-CN" sz="2000" dirty="0" smtClean="0">
                <a:solidFill>
                  <a:srgbClr val="000000"/>
                </a:solidFill>
                <a:latin typeface="微软雅黑" panose="020B0503020204020204" pitchFamily="34" charset="-122"/>
                <a:ea typeface="微软雅黑" panose="020B0503020204020204" pitchFamily="34" charset="-122"/>
              </a:rPr>
              <a:t>1</a:t>
            </a:r>
            <a:r>
              <a:rPr lang="zh-CN" altLang="en-US" sz="2000" dirty="0" smtClean="0">
                <a:solidFill>
                  <a:srgbClr val="000000"/>
                </a:solidFill>
                <a:latin typeface="微软雅黑" panose="020B0503020204020204" pitchFamily="34" charset="-122"/>
                <a:ea typeface="微软雅黑" panose="020B0503020204020204" pitchFamily="34" charset="-122"/>
              </a:rPr>
              <a:t>米</a:t>
            </a:r>
            <a:r>
              <a:rPr lang="zh-CN" altLang="en-US" sz="2000" dirty="0">
                <a:solidFill>
                  <a:srgbClr val="000000"/>
                </a:solidFill>
                <a:latin typeface="微软雅黑" panose="020B0503020204020204" pitchFamily="34" charset="-122"/>
                <a:ea typeface="微软雅黑" panose="020B0503020204020204" pitchFamily="34" charset="-122"/>
              </a:rPr>
              <a:t>不等。</a:t>
            </a:r>
          </a:p>
          <a:p>
            <a:pPr>
              <a:lnSpc>
                <a:spcPct val="150000"/>
              </a:lnSpc>
              <a:buFont typeface="Wingdings" panose="05000000000000000000" pitchFamily="2" charset="2"/>
              <a:buChar char="n"/>
            </a:pPr>
            <a:r>
              <a:rPr lang="en-US" altLang="en-US" sz="2000" b="1" dirty="0" err="1" smtClean="0">
                <a:solidFill>
                  <a:schemeClr val="accent1">
                    <a:lumMod val="50000"/>
                  </a:schemeClr>
                </a:solidFill>
                <a:latin typeface="Microsoft YaHei UI" panose="020B0503020204020204" charset="-122"/>
                <a:ea typeface="Microsoft YaHei UI" panose="020B0503020204020204" charset="-122"/>
                <a:cs typeface="Microsoft YaHei UI" panose="020B0503020204020204" charset="-122"/>
                <a:sym typeface="+mn-ea"/>
              </a:rPr>
              <a:t>光谱分辨率</a:t>
            </a:r>
            <a:r>
              <a:rPr lang="zh-CN" altLang="en-US" sz="2000" dirty="0" smtClean="0">
                <a:sym typeface="+mn-ea"/>
              </a:rPr>
              <a:t>：</a:t>
            </a:r>
            <a:r>
              <a:rPr lang="zh-CN" altLang="en-US" sz="2000" dirty="0" smtClean="0">
                <a:solidFill>
                  <a:srgbClr val="000000"/>
                </a:solidFill>
                <a:latin typeface="微软雅黑" panose="020B0503020204020204" pitchFamily="34" charset="-122"/>
                <a:ea typeface="微软雅黑" panose="020B0503020204020204" pitchFamily="34" charset="-122"/>
                <a:sym typeface="+mn-ea"/>
              </a:rPr>
              <a:t>传感器</a:t>
            </a:r>
            <a:r>
              <a:rPr lang="zh-CN" altLang="en-US" sz="2000" dirty="0">
                <a:solidFill>
                  <a:srgbClr val="000000"/>
                </a:solidFill>
                <a:latin typeface="微软雅黑" panose="020B0503020204020204" pitchFamily="34" charset="-122"/>
                <a:ea typeface="微软雅黑" panose="020B0503020204020204" pitchFamily="34" charset="-122"/>
                <a:sym typeface="+mn-ea"/>
              </a:rPr>
              <a:t>能感应到的电磁频谱带宽决定，即特定中心波长左右两边的间隔大小。</a:t>
            </a:r>
            <a:endParaRPr lang="zh-CN" altLang="en-US" sz="2000" dirty="0">
              <a:solidFill>
                <a:srgbClr val="000000"/>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solidFill>
                  <a:srgbClr val="FF0000"/>
                </a:solidFill>
                <a:latin typeface="微软雅黑" panose="020B0503020204020204" pitchFamily="34" charset="-122"/>
                <a:ea typeface="微软雅黑" panose="020B0503020204020204" pitchFamily="34" charset="-122"/>
              </a:rPr>
              <a:t>例子：</a:t>
            </a:r>
            <a:r>
              <a:rPr lang="zh-CN" altLang="en-US" sz="2000" dirty="0">
                <a:latin typeface="微软雅黑" panose="020B0503020204020204" pitchFamily="34" charset="-122"/>
                <a:ea typeface="微软雅黑" panose="020B0503020204020204" pitchFamily="34" charset="-122"/>
              </a:rPr>
              <a:t>成像电磁波段内的光谱波段数越多</a:t>
            </a:r>
            <a:r>
              <a:rPr lang="zh-CN" altLang="en-US" sz="2000" dirty="0" smtClean="0">
                <a:latin typeface="微软雅黑" panose="020B0503020204020204" pitchFamily="34" charset="-122"/>
                <a:ea typeface="微软雅黑" panose="020B0503020204020204" pitchFamily="34" charset="-122"/>
              </a:rPr>
              <a:t>，光谱</a:t>
            </a:r>
            <a:r>
              <a:rPr lang="zh-CN" altLang="en-US" sz="2000" dirty="0">
                <a:latin typeface="微软雅黑" panose="020B0503020204020204" pitchFamily="34" charset="-122"/>
                <a:ea typeface="微软雅黑" panose="020B0503020204020204" pitchFamily="34" charset="-122"/>
              </a:rPr>
              <a:t>分辨率越高</a:t>
            </a:r>
            <a:r>
              <a:rPr lang="zh-CN" altLang="en-US" sz="2000" dirty="0" smtClean="0">
                <a:latin typeface="微软雅黑" panose="020B0503020204020204" pitchFamily="34" charset="-122"/>
                <a:ea typeface="微软雅黑" panose="020B0503020204020204" pitchFamily="34" charset="-122"/>
              </a:rPr>
              <a:t>。高</a:t>
            </a:r>
            <a:r>
              <a:rPr lang="zh-CN" altLang="en-US" sz="2000" dirty="0">
                <a:latin typeface="微软雅黑" panose="020B0503020204020204" pitchFamily="34" charset="-122"/>
                <a:ea typeface="微软雅黑" panose="020B0503020204020204" pitchFamily="34" charset="-122"/>
              </a:rPr>
              <a:t>光谱图像的光谱分辨率可达</a:t>
            </a:r>
            <a:r>
              <a:rPr lang="zh-CN" altLang="en-US" sz="2000" dirty="0" smtClean="0">
                <a:latin typeface="微软雅黑" panose="020B0503020204020204" pitchFamily="34" charset="-122"/>
                <a:ea typeface="微软雅黑" panose="020B0503020204020204" pitchFamily="34" charset="-122"/>
              </a:rPr>
              <a:t>纳米级</a:t>
            </a:r>
            <a:r>
              <a:rPr lang="zh-CN" altLang="en-US" sz="2000" dirty="0">
                <a:latin typeface="微软雅黑" panose="020B0503020204020204" pitchFamily="34" charset="-122"/>
                <a:ea typeface="微软雅黑" panose="020B0503020204020204" pitchFamily="34" charset="-122"/>
              </a:rPr>
              <a:t>。</a:t>
            </a:r>
          </a:p>
        </p:txBody>
      </p:sp>
      <p:sp>
        <p:nvSpPr>
          <p:cNvPr id="6" name="标题 1">
            <a:extLst>
              <a:ext uri="{FF2B5EF4-FFF2-40B4-BE49-F238E27FC236}">
                <a16:creationId xmlns:a16="http://schemas.microsoft.com/office/drawing/2014/main" id="{0A444D48-22FE-4060-A7FB-60ADE7824492}"/>
              </a:ext>
            </a:extLst>
          </p:cNvPr>
          <p:cNvSpPr txBox="1">
            <a:spLocks noGrp="1"/>
          </p:cNvSpPr>
          <p:nvPr/>
        </p:nvSpPr>
        <p:spPr>
          <a:xfrm>
            <a:off x="353452" y="194928"/>
            <a:ext cx="6463309" cy="430887"/>
          </a:xfrm>
          <a:prstGeom prst="rect">
            <a:avLst/>
          </a:prstGeom>
          <a:noFill/>
        </p:spPr>
        <p:txBody>
          <a:bodyPr vert="horz" wrap="none" lIns="0" tIns="0" rIns="0" bIns="0" rtlCol="0" anchor="t">
            <a:sp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lvl="0" algn="ctr">
              <a:lnSpc>
                <a:spcPct val="100000"/>
              </a:lnSpc>
              <a:buClrTx/>
              <a:buSzTx/>
              <a:buFontTx/>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数字图像表示与常用概念：图像基本类型</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ctrTitle" idx="4294967295"/>
            <p:custDataLst>
              <p:tags r:id="rId3"/>
            </p:custDataLst>
          </p:nvPr>
        </p:nvSpPr>
        <p:spPr>
          <a:xfrm>
            <a:off x="393797" y="124194"/>
            <a:ext cx="7725192" cy="523220"/>
          </a:xfrm>
          <a:noFill/>
        </p:spPr>
        <p:txBody>
          <a:bodyPr wrap="none" rtlCol="0">
            <a:spAutoFit/>
          </a:bodyPr>
          <a:lstStyle/>
          <a:p>
            <a:pPr algn="ctr" defTabSz="914400" eaLnBrk="1" hangingPunct="1">
              <a:lnSpc>
                <a:spcPct val="100000"/>
              </a:lnSpc>
            </a:pPr>
            <a:r>
              <a:rPr lang="zh-CN" altLang="en-US" sz="2800" b="1" dirty="0">
                <a:solidFill>
                  <a:srgbClr val="0C4379"/>
                </a:solidFill>
                <a:latin typeface="微软雅黑" panose="020B0503020204020204" pitchFamily="34" charset="-122"/>
                <a:ea typeface="微软雅黑" panose="020B0503020204020204" pitchFamily="34" charset="-122"/>
                <a:cs typeface="+mn-cs"/>
                <a:sym typeface="+mn-ea"/>
              </a:rPr>
              <a:t>数字图像表示与常用概念：数字图像的拓扑距离</a:t>
            </a:r>
          </a:p>
        </p:txBody>
      </p:sp>
      <p:sp>
        <p:nvSpPr>
          <p:cNvPr id="11" name="Slide Number Placeholder 3"/>
          <p:cNvSpPr>
            <a:spLocks noGrp="1"/>
          </p:cNvSpPr>
          <p:nvPr>
            <p:ph type="sldNum" sz="quarter" idx="4294967295"/>
          </p:nvPr>
        </p:nvSpPr>
        <p:spPr>
          <a:xfrm>
            <a:off x="7993381" y="8272939"/>
            <a:ext cx="2162175" cy="273844"/>
          </a:xfrm>
        </p:spPr>
        <p:txBody>
          <a:bodyPr/>
          <a:lstStyle/>
          <a:p>
            <a:fld id="{48F63A3B-78C7-47BE-AE5E-E10140E04643}" type="slidenum">
              <a:rPr lang="en-US" dirty="0"/>
              <a:t>28</a:t>
            </a:fld>
            <a:endParaRPr lang="en-US" dirty="0"/>
          </a:p>
        </p:txBody>
      </p:sp>
      <p:sp>
        <p:nvSpPr>
          <p:cNvPr id="19" name="文本框 18"/>
          <p:cNvSpPr txBox="1"/>
          <p:nvPr/>
        </p:nvSpPr>
        <p:spPr>
          <a:xfrm>
            <a:off x="731520" y="1021224"/>
            <a:ext cx="10721993" cy="472565"/>
          </a:xfrm>
          <a:prstGeom prst="rect">
            <a:avLst/>
          </a:prstGeom>
        </p:spPr>
        <p:txBody>
          <a:bodyPr wrap="square">
            <a:spAutoFit/>
          </a:bodyPr>
          <a:lstStyle/>
          <a:p>
            <a:pPr algn="just" defTabSz="199808">
              <a:lnSpc>
                <a:spcPct val="150000"/>
              </a:lnSpc>
              <a:spcAft>
                <a:spcPct val="0"/>
              </a:spcAft>
            </a:pPr>
            <a:r>
              <a:rPr lang="zh-CN" altLang="en-US" sz="1867" dirty="0" smtClean="0">
                <a:solidFill>
                  <a:srgbClr val="000000"/>
                </a:solidFill>
                <a:latin typeface="微软雅黑" panose="020B0503020204020204" pitchFamily="34" charset="-122"/>
                <a:ea typeface="微软雅黑" panose="020B0503020204020204" pitchFamily="34" charset="-122"/>
              </a:rPr>
              <a:t>计算</a:t>
            </a:r>
            <a:r>
              <a:rPr lang="zh-CN" altLang="en-US" sz="1867" dirty="0">
                <a:solidFill>
                  <a:srgbClr val="000000"/>
                </a:solidFill>
                <a:latin typeface="微软雅黑" panose="020B0503020204020204" pitchFamily="34" charset="-122"/>
                <a:ea typeface="微软雅黑" panose="020B0503020204020204" pitchFamily="34" charset="-122"/>
              </a:rPr>
              <a:t>数字图像中两个像素之间的远近关系，此时需要定义像素之间的距离</a:t>
            </a:r>
            <a:r>
              <a:rPr lang="zh-CN" altLang="en-US" sz="1400" dirty="0">
                <a:solidFill>
                  <a:srgbClr val="000000"/>
                </a:solidFill>
                <a:latin typeface="宋体" panose="02010600030101010101" pitchFamily="2" charset="-122"/>
                <a:ea typeface="宋体" panose="02010600030101010101" pitchFamily="2" charset="-122"/>
              </a:rPr>
              <a:t>。</a:t>
            </a:r>
            <a:endParaRPr lang="zh-CN" altLang="en-US" sz="1200" dirty="0">
              <a:solidFill>
                <a:srgbClr val="000000"/>
              </a:solidFill>
              <a:latin typeface="宋体" panose="02010600030101010101" pitchFamily="2" charset="-122"/>
              <a:ea typeface="宋体" panose="02010600030101010101" pitchFamily="2" charset="-122"/>
            </a:endParaRPr>
          </a:p>
        </p:txBody>
      </p:sp>
      <p:sp>
        <p:nvSpPr>
          <p:cNvPr id="22" name="文本框 21"/>
          <p:cNvSpPr txBox="1"/>
          <p:nvPr/>
        </p:nvSpPr>
        <p:spPr>
          <a:xfrm>
            <a:off x="807038" y="1816341"/>
            <a:ext cx="1426496" cy="584712"/>
          </a:xfrm>
          <a:prstGeom prst="rect">
            <a:avLst/>
          </a:prstGeom>
        </p:spPr>
        <p:txBody>
          <a:bodyPr wrap="square">
            <a:spAutoFit/>
          </a:bodyPr>
          <a:lstStyle/>
          <a:p>
            <a:pPr algn="just" defTabSz="199808">
              <a:lnSpc>
                <a:spcPct val="150000"/>
              </a:lnSpc>
              <a:spcAft>
                <a:spcPts val="153"/>
              </a:spcAft>
            </a:pPr>
            <a:r>
              <a:rPr lang="zh-CN" altLang="en-US" sz="2133" b="1" dirty="0">
                <a:solidFill>
                  <a:schemeClr val="accent1">
                    <a:lumMod val="50000"/>
                  </a:schemeClr>
                </a:solidFill>
                <a:latin typeface="微软雅黑" panose="020B0503020204020204" pitchFamily="34" charset="-122"/>
                <a:ea typeface="微软雅黑" panose="020B0503020204020204" pitchFamily="34" charset="-122"/>
              </a:rPr>
              <a:t>欧氏距离</a:t>
            </a:r>
          </a:p>
        </p:txBody>
      </p:sp>
      <p:graphicFrame>
        <p:nvGraphicFramePr>
          <p:cNvPr id="5" name="对象 -2147482425"/>
          <p:cNvGraphicFramePr>
            <a:graphicFrameLocks noChangeAspect="1"/>
          </p:cNvGraphicFramePr>
          <p:nvPr>
            <p:extLst>
              <p:ext uri="{D42A27DB-BD31-4B8C-83A1-F6EECF244321}">
                <p14:modId xmlns:p14="http://schemas.microsoft.com/office/powerpoint/2010/main" val="1146578868"/>
              </p:ext>
            </p:extLst>
          </p:nvPr>
        </p:nvGraphicFramePr>
        <p:xfrm>
          <a:off x="2538282" y="1816341"/>
          <a:ext cx="4777904" cy="595809"/>
        </p:xfrm>
        <a:graphic>
          <a:graphicData uri="http://schemas.openxmlformats.org/presentationml/2006/ole">
            <mc:AlternateContent xmlns:mc="http://schemas.openxmlformats.org/markup-compatibility/2006">
              <mc:Choice xmlns:v="urn:schemas-microsoft-com:vml" Requires="v">
                <p:oleObj spid="_x0000_s23681" r:id="rId5" imgW="2044700" imgH="279400" progId="Equation.DSMT4">
                  <p:embed/>
                </p:oleObj>
              </mc:Choice>
              <mc:Fallback>
                <p:oleObj r:id="rId5" imgW="2044700" imgH="279400" progId="Equation.DSMT4">
                  <p:embed/>
                  <p:pic>
                    <p:nvPicPr>
                      <p:cNvPr id="5" name="对象 -2147482425"/>
                      <p:cNvPicPr/>
                      <p:nvPr/>
                    </p:nvPicPr>
                    <p:blipFill>
                      <a:blip r:embed="rId6"/>
                      <a:stretch>
                        <a:fillRect/>
                      </a:stretch>
                    </p:blipFill>
                    <p:spPr>
                      <a:xfrm>
                        <a:off x="2538282" y="1816341"/>
                        <a:ext cx="4777904" cy="595809"/>
                      </a:xfrm>
                      <a:prstGeom prst="rect">
                        <a:avLst/>
                      </a:prstGeom>
                      <a:noFill/>
                      <a:ln w="38100">
                        <a:noFill/>
                        <a:miter/>
                      </a:ln>
                    </p:spPr>
                  </p:pic>
                </p:oleObj>
              </mc:Fallback>
            </mc:AlternateContent>
          </a:graphicData>
        </a:graphic>
      </p:graphicFrame>
      <p:sp>
        <p:nvSpPr>
          <p:cNvPr id="34" name="文本框 33"/>
          <p:cNvSpPr txBox="1"/>
          <p:nvPr/>
        </p:nvSpPr>
        <p:spPr>
          <a:xfrm>
            <a:off x="1871703" y="4321012"/>
            <a:ext cx="8437708" cy="744050"/>
          </a:xfrm>
          <a:prstGeom prst="rect">
            <a:avLst/>
          </a:prstGeom>
        </p:spPr>
        <p:txBody>
          <a:bodyPr wrap="square">
            <a:spAutoFit/>
          </a:bodyPr>
          <a:lstStyle/>
          <a:p>
            <a:pPr indent="199808" algn="just" defTabSz="199808">
              <a:lnSpc>
                <a:spcPct val="150000"/>
              </a:lnSpc>
              <a:spcAft>
                <a:spcPct val="0"/>
              </a:spcAft>
            </a:pPr>
            <a:r>
              <a:rPr lang="en-US" altLang="zh-CN" sz="1500" dirty="0">
                <a:solidFill>
                  <a:srgbClr val="000000"/>
                </a:solidFill>
                <a:latin typeface="微软雅黑" panose="020B0503020204020204" pitchFamily="34" charset="-122"/>
                <a:ea typeface="微软雅黑" panose="020B0503020204020204" pitchFamily="34" charset="-122"/>
              </a:rPr>
              <a:t>     </a:t>
            </a:r>
          </a:p>
          <a:p>
            <a:pPr indent="199808" algn="just" defTabSz="199808">
              <a:lnSpc>
                <a:spcPct val="150000"/>
              </a:lnSpc>
              <a:spcAft>
                <a:spcPct val="0"/>
              </a:spcAft>
            </a:pPr>
            <a:r>
              <a:rPr lang="en-US" altLang="zh-CN" sz="1500" dirty="0">
                <a:solidFill>
                  <a:srgbClr val="000000"/>
                </a:solidFill>
                <a:latin typeface="微软雅黑" panose="020B0503020204020204" pitchFamily="34" charset="-122"/>
                <a:ea typeface="微软雅黑" panose="020B0503020204020204" pitchFamily="34" charset="-122"/>
              </a:rPr>
              <a:t> </a:t>
            </a:r>
            <a:endParaRPr lang="zh-CN" altLang="en-US" sz="1867" dirty="0">
              <a:solidFill>
                <a:srgbClr val="00000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807038" y="2902144"/>
            <a:ext cx="1426496" cy="584712"/>
          </a:xfrm>
          <a:prstGeom prst="rect">
            <a:avLst/>
          </a:prstGeom>
        </p:spPr>
        <p:txBody>
          <a:bodyPr wrap="square">
            <a:spAutoFit/>
          </a:bodyPr>
          <a:lstStyle/>
          <a:p>
            <a:pPr algn="just" defTabSz="199808">
              <a:lnSpc>
                <a:spcPct val="150000"/>
              </a:lnSpc>
              <a:spcAft>
                <a:spcPts val="153"/>
              </a:spcAft>
            </a:pPr>
            <a:r>
              <a:rPr lang="zh-CN" altLang="en-US" sz="2133" b="1" dirty="0">
                <a:solidFill>
                  <a:schemeClr val="accent1">
                    <a:lumMod val="50000"/>
                  </a:schemeClr>
                </a:solidFill>
                <a:latin typeface="微软雅黑" panose="020B0503020204020204" pitchFamily="34" charset="-122"/>
                <a:ea typeface="微软雅黑" panose="020B0503020204020204" pitchFamily="34" charset="-122"/>
              </a:rPr>
              <a:t>街区距离</a:t>
            </a:r>
          </a:p>
        </p:txBody>
      </p:sp>
      <p:graphicFrame>
        <p:nvGraphicFramePr>
          <p:cNvPr id="13" name="对象 -2147482424"/>
          <p:cNvGraphicFramePr>
            <a:graphicFrameLocks noChangeAspect="1"/>
          </p:cNvGraphicFramePr>
          <p:nvPr>
            <p:extLst>
              <p:ext uri="{D42A27DB-BD31-4B8C-83A1-F6EECF244321}">
                <p14:modId xmlns:p14="http://schemas.microsoft.com/office/powerpoint/2010/main" val="2580881993"/>
              </p:ext>
            </p:extLst>
          </p:nvPr>
        </p:nvGraphicFramePr>
        <p:xfrm>
          <a:off x="2534527" y="2983587"/>
          <a:ext cx="4781659" cy="555928"/>
        </p:xfrm>
        <a:graphic>
          <a:graphicData uri="http://schemas.openxmlformats.org/presentationml/2006/ole">
            <mc:AlternateContent xmlns:mc="http://schemas.openxmlformats.org/markup-compatibility/2006">
              <mc:Choice xmlns:v="urn:schemas-microsoft-com:vml" Requires="v">
                <p:oleObj spid="_x0000_s23682" r:id="rId7" imgW="1726565" imgH="215900" progId="Equation.DSMT4">
                  <p:embed/>
                </p:oleObj>
              </mc:Choice>
              <mc:Fallback>
                <p:oleObj r:id="rId7" imgW="1726565" imgH="215900" progId="Equation.DSMT4">
                  <p:embed/>
                  <p:pic>
                    <p:nvPicPr>
                      <p:cNvPr id="3" name="对象 -2147482424"/>
                      <p:cNvPicPr/>
                      <p:nvPr/>
                    </p:nvPicPr>
                    <p:blipFill>
                      <a:blip r:embed="rId8"/>
                      <a:stretch>
                        <a:fillRect/>
                      </a:stretch>
                    </p:blipFill>
                    <p:spPr>
                      <a:xfrm>
                        <a:off x="2534527" y="2983587"/>
                        <a:ext cx="4781659" cy="555928"/>
                      </a:xfrm>
                      <a:prstGeom prst="rect">
                        <a:avLst/>
                      </a:prstGeom>
                      <a:noFill/>
                      <a:ln w="38100">
                        <a:noFill/>
                        <a:miter/>
                      </a:ln>
                    </p:spPr>
                  </p:pic>
                </p:oleObj>
              </mc:Fallback>
            </mc:AlternateContent>
          </a:graphicData>
        </a:graphic>
      </p:graphicFrame>
      <p:sp>
        <p:nvSpPr>
          <p:cNvPr id="14" name="文本框 13"/>
          <p:cNvSpPr txBox="1"/>
          <p:nvPr/>
        </p:nvSpPr>
        <p:spPr>
          <a:xfrm>
            <a:off x="807038" y="4236682"/>
            <a:ext cx="1501447" cy="584712"/>
          </a:xfrm>
          <a:prstGeom prst="rect">
            <a:avLst/>
          </a:prstGeom>
        </p:spPr>
        <p:txBody>
          <a:bodyPr wrap="square">
            <a:spAutoFit/>
          </a:bodyPr>
          <a:lstStyle/>
          <a:p>
            <a:pPr algn="just" defTabSz="199808">
              <a:lnSpc>
                <a:spcPct val="150000"/>
              </a:lnSpc>
              <a:spcAft>
                <a:spcPts val="153"/>
              </a:spcAft>
            </a:pPr>
            <a:r>
              <a:rPr lang="zh-CN" altLang="en-US" sz="2133" b="1" dirty="0">
                <a:solidFill>
                  <a:schemeClr val="accent1">
                    <a:lumMod val="50000"/>
                  </a:schemeClr>
                </a:solidFill>
                <a:latin typeface="微软雅黑" panose="020B0503020204020204" pitchFamily="34" charset="-122"/>
                <a:ea typeface="微软雅黑" panose="020B0503020204020204" pitchFamily="34" charset="-122"/>
              </a:rPr>
              <a:t>棋盘距离</a:t>
            </a:r>
          </a:p>
        </p:txBody>
      </p:sp>
      <p:graphicFrame>
        <p:nvGraphicFramePr>
          <p:cNvPr id="15" name="对象 -2147482423"/>
          <p:cNvGraphicFramePr>
            <a:graphicFrameLocks noChangeAspect="1"/>
          </p:cNvGraphicFramePr>
          <p:nvPr>
            <p:extLst>
              <p:ext uri="{D42A27DB-BD31-4B8C-83A1-F6EECF244321}">
                <p14:modId xmlns:p14="http://schemas.microsoft.com/office/powerpoint/2010/main" val="167270888"/>
              </p:ext>
            </p:extLst>
          </p:nvPr>
        </p:nvGraphicFramePr>
        <p:xfrm>
          <a:off x="2534527" y="4263622"/>
          <a:ext cx="4940693" cy="599233"/>
        </p:xfrm>
        <a:graphic>
          <a:graphicData uri="http://schemas.openxmlformats.org/presentationml/2006/ole">
            <mc:AlternateContent xmlns:mc="http://schemas.openxmlformats.org/markup-compatibility/2006">
              <mc:Choice xmlns:v="urn:schemas-microsoft-com:vml" Requires="v">
                <p:oleObj spid="_x0000_s23683" r:id="rId9" imgW="1993900" imgH="241300" progId="Equation.DSMT4">
                  <p:embed/>
                </p:oleObj>
              </mc:Choice>
              <mc:Fallback>
                <p:oleObj r:id="rId9" imgW="1993900" imgH="241300" progId="Equation.DSMT4">
                  <p:embed/>
                  <p:pic>
                    <p:nvPicPr>
                      <p:cNvPr id="7" name="对象 -2147482423"/>
                      <p:cNvPicPr/>
                      <p:nvPr/>
                    </p:nvPicPr>
                    <p:blipFill>
                      <a:blip r:embed="rId10"/>
                      <a:stretch>
                        <a:fillRect/>
                      </a:stretch>
                    </p:blipFill>
                    <p:spPr>
                      <a:xfrm>
                        <a:off x="2534527" y="4263622"/>
                        <a:ext cx="4940693" cy="599233"/>
                      </a:xfrm>
                      <a:prstGeom prst="rect">
                        <a:avLst/>
                      </a:prstGeom>
                      <a:noFill/>
                      <a:ln w="38100">
                        <a:noFill/>
                        <a:miter/>
                      </a:ln>
                    </p:spPr>
                  </p:pic>
                </p:oleObj>
              </mc:Fallback>
            </mc:AlternateContent>
          </a:graphicData>
        </a:graphic>
      </p:graphicFrame>
      <p:sp>
        <p:nvSpPr>
          <p:cNvPr id="4" name="矩形 3"/>
          <p:cNvSpPr/>
          <p:nvPr/>
        </p:nvSpPr>
        <p:spPr>
          <a:xfrm>
            <a:off x="3170347" y="4833579"/>
            <a:ext cx="3877985" cy="369332"/>
          </a:xfrm>
          <a:prstGeom prst="rect">
            <a:avLst/>
          </a:prstGeom>
        </p:spPr>
        <p:txBody>
          <a:bodyPr wrap="none">
            <a:spAutoFit/>
          </a:bodyPr>
          <a:lstStyle/>
          <a:p>
            <a:r>
              <a:rPr lang="zh-CN" altLang="en-US" dirty="0" smtClean="0">
                <a:solidFill>
                  <a:srgbClr val="000000"/>
                </a:solidFill>
                <a:latin typeface="微软雅黑" panose="020B0503020204020204" pitchFamily="34" charset="-122"/>
                <a:ea typeface="微软雅黑" panose="020B0503020204020204" pitchFamily="34" charset="-122"/>
              </a:rPr>
              <a:t>允许水平、垂直、对角</a:t>
            </a:r>
            <a:r>
              <a:rPr lang="zh-CN" altLang="en-US" dirty="0">
                <a:solidFill>
                  <a:srgbClr val="000000"/>
                </a:solidFill>
                <a:latin typeface="微软雅黑" panose="020B0503020204020204" pitchFamily="34" charset="-122"/>
                <a:ea typeface="微软雅黑" panose="020B0503020204020204" pitchFamily="34" charset="-122"/>
              </a:rPr>
              <a:t>方向进行移动</a:t>
            </a:r>
            <a:endParaRPr lang="zh-CN" altLang="en-US" dirty="0"/>
          </a:p>
        </p:txBody>
      </p:sp>
      <p:sp>
        <p:nvSpPr>
          <p:cNvPr id="6" name="矩形 5"/>
          <p:cNvSpPr/>
          <p:nvPr/>
        </p:nvSpPr>
        <p:spPr>
          <a:xfrm>
            <a:off x="3065880" y="3539515"/>
            <a:ext cx="3877985"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rPr>
              <a:t>只允许水平方向和垂直方向进行移动</a:t>
            </a:r>
            <a:endParaRPr lang="zh-CN" altLang="en-US" dirty="0"/>
          </a:p>
        </p:txBody>
      </p:sp>
      <p:sp>
        <p:nvSpPr>
          <p:cNvPr id="7" name="矩形 6"/>
          <p:cNvSpPr/>
          <p:nvPr/>
        </p:nvSpPr>
        <p:spPr>
          <a:xfrm>
            <a:off x="413858" y="3492437"/>
            <a:ext cx="2287806"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rPr>
              <a:t>City Block Distance</a:t>
            </a:r>
            <a:endParaRPr lang="zh-CN" altLang="en-US" dirty="0"/>
          </a:p>
        </p:txBody>
      </p:sp>
      <p:sp>
        <p:nvSpPr>
          <p:cNvPr id="8" name="矩形 7"/>
          <p:cNvSpPr/>
          <p:nvPr/>
        </p:nvSpPr>
        <p:spPr>
          <a:xfrm>
            <a:off x="413858" y="4747114"/>
            <a:ext cx="2468817" cy="369332"/>
          </a:xfrm>
          <a:prstGeom prst="rect">
            <a:avLst/>
          </a:prstGeom>
        </p:spPr>
        <p:txBody>
          <a:bodyPr wrap="none">
            <a:spAutoFit/>
          </a:bodyPr>
          <a:lstStyle/>
          <a:p>
            <a:r>
              <a:rPr lang="en-US" altLang="zh-CN" dirty="0">
                <a:solidFill>
                  <a:srgbClr val="000000"/>
                </a:solidFill>
                <a:latin typeface="微软雅黑" panose="020B0503020204020204" pitchFamily="34" charset="-122"/>
                <a:ea typeface="微软雅黑" panose="020B0503020204020204" pitchFamily="34" charset="-122"/>
              </a:rPr>
              <a:t>Chessboard distance</a:t>
            </a:r>
            <a:endParaRPr lang="zh-CN" altLang="en-US" dirty="0"/>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t="9488"/>
          <a:stretch/>
        </p:blipFill>
        <p:spPr>
          <a:xfrm>
            <a:off x="0" y="1011835"/>
            <a:ext cx="12192000" cy="5400399"/>
          </a:xfrm>
          <a:prstGeom prst="rect">
            <a:avLst/>
          </a:prstGeom>
        </p:spPr>
      </p:pic>
      <p:sp>
        <p:nvSpPr>
          <p:cNvPr id="4" name="标题 1"/>
          <p:cNvSpPr txBox="1">
            <a:spLocks/>
          </p:cNvSpPr>
          <p:nvPr>
            <p:custDataLst>
              <p:tags r:id="rId1"/>
            </p:custDataLst>
          </p:nvPr>
        </p:nvSpPr>
        <p:spPr bwMode="auto">
          <a:xfrm>
            <a:off x="393797" y="124194"/>
            <a:ext cx="77251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800" b="1" smtClean="0">
                <a:solidFill>
                  <a:srgbClr val="0C4379"/>
                </a:solidFill>
                <a:latin typeface="微软雅黑" panose="020B0503020204020204" pitchFamily="34" charset="-122"/>
                <a:ea typeface="微软雅黑" panose="020B0503020204020204" pitchFamily="34" charset="-122"/>
                <a:cs typeface="+mn-cs"/>
                <a:sym typeface="+mn-ea"/>
              </a:rPr>
              <a:t>数字图像表示与常用概念：数字图像的拓扑距离</a:t>
            </a:r>
            <a:endParaRPr lang="zh-CN" altLang="en-US" sz="2800" b="1" dirty="0">
              <a:solidFill>
                <a:srgbClr val="0C4379"/>
              </a:solidFill>
              <a:latin typeface="微软雅黑" panose="020B0503020204020204" pitchFamily="34" charset="-122"/>
              <a:ea typeface="微软雅黑" panose="020B0503020204020204" pitchFamily="34" charset="-122"/>
              <a:cs typeface="+mn-cs"/>
              <a:sym typeface="+mn-ea"/>
            </a:endParaRPr>
          </a:p>
        </p:txBody>
      </p:sp>
    </p:spTree>
    <p:extLst>
      <p:ext uri="{BB962C8B-B14F-4D97-AF65-F5344CB8AC3E}">
        <p14:creationId xmlns:p14="http://schemas.microsoft.com/office/powerpoint/2010/main" val="3350647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ctrTitle" idx="4294967295"/>
            <p:custDataLst>
              <p:tags r:id="rId3"/>
            </p:custDataLst>
          </p:nvPr>
        </p:nvSpPr>
        <p:spPr>
          <a:xfrm>
            <a:off x="177442" y="110727"/>
            <a:ext cx="8186857" cy="461665"/>
          </a:xfrm>
          <a:noFill/>
        </p:spPr>
        <p:txBody>
          <a:bodyPr wrap="none" rtlCol="0">
            <a:spAutoFit/>
          </a:bodyPr>
          <a:lstStyle/>
          <a:p>
            <a:pPr lvl="0" algn="ctr" defTabSz="914400" eaLnBrk="1" hangingPunct="1">
              <a:lnSpc>
                <a:spcPct val="100000"/>
              </a:lnSpc>
              <a:buClrTx/>
              <a:buSzTx/>
              <a:buFontTx/>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数字图像表示与常用概念：数字图像的距离、邻域与连通集</a:t>
            </a:r>
          </a:p>
        </p:txBody>
      </p:sp>
      <p:sp>
        <p:nvSpPr>
          <p:cNvPr id="4" name="文本占位符 3"/>
          <p:cNvSpPr>
            <a:spLocks noGrp="1"/>
          </p:cNvSpPr>
          <p:nvPr>
            <p:ph type="body" idx="4294967295"/>
            <p:custDataLst>
              <p:tags r:id="rId4"/>
            </p:custDataLst>
          </p:nvPr>
        </p:nvSpPr>
        <p:spPr>
          <a:xfrm>
            <a:off x="876479" y="1322890"/>
            <a:ext cx="7772400" cy="304800"/>
          </a:xfrm>
        </p:spPr>
        <p:txBody>
          <a:bodyPr>
            <a:normAutofit fontScale="92500" lnSpcReduction="10000"/>
          </a:bodyPr>
          <a:lstStyle/>
          <a:p>
            <a:pPr marL="0" indent="0">
              <a:buNone/>
            </a:pPr>
            <a:r>
              <a:rPr lang="zh-CN" altLang="en-US" sz="1867" b="1" dirty="0">
                <a:latin typeface="微软雅黑" panose="020B0503020204020204" pitchFamily="34" charset="-122"/>
                <a:ea typeface="微软雅黑" panose="020B0503020204020204" pitchFamily="34" charset="-122"/>
              </a:rPr>
              <a:t>图像像素邻域系统</a:t>
            </a:r>
          </a:p>
        </p:txBody>
      </p:sp>
      <p:sp>
        <p:nvSpPr>
          <p:cNvPr id="5" name="文本占位符 4"/>
          <p:cNvSpPr>
            <a:spLocks noGrp="1"/>
          </p:cNvSpPr>
          <p:nvPr>
            <p:ph type="body" idx="4294967295"/>
            <p:custDataLst>
              <p:tags r:id="rId5"/>
            </p:custDataLst>
          </p:nvPr>
        </p:nvSpPr>
        <p:spPr>
          <a:xfrm>
            <a:off x="1914683" y="1695008"/>
            <a:ext cx="8506805" cy="457200"/>
          </a:xfrm>
        </p:spPr>
        <p:txBody>
          <a:bodyPr>
            <a:noAutofit/>
          </a:bodyPr>
          <a:lstStyle/>
          <a:p>
            <a:pPr>
              <a:lnSpc>
                <a:spcPct val="150000"/>
              </a:lnSpc>
            </a:pPr>
            <a:r>
              <a:rPr lang="zh-CN" altLang="en-US" sz="1467" dirty="0">
                <a:latin typeface="微软雅黑" panose="020B0503020204020204" pitchFamily="34" charset="-122"/>
                <a:ea typeface="微软雅黑" panose="020B0503020204020204" pitchFamily="34" charset="-122"/>
                <a:cs typeface="微软雅黑" panose="020B0503020204020204" pitchFamily="34" charset="-122"/>
              </a:rPr>
              <a:t>当我们定义了像素之间的距离，则可以进一步分析图像像素之间的邻接性，并建立邻域系统。</a:t>
            </a:r>
            <a:endParaRPr lang="en-US" altLang="zh-CN" sz="1467"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467" dirty="0">
                <a:latin typeface="微软雅黑" panose="020B0503020204020204" pitchFamily="34" charset="-122"/>
                <a:ea typeface="微软雅黑" panose="020B0503020204020204" pitchFamily="34" charset="-122"/>
                <a:cs typeface="微软雅黑" panose="020B0503020204020204" pitchFamily="34" charset="-122"/>
              </a:rPr>
              <a:t>例如，图像像素之间邻域类型有</a:t>
            </a:r>
            <a:r>
              <a:rPr lang="en-US" altLang="zh-CN" sz="1467"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67" dirty="0">
                <a:latin typeface="微软雅黑" panose="020B0503020204020204" pitchFamily="34" charset="-122"/>
                <a:ea typeface="微软雅黑" panose="020B0503020204020204" pitchFamily="34" charset="-122"/>
                <a:cs typeface="微软雅黑" panose="020B0503020204020204" pitchFamily="34" charset="-122"/>
              </a:rPr>
              <a:t>邻域（左）和</a:t>
            </a:r>
            <a:r>
              <a:rPr lang="en-US" altLang="zh-CN" sz="1467" dirty="0">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467" dirty="0">
                <a:latin typeface="微软雅黑" panose="020B0503020204020204" pitchFamily="34" charset="-122"/>
                <a:ea typeface="微软雅黑" panose="020B0503020204020204" pitchFamily="34" charset="-122"/>
                <a:cs typeface="微软雅黑" panose="020B0503020204020204" pitchFamily="34" charset="-122"/>
              </a:rPr>
              <a:t>邻域（右）</a:t>
            </a:r>
            <a:endParaRPr lang="en-US" altLang="zh-CN" sz="1467"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6" name="图片 242"/>
          <p:cNvPicPr>
            <a:picLocks noChangeAspect="1" noChangeArrowheads="1"/>
          </p:cNvPicPr>
          <p:nvPr/>
        </p:nvPicPr>
        <p:blipFill>
          <a:blip r:embed="rId7" cstate="print"/>
          <a:srcRect/>
          <a:stretch>
            <a:fillRect/>
          </a:stretch>
        </p:blipFill>
        <p:spPr>
          <a:xfrm>
            <a:off x="671549" y="3018754"/>
            <a:ext cx="1905148" cy="2028207"/>
          </a:xfrm>
          <a:prstGeom prst="rect">
            <a:avLst/>
          </a:prstGeom>
          <a:noFill/>
          <a:ln w="9525">
            <a:noFill/>
            <a:miter lim="800000"/>
            <a:headEnd/>
            <a:tailEnd/>
          </a:ln>
        </p:spPr>
      </p:pic>
      <p:pic>
        <p:nvPicPr>
          <p:cNvPr id="276" name="图片 276"/>
          <p:cNvPicPr>
            <a:picLocks noChangeAspect="1" noChangeArrowheads="1"/>
          </p:cNvPicPr>
          <p:nvPr/>
        </p:nvPicPr>
        <p:blipFill>
          <a:blip r:embed="rId8" cstate="print"/>
          <a:srcRect/>
          <a:stretch>
            <a:fillRect/>
          </a:stretch>
        </p:blipFill>
        <p:spPr>
          <a:xfrm>
            <a:off x="2673106" y="3133538"/>
            <a:ext cx="1722625" cy="1826205"/>
          </a:xfrm>
          <a:prstGeom prst="rect">
            <a:avLst/>
          </a:prstGeom>
          <a:noFill/>
          <a:ln w="9525">
            <a:noFill/>
            <a:miter lim="800000"/>
            <a:headEnd/>
            <a:tailEnd/>
          </a:ln>
        </p:spPr>
      </p:pic>
      <p:pic>
        <p:nvPicPr>
          <p:cNvPr id="60" name="图片 59"/>
          <p:cNvPicPr>
            <a:picLocks noChangeAspect="1"/>
          </p:cNvPicPr>
          <p:nvPr/>
        </p:nvPicPr>
        <p:blipFill>
          <a:blip r:embed="rId9"/>
          <a:stretch>
            <a:fillRect/>
          </a:stretch>
        </p:blipFill>
        <p:spPr>
          <a:xfrm>
            <a:off x="4762680" y="2623025"/>
            <a:ext cx="6296004" cy="1954107"/>
          </a:xfrm>
          <a:prstGeom prst="rect">
            <a:avLst/>
          </a:prstGeom>
        </p:spPr>
      </p:pic>
      <p:sp>
        <p:nvSpPr>
          <p:cNvPr id="11" name="文本框 10">
            <a:extLst>
              <a:ext uri="{FF2B5EF4-FFF2-40B4-BE49-F238E27FC236}">
                <a16:creationId xmlns:a16="http://schemas.microsoft.com/office/drawing/2014/main" id="{672564BA-B88A-4E71-A31F-EDA0ECB9D76E}"/>
              </a:ext>
            </a:extLst>
          </p:cNvPr>
          <p:cNvSpPr txBox="1"/>
          <p:nvPr/>
        </p:nvSpPr>
        <p:spPr>
          <a:xfrm>
            <a:off x="4739026" y="4547061"/>
            <a:ext cx="5706428" cy="418191"/>
          </a:xfrm>
          <a:prstGeom prst="rect">
            <a:avLst/>
          </a:prstGeom>
        </p:spPr>
        <p:txBody>
          <a:bodyPr wrap="square">
            <a:spAutoFit/>
          </a:bodyPr>
          <a:lstStyle/>
          <a:p>
            <a:pPr marL="285750" indent="-285750" algn="just" defTabSz="199808">
              <a:lnSpc>
                <a:spcPct val="150000"/>
              </a:lnSpc>
              <a:spcAft>
                <a:spcPts val="153"/>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8邻域可以用</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表示，其邻接像素集合满足</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p>
        </p:txBody>
      </p:sp>
      <p:graphicFrame>
        <p:nvGraphicFramePr>
          <p:cNvPr id="12" name="对象 -2147482414">
            <a:extLst>
              <a:ext uri="{FF2B5EF4-FFF2-40B4-BE49-F238E27FC236}">
                <a16:creationId xmlns:a16="http://schemas.microsoft.com/office/drawing/2014/main" id="{F696CB5C-C6B1-492B-A826-F843D2945F4F}"/>
              </a:ext>
            </a:extLst>
          </p:cNvPr>
          <p:cNvGraphicFramePr>
            <a:graphicFrameLocks noChangeAspect="1"/>
          </p:cNvGraphicFramePr>
          <p:nvPr>
            <p:extLst>
              <p:ext uri="{D42A27DB-BD31-4B8C-83A1-F6EECF244321}">
                <p14:modId xmlns:p14="http://schemas.microsoft.com/office/powerpoint/2010/main" val="2546560015"/>
              </p:ext>
            </p:extLst>
          </p:nvPr>
        </p:nvGraphicFramePr>
        <p:xfrm>
          <a:off x="6310472" y="4619366"/>
          <a:ext cx="653111" cy="324100"/>
        </p:xfrm>
        <a:graphic>
          <a:graphicData uri="http://schemas.openxmlformats.org/presentationml/2006/ole">
            <mc:AlternateContent xmlns:mc="http://schemas.openxmlformats.org/markup-compatibility/2006">
              <mc:Choice xmlns:v="urn:schemas-microsoft-com:vml" Requires="v">
                <p:oleObj spid="_x0000_s31911" r:id="rId10" imgW="393065" imgH="215900" progId="Equation.DSMT4">
                  <p:embed/>
                </p:oleObj>
              </mc:Choice>
              <mc:Fallback>
                <p:oleObj r:id="rId10" imgW="393065" imgH="215900" progId="Equation.DSMT4">
                  <p:embed/>
                  <p:pic>
                    <p:nvPicPr>
                      <p:cNvPr id="3" name="对象 -2147482414"/>
                      <p:cNvPicPr/>
                      <p:nvPr/>
                    </p:nvPicPr>
                    <p:blipFill>
                      <a:blip r:embed="rId11"/>
                      <a:stretch>
                        <a:fillRect/>
                      </a:stretch>
                    </p:blipFill>
                    <p:spPr>
                      <a:xfrm>
                        <a:off x="6310472" y="4619366"/>
                        <a:ext cx="653111" cy="324100"/>
                      </a:xfrm>
                      <a:prstGeom prst="rect">
                        <a:avLst/>
                      </a:prstGeom>
                      <a:noFill/>
                      <a:ln w="38100">
                        <a:noFill/>
                        <a:miter/>
                      </a:ln>
                    </p:spPr>
                  </p:pic>
                </p:oleObj>
              </mc:Fallback>
            </mc:AlternateContent>
          </a:graphicData>
        </a:graphic>
      </p:graphicFrame>
      <p:graphicFrame>
        <p:nvGraphicFramePr>
          <p:cNvPr id="13" name="对象 -2147482413">
            <a:extLst>
              <a:ext uri="{FF2B5EF4-FFF2-40B4-BE49-F238E27FC236}">
                <a16:creationId xmlns:a16="http://schemas.microsoft.com/office/drawing/2014/main" id="{30B14457-5E28-4A55-86EE-65D465A9D292}"/>
              </a:ext>
            </a:extLst>
          </p:cNvPr>
          <p:cNvGraphicFramePr>
            <a:graphicFrameLocks noChangeAspect="1"/>
          </p:cNvGraphicFramePr>
          <p:nvPr>
            <p:extLst>
              <p:ext uri="{D42A27DB-BD31-4B8C-83A1-F6EECF244321}">
                <p14:modId xmlns:p14="http://schemas.microsoft.com/office/powerpoint/2010/main" val="957695032"/>
              </p:ext>
            </p:extLst>
          </p:nvPr>
        </p:nvGraphicFramePr>
        <p:xfrm>
          <a:off x="5028281" y="5085352"/>
          <a:ext cx="5879084" cy="306578"/>
        </p:xfrm>
        <a:graphic>
          <a:graphicData uri="http://schemas.openxmlformats.org/presentationml/2006/ole">
            <mc:AlternateContent xmlns:mc="http://schemas.openxmlformats.org/markup-compatibility/2006">
              <mc:Choice xmlns:v="urn:schemas-microsoft-com:vml" Requires="v">
                <p:oleObj spid="_x0000_s31912" r:id="rId12" imgW="4140200" imgH="215900" progId="Equation.DSMT4">
                  <p:embed/>
                </p:oleObj>
              </mc:Choice>
              <mc:Fallback>
                <p:oleObj r:id="rId12" imgW="4140200" imgH="215900" progId="Equation.DSMT4">
                  <p:embed/>
                  <p:pic>
                    <p:nvPicPr>
                      <p:cNvPr id="5" name="对象 -2147482413"/>
                      <p:cNvPicPr/>
                      <p:nvPr/>
                    </p:nvPicPr>
                    <p:blipFill>
                      <a:blip r:embed="rId13"/>
                      <a:stretch>
                        <a:fillRect/>
                      </a:stretch>
                    </p:blipFill>
                    <p:spPr>
                      <a:xfrm>
                        <a:off x="5028281" y="5085352"/>
                        <a:ext cx="5879084" cy="306578"/>
                      </a:xfrm>
                      <a:prstGeom prst="rect">
                        <a:avLst/>
                      </a:prstGeom>
                      <a:noFill/>
                      <a:ln w="38100">
                        <a:noFill/>
                        <a:miter/>
                      </a:ln>
                    </p:spPr>
                  </p:pic>
                </p:oleObj>
              </mc:Fallback>
            </mc:AlternateContent>
          </a:graphicData>
        </a:graphic>
      </p:graphicFrame>
      <p:sp>
        <p:nvSpPr>
          <p:cNvPr id="15" name="文本框 14">
            <a:extLst>
              <a:ext uri="{FF2B5EF4-FFF2-40B4-BE49-F238E27FC236}">
                <a16:creationId xmlns:a16="http://schemas.microsoft.com/office/drawing/2014/main" id="{C52D6331-BC46-4788-99A4-DB05BA290638}"/>
              </a:ext>
            </a:extLst>
          </p:cNvPr>
          <p:cNvSpPr txBox="1"/>
          <p:nvPr/>
        </p:nvSpPr>
        <p:spPr>
          <a:xfrm>
            <a:off x="5028281" y="5391930"/>
            <a:ext cx="6572987" cy="418191"/>
          </a:xfrm>
          <a:prstGeom prst="rect">
            <a:avLst/>
          </a:prstGeom>
          <a:noFill/>
        </p:spPr>
        <p:txBody>
          <a:bodyPr wrap="square">
            <a:spAutoFit/>
          </a:bodyPr>
          <a:lstStyle/>
          <a:p>
            <a:pPr algn="just" defTabSz="199808">
              <a:lnSpc>
                <a:spcPct val="150000"/>
              </a:lnSpc>
              <a:spcAft>
                <a:spcPts val="153"/>
              </a:spcAft>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或者可以用棋盘距离描述为集合形式，即</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a:t>
            </a:r>
          </a:p>
        </p:txBody>
      </p:sp>
      <p:graphicFrame>
        <p:nvGraphicFramePr>
          <p:cNvPr id="16" name="对象 -2147480060">
            <a:extLst>
              <a:ext uri="{FF2B5EF4-FFF2-40B4-BE49-F238E27FC236}">
                <a16:creationId xmlns:a16="http://schemas.microsoft.com/office/drawing/2014/main" id="{A1D0A722-4AA0-4EF8-8624-C792597C9208}"/>
              </a:ext>
            </a:extLst>
          </p:cNvPr>
          <p:cNvGraphicFramePr>
            <a:graphicFrameLocks noChangeAspect="1"/>
          </p:cNvGraphicFramePr>
          <p:nvPr>
            <p:extLst>
              <p:ext uri="{D42A27DB-BD31-4B8C-83A1-F6EECF244321}">
                <p14:modId xmlns:p14="http://schemas.microsoft.com/office/powerpoint/2010/main" val="2322221523"/>
              </p:ext>
            </p:extLst>
          </p:nvPr>
        </p:nvGraphicFramePr>
        <p:xfrm>
          <a:off x="8832034" y="5473472"/>
          <a:ext cx="2075331" cy="398163"/>
        </p:xfrm>
        <a:graphic>
          <a:graphicData uri="http://schemas.openxmlformats.org/presentationml/2006/ole">
            <mc:AlternateContent xmlns:mc="http://schemas.openxmlformats.org/markup-compatibility/2006">
              <mc:Choice xmlns:v="urn:schemas-microsoft-com:vml" Requires="v">
                <p:oleObj spid="_x0000_s31913" r:id="rId14" imgW="1358265" imgH="266700" progId="Equation.DSMT4">
                  <p:embed/>
                </p:oleObj>
              </mc:Choice>
              <mc:Fallback>
                <p:oleObj r:id="rId14" imgW="1358265" imgH="266700" progId="Equation.DSMT4">
                  <p:embed/>
                  <p:pic>
                    <p:nvPicPr>
                      <p:cNvPr id="7" name="对象 -2147480060"/>
                      <p:cNvPicPr/>
                      <p:nvPr/>
                    </p:nvPicPr>
                    <p:blipFill>
                      <a:blip r:embed="rId15"/>
                      <a:stretch>
                        <a:fillRect/>
                      </a:stretch>
                    </p:blipFill>
                    <p:spPr>
                      <a:xfrm>
                        <a:off x="8832034" y="5473472"/>
                        <a:ext cx="2075331" cy="398163"/>
                      </a:xfrm>
                      <a:prstGeom prst="rect">
                        <a:avLst/>
                      </a:prstGeom>
                      <a:noFill/>
                      <a:ln w="38100">
                        <a:noFill/>
                        <a:miter/>
                      </a:ln>
                    </p:spPr>
                  </p:pic>
                </p:oleObj>
              </mc:Fallback>
            </mc:AlternateContent>
          </a:graphicData>
        </a:graphic>
      </p:graphicFrame>
      <p:sp>
        <p:nvSpPr>
          <p:cNvPr id="3" name="矩形 2"/>
          <p:cNvSpPr/>
          <p:nvPr/>
        </p:nvSpPr>
        <p:spPr>
          <a:xfrm>
            <a:off x="5651292" y="4237446"/>
            <a:ext cx="854439" cy="280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109144" y="5465937"/>
            <a:ext cx="854439" cy="280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15297" y="936781"/>
            <a:ext cx="10972799" cy="3157403"/>
          </a:xfrm>
          <a:prstGeom prst="rect">
            <a:avLst/>
          </a:prstGeom>
        </p:spPr>
        <p:txBody>
          <a:bodyPr wrap="square">
            <a:spAutoFit/>
          </a:bodyPr>
          <a:lstStyle/>
          <a:p>
            <a:pPr marL="285750" indent="-285750" algn="just" defTabSz="199808">
              <a:lnSpc>
                <a:spcPct val="150000"/>
              </a:lnSpc>
              <a:spcAft>
                <a:spcPts val="153"/>
              </a:spcAft>
              <a:buFont typeface="Wingdings" panose="05000000000000000000" pitchFamily="2" charset="2"/>
              <a:buChar char="n"/>
            </a:pPr>
            <a:r>
              <a:rPr lang="zh-CN" altLang="en-US"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由于一些彼此邻接的像素组成的重要集合，称之为</a:t>
            </a:r>
            <a:r>
              <a:rPr lang="en-US" altLang="zh-CN"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区域</a:t>
            </a:r>
            <a:r>
              <a:rPr lang="en-US" altLang="zh-CN"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defTabSz="199808">
              <a:lnSpc>
                <a:spcPct val="150000"/>
              </a:lnSpc>
              <a:spcAft>
                <a:spcPts val="153"/>
              </a:spcAft>
              <a:buFont typeface="Wingdings" panose="05000000000000000000" pitchFamily="2" charset="2"/>
              <a:buChar char="n"/>
            </a:pPr>
            <a:r>
              <a:rPr lang="zh-CN" altLang="en-US"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通常，区域具有特定一致性的特征（如灰度、颜色等）。</a:t>
            </a:r>
            <a:endParaRPr lang="en-US" altLang="zh-CN"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defTabSz="199808">
              <a:lnSpc>
                <a:spcPct val="150000"/>
              </a:lnSpc>
              <a:spcAft>
                <a:spcPts val="153"/>
              </a:spcAft>
              <a:buFont typeface="Wingdings" panose="05000000000000000000" pitchFamily="2" charset="2"/>
              <a:buChar char="n"/>
            </a:pPr>
            <a:r>
              <a:rPr lang="zh-CN" altLang="en-US"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在集合论中，区域可以简单理解为</a:t>
            </a:r>
            <a:r>
              <a:rPr lang="en-US" altLang="zh-CN"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连通集</a:t>
            </a:r>
            <a:r>
              <a:rPr lang="en-US" altLang="zh-CN"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defTabSz="199808">
              <a:lnSpc>
                <a:spcPct val="150000"/>
              </a:lnSpc>
              <a:spcAft>
                <a:spcPts val="153"/>
              </a:spcAft>
              <a:buFont typeface="Wingdings" panose="05000000000000000000" pitchFamily="2" charset="2"/>
              <a:buChar char="n"/>
            </a:pPr>
            <a:r>
              <a:rPr lang="zh-CN" altLang="en-US"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对于连通集，我们可以描述为具有如下性质的区域：</a:t>
            </a:r>
            <a:endParaRPr lang="en-US" altLang="zh-CN" sz="1600"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just" defTabSz="199808">
              <a:lnSpc>
                <a:spcPct val="150000"/>
              </a:lnSpc>
              <a:spcAft>
                <a:spcPts val="153"/>
              </a:spcAft>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从像素</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到像素</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的路径为一个点序列，</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的邻接点，</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那么区域满足：任意两个像素之间都存在完全属于该集合的路径。</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gn="just" defTabSz="199808">
              <a:lnSpc>
                <a:spcPct val="150000"/>
              </a:lnSpc>
              <a:spcAft>
                <a:spcPts val="153"/>
              </a:spcAft>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如果一幅图像中的两个像素之间存在一条路径，则这两个像素是连通的，因此区域是彼此连通的集合。</a:t>
            </a:r>
            <a:endPar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gn="just" defTabSz="199808">
              <a:lnSpc>
                <a:spcPct val="150000"/>
              </a:lnSpc>
              <a:spcAft>
                <a:spcPts val="153"/>
              </a:spcAft>
            </a:pPr>
            <a:r>
              <a:rPr lang="en-US" altLang="zh-CN"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连通</a:t>
            </a:r>
            <a:r>
              <a:rPr lang="en-US" altLang="zh-CN"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关系是自反的、对称的且具有传递性，因此可以看作是集合的一个等价类。</a:t>
            </a:r>
          </a:p>
        </p:txBody>
      </p:sp>
      <p:graphicFrame>
        <p:nvGraphicFramePr>
          <p:cNvPr id="10" name="对象 -2147482409"/>
          <p:cNvGraphicFramePr>
            <a:graphicFrameLocks noChangeAspect="1"/>
          </p:cNvGraphicFramePr>
          <p:nvPr>
            <p:extLst>
              <p:ext uri="{D42A27DB-BD31-4B8C-83A1-F6EECF244321}">
                <p14:modId xmlns:p14="http://schemas.microsoft.com/office/powerpoint/2010/main" val="725849892"/>
              </p:ext>
            </p:extLst>
          </p:nvPr>
        </p:nvGraphicFramePr>
        <p:xfrm>
          <a:off x="4768155" y="2542457"/>
          <a:ext cx="1291669" cy="405116"/>
        </p:xfrm>
        <a:graphic>
          <a:graphicData uri="http://schemas.openxmlformats.org/presentationml/2006/ole">
            <mc:AlternateContent xmlns:mc="http://schemas.openxmlformats.org/markup-compatibility/2006">
              <mc:Choice xmlns:v="urn:schemas-microsoft-com:vml" Requires="v">
                <p:oleObj spid="_x0000_s25850" r:id="rId5" imgW="622300" imgH="190500" progId="Equation.DSMT4">
                  <p:embed/>
                </p:oleObj>
              </mc:Choice>
              <mc:Fallback>
                <p:oleObj r:id="rId5" imgW="622300" imgH="190500" progId="Equation.DSMT4">
                  <p:embed/>
                  <p:pic>
                    <p:nvPicPr>
                      <p:cNvPr id="10" name="对象 -2147482409"/>
                      <p:cNvPicPr/>
                      <p:nvPr/>
                    </p:nvPicPr>
                    <p:blipFill>
                      <a:blip r:embed="rId6"/>
                      <a:stretch>
                        <a:fillRect/>
                      </a:stretch>
                    </p:blipFill>
                    <p:spPr>
                      <a:xfrm>
                        <a:off x="4768155" y="2542457"/>
                        <a:ext cx="1291669" cy="405116"/>
                      </a:xfrm>
                      <a:prstGeom prst="rect">
                        <a:avLst/>
                      </a:prstGeom>
                      <a:noFill/>
                      <a:ln w="38100">
                        <a:noFill/>
                        <a:miter/>
                      </a:ln>
                    </p:spPr>
                  </p:pic>
                </p:oleObj>
              </mc:Fallback>
            </mc:AlternateContent>
          </a:graphicData>
        </a:graphic>
      </p:graphicFrame>
      <p:graphicFrame>
        <p:nvGraphicFramePr>
          <p:cNvPr id="13" name="对象 -2147482408"/>
          <p:cNvGraphicFramePr>
            <a:graphicFrameLocks noChangeAspect="1"/>
          </p:cNvGraphicFramePr>
          <p:nvPr>
            <p:extLst>
              <p:ext uri="{D42A27DB-BD31-4B8C-83A1-F6EECF244321}">
                <p14:modId xmlns:p14="http://schemas.microsoft.com/office/powerpoint/2010/main" val="235528197"/>
              </p:ext>
            </p:extLst>
          </p:nvPr>
        </p:nvGraphicFramePr>
        <p:xfrm>
          <a:off x="6023962" y="2534867"/>
          <a:ext cx="317183" cy="411395"/>
        </p:xfrm>
        <a:graphic>
          <a:graphicData uri="http://schemas.openxmlformats.org/presentationml/2006/ole">
            <mc:AlternateContent xmlns:mc="http://schemas.openxmlformats.org/markup-compatibility/2006">
              <mc:Choice xmlns:v="urn:schemas-microsoft-com:vml" Requires="v">
                <p:oleObj spid="_x0000_s25851" r:id="rId7" imgW="228600" imgH="190500" progId="Equation.DSMT4">
                  <p:embed/>
                </p:oleObj>
              </mc:Choice>
              <mc:Fallback>
                <p:oleObj r:id="rId7" imgW="228600" imgH="190500" progId="Equation.DSMT4">
                  <p:embed/>
                  <p:pic>
                    <p:nvPicPr>
                      <p:cNvPr id="13" name="对象 -2147482408"/>
                      <p:cNvPicPr/>
                      <p:nvPr/>
                    </p:nvPicPr>
                    <p:blipFill>
                      <a:blip r:embed="rId8"/>
                      <a:stretch>
                        <a:fillRect/>
                      </a:stretch>
                    </p:blipFill>
                    <p:spPr>
                      <a:xfrm>
                        <a:off x="6023962" y="2534867"/>
                        <a:ext cx="317183" cy="411395"/>
                      </a:xfrm>
                      <a:prstGeom prst="rect">
                        <a:avLst/>
                      </a:prstGeom>
                      <a:noFill/>
                      <a:ln w="38100">
                        <a:noFill/>
                        <a:miter/>
                      </a:ln>
                    </p:spPr>
                  </p:pic>
                </p:oleObj>
              </mc:Fallback>
            </mc:AlternateContent>
          </a:graphicData>
        </a:graphic>
      </p:graphicFrame>
      <p:graphicFrame>
        <p:nvGraphicFramePr>
          <p:cNvPr id="15" name="对象 -2147480059"/>
          <p:cNvGraphicFramePr>
            <a:graphicFrameLocks noChangeAspect="1"/>
          </p:cNvGraphicFramePr>
          <p:nvPr>
            <p:extLst>
              <p:ext uri="{D42A27DB-BD31-4B8C-83A1-F6EECF244321}">
                <p14:modId xmlns:p14="http://schemas.microsoft.com/office/powerpoint/2010/main" val="2469128379"/>
              </p:ext>
            </p:extLst>
          </p:nvPr>
        </p:nvGraphicFramePr>
        <p:xfrm>
          <a:off x="6553652" y="2507711"/>
          <a:ext cx="418180" cy="451459"/>
        </p:xfrm>
        <a:graphic>
          <a:graphicData uri="http://schemas.openxmlformats.org/presentationml/2006/ole">
            <mc:AlternateContent xmlns:mc="http://schemas.openxmlformats.org/markup-compatibility/2006">
              <mc:Choice xmlns:v="urn:schemas-microsoft-com:vml" Requires="v">
                <p:oleObj spid="_x0000_s25852" r:id="rId9" imgW="152400" imgH="190500" progId="Equation.DSMT4">
                  <p:embed/>
                </p:oleObj>
              </mc:Choice>
              <mc:Fallback>
                <p:oleObj r:id="rId9" imgW="152400" imgH="190500" progId="Equation.DSMT4">
                  <p:embed/>
                  <p:pic>
                    <p:nvPicPr>
                      <p:cNvPr id="15" name="对象 -2147480059"/>
                      <p:cNvPicPr/>
                      <p:nvPr/>
                    </p:nvPicPr>
                    <p:blipFill>
                      <a:blip r:embed="rId10"/>
                      <a:stretch>
                        <a:fillRect/>
                      </a:stretch>
                    </p:blipFill>
                    <p:spPr>
                      <a:xfrm>
                        <a:off x="6553652" y="2507711"/>
                        <a:ext cx="418180" cy="451459"/>
                      </a:xfrm>
                      <a:prstGeom prst="rect">
                        <a:avLst/>
                      </a:prstGeom>
                      <a:noFill/>
                      <a:ln w="38100">
                        <a:noFill/>
                        <a:miter/>
                      </a:ln>
                    </p:spPr>
                  </p:pic>
                </p:oleObj>
              </mc:Fallback>
            </mc:AlternateContent>
          </a:graphicData>
        </a:graphic>
      </p:graphicFrame>
      <p:graphicFrame>
        <p:nvGraphicFramePr>
          <p:cNvPr id="17" name="对象 -2147482406"/>
          <p:cNvGraphicFramePr>
            <a:graphicFrameLocks noChangeAspect="1"/>
          </p:cNvGraphicFramePr>
          <p:nvPr>
            <p:extLst>
              <p:ext uri="{D42A27DB-BD31-4B8C-83A1-F6EECF244321}">
                <p14:modId xmlns:p14="http://schemas.microsoft.com/office/powerpoint/2010/main" val="2740767146"/>
              </p:ext>
            </p:extLst>
          </p:nvPr>
        </p:nvGraphicFramePr>
        <p:xfrm>
          <a:off x="7941840" y="2602433"/>
          <a:ext cx="1203969" cy="343829"/>
        </p:xfrm>
        <a:graphic>
          <a:graphicData uri="http://schemas.openxmlformats.org/presentationml/2006/ole">
            <mc:AlternateContent xmlns:mc="http://schemas.openxmlformats.org/markup-compatibility/2006">
              <mc:Choice xmlns:v="urn:schemas-microsoft-com:vml" Requires="v">
                <p:oleObj spid="_x0000_s25853" r:id="rId11" imgW="596900" imgH="165100" progId="Equation.DSMT4">
                  <p:embed/>
                </p:oleObj>
              </mc:Choice>
              <mc:Fallback>
                <p:oleObj r:id="rId11" imgW="596900" imgH="165100" progId="Equation.DSMT4">
                  <p:embed/>
                  <p:pic>
                    <p:nvPicPr>
                      <p:cNvPr id="17" name="对象 -2147482406"/>
                      <p:cNvPicPr/>
                      <p:nvPr/>
                    </p:nvPicPr>
                    <p:blipFill>
                      <a:blip r:embed="rId12"/>
                      <a:stretch>
                        <a:fillRect/>
                      </a:stretch>
                    </p:blipFill>
                    <p:spPr>
                      <a:xfrm>
                        <a:off x="7941840" y="2602433"/>
                        <a:ext cx="1203969" cy="343829"/>
                      </a:xfrm>
                      <a:prstGeom prst="rect">
                        <a:avLst/>
                      </a:prstGeom>
                      <a:noFill/>
                      <a:ln w="38100">
                        <a:noFill/>
                        <a:miter/>
                      </a:ln>
                    </p:spPr>
                  </p:pic>
                </p:oleObj>
              </mc:Fallback>
            </mc:AlternateContent>
          </a:graphicData>
        </a:graphic>
      </p:graphicFrame>
      <p:sp>
        <p:nvSpPr>
          <p:cNvPr id="16" name="标题 1">
            <a:extLst>
              <a:ext uri="{FF2B5EF4-FFF2-40B4-BE49-F238E27FC236}">
                <a16:creationId xmlns:a16="http://schemas.microsoft.com/office/drawing/2014/main" id="{091294B2-6CF8-49B1-8799-461E5D8E2C0D}"/>
              </a:ext>
            </a:extLst>
          </p:cNvPr>
          <p:cNvSpPr txBox="1">
            <a:spLocks/>
          </p:cNvSpPr>
          <p:nvPr>
            <p:custDataLst>
              <p:tags r:id="rId3"/>
            </p:custDataLst>
          </p:nvPr>
        </p:nvSpPr>
        <p:spPr bwMode="auto">
          <a:xfrm>
            <a:off x="177442" y="110727"/>
            <a:ext cx="81868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a:solidFill>
                  <a:srgbClr val="0C4379"/>
                </a:solidFill>
                <a:latin typeface="微软雅黑" panose="020B0503020204020204" pitchFamily="34" charset="-122"/>
                <a:ea typeface="微软雅黑" panose="020B0503020204020204" pitchFamily="34" charset="-122"/>
                <a:cs typeface="+mn-cs"/>
                <a:sym typeface="+mn-ea"/>
              </a:rPr>
              <a:t>数字图像表示与常用概念：数字图像的距离、邻域与连通集</a:t>
            </a:r>
            <a:endParaRPr lang="zh-CN" altLang="en-US" sz="2400" b="1" dirty="0">
              <a:solidFill>
                <a:srgbClr val="0C4379"/>
              </a:solidFill>
              <a:latin typeface="微软雅黑" panose="020B0503020204020204" pitchFamily="34" charset="-122"/>
              <a:ea typeface="微软雅黑" panose="020B0503020204020204" pitchFamily="34" charset="-122"/>
              <a:cs typeface="+mn-cs"/>
              <a:sym typeface="+mn-ea"/>
            </a:endParaRPr>
          </a:p>
        </p:txBody>
      </p:sp>
      <p:sp>
        <p:nvSpPr>
          <p:cNvPr id="18" name="文本框 17">
            <a:extLst>
              <a:ext uri="{FF2B5EF4-FFF2-40B4-BE49-F238E27FC236}">
                <a16:creationId xmlns:a16="http://schemas.microsoft.com/office/drawing/2014/main" id="{80C4EB90-6038-4379-B5BE-10647D1C6021}"/>
              </a:ext>
            </a:extLst>
          </p:cNvPr>
          <p:cNvSpPr txBox="1"/>
          <p:nvPr/>
        </p:nvSpPr>
        <p:spPr>
          <a:xfrm>
            <a:off x="515297" y="4263582"/>
            <a:ext cx="5706428" cy="472565"/>
          </a:xfrm>
          <a:prstGeom prst="rect">
            <a:avLst/>
          </a:prstGeom>
        </p:spPr>
        <p:txBody>
          <a:bodyPr wrap="square">
            <a:spAutoFit/>
          </a:bodyPr>
          <a:lstStyle/>
          <a:p>
            <a:pPr algn="just" defTabSz="199808">
              <a:lnSpc>
                <a:spcPct val="150000"/>
              </a:lnSpc>
              <a:spcAft>
                <a:spcPts val="153"/>
              </a:spcAft>
            </a:pPr>
            <a:r>
              <a:rPr lang="zh-CN" altLang="en-US" sz="1867" b="1" dirty="0">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1867" b="1"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67" b="1" dirty="0">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1867" b="1"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867" b="1" dirty="0">
                <a:latin typeface="微软雅黑" panose="020B0503020204020204" pitchFamily="34" charset="-122"/>
                <a:ea typeface="微软雅黑" panose="020B0503020204020204" pitchFamily="34" charset="-122"/>
                <a:cs typeface="微软雅黑" panose="020B0503020204020204" pitchFamily="34" charset="-122"/>
              </a:rPr>
              <a:t>连通，</a:t>
            </a:r>
            <a:r>
              <a:rPr lang="en-US" altLang="zh-CN" sz="1867" b="1"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867" b="1" dirty="0">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1867" b="1" dirty="0">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867" b="1" dirty="0">
                <a:latin typeface="微软雅黑" panose="020B0503020204020204" pitchFamily="34" charset="-122"/>
                <a:ea typeface="微软雅黑" panose="020B0503020204020204" pitchFamily="34" charset="-122"/>
                <a:cs typeface="微软雅黑" panose="020B0503020204020204" pitchFamily="34" charset="-122"/>
              </a:rPr>
              <a:t>连通，则</a:t>
            </a:r>
            <a:r>
              <a:rPr lang="en-US" altLang="zh-CN" sz="1867" b="1"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67" b="1" dirty="0">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1867" b="1" dirty="0">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867" b="1" dirty="0">
                <a:latin typeface="微软雅黑" panose="020B0503020204020204" pitchFamily="34" charset="-122"/>
                <a:ea typeface="微软雅黑" panose="020B0503020204020204" pitchFamily="34" charset="-122"/>
                <a:cs typeface="微软雅黑" panose="020B0503020204020204" pitchFamily="34" charset="-122"/>
              </a:rPr>
              <a:t>连通</a:t>
            </a:r>
          </a:p>
        </p:txBody>
      </p:sp>
      <p:sp>
        <p:nvSpPr>
          <p:cNvPr id="20" name="文本框 19">
            <a:extLst>
              <a:ext uri="{FF2B5EF4-FFF2-40B4-BE49-F238E27FC236}">
                <a16:creationId xmlns:a16="http://schemas.microsoft.com/office/drawing/2014/main" id="{2A4DB023-D04D-465C-B162-A4D753534B79}"/>
              </a:ext>
            </a:extLst>
          </p:cNvPr>
          <p:cNvSpPr txBox="1"/>
          <p:nvPr/>
        </p:nvSpPr>
        <p:spPr>
          <a:xfrm>
            <a:off x="648704" y="4662864"/>
            <a:ext cx="10750515" cy="1182503"/>
          </a:xfrm>
          <a:prstGeom prst="rect">
            <a:avLst/>
          </a:prstGeom>
        </p:spPr>
        <p:txBody>
          <a:bodyPr wrap="square">
            <a:spAutoFit/>
          </a:bodyPr>
          <a:lstStyle/>
          <a:p>
            <a:pPr algn="just" defTabSz="199808">
              <a:lnSpc>
                <a:spcPct val="150000"/>
              </a:lnSpc>
              <a:spcAft>
                <a:spcPts val="153"/>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寻找和标记图像中连通的区域是图像分析中的一个重要问题，称为</a:t>
            </a:r>
            <a:r>
              <a:rPr lang="en-US" altLang="zh-CN" sz="1600" b="1" dirty="0" err="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连通分析</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algn="just" defTabSz="199808">
              <a:lnSpc>
                <a:spcPct val="150000"/>
              </a:lnSpc>
              <a:spcAft>
                <a:spcPts val="153"/>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例如对于二值图像，连通区域标记是二值图像分析的基础，它通过对二值图像中白色像素（目标）的标记，让</a:t>
            </a:r>
            <a:r>
              <a:rPr lang="en-US" altLang="zh-CN"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每个单独的连通区域形</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成一个被标识的块，</a:t>
            </a:r>
            <a:r>
              <a:rPr lang="en-US" altLang="zh-CN"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进一步我们就可以获取这些块的轮廓、外接矩形、质心、不变矩等几何参数。</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ctrTitle" idx="4294967295"/>
            <p:custDataLst>
              <p:tags r:id="rId2"/>
            </p:custDataLst>
          </p:nvPr>
        </p:nvSpPr>
        <p:spPr>
          <a:xfrm>
            <a:off x="393014" y="164165"/>
            <a:ext cx="2954656" cy="461665"/>
          </a:xfrm>
          <a:noFill/>
        </p:spPr>
        <p:txBody>
          <a:bodyPr wrap="none" rtlCol="0">
            <a:spAutoFit/>
          </a:bodyPr>
          <a:lstStyle/>
          <a:p>
            <a:pPr lvl="0" algn="ctr" defTabSz="914400" eaLnBrk="1" hangingPunct="1">
              <a:lnSpc>
                <a:spcPct val="100000"/>
              </a:lnSpc>
              <a:buClrTx/>
              <a:buSzTx/>
              <a:buFontTx/>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数字图像的统计性质</a:t>
            </a:r>
          </a:p>
        </p:txBody>
      </p:sp>
      <p:sp>
        <p:nvSpPr>
          <p:cNvPr id="5" name="文本占位符 4"/>
          <p:cNvSpPr>
            <a:spLocks noGrp="1"/>
          </p:cNvSpPr>
          <p:nvPr>
            <p:ph type="body" idx="4294967295"/>
            <p:custDataLst>
              <p:tags r:id="rId3"/>
            </p:custDataLst>
          </p:nvPr>
        </p:nvSpPr>
        <p:spPr>
          <a:xfrm>
            <a:off x="569967" y="818673"/>
            <a:ext cx="8115300" cy="600335"/>
          </a:xfrm>
        </p:spPr>
        <p:txBody>
          <a:bodyPr>
            <a:noAutofit/>
          </a:bodyPr>
          <a:lstStyle/>
          <a:p>
            <a:pPr marL="0" indent="0" algn="l">
              <a:lnSpc>
                <a:spcPct val="170000"/>
              </a:lnSpc>
              <a:buClrTx/>
              <a:buSzTx/>
              <a:buNone/>
            </a:pPr>
            <a:r>
              <a:rPr lang="zh-CN" altLang="en-US" sz="2133" b="1" dirty="0">
                <a:latin typeface="微软雅黑" panose="020B0503020204020204" pitchFamily="34" charset="-122"/>
                <a:ea typeface="微软雅黑" panose="020B0503020204020204" pitchFamily="34" charset="-122"/>
              </a:rPr>
              <a:t>图像直方图概念与性质</a:t>
            </a:r>
          </a:p>
        </p:txBody>
      </p:sp>
      <p:sp>
        <p:nvSpPr>
          <p:cNvPr id="6" name="文本占位符 5"/>
          <p:cNvSpPr>
            <a:spLocks noGrp="1"/>
          </p:cNvSpPr>
          <p:nvPr>
            <p:ph type="body" idx="4294967295"/>
            <p:custDataLst>
              <p:tags r:id="rId4"/>
            </p:custDataLst>
          </p:nvPr>
        </p:nvSpPr>
        <p:spPr>
          <a:xfrm>
            <a:off x="573744" y="1510154"/>
            <a:ext cx="7841593" cy="4815079"/>
          </a:xfrm>
        </p:spPr>
        <p:txBody>
          <a:bodyPr>
            <a:noAutofit/>
          </a:bodyPr>
          <a:lstStyle/>
          <a:p>
            <a:pPr>
              <a:lnSpc>
                <a:spcPct val="150000"/>
              </a:lnSpc>
              <a:buFont typeface="Wingdings" panose="05000000000000000000" pitchFamily="2" charset="2"/>
              <a:buChar char="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图像处理中，经常要用到图像的若干统计量</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pitchFamily="2" charset="2"/>
              <a:buChar char="n"/>
            </a:pPr>
            <a:r>
              <a:rPr lang="zh-CN" altLang="en-US" sz="18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比如均值（一阶矩）、方差（二阶矩）等</a:t>
            </a:r>
            <a:endParaRPr lang="en-US" altLang="zh-CN" sz="18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pitchFamily="2" charset="2"/>
              <a:buChar char="n"/>
            </a:pPr>
            <a:r>
              <a:rPr lang="zh-CN" altLang="en-US" sz="18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这些统计量都可以蕴含在图像的直方图（Histogram）中</a:t>
            </a:r>
          </a:p>
          <a:p>
            <a:pPr marL="0" indent="0">
              <a:lnSpc>
                <a:spcPct val="150000"/>
              </a:lnSpc>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5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一幅图像的直方图，是图像中灰度等级上出现像素的个数或者频率。</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对于一幅有个灰度等级的图像而言，我们可以定义一个1维数组，其元素记录第k+1个灰度等级上像素的个数。</a:t>
            </a:r>
          </a:p>
        </p:txBody>
      </p:sp>
      <p:pic>
        <p:nvPicPr>
          <p:cNvPr id="269" name="图片 26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37999" y="972751"/>
            <a:ext cx="4262965" cy="2651405"/>
          </a:xfrm>
          <a:prstGeom prst="rect">
            <a:avLst/>
          </a:prstGeom>
        </p:spPr>
      </p:pic>
      <p:sp>
        <p:nvSpPr>
          <p:cNvPr id="3" name="文本框 2"/>
          <p:cNvSpPr txBox="1"/>
          <p:nvPr/>
        </p:nvSpPr>
        <p:spPr>
          <a:xfrm>
            <a:off x="9161302" y="3624156"/>
            <a:ext cx="3810000" cy="377411"/>
          </a:xfrm>
          <a:prstGeom prst="rect">
            <a:avLst/>
          </a:prstGeom>
        </p:spPr>
        <p:txBody>
          <a:bodyPr>
            <a:spAutoFit/>
          </a:bodyPr>
          <a:lstStyle/>
          <a:p>
            <a:pPr algn="just" defTabSz="199808">
              <a:lnSpc>
                <a:spcPct val="150000"/>
              </a:lnSpc>
              <a:spcAft>
                <a:spcPts val="153"/>
              </a:spcAft>
            </a:pPr>
            <a:r>
              <a:rPr lang="zh-CN" altLang="en-US" sz="1400" b="1" dirty="0">
                <a:solidFill>
                  <a:srgbClr val="000000"/>
                </a:solidFill>
                <a:latin typeface="微软雅黑" panose="020B0503020204020204" pitchFamily="34" charset="-122"/>
                <a:ea typeface="微软雅黑" panose="020B0503020204020204" pitchFamily="34" charset="-122"/>
              </a:rPr>
              <a:t>直方图</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p:cNvSpPr txBox="1"/>
          <p:nvPr/>
        </p:nvSpPr>
        <p:spPr>
          <a:xfrm>
            <a:off x="1905001" y="996707"/>
            <a:ext cx="4809564" cy="472565"/>
          </a:xfrm>
          <a:prstGeom prst="rect">
            <a:avLst/>
          </a:prstGeom>
        </p:spPr>
        <p:txBody>
          <a:bodyPr wrap="square">
            <a:spAutoFit/>
          </a:bodyPr>
          <a:lstStyle/>
          <a:p>
            <a:pPr indent="199808" algn="just" defTabSz="199808">
              <a:lnSpc>
                <a:spcPct val="150000"/>
              </a:lnSpc>
              <a:spcAft>
                <a:spcPct val="0"/>
              </a:spcAft>
            </a:pPr>
            <a:r>
              <a:rPr lang="zh-CN" altLang="en-US" sz="1867" b="1" dirty="0">
                <a:latin typeface="微软雅黑" panose="020B0503020204020204" pitchFamily="34" charset="-122"/>
                <a:ea typeface="微软雅黑" panose="020B0503020204020204" pitchFamily="34" charset="-122"/>
                <a:cs typeface="微软雅黑" panose="020B0503020204020204" pitchFamily="34" charset="-122"/>
              </a:rPr>
              <a:t>由直方图，我们可以得到如下性质：</a:t>
            </a:r>
          </a:p>
        </p:txBody>
      </p:sp>
      <p:pic>
        <p:nvPicPr>
          <p:cNvPr id="45" name="图片 2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9649" y="2875679"/>
            <a:ext cx="3063492" cy="2341588"/>
          </a:xfrm>
          <a:prstGeom prst="rect">
            <a:avLst/>
          </a:prstGeom>
        </p:spPr>
      </p:pic>
      <p:pic>
        <p:nvPicPr>
          <p:cNvPr id="46" name="图片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27931" y="2853702"/>
            <a:ext cx="3197124" cy="2362719"/>
          </a:xfrm>
          <a:prstGeom prst="rect">
            <a:avLst/>
          </a:prstGeom>
        </p:spPr>
      </p:pic>
      <p:sp>
        <p:nvSpPr>
          <p:cNvPr id="3" name="文本框 2"/>
          <p:cNvSpPr txBox="1"/>
          <p:nvPr/>
        </p:nvSpPr>
        <p:spPr>
          <a:xfrm>
            <a:off x="2330028" y="1583268"/>
            <a:ext cx="6887633" cy="1518073"/>
          </a:xfrm>
          <a:prstGeom prst="rect">
            <a:avLst/>
          </a:prstGeom>
        </p:spPr>
        <p:txBody>
          <a:bodyPr>
            <a:noAutofit/>
          </a:bodyPr>
          <a:lstStyle/>
          <a:p>
            <a:pPr algn="just" defTabSz="199808">
              <a:lnSpc>
                <a:spcPct val="150000"/>
              </a:lnSpc>
              <a:spcAft>
                <a:spcPts val="153"/>
              </a:spcAft>
            </a:pP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1353"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为直方图，令图像的像素个数合计为</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，则：</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p>
          <a:p>
            <a:pPr algn="just" defTabSz="199808">
              <a:lnSpc>
                <a:spcPct val="150000"/>
              </a:lnSpc>
              <a:spcAft>
                <a:spcPts val="153"/>
              </a:spcAft>
            </a:pP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）令</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，则</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，称为归一化直方图；</a:t>
            </a:r>
          </a:p>
          <a:p>
            <a:pPr algn="just" defTabSz="199808">
              <a:lnSpc>
                <a:spcPct val="150000"/>
              </a:lnSpc>
              <a:spcAft>
                <a:spcPts val="153"/>
              </a:spcAft>
            </a:pP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）令</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，则</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，是单调递增的，称为累积直方图。</a:t>
            </a:r>
            <a:r>
              <a:rPr lang="en-US" altLang="zh-CN" sz="135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p:txBody>
      </p:sp>
      <p:graphicFrame>
        <p:nvGraphicFramePr>
          <p:cNvPr id="4" name="对象 -2147480055"/>
          <p:cNvGraphicFramePr>
            <a:graphicFrameLocks noChangeAspect="1"/>
          </p:cNvGraphicFramePr>
          <p:nvPr/>
        </p:nvGraphicFramePr>
        <p:xfrm>
          <a:off x="6806565" y="1583088"/>
          <a:ext cx="882015" cy="419576"/>
        </p:xfrm>
        <a:graphic>
          <a:graphicData uri="http://schemas.openxmlformats.org/presentationml/2006/ole">
            <mc:AlternateContent xmlns:mc="http://schemas.openxmlformats.org/markup-compatibility/2006">
              <mc:Choice xmlns:v="urn:schemas-microsoft-com:vml" Requires="v">
                <p:oleObj spid="_x0000_s27945" r:id="rId8" imgW="774065" imgH="368300" progId="Equation.DSMT4">
                  <p:embed/>
                </p:oleObj>
              </mc:Choice>
              <mc:Fallback>
                <p:oleObj r:id="rId8" imgW="774065" imgH="368300" progId="Equation.DSMT4">
                  <p:embed/>
                  <p:pic>
                    <p:nvPicPr>
                      <p:cNvPr id="4" name="对象 -2147480055"/>
                      <p:cNvPicPr/>
                      <p:nvPr/>
                    </p:nvPicPr>
                    <p:blipFill>
                      <a:blip r:embed="rId9"/>
                      <a:stretch>
                        <a:fillRect/>
                      </a:stretch>
                    </p:blipFill>
                    <p:spPr>
                      <a:xfrm>
                        <a:off x="6806565" y="1583088"/>
                        <a:ext cx="882015" cy="419576"/>
                      </a:xfrm>
                      <a:prstGeom prst="rect">
                        <a:avLst/>
                      </a:prstGeom>
                      <a:noFill/>
                      <a:ln w="38100">
                        <a:noFill/>
                        <a:miter/>
                      </a:ln>
                    </p:spPr>
                  </p:pic>
                </p:oleObj>
              </mc:Fallback>
            </mc:AlternateContent>
          </a:graphicData>
        </a:graphic>
      </p:graphicFrame>
      <p:graphicFrame>
        <p:nvGraphicFramePr>
          <p:cNvPr id="6" name="对象 -2147482387"/>
          <p:cNvGraphicFramePr>
            <a:graphicFrameLocks noChangeAspect="1"/>
          </p:cNvGraphicFramePr>
          <p:nvPr/>
        </p:nvGraphicFramePr>
        <p:xfrm>
          <a:off x="3078479" y="2002666"/>
          <a:ext cx="1224915" cy="291941"/>
        </p:xfrm>
        <a:graphic>
          <a:graphicData uri="http://schemas.openxmlformats.org/presentationml/2006/ole">
            <mc:AlternateContent xmlns:mc="http://schemas.openxmlformats.org/markup-compatibility/2006">
              <mc:Choice xmlns:v="urn:schemas-microsoft-com:vml" Requires="v">
                <p:oleObj spid="_x0000_s27946" r:id="rId10" imgW="939165" imgH="215900" progId="Equation.DSMT4">
                  <p:embed/>
                </p:oleObj>
              </mc:Choice>
              <mc:Fallback>
                <p:oleObj r:id="rId10" imgW="939165" imgH="215900" progId="Equation.DSMT4">
                  <p:embed/>
                  <p:pic>
                    <p:nvPicPr>
                      <p:cNvPr id="6" name="对象 -2147482387"/>
                      <p:cNvPicPr/>
                      <p:nvPr/>
                    </p:nvPicPr>
                    <p:blipFill>
                      <a:blip r:embed="rId11"/>
                      <a:stretch>
                        <a:fillRect/>
                      </a:stretch>
                    </p:blipFill>
                    <p:spPr>
                      <a:xfrm>
                        <a:off x="3078479" y="2002666"/>
                        <a:ext cx="1224915" cy="291941"/>
                      </a:xfrm>
                      <a:prstGeom prst="rect">
                        <a:avLst/>
                      </a:prstGeom>
                      <a:noFill/>
                      <a:ln w="38100">
                        <a:noFill/>
                        <a:miter/>
                      </a:ln>
                    </p:spPr>
                  </p:pic>
                </p:oleObj>
              </mc:Fallback>
            </mc:AlternateContent>
          </a:graphicData>
        </a:graphic>
      </p:graphicFrame>
      <p:graphicFrame>
        <p:nvGraphicFramePr>
          <p:cNvPr id="9" name="对象 -2147482386"/>
          <p:cNvGraphicFramePr>
            <a:graphicFrameLocks noChangeAspect="1"/>
          </p:cNvGraphicFramePr>
          <p:nvPr/>
        </p:nvGraphicFramePr>
        <p:xfrm>
          <a:off x="4709159" y="1929323"/>
          <a:ext cx="1472565" cy="438627"/>
        </p:xfrm>
        <a:graphic>
          <a:graphicData uri="http://schemas.openxmlformats.org/presentationml/2006/ole">
            <mc:AlternateContent xmlns:mc="http://schemas.openxmlformats.org/markup-compatibility/2006">
              <mc:Choice xmlns:v="urn:schemas-microsoft-com:vml" Requires="v">
                <p:oleObj spid="_x0000_s27947" r:id="rId12" imgW="1231265" imgH="368300" progId="Equation.DSMT4">
                  <p:embed/>
                </p:oleObj>
              </mc:Choice>
              <mc:Fallback>
                <p:oleObj r:id="rId12" imgW="1231265" imgH="368300" progId="Equation.DSMT4">
                  <p:embed/>
                  <p:pic>
                    <p:nvPicPr>
                      <p:cNvPr id="9" name="对象 -2147482386"/>
                      <p:cNvPicPr/>
                      <p:nvPr/>
                    </p:nvPicPr>
                    <p:blipFill>
                      <a:blip r:embed="rId13"/>
                      <a:stretch>
                        <a:fillRect/>
                      </a:stretch>
                    </p:blipFill>
                    <p:spPr>
                      <a:xfrm>
                        <a:off x="4709159" y="1929323"/>
                        <a:ext cx="1472565" cy="438627"/>
                      </a:xfrm>
                      <a:prstGeom prst="rect">
                        <a:avLst/>
                      </a:prstGeom>
                      <a:noFill/>
                      <a:ln w="38100">
                        <a:noFill/>
                        <a:miter/>
                      </a:ln>
                    </p:spPr>
                  </p:pic>
                </p:oleObj>
              </mc:Fallback>
            </mc:AlternateContent>
          </a:graphicData>
        </a:graphic>
      </p:graphicFrame>
      <p:graphicFrame>
        <p:nvGraphicFramePr>
          <p:cNvPr id="11" name="对象 -2147482385"/>
          <p:cNvGraphicFramePr>
            <a:graphicFrameLocks noChangeAspect="1"/>
          </p:cNvGraphicFramePr>
          <p:nvPr/>
        </p:nvGraphicFramePr>
        <p:xfrm>
          <a:off x="3078479" y="2219359"/>
          <a:ext cx="978693" cy="487204"/>
        </p:xfrm>
        <a:graphic>
          <a:graphicData uri="http://schemas.openxmlformats.org/presentationml/2006/ole">
            <mc:AlternateContent xmlns:mc="http://schemas.openxmlformats.org/markup-compatibility/2006">
              <mc:Choice xmlns:v="urn:schemas-microsoft-com:vml" Requires="v">
                <p:oleObj spid="_x0000_s27948" r:id="rId14" imgW="749300" imgH="368300" progId="Equation.DSMT4">
                  <p:embed/>
                </p:oleObj>
              </mc:Choice>
              <mc:Fallback>
                <p:oleObj r:id="rId14" imgW="749300" imgH="368300" progId="Equation.DSMT4">
                  <p:embed/>
                  <p:pic>
                    <p:nvPicPr>
                      <p:cNvPr id="11" name="对象 -2147482385"/>
                      <p:cNvPicPr/>
                      <p:nvPr/>
                    </p:nvPicPr>
                    <p:blipFill>
                      <a:blip r:embed="rId15"/>
                      <a:stretch>
                        <a:fillRect/>
                      </a:stretch>
                    </p:blipFill>
                    <p:spPr>
                      <a:xfrm>
                        <a:off x="3078479" y="2219359"/>
                        <a:ext cx="978693" cy="487204"/>
                      </a:xfrm>
                      <a:prstGeom prst="rect">
                        <a:avLst/>
                      </a:prstGeom>
                      <a:noFill/>
                      <a:ln w="38100">
                        <a:noFill/>
                        <a:miter/>
                      </a:ln>
                    </p:spPr>
                  </p:pic>
                </p:oleObj>
              </mc:Fallback>
            </mc:AlternateContent>
          </a:graphicData>
        </a:graphic>
      </p:graphicFrame>
      <p:graphicFrame>
        <p:nvGraphicFramePr>
          <p:cNvPr id="13" name="对象 -2147482384"/>
          <p:cNvGraphicFramePr>
            <a:graphicFrameLocks noChangeAspect="1"/>
          </p:cNvGraphicFramePr>
          <p:nvPr/>
        </p:nvGraphicFramePr>
        <p:xfrm>
          <a:off x="4438649" y="2367950"/>
          <a:ext cx="1090136" cy="254793"/>
        </p:xfrm>
        <a:graphic>
          <a:graphicData uri="http://schemas.openxmlformats.org/presentationml/2006/ole">
            <mc:AlternateContent xmlns:mc="http://schemas.openxmlformats.org/markup-compatibility/2006">
              <mc:Choice xmlns:v="urn:schemas-microsoft-com:vml" Requires="v">
                <p:oleObj spid="_x0000_s27949" r:id="rId16" imgW="799465" imgH="190500" progId="Equation.DSMT4">
                  <p:embed/>
                </p:oleObj>
              </mc:Choice>
              <mc:Fallback>
                <p:oleObj r:id="rId16" imgW="799465" imgH="190500" progId="Equation.DSMT4">
                  <p:embed/>
                  <p:pic>
                    <p:nvPicPr>
                      <p:cNvPr id="13" name="对象 -2147482384"/>
                      <p:cNvPicPr/>
                      <p:nvPr/>
                    </p:nvPicPr>
                    <p:blipFill>
                      <a:blip r:embed="rId17"/>
                      <a:stretch>
                        <a:fillRect/>
                      </a:stretch>
                    </p:blipFill>
                    <p:spPr>
                      <a:xfrm>
                        <a:off x="4438649" y="2367950"/>
                        <a:ext cx="1090136" cy="254793"/>
                      </a:xfrm>
                      <a:prstGeom prst="rect">
                        <a:avLst/>
                      </a:prstGeom>
                      <a:noFill/>
                      <a:ln w="38100">
                        <a:noFill/>
                        <a:miter/>
                      </a:ln>
                    </p:spPr>
                  </p:pic>
                </p:oleObj>
              </mc:Fallback>
            </mc:AlternateContent>
          </a:graphicData>
        </a:graphic>
      </p:graphicFrame>
      <p:sp>
        <p:nvSpPr>
          <p:cNvPr id="15" name="文本框 14"/>
          <p:cNvSpPr txBox="1"/>
          <p:nvPr/>
        </p:nvSpPr>
        <p:spPr>
          <a:xfrm>
            <a:off x="2763034" y="5198210"/>
            <a:ext cx="7213941" cy="374654"/>
          </a:xfrm>
          <a:prstGeom prst="rect">
            <a:avLst/>
          </a:prstGeom>
        </p:spPr>
        <p:txBody>
          <a:bodyPr wrap="square">
            <a:spAutoFit/>
          </a:bodyPr>
          <a:lstStyle/>
          <a:p>
            <a:pPr algn="ctr" defTabSz="199808">
              <a:lnSpc>
                <a:spcPct val="150000"/>
              </a:lnSpc>
              <a:spcAft>
                <a:spcPct val="0"/>
              </a:spcAft>
            </a:pPr>
            <a:r>
              <a:rPr lang="en-US" altLang="zh-CN" sz="1400" b="1" dirty="0">
                <a:solidFill>
                  <a:srgbClr val="000000"/>
                </a:solidFill>
                <a:latin typeface="Times New Roman" panose="02020603050405020304"/>
                <a:ea typeface="Times New Roman" panose="02020603050405020304"/>
              </a:rPr>
              <a:t>(</a:t>
            </a:r>
            <a:r>
              <a:rPr lang="en-US" altLang="zh-CN" sz="1400" b="1" dirty="0">
                <a:solidFill>
                  <a:srgbClr val="000000"/>
                </a:solidFill>
                <a:latin typeface="Times New Roman" panose="02020603050405020304"/>
                <a:ea typeface="宋体" panose="02010600030101010101" pitchFamily="2" charset="-122"/>
              </a:rPr>
              <a:t>a</a:t>
            </a:r>
            <a:r>
              <a:rPr lang="en-US" altLang="zh-CN" sz="1400" b="1" dirty="0">
                <a:solidFill>
                  <a:srgbClr val="000000"/>
                </a:solidFill>
                <a:latin typeface="Times New Roman" panose="02020603050405020304"/>
                <a:ea typeface="Times New Roman" panose="02020603050405020304"/>
              </a:rPr>
              <a:t>)</a:t>
            </a:r>
            <a:r>
              <a:rPr lang="en-US" altLang="zh-CN" sz="1400" b="1" dirty="0">
                <a:solidFill>
                  <a:srgbClr val="000000"/>
                </a:solidFill>
                <a:latin typeface="Times New Roman" panose="02020603050405020304"/>
                <a:ea typeface="宋体" panose="02010600030101010101" pitchFamily="2" charset="-122"/>
              </a:rPr>
              <a:t> </a:t>
            </a:r>
            <a:r>
              <a:rPr lang="zh-CN" altLang="en-US" sz="1400" b="1" dirty="0">
                <a:solidFill>
                  <a:srgbClr val="000000"/>
                </a:solidFill>
                <a:latin typeface="宋体" panose="02010600030101010101" pitchFamily="2" charset="-122"/>
                <a:ea typeface="宋体" panose="02010600030101010101" pitchFamily="2" charset="-122"/>
              </a:rPr>
              <a:t>归一化直图</a:t>
            </a:r>
            <a:r>
              <a:rPr lang="en-US" altLang="zh-CN" sz="1400" b="1" dirty="0">
                <a:solidFill>
                  <a:srgbClr val="000000"/>
                </a:solidFill>
                <a:latin typeface="宋体" panose="02010600030101010101" pitchFamily="2" charset="-122"/>
                <a:ea typeface="宋体" panose="02010600030101010101" pitchFamily="2" charset="-122"/>
              </a:rPr>
              <a:t>(</a:t>
            </a:r>
            <a:r>
              <a:rPr lang="zh-CN" altLang="en-US" sz="1400" b="1" dirty="0">
                <a:solidFill>
                  <a:srgbClr val="000000"/>
                </a:solidFill>
                <a:latin typeface="宋体" panose="02010600030101010101" pitchFamily="2" charset="-122"/>
                <a:ea typeface="宋体" panose="02010600030101010101" pitchFamily="2" charset="-122"/>
              </a:rPr>
              <a:t>密度</a:t>
            </a:r>
            <a:r>
              <a:rPr lang="en-US" altLang="zh-CN" sz="1400" b="1" dirty="0">
                <a:solidFill>
                  <a:srgbClr val="000000"/>
                </a:solidFill>
                <a:latin typeface="宋体" panose="02010600030101010101" pitchFamily="2" charset="-122"/>
                <a:ea typeface="宋体" panose="02010600030101010101" pitchFamily="2" charset="-122"/>
              </a:rPr>
              <a:t>)                          </a:t>
            </a:r>
            <a:r>
              <a:rPr lang="en-US" altLang="zh-CN" sz="1400" b="1" dirty="0">
                <a:solidFill>
                  <a:srgbClr val="000000"/>
                </a:solidFill>
                <a:latin typeface="Times New Roman" panose="02020603050405020304"/>
                <a:ea typeface="Times New Roman" panose="02020603050405020304"/>
              </a:rPr>
              <a:t>(</a:t>
            </a:r>
            <a:r>
              <a:rPr lang="en-US" altLang="zh-CN" sz="1400" b="1" dirty="0">
                <a:solidFill>
                  <a:srgbClr val="000000"/>
                </a:solidFill>
                <a:latin typeface="Times New Roman" panose="02020603050405020304"/>
                <a:ea typeface="宋体" panose="02010600030101010101" pitchFamily="2" charset="-122"/>
              </a:rPr>
              <a:t>b</a:t>
            </a:r>
            <a:r>
              <a:rPr lang="en-US" altLang="zh-CN" sz="1400" b="1" dirty="0">
                <a:solidFill>
                  <a:srgbClr val="000000"/>
                </a:solidFill>
                <a:latin typeface="Times New Roman" panose="02020603050405020304"/>
                <a:ea typeface="Times New Roman" panose="02020603050405020304"/>
              </a:rPr>
              <a:t>)</a:t>
            </a:r>
            <a:r>
              <a:rPr lang="en-US" altLang="zh-CN" sz="1400" b="1" dirty="0">
                <a:solidFill>
                  <a:srgbClr val="000000"/>
                </a:solidFill>
                <a:latin typeface="Times New Roman" panose="02020603050405020304"/>
                <a:ea typeface="宋体" panose="02010600030101010101" pitchFamily="2" charset="-122"/>
              </a:rPr>
              <a:t> </a:t>
            </a:r>
            <a:r>
              <a:rPr lang="zh-CN" altLang="en-US" sz="1400" b="1" dirty="0">
                <a:solidFill>
                  <a:srgbClr val="000000"/>
                </a:solidFill>
                <a:latin typeface="宋体" panose="02010600030101010101" pitchFamily="2" charset="-122"/>
                <a:ea typeface="宋体" panose="02010600030101010101" pitchFamily="2" charset="-122"/>
              </a:rPr>
              <a:t>累积直方图（密度的积分，分布）</a:t>
            </a:r>
            <a:endParaRPr lang="zh-CN" altLang="en-US" sz="1353" b="1" dirty="0">
              <a:solidFill>
                <a:srgbClr val="000000"/>
              </a:solidFill>
              <a:latin typeface="宋体" panose="02010600030101010101" pitchFamily="2" charset="-122"/>
              <a:ea typeface="宋体" panose="02010600030101010101" pitchFamily="2" charset="-122"/>
            </a:endParaRPr>
          </a:p>
        </p:txBody>
      </p:sp>
      <p:sp>
        <p:nvSpPr>
          <p:cNvPr id="16" name="文本框 15"/>
          <p:cNvSpPr txBox="1"/>
          <p:nvPr/>
        </p:nvSpPr>
        <p:spPr>
          <a:xfrm>
            <a:off x="2264961" y="4850109"/>
            <a:ext cx="3765175" cy="374654"/>
          </a:xfrm>
          <a:prstGeom prst="rect">
            <a:avLst/>
          </a:prstGeom>
        </p:spPr>
        <p:txBody>
          <a:bodyPr wrap="square">
            <a:spAutoFit/>
          </a:bodyPr>
          <a:lstStyle/>
          <a:p>
            <a:pPr algn="ctr" defTabSz="199808">
              <a:lnSpc>
                <a:spcPct val="150000"/>
              </a:lnSpc>
              <a:spcAft>
                <a:spcPct val="0"/>
              </a:spcAft>
            </a:pPr>
            <a:r>
              <a:rPr lang="en-US" altLang="zh-CN" sz="1400" b="1" dirty="0">
                <a:solidFill>
                  <a:srgbClr val="000000"/>
                </a:solidFill>
                <a:latin typeface="Times New Roman" panose="02020603050405020304"/>
                <a:ea typeface="Times New Roman" panose="02020603050405020304"/>
              </a:rPr>
              <a:t>(</a:t>
            </a:r>
            <a:r>
              <a:rPr lang="en-US" altLang="zh-CN" sz="1400" b="1" dirty="0">
                <a:solidFill>
                  <a:srgbClr val="000000"/>
                </a:solidFill>
                <a:latin typeface="Times New Roman" panose="02020603050405020304"/>
                <a:ea typeface="宋体" panose="02010600030101010101" pitchFamily="2" charset="-122"/>
              </a:rPr>
              <a:t>a</a:t>
            </a:r>
            <a:r>
              <a:rPr lang="en-US" altLang="zh-CN" sz="1400" b="1" dirty="0">
                <a:solidFill>
                  <a:srgbClr val="000000"/>
                </a:solidFill>
                <a:latin typeface="Times New Roman" panose="02020603050405020304"/>
                <a:ea typeface="Times New Roman" panose="02020603050405020304"/>
              </a:rPr>
              <a:t>)</a:t>
            </a:r>
            <a:r>
              <a:rPr lang="en-US" altLang="zh-CN" sz="1400" b="1" dirty="0">
                <a:solidFill>
                  <a:srgbClr val="000000"/>
                </a:solidFill>
                <a:latin typeface="Times New Roman" panose="02020603050405020304"/>
                <a:ea typeface="宋体" panose="02010600030101010101" pitchFamily="2" charset="-122"/>
              </a:rPr>
              <a:t> </a:t>
            </a:r>
            <a:endParaRPr lang="zh-CN" altLang="en-US" sz="1353" b="1" dirty="0">
              <a:solidFill>
                <a:srgbClr val="000000"/>
              </a:solidFill>
              <a:latin typeface="宋体" panose="02010600030101010101" pitchFamily="2" charset="-122"/>
              <a:ea typeface="宋体" panose="02010600030101010101" pitchFamily="2" charset="-122"/>
            </a:endParaRPr>
          </a:p>
        </p:txBody>
      </p:sp>
      <p:sp>
        <p:nvSpPr>
          <p:cNvPr id="17" name="文本框 16"/>
          <p:cNvSpPr txBox="1"/>
          <p:nvPr/>
        </p:nvSpPr>
        <p:spPr>
          <a:xfrm>
            <a:off x="5663791" y="4850109"/>
            <a:ext cx="3765175" cy="374654"/>
          </a:xfrm>
          <a:prstGeom prst="rect">
            <a:avLst/>
          </a:prstGeom>
        </p:spPr>
        <p:txBody>
          <a:bodyPr wrap="square">
            <a:spAutoFit/>
          </a:bodyPr>
          <a:lstStyle/>
          <a:p>
            <a:pPr algn="ctr" defTabSz="199808">
              <a:lnSpc>
                <a:spcPct val="150000"/>
              </a:lnSpc>
              <a:spcAft>
                <a:spcPct val="0"/>
              </a:spcAft>
            </a:pPr>
            <a:r>
              <a:rPr lang="en-US" altLang="zh-CN" sz="1400" b="1" dirty="0">
                <a:solidFill>
                  <a:srgbClr val="000000"/>
                </a:solidFill>
                <a:latin typeface="Times New Roman" panose="02020603050405020304"/>
                <a:ea typeface="Times New Roman" panose="02020603050405020304"/>
              </a:rPr>
              <a:t>(</a:t>
            </a:r>
            <a:r>
              <a:rPr lang="en-US" altLang="zh-CN" sz="1400" b="1" dirty="0">
                <a:solidFill>
                  <a:srgbClr val="000000"/>
                </a:solidFill>
                <a:latin typeface="Times New Roman" panose="02020603050405020304"/>
                <a:ea typeface="宋体" panose="02010600030101010101" pitchFamily="2" charset="-122"/>
              </a:rPr>
              <a:t>b</a:t>
            </a:r>
            <a:r>
              <a:rPr lang="en-US" altLang="zh-CN" sz="1400" b="1" dirty="0">
                <a:solidFill>
                  <a:srgbClr val="000000"/>
                </a:solidFill>
                <a:latin typeface="Times New Roman" panose="02020603050405020304"/>
                <a:ea typeface="Times New Roman" panose="02020603050405020304"/>
              </a:rPr>
              <a:t>)</a:t>
            </a:r>
            <a:r>
              <a:rPr lang="en-US" altLang="zh-CN" sz="1400" b="1" dirty="0">
                <a:solidFill>
                  <a:srgbClr val="000000"/>
                </a:solidFill>
                <a:latin typeface="Times New Roman" panose="02020603050405020304"/>
                <a:ea typeface="宋体" panose="02010600030101010101" pitchFamily="2" charset="-122"/>
              </a:rPr>
              <a:t> </a:t>
            </a:r>
            <a:endParaRPr lang="zh-CN" altLang="en-US" sz="1353" b="1" dirty="0">
              <a:solidFill>
                <a:srgbClr val="000000"/>
              </a:solidFill>
              <a:latin typeface="宋体" panose="02010600030101010101" pitchFamily="2" charset="-122"/>
              <a:ea typeface="宋体" panose="02010600030101010101" pitchFamily="2" charset="-122"/>
            </a:endParaRPr>
          </a:p>
        </p:txBody>
      </p:sp>
      <p:sp>
        <p:nvSpPr>
          <p:cNvPr id="18" name="文本框 17"/>
          <p:cNvSpPr txBox="1"/>
          <p:nvPr/>
        </p:nvSpPr>
        <p:spPr>
          <a:xfrm>
            <a:off x="2546387" y="5747792"/>
            <a:ext cx="7763087" cy="461665"/>
          </a:xfrm>
          <a:prstGeom prst="rect">
            <a:avLst/>
          </a:prstGeom>
          <a:noFill/>
        </p:spPr>
        <p:txBody>
          <a:bodyPr wrap="square" rtlCol="0">
            <a:spAutoFit/>
          </a:bodyPr>
          <a:lstStyle/>
          <a:p>
            <a:r>
              <a:rPr lang="zh-CN" altLang="en-US" sz="2400" b="1" dirty="0">
                <a:solidFill>
                  <a:srgbClr val="FF0000"/>
                </a:solidFill>
              </a:rPr>
              <a:t>连续情形：对应概率密度函数（</a:t>
            </a:r>
            <a:r>
              <a:rPr lang="en-US" altLang="zh-CN" sz="2400" b="1" dirty="0">
                <a:solidFill>
                  <a:srgbClr val="FF0000"/>
                </a:solidFill>
              </a:rPr>
              <a:t>PDF</a:t>
            </a:r>
            <a:r>
              <a:rPr lang="zh-CN" altLang="en-US" sz="2400" b="1" dirty="0">
                <a:solidFill>
                  <a:srgbClr val="FF0000"/>
                </a:solidFill>
              </a:rPr>
              <a:t>）</a:t>
            </a:r>
            <a:r>
              <a:rPr lang="en-US" altLang="zh-CN" sz="2400" b="1" dirty="0">
                <a:solidFill>
                  <a:srgbClr val="FF0000"/>
                </a:solidFill>
              </a:rPr>
              <a:t>  </a:t>
            </a:r>
            <a:r>
              <a:rPr lang="zh-CN" altLang="en-US" sz="2400" b="1" dirty="0">
                <a:solidFill>
                  <a:srgbClr val="FF0000"/>
                </a:solidFill>
              </a:rPr>
              <a:t>和分布函数</a:t>
            </a:r>
          </a:p>
        </p:txBody>
      </p:sp>
      <p:sp>
        <p:nvSpPr>
          <p:cNvPr id="20" name="标题 1">
            <a:extLst>
              <a:ext uri="{FF2B5EF4-FFF2-40B4-BE49-F238E27FC236}">
                <a16:creationId xmlns:a16="http://schemas.microsoft.com/office/drawing/2014/main" id="{82DD78A9-0C2C-43A6-A807-3193C0664086}"/>
              </a:ext>
            </a:extLst>
          </p:cNvPr>
          <p:cNvSpPr txBox="1">
            <a:spLocks/>
          </p:cNvSpPr>
          <p:nvPr>
            <p:custDataLst>
              <p:tags r:id="rId3"/>
            </p:custDataLst>
          </p:nvPr>
        </p:nvSpPr>
        <p:spPr bwMode="auto">
          <a:xfrm>
            <a:off x="393014" y="164165"/>
            <a:ext cx="29546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a:solidFill>
                  <a:srgbClr val="0C4379"/>
                </a:solidFill>
                <a:latin typeface="微软雅黑" panose="020B0503020204020204" pitchFamily="34" charset="-122"/>
                <a:ea typeface="微软雅黑" panose="020B0503020204020204" pitchFamily="34" charset="-122"/>
                <a:cs typeface="+mn-cs"/>
                <a:sym typeface="+mn-ea"/>
              </a:rPr>
              <a:t>数字图像的统计性质</a:t>
            </a:r>
            <a:endParaRPr lang="zh-CN" altLang="en-US" sz="2400" b="1" dirty="0">
              <a:solidFill>
                <a:srgbClr val="0C4379"/>
              </a:solidFill>
              <a:latin typeface="微软雅黑" panose="020B0503020204020204" pitchFamily="34" charset="-122"/>
              <a:ea typeface="微软雅黑" panose="020B0503020204020204" pitchFamily="34" charset="-122"/>
              <a:cs typeface="+mn-cs"/>
              <a:sym typeface="+mn-ea"/>
            </a:endParaRPr>
          </a:p>
        </p:txBody>
      </p:sp>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1">
            <a:extLst>
              <a:ext uri="{FF2B5EF4-FFF2-40B4-BE49-F238E27FC236}">
                <a16:creationId xmlns:a16="http://schemas.microsoft.com/office/drawing/2014/main" id="{CF4F2942-2770-4A92-8F4F-ECD15F761BCD}"/>
              </a:ext>
            </a:extLst>
          </p:cNvPr>
          <p:cNvSpPr txBox="1">
            <a:spLocks/>
          </p:cNvSpPr>
          <p:nvPr/>
        </p:nvSpPr>
        <p:spPr>
          <a:xfrm>
            <a:off x="717883" y="1576657"/>
            <a:ext cx="10962373" cy="2735461"/>
          </a:xfrm>
          <a:prstGeom prst="rect">
            <a:avLst/>
          </a:prstGeom>
        </p:spPr>
        <p:txBody>
          <a:bodyPr>
            <a:normAutofit/>
          </a:bodyPr>
          <a:lstStyle>
            <a:lvl1pPr marL="228589" indent="-228589" algn="l" defTabSz="914354" rtl="0" eaLnBrk="0" fontAlgn="base" hangingPunct="0">
              <a:lnSpc>
                <a:spcPct val="90000"/>
              </a:lnSpc>
              <a:spcBef>
                <a:spcPts val="1001"/>
              </a:spcBef>
              <a:spcAft>
                <a:spcPct val="0"/>
              </a:spcAft>
              <a:buFont typeface="Arial" panose="020B0604020202020204" pitchFamily="34" charset="0"/>
              <a:buChar char="•"/>
              <a:defRPr sz="2800" kern="1200">
                <a:solidFill>
                  <a:schemeClr val="tx1"/>
                </a:solidFill>
                <a:latin typeface="华文细黑" panose="02010600040101010101" pitchFamily="2" charset="-122"/>
                <a:ea typeface="+mn-ea"/>
                <a:cs typeface="+mn-cs"/>
              </a:defRPr>
            </a:lvl1pPr>
            <a:lvl2pPr marL="685767" indent="-228589" algn="l" defTabSz="914354"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华文细黑" panose="02010600040101010101" pitchFamily="2" charset="-122"/>
                <a:ea typeface="+mn-ea"/>
                <a:cs typeface="+mn-cs"/>
              </a:defRPr>
            </a:lvl2pPr>
            <a:lvl3pPr marL="1142943" indent="-228589" algn="l" defTabSz="914354"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华文细黑" panose="02010600040101010101" pitchFamily="2" charset="-122"/>
                <a:ea typeface="+mn-ea"/>
                <a:cs typeface="+mn-cs"/>
              </a:defRPr>
            </a:lvl3pPr>
            <a:lvl4pPr marL="1600121" indent="-228589" algn="l" defTabSz="914354" rtl="0" eaLnBrk="0" fontAlgn="base" hangingPunct="0">
              <a:lnSpc>
                <a:spcPct val="90000"/>
              </a:lnSpc>
              <a:spcBef>
                <a:spcPts val="500"/>
              </a:spcBef>
              <a:spcAft>
                <a:spcPct val="0"/>
              </a:spcAft>
              <a:buFont typeface="Arial" panose="020B0604020202020204" pitchFamily="34" charset="0"/>
              <a:buChar char="•"/>
              <a:defRPr sz="1733" kern="1200">
                <a:solidFill>
                  <a:schemeClr val="tx1"/>
                </a:solidFill>
                <a:latin typeface="华文细黑" panose="02010600040101010101" pitchFamily="2" charset="-122"/>
                <a:ea typeface="+mn-ea"/>
                <a:cs typeface="+mn-cs"/>
              </a:defRPr>
            </a:lvl4pPr>
            <a:lvl5pPr marL="2057298" indent="-228589" algn="l" defTabSz="914354" rtl="0" eaLnBrk="0" fontAlgn="base" hangingPunct="0">
              <a:lnSpc>
                <a:spcPct val="90000"/>
              </a:lnSpc>
              <a:spcBef>
                <a:spcPts val="500"/>
              </a:spcBef>
              <a:spcAft>
                <a:spcPct val="0"/>
              </a:spcAft>
              <a:buFont typeface="Arial" panose="020B0604020202020204" pitchFamily="34" charset="0"/>
              <a:buChar char="•"/>
              <a:defRPr sz="1733" kern="1200">
                <a:solidFill>
                  <a:schemeClr val="tx1"/>
                </a:solidFill>
                <a:latin typeface="华文细黑" panose="02010600040101010101" pitchFamily="2" charset="-122"/>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457200" indent="-4572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rPr>
              <a:t>离散随机变量，灰度 </a:t>
            </a:r>
            <a:r>
              <a:rPr lang="en-US" altLang="zh-CN" sz="2000" dirty="0">
                <a:latin typeface="微软雅黑" panose="020B0503020204020204" pitchFamily="34" charset="-122"/>
                <a:ea typeface="微软雅黑" panose="020B0503020204020204" pitchFamily="34" charset="-122"/>
              </a:rPr>
              <a:t>{gray</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0,1,…,255}</a:t>
            </a:r>
            <a:r>
              <a:rPr lang="zh-CN" altLang="en-US" sz="2000" dirty="0">
                <a:latin typeface="微软雅黑" panose="020B0503020204020204" pitchFamily="34" charset="-122"/>
                <a:ea typeface="微软雅黑" panose="020B0503020204020204" pitchFamily="34" charset="-122"/>
              </a:rPr>
              <a:t>，估计概率密度函数（</a:t>
            </a:r>
            <a:r>
              <a:rPr lang="en-US" altLang="zh-CN" sz="2000" dirty="0">
                <a:latin typeface="微软雅黑" panose="020B0503020204020204" pitchFamily="34" charset="-122"/>
                <a:ea typeface="微软雅黑" panose="020B0503020204020204" pitchFamily="34" charset="-122"/>
              </a:rPr>
              <a:t>PDF</a:t>
            </a:r>
            <a:r>
              <a:rPr lang="zh-CN" altLang="en-US" sz="2000" dirty="0">
                <a:latin typeface="微软雅黑" panose="020B0503020204020204" pitchFamily="34" charset="-122"/>
                <a:ea typeface="微软雅黑" panose="020B0503020204020204" pitchFamily="34" charset="-122"/>
              </a:rPr>
              <a:t>），怎么做？</a:t>
            </a:r>
            <a:endParaRPr lang="en-US" altLang="zh-CN" sz="2000" dirty="0">
              <a:latin typeface="微软雅黑" panose="020B0503020204020204" pitchFamily="34" charset="-122"/>
              <a:ea typeface="微软雅黑" panose="020B0503020204020204" pitchFamily="34" charset="-122"/>
            </a:endParaRPr>
          </a:p>
          <a:p>
            <a:pPr marL="800100" lvl="1" indent="-342900">
              <a:lnSpc>
                <a:spcPct val="150000"/>
              </a:lnSpc>
              <a:buFont typeface="+mj-ea"/>
              <a:buAutoNum type="circleNumDbPlain"/>
            </a:pPr>
            <a:r>
              <a:rPr lang="zh-CN" altLang="en-US" sz="1600" dirty="0">
                <a:latin typeface="微软雅黑" panose="020B0503020204020204" pitchFamily="34" charset="-122"/>
                <a:ea typeface="微软雅黑" panose="020B0503020204020204" pitchFamily="34" charset="-122"/>
              </a:rPr>
              <a:t>独立取样</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次灰度值，</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个观测值独立同分布，如果</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趋于</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∞，则不同灰度被取样的比例趋近于</a:t>
            </a:r>
            <a:r>
              <a:rPr lang="en-US" altLang="zh-CN" sz="1600" dirty="0">
                <a:latin typeface="微软雅黑" panose="020B0503020204020204" pitchFamily="34" charset="-122"/>
                <a:ea typeface="微软雅黑" panose="020B0503020204020204" pitchFamily="34" charset="-122"/>
              </a:rPr>
              <a:t>PDF</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800100" lvl="1" indent="-342900">
              <a:lnSpc>
                <a:spcPct val="150000"/>
              </a:lnSpc>
              <a:buFont typeface="+mj-ea"/>
              <a:buAutoNum type="circleNumDbPlain"/>
            </a:pPr>
            <a:r>
              <a:rPr lang="zh-CN" altLang="en-US" sz="1600" dirty="0">
                <a:latin typeface="微软雅黑" panose="020B0503020204020204" pitchFamily="34" charset="-122"/>
                <a:ea typeface="微软雅黑" panose="020B0503020204020204" pitchFamily="34" charset="-122"/>
              </a:rPr>
              <a:t>如果</a:t>
            </a:r>
            <a:r>
              <a:rPr lang="en-US" altLang="zh-CN" sz="1600" dirty="0">
                <a:latin typeface="微软雅黑" panose="020B0503020204020204" pitchFamily="34" charset="-122"/>
                <a:ea typeface="微软雅黑" panose="020B0503020204020204" pitchFamily="34" charset="-122"/>
              </a:rPr>
              <a:t>N= Width *</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Height</a:t>
            </a:r>
            <a:r>
              <a:rPr lang="zh-CN" altLang="en-US" sz="1600" dirty="0">
                <a:latin typeface="微软雅黑" panose="020B0503020204020204" pitchFamily="34" charset="-122"/>
                <a:ea typeface="微软雅黑" panose="020B0503020204020204" pitchFamily="34" charset="-122"/>
              </a:rPr>
              <a:t>，并假设图像中所有像素间的灰度相互独立，</a:t>
            </a:r>
            <a:r>
              <a:rPr lang="en-US" altLang="zh-CN" sz="1600" dirty="0">
                <a:latin typeface="微软雅黑" panose="020B0503020204020204" pitchFamily="34" charset="-122"/>
                <a:ea typeface="微软雅黑" panose="020B0503020204020204" pitchFamily="34" charset="-122"/>
              </a:rPr>
              <a:t>PDF</a:t>
            </a:r>
            <a:r>
              <a:rPr lang="zh-CN" altLang="en-US" sz="1600" dirty="0">
                <a:latin typeface="微软雅黑" panose="020B0503020204020204" pitchFamily="34" charset="-122"/>
                <a:ea typeface="微软雅黑" panose="020B0503020204020204" pitchFamily="34" charset="-122"/>
              </a:rPr>
              <a:t>的估计结果就是灰度直方图。</a:t>
            </a:r>
            <a:endParaRPr lang="en-US" altLang="zh-CN" sz="1600" dirty="0">
              <a:latin typeface="微软雅黑" panose="020B0503020204020204" pitchFamily="34" charset="-122"/>
              <a:ea typeface="微软雅黑" panose="020B0503020204020204" pitchFamily="34" charset="-122"/>
            </a:endParaRPr>
          </a:p>
          <a:p>
            <a:pPr marL="457200" lvl="1" indent="-457200">
              <a:lnSpc>
                <a:spcPct val="150000"/>
              </a:lnSpc>
              <a:spcBef>
                <a:spcPts val="1000"/>
              </a:spcBef>
              <a:buFont typeface="+mj-lt"/>
              <a:buAutoNum type="arabicPeriod" startAt="2"/>
            </a:pPr>
            <a:r>
              <a:rPr lang="zh-CN" altLang="en-US" sz="2000" dirty="0">
                <a:latin typeface="微软雅黑" panose="020B0503020204020204" pitchFamily="34" charset="-122"/>
                <a:ea typeface="微软雅黑" panose="020B0503020204020204" pitchFamily="34" charset="-122"/>
              </a:rPr>
              <a:t>下列图像的直方图可以体现图像的哪些特点，观察像素灰度与直方图的对应关系。</a:t>
            </a:r>
            <a:endParaRPr lang="en-US" altLang="zh-CN" sz="20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F22676CC-3A44-47F0-847D-81E0004B6F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5176" y="3876876"/>
            <a:ext cx="1800000" cy="1800000"/>
          </a:xfrm>
          <a:prstGeom prst="rect">
            <a:avLst/>
          </a:prstGeom>
        </p:spPr>
      </p:pic>
      <p:pic>
        <p:nvPicPr>
          <p:cNvPr id="4" name="图片 3">
            <a:extLst>
              <a:ext uri="{FF2B5EF4-FFF2-40B4-BE49-F238E27FC236}">
                <a16:creationId xmlns:a16="http://schemas.microsoft.com/office/drawing/2014/main" id="{5B4516BA-CEC9-4235-967B-579365E2D1BB}"/>
              </a:ext>
            </a:extLst>
          </p:cNvPr>
          <p:cNvPicPr>
            <a:picLocks noChangeAspect="1"/>
          </p:cNvPicPr>
          <p:nvPr/>
        </p:nvPicPr>
        <p:blipFill rotWithShape="1">
          <a:blip r:embed="rId4"/>
          <a:srcRect t="11024"/>
          <a:stretch/>
        </p:blipFill>
        <p:spPr>
          <a:xfrm>
            <a:off x="2095176" y="3876876"/>
            <a:ext cx="1979317" cy="1800000"/>
          </a:xfrm>
          <a:prstGeom prst="rect">
            <a:avLst/>
          </a:prstGeom>
        </p:spPr>
      </p:pic>
      <p:pic>
        <p:nvPicPr>
          <p:cNvPr id="5" name="图片 4">
            <a:extLst>
              <a:ext uri="{FF2B5EF4-FFF2-40B4-BE49-F238E27FC236}">
                <a16:creationId xmlns:a16="http://schemas.microsoft.com/office/drawing/2014/main" id="{67043C9D-2763-4B33-AE0D-DF24CA4614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07286" y="3876876"/>
            <a:ext cx="1800000" cy="1800000"/>
          </a:xfrm>
          <a:prstGeom prst="rect">
            <a:avLst/>
          </a:prstGeom>
        </p:spPr>
      </p:pic>
      <p:pic>
        <p:nvPicPr>
          <p:cNvPr id="6" name="图片 5">
            <a:extLst>
              <a:ext uri="{FF2B5EF4-FFF2-40B4-BE49-F238E27FC236}">
                <a16:creationId xmlns:a16="http://schemas.microsoft.com/office/drawing/2014/main" id="{DED0F30F-F456-4D75-A94F-ABBCBD6109DC}"/>
              </a:ext>
            </a:extLst>
          </p:cNvPr>
          <p:cNvPicPr>
            <a:picLocks noChangeAspect="1"/>
          </p:cNvPicPr>
          <p:nvPr/>
        </p:nvPicPr>
        <p:blipFill rotWithShape="1">
          <a:blip r:embed="rId6"/>
          <a:srcRect t="10775"/>
          <a:stretch/>
        </p:blipFill>
        <p:spPr>
          <a:xfrm>
            <a:off x="6009776" y="3876876"/>
            <a:ext cx="1973779" cy="1800000"/>
          </a:xfrm>
          <a:prstGeom prst="rect">
            <a:avLst/>
          </a:prstGeom>
        </p:spPr>
      </p:pic>
      <p:pic>
        <p:nvPicPr>
          <p:cNvPr id="7" name="图片 6">
            <a:extLst>
              <a:ext uri="{FF2B5EF4-FFF2-40B4-BE49-F238E27FC236}">
                <a16:creationId xmlns:a16="http://schemas.microsoft.com/office/drawing/2014/main" id="{8087621E-9A9F-48A3-B832-74216983DA57}"/>
              </a:ext>
            </a:extLst>
          </p:cNvPr>
          <p:cNvPicPr>
            <a:picLocks noChangeAspect="1"/>
          </p:cNvPicPr>
          <p:nvPr/>
        </p:nvPicPr>
        <p:blipFill rotWithShape="1">
          <a:blip r:embed="rId7"/>
          <a:srcRect t="10975"/>
          <a:stretch/>
        </p:blipFill>
        <p:spPr>
          <a:xfrm>
            <a:off x="9916349" y="3876876"/>
            <a:ext cx="1978213" cy="1800000"/>
          </a:xfrm>
          <a:prstGeom prst="rect">
            <a:avLst/>
          </a:prstGeom>
        </p:spPr>
      </p:pic>
      <p:pic>
        <p:nvPicPr>
          <p:cNvPr id="8" name="图片 7">
            <a:extLst>
              <a:ext uri="{FF2B5EF4-FFF2-40B4-BE49-F238E27FC236}">
                <a16:creationId xmlns:a16="http://schemas.microsoft.com/office/drawing/2014/main" id="{D5229AE4-5835-4C8D-B721-49BCE15C5D1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16349" y="3876876"/>
            <a:ext cx="1800000" cy="1800000"/>
          </a:xfrm>
          <a:prstGeom prst="rect">
            <a:avLst/>
          </a:prstGeom>
        </p:spPr>
      </p:pic>
      <p:sp>
        <p:nvSpPr>
          <p:cNvPr id="9" name="标题 1">
            <a:extLst>
              <a:ext uri="{FF2B5EF4-FFF2-40B4-BE49-F238E27FC236}">
                <a16:creationId xmlns:a16="http://schemas.microsoft.com/office/drawing/2014/main" id="{56E33B35-BB00-45F6-9069-57CE2B77D381}"/>
              </a:ext>
            </a:extLst>
          </p:cNvPr>
          <p:cNvSpPr txBox="1">
            <a:spLocks/>
          </p:cNvSpPr>
          <p:nvPr>
            <p:custDataLst>
              <p:tags r:id="rId1"/>
            </p:custDataLst>
          </p:nvPr>
        </p:nvSpPr>
        <p:spPr bwMode="auto">
          <a:xfrm>
            <a:off x="393014" y="164165"/>
            <a:ext cx="29546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数字图像的统计性质</a:t>
            </a:r>
          </a:p>
        </p:txBody>
      </p:sp>
    </p:spTree>
    <p:extLst>
      <p:ext uri="{BB962C8B-B14F-4D97-AF65-F5344CB8AC3E}">
        <p14:creationId xmlns:p14="http://schemas.microsoft.com/office/powerpoint/2010/main" val="37869272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p:cNvSpPr txBox="1"/>
          <p:nvPr/>
        </p:nvSpPr>
        <p:spPr>
          <a:xfrm>
            <a:off x="537549" y="1094028"/>
            <a:ext cx="11016164" cy="2522998"/>
          </a:xfrm>
          <a:prstGeom prst="rect">
            <a:avLst/>
          </a:prstGeom>
        </p:spPr>
        <p:txBody>
          <a:bodyPr wrap="square">
            <a:spAutoFit/>
          </a:bodyPr>
          <a:lstStyle/>
          <a:p>
            <a:pPr marL="228594" indent="-228594" algn="just" defTabSz="199808">
              <a:lnSpc>
                <a:spcPct val="150000"/>
              </a:lnSpc>
              <a:spcAft>
                <a:spcPct val="0"/>
              </a:spcAft>
              <a:buFont typeface="Wingdings" panose="05000000000000000000" charset="0"/>
              <a:buChar char="ü"/>
            </a:pP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直方图描述了图像的全局统计信息。</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利用直方图，我们可以分析图像获取时的光照条件，也可以进行图像的光照均衡化和对比度增强等</a:t>
            </a:r>
            <a:endParaRPr lang="en-US" altLang="zh-CN" sz="1867" dirty="0">
              <a:latin typeface="微软雅黑" panose="020B0503020204020204" pitchFamily="34" charset="-122"/>
              <a:ea typeface="微软雅黑" panose="020B0503020204020204" pitchFamily="34" charset="-122"/>
              <a:cs typeface="微软雅黑" panose="020B0503020204020204" pitchFamily="34" charset="-122"/>
            </a:endParaRPr>
          </a:p>
          <a:p>
            <a:pPr marL="228594" indent="-228594" algn="just" defTabSz="199808">
              <a:lnSpc>
                <a:spcPct val="150000"/>
              </a:lnSpc>
              <a:spcAft>
                <a:spcPct val="0"/>
              </a:spcAft>
              <a:buFont typeface="Wingdings" panose="05000000000000000000" charset="0"/>
              <a:buChar char="ü"/>
            </a:pP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直方图不具备几何结构性</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，因此内容完全不同的两幅图像可能直方图是一样的</a:t>
            </a:r>
            <a:endParaRPr lang="en-US" altLang="zh-CN" sz="1867" dirty="0">
              <a:latin typeface="微软雅黑" panose="020B0503020204020204" pitchFamily="34" charset="-122"/>
              <a:ea typeface="微软雅黑" panose="020B0503020204020204" pitchFamily="34" charset="-122"/>
              <a:cs typeface="微软雅黑" panose="020B0503020204020204" pitchFamily="34" charset="-122"/>
            </a:endParaRPr>
          </a:p>
          <a:p>
            <a:pPr marL="228594" indent="-228594" algn="just" defTabSz="199808">
              <a:lnSpc>
                <a:spcPct val="150000"/>
              </a:lnSpc>
              <a:spcAft>
                <a:spcPct val="0"/>
              </a:spcAft>
              <a:buFont typeface="Wingdings" panose="05000000000000000000" charset="0"/>
              <a:buChar char="ü"/>
            </a:pPr>
            <a:r>
              <a:rPr lang="zh-CN" altLang="en-US" sz="1867"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直方图不能完全表征图像内容，不是一对一映射</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，直方图相同，可能图像内容完全不同</a:t>
            </a:r>
            <a:r>
              <a:rPr lang="zh-CN" altLang="en-US" sz="1867"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sz="1867"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867"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和图</a:t>
            </a:r>
            <a:r>
              <a:rPr lang="en-US" altLang="zh-CN" sz="1867"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 </a:t>
            </a:r>
            <a:r>
              <a:rPr lang="zh-CN" altLang="en-US" sz="1867"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p>
          <a:p>
            <a:pPr indent="199808" algn="just" defTabSz="199808">
              <a:lnSpc>
                <a:spcPct val="150000"/>
              </a:lnSpc>
              <a:spcAft>
                <a:spcPct val="0"/>
              </a:spcAft>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67" dirty="0">
              <a:latin typeface="微软雅黑" panose="020B0503020204020204" pitchFamily="34" charset="-122"/>
              <a:ea typeface="微软雅黑" panose="020B0503020204020204" pitchFamily="34" charset="-122"/>
              <a:cs typeface="微软雅黑" panose="020B0503020204020204" pitchFamily="34" charset="-122"/>
            </a:endParaRPr>
          </a:p>
          <a:p>
            <a:pPr indent="199808" algn="just" defTabSz="199808">
              <a:lnSpc>
                <a:spcPct val="150000"/>
              </a:lnSpc>
              <a:spcAft>
                <a:spcPct val="0"/>
              </a:spcAft>
            </a:pPr>
            <a:endParaRPr lang="zh-CN" altLang="en-US" sz="1353"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6" name="图片 26"/>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78102" y="3344582"/>
            <a:ext cx="6079913" cy="2736427"/>
          </a:xfrm>
          <a:prstGeom prst="rect">
            <a:avLst/>
          </a:prstGeom>
        </p:spPr>
      </p:pic>
      <p:sp>
        <p:nvSpPr>
          <p:cNvPr id="15" name="文本框 14"/>
          <p:cNvSpPr txBox="1"/>
          <p:nvPr/>
        </p:nvSpPr>
        <p:spPr>
          <a:xfrm>
            <a:off x="6891200" y="6159488"/>
            <a:ext cx="3810000" cy="336695"/>
          </a:xfrm>
          <a:prstGeom prst="rect">
            <a:avLst/>
          </a:prstGeom>
        </p:spPr>
        <p:txBody>
          <a:bodyPr>
            <a:spAutoFit/>
          </a:bodyPr>
          <a:lstStyle/>
          <a:p>
            <a:pPr algn="just" defTabSz="199808">
              <a:lnSpc>
                <a:spcPct val="150000"/>
              </a:lnSpc>
              <a:spcAft>
                <a:spcPts val="153"/>
              </a:spcAft>
            </a:pPr>
            <a:r>
              <a:rPr lang="zh-CN" altLang="en-US" sz="1200" b="1" dirty="0">
                <a:solidFill>
                  <a:srgbClr val="000000"/>
                </a:solidFill>
                <a:latin typeface="微软雅黑" panose="020B0503020204020204" pitchFamily="34" charset="-122"/>
                <a:ea typeface="微软雅黑" panose="020B0503020204020204" pitchFamily="34" charset="-122"/>
              </a:rPr>
              <a:t>幅简单图像的直方图</a:t>
            </a:r>
          </a:p>
        </p:txBody>
      </p:sp>
      <p:sp>
        <p:nvSpPr>
          <p:cNvPr id="9" name="标题 1">
            <a:extLst>
              <a:ext uri="{FF2B5EF4-FFF2-40B4-BE49-F238E27FC236}">
                <a16:creationId xmlns:a16="http://schemas.microsoft.com/office/drawing/2014/main" id="{6F9DF78B-70F2-4591-BFFB-7851B582FE1E}"/>
              </a:ext>
            </a:extLst>
          </p:cNvPr>
          <p:cNvSpPr txBox="1">
            <a:spLocks/>
          </p:cNvSpPr>
          <p:nvPr>
            <p:custDataLst>
              <p:tags r:id="rId2"/>
            </p:custDataLst>
          </p:nvPr>
        </p:nvSpPr>
        <p:spPr bwMode="auto">
          <a:xfrm>
            <a:off x="393014" y="164165"/>
            <a:ext cx="29546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数字图像的统计性质</a:t>
            </a: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p:cNvSpPr txBox="1"/>
          <p:nvPr/>
        </p:nvSpPr>
        <p:spPr>
          <a:xfrm>
            <a:off x="1498885" y="1804099"/>
            <a:ext cx="7962900" cy="367921"/>
          </a:xfrm>
          <a:prstGeom prst="rect">
            <a:avLst/>
          </a:prstGeom>
        </p:spPr>
        <p:txBody>
          <a:bodyPr wrap="square">
            <a:spAutoFit/>
          </a:bodyPr>
          <a:lstStyle/>
          <a:p>
            <a:pPr indent="199808" algn="just" defTabSz="199808">
              <a:lnSpc>
                <a:spcPct val="150000"/>
              </a:lnSpc>
              <a:spcAft>
                <a:spcPct val="0"/>
              </a:spcAft>
            </a:pPr>
            <a:r>
              <a:rPr lang="en-US" altLang="zh-CN" sz="1353">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353">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1341405" y="1115682"/>
            <a:ext cx="9975477" cy="472565"/>
          </a:xfrm>
          <a:prstGeom prst="rect">
            <a:avLst/>
          </a:prstGeom>
        </p:spPr>
        <p:txBody>
          <a:bodyPr wrap="square">
            <a:spAutoFit/>
          </a:bodyPr>
          <a:lstStyle/>
          <a:p>
            <a:pPr defTabSz="199808">
              <a:lnSpc>
                <a:spcPct val="150000"/>
              </a:lnSpc>
              <a:spcAft>
                <a:spcPts val="153"/>
              </a:spcAft>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由图像直方图可以计算图像的均值和方差等统计量，对一幅图像</a:t>
            </a: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，其</a:t>
            </a:r>
            <a:r>
              <a:rPr lang="zh-CN" altLang="en-US" sz="1867"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均值</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 name="对象 -2147482383"/>
          <p:cNvGraphicFramePr>
            <a:graphicFrameLocks noChangeAspect="1"/>
          </p:cNvGraphicFramePr>
          <p:nvPr>
            <p:extLst>
              <p:ext uri="{D42A27DB-BD31-4B8C-83A1-F6EECF244321}">
                <p14:modId xmlns:p14="http://schemas.microsoft.com/office/powerpoint/2010/main" val="1643586438"/>
              </p:ext>
            </p:extLst>
          </p:nvPr>
        </p:nvGraphicFramePr>
        <p:xfrm>
          <a:off x="8499416" y="1184898"/>
          <a:ext cx="1271867" cy="395096"/>
        </p:xfrm>
        <a:graphic>
          <a:graphicData uri="http://schemas.openxmlformats.org/presentationml/2006/ole">
            <mc:AlternateContent xmlns:mc="http://schemas.openxmlformats.org/markup-compatibility/2006">
              <mc:Choice xmlns:v="urn:schemas-microsoft-com:vml" Requires="v">
                <p:oleObj spid="_x0000_s28969" r:id="rId6" imgW="698500" imgH="215900" progId="Equation.DSMT4">
                  <p:embed/>
                </p:oleObj>
              </mc:Choice>
              <mc:Fallback>
                <p:oleObj r:id="rId6" imgW="698500" imgH="215900" progId="Equation.DSMT4">
                  <p:embed/>
                  <p:pic>
                    <p:nvPicPr>
                      <p:cNvPr id="4" name="对象 -2147482383"/>
                      <p:cNvPicPr/>
                      <p:nvPr/>
                    </p:nvPicPr>
                    <p:blipFill>
                      <a:blip r:embed="rId7"/>
                      <a:stretch>
                        <a:fillRect/>
                      </a:stretch>
                    </p:blipFill>
                    <p:spPr>
                      <a:xfrm>
                        <a:off x="8499416" y="1184898"/>
                        <a:ext cx="1271867" cy="395096"/>
                      </a:xfrm>
                      <a:prstGeom prst="rect">
                        <a:avLst/>
                      </a:prstGeom>
                      <a:noFill/>
                      <a:ln w="38100">
                        <a:noFill/>
                        <a:miter/>
                      </a:ln>
                    </p:spPr>
                  </p:pic>
                </p:oleObj>
              </mc:Fallback>
            </mc:AlternateContent>
          </a:graphicData>
        </a:graphic>
      </p:graphicFrame>
      <p:graphicFrame>
        <p:nvGraphicFramePr>
          <p:cNvPr id="6" name="对象 -2147482382"/>
          <p:cNvGraphicFramePr>
            <a:graphicFrameLocks noChangeAspect="1"/>
          </p:cNvGraphicFramePr>
          <p:nvPr>
            <p:extLst>
              <p:ext uri="{D42A27DB-BD31-4B8C-83A1-F6EECF244321}">
                <p14:modId xmlns:p14="http://schemas.microsoft.com/office/powerpoint/2010/main" val="1014774236"/>
              </p:ext>
            </p:extLst>
          </p:nvPr>
        </p:nvGraphicFramePr>
        <p:xfrm>
          <a:off x="3730184" y="1752102"/>
          <a:ext cx="4179571" cy="549116"/>
        </p:xfrm>
        <a:graphic>
          <a:graphicData uri="http://schemas.openxmlformats.org/presentationml/2006/ole">
            <mc:AlternateContent xmlns:mc="http://schemas.openxmlformats.org/markup-compatibility/2006">
              <mc:Choice xmlns:v="urn:schemas-microsoft-com:vml" Requires="v">
                <p:oleObj spid="_x0000_s28970" r:id="rId8" imgW="2794000" imgH="368300" progId="Equation.DSMT4">
                  <p:embed/>
                </p:oleObj>
              </mc:Choice>
              <mc:Fallback>
                <p:oleObj r:id="rId8" imgW="2794000" imgH="368300" progId="Equation.DSMT4">
                  <p:embed/>
                  <p:pic>
                    <p:nvPicPr>
                      <p:cNvPr id="6" name="对象 -2147482382"/>
                      <p:cNvPicPr/>
                      <p:nvPr/>
                    </p:nvPicPr>
                    <p:blipFill>
                      <a:blip r:embed="rId9"/>
                      <a:stretch>
                        <a:fillRect/>
                      </a:stretch>
                    </p:blipFill>
                    <p:spPr>
                      <a:xfrm>
                        <a:off x="3730184" y="1752102"/>
                        <a:ext cx="4179571" cy="549116"/>
                      </a:xfrm>
                      <a:prstGeom prst="rect">
                        <a:avLst/>
                      </a:prstGeom>
                      <a:noFill/>
                      <a:ln w="38100">
                        <a:noFill/>
                        <a:miter/>
                      </a:ln>
                    </p:spPr>
                  </p:pic>
                </p:oleObj>
              </mc:Fallback>
            </mc:AlternateContent>
          </a:graphicData>
        </a:graphic>
      </p:graphicFrame>
      <p:sp>
        <p:nvSpPr>
          <p:cNvPr id="9" name="文本框 8"/>
          <p:cNvSpPr txBox="1"/>
          <p:nvPr/>
        </p:nvSpPr>
        <p:spPr>
          <a:xfrm>
            <a:off x="1341405" y="2498047"/>
            <a:ext cx="3810000" cy="472565"/>
          </a:xfrm>
          <a:prstGeom prst="rect">
            <a:avLst/>
          </a:prstGeom>
        </p:spPr>
        <p:txBody>
          <a:bodyPr>
            <a:spAutoFit/>
          </a:bodyPr>
          <a:lstStyle/>
          <a:p>
            <a:pPr defTabSz="199808">
              <a:lnSpc>
                <a:spcPct val="150000"/>
              </a:lnSpc>
              <a:spcAft>
                <a:spcPct val="0"/>
              </a:spcAft>
            </a:pPr>
            <a:r>
              <a:rPr lang="zh-CN" altLang="en-US" sz="1867"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标准方差</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可以如下计算：</a:t>
            </a:r>
          </a:p>
        </p:txBody>
      </p:sp>
      <p:graphicFrame>
        <p:nvGraphicFramePr>
          <p:cNvPr id="10" name="对象 -2147480054"/>
          <p:cNvGraphicFramePr>
            <a:graphicFrameLocks noChangeAspect="1"/>
          </p:cNvGraphicFramePr>
          <p:nvPr>
            <p:extLst>
              <p:ext uri="{D42A27DB-BD31-4B8C-83A1-F6EECF244321}">
                <p14:modId xmlns:p14="http://schemas.microsoft.com/office/powerpoint/2010/main" val="368386610"/>
              </p:ext>
            </p:extLst>
          </p:nvPr>
        </p:nvGraphicFramePr>
        <p:xfrm>
          <a:off x="3553966" y="3055053"/>
          <a:ext cx="3907861" cy="503215"/>
        </p:xfrm>
        <a:graphic>
          <a:graphicData uri="http://schemas.openxmlformats.org/presentationml/2006/ole">
            <mc:AlternateContent xmlns:mc="http://schemas.openxmlformats.org/markup-compatibility/2006">
              <mc:Choice xmlns:v="urn:schemas-microsoft-com:vml" Requires="v">
                <p:oleObj spid="_x0000_s28971" r:id="rId10" imgW="2336800" imgH="292100" progId="Equation.DSMT4">
                  <p:embed/>
                </p:oleObj>
              </mc:Choice>
              <mc:Fallback>
                <p:oleObj r:id="rId10" imgW="2336800" imgH="292100" progId="Equation.DSMT4">
                  <p:embed/>
                  <p:pic>
                    <p:nvPicPr>
                      <p:cNvPr id="10" name="对象 -2147480054"/>
                      <p:cNvPicPr/>
                      <p:nvPr/>
                    </p:nvPicPr>
                    <p:blipFill>
                      <a:blip r:embed="rId11"/>
                      <a:stretch>
                        <a:fillRect/>
                      </a:stretch>
                    </p:blipFill>
                    <p:spPr>
                      <a:xfrm>
                        <a:off x="3553966" y="3055053"/>
                        <a:ext cx="3907861" cy="503215"/>
                      </a:xfrm>
                      <a:prstGeom prst="rect">
                        <a:avLst/>
                      </a:prstGeom>
                      <a:noFill/>
                      <a:ln w="38100">
                        <a:noFill/>
                        <a:miter/>
                      </a:ln>
                    </p:spPr>
                  </p:pic>
                </p:oleObj>
              </mc:Fallback>
            </mc:AlternateContent>
          </a:graphicData>
        </a:graphic>
      </p:graphicFrame>
      <p:sp>
        <p:nvSpPr>
          <p:cNvPr id="12" name="文本框 11"/>
          <p:cNvSpPr txBox="1"/>
          <p:nvPr/>
        </p:nvSpPr>
        <p:spPr>
          <a:xfrm>
            <a:off x="1341405" y="3767903"/>
            <a:ext cx="3810000" cy="472565"/>
          </a:xfrm>
          <a:prstGeom prst="rect">
            <a:avLst/>
          </a:prstGeom>
        </p:spPr>
        <p:txBody>
          <a:bodyPr>
            <a:spAutoFit/>
          </a:bodyPr>
          <a:lstStyle/>
          <a:p>
            <a:pPr algn="just" defTabSz="199808">
              <a:lnSpc>
                <a:spcPct val="150000"/>
              </a:lnSpc>
              <a:spcAft>
                <a:spcPts val="153"/>
              </a:spcAft>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其中                         ；</a:t>
            </a:r>
          </a:p>
        </p:txBody>
      </p:sp>
      <p:graphicFrame>
        <p:nvGraphicFramePr>
          <p:cNvPr id="13" name="对象 -2147482380"/>
          <p:cNvGraphicFramePr>
            <a:graphicFrameLocks noChangeAspect="1"/>
          </p:cNvGraphicFramePr>
          <p:nvPr>
            <p:extLst>
              <p:ext uri="{D42A27DB-BD31-4B8C-83A1-F6EECF244321}">
                <p14:modId xmlns:p14="http://schemas.microsoft.com/office/powerpoint/2010/main" val="706522927"/>
              </p:ext>
            </p:extLst>
          </p:nvPr>
        </p:nvGraphicFramePr>
        <p:xfrm>
          <a:off x="1972619" y="3771726"/>
          <a:ext cx="1814187" cy="649367"/>
        </p:xfrm>
        <a:graphic>
          <a:graphicData uri="http://schemas.openxmlformats.org/presentationml/2006/ole">
            <mc:AlternateContent xmlns:mc="http://schemas.openxmlformats.org/markup-compatibility/2006">
              <mc:Choice xmlns:v="urn:schemas-microsoft-com:vml" Requires="v">
                <p:oleObj spid="_x0000_s28972" r:id="rId12" imgW="1028700" imgH="368300" progId="Equation.DSMT4">
                  <p:embed/>
                </p:oleObj>
              </mc:Choice>
              <mc:Fallback>
                <p:oleObj r:id="rId12" imgW="1028700" imgH="368300" progId="Equation.DSMT4">
                  <p:embed/>
                  <p:pic>
                    <p:nvPicPr>
                      <p:cNvPr id="13" name="对象 -2147482380"/>
                      <p:cNvPicPr/>
                      <p:nvPr/>
                    </p:nvPicPr>
                    <p:blipFill>
                      <a:blip r:embed="rId13"/>
                      <a:stretch>
                        <a:fillRect/>
                      </a:stretch>
                    </p:blipFill>
                    <p:spPr>
                      <a:xfrm>
                        <a:off x="1972619" y="3771726"/>
                        <a:ext cx="1814187" cy="649367"/>
                      </a:xfrm>
                      <a:prstGeom prst="rect">
                        <a:avLst/>
                      </a:prstGeom>
                      <a:noFill/>
                      <a:ln w="38100">
                        <a:noFill/>
                        <a:miter/>
                      </a:ln>
                    </p:spPr>
                  </p:pic>
                </p:oleObj>
              </mc:Fallback>
            </mc:AlternateContent>
          </a:graphicData>
        </a:graphic>
      </p:graphicFrame>
      <p:sp>
        <p:nvSpPr>
          <p:cNvPr id="15" name="文本框 14"/>
          <p:cNvSpPr txBox="1"/>
          <p:nvPr/>
        </p:nvSpPr>
        <p:spPr>
          <a:xfrm>
            <a:off x="875118" y="4474207"/>
            <a:ext cx="10441764" cy="472565"/>
          </a:xfrm>
          <a:prstGeom prst="rect">
            <a:avLst/>
          </a:prstGeom>
        </p:spPr>
        <p:txBody>
          <a:bodyPr wrap="square">
            <a:spAutoFit/>
          </a:bodyPr>
          <a:lstStyle/>
          <a:p>
            <a:pPr indent="199808" algn="just" defTabSz="199808">
              <a:lnSpc>
                <a:spcPct val="150000"/>
              </a:lnSpc>
              <a:spcAft>
                <a:spcPct val="0"/>
              </a:spcAft>
            </a:pPr>
            <a:r>
              <a:rPr lang="en-US" altLang="zh-CN" sz="1353"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从图像的直方图还可以计算一个衡量图像</a:t>
            </a:r>
            <a:r>
              <a:rPr lang="zh-CN" altLang="en-US" sz="1867"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不确定性的度量</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67"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图像熵（Image Entropy）：</a:t>
            </a:r>
            <a:endParaRPr lang="zh-CN" altLang="en-US" sz="1353"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6" name="对象 -2147482379"/>
          <p:cNvGraphicFramePr>
            <a:graphicFrameLocks noChangeAspect="1"/>
          </p:cNvGraphicFramePr>
          <p:nvPr>
            <p:extLst>
              <p:ext uri="{D42A27DB-BD31-4B8C-83A1-F6EECF244321}">
                <p14:modId xmlns:p14="http://schemas.microsoft.com/office/powerpoint/2010/main" val="3489745903"/>
              </p:ext>
            </p:extLst>
          </p:nvPr>
        </p:nvGraphicFramePr>
        <p:xfrm>
          <a:off x="4061314" y="5061995"/>
          <a:ext cx="2997671" cy="680323"/>
        </p:xfrm>
        <a:graphic>
          <a:graphicData uri="http://schemas.openxmlformats.org/presentationml/2006/ole">
            <mc:AlternateContent xmlns:mc="http://schemas.openxmlformats.org/markup-compatibility/2006">
              <mc:Choice xmlns:v="urn:schemas-microsoft-com:vml" Requires="v">
                <p:oleObj spid="_x0000_s28973" r:id="rId14" imgW="1612900" imgH="368300" progId="Equation.DSMT4">
                  <p:embed/>
                </p:oleObj>
              </mc:Choice>
              <mc:Fallback>
                <p:oleObj r:id="rId14" imgW="1612900" imgH="368300" progId="Equation.DSMT4">
                  <p:embed/>
                  <p:pic>
                    <p:nvPicPr>
                      <p:cNvPr id="16" name="对象 -2147482379"/>
                      <p:cNvPicPr/>
                      <p:nvPr/>
                    </p:nvPicPr>
                    <p:blipFill>
                      <a:blip r:embed="rId15"/>
                      <a:stretch>
                        <a:fillRect/>
                      </a:stretch>
                    </p:blipFill>
                    <p:spPr>
                      <a:xfrm>
                        <a:off x="4061314" y="5061995"/>
                        <a:ext cx="2997671" cy="680323"/>
                      </a:xfrm>
                      <a:prstGeom prst="rect">
                        <a:avLst/>
                      </a:prstGeom>
                      <a:noFill/>
                      <a:ln w="38100">
                        <a:noFill/>
                        <a:miter/>
                      </a:ln>
                    </p:spPr>
                  </p:pic>
                </p:oleObj>
              </mc:Fallback>
            </mc:AlternateContent>
          </a:graphicData>
        </a:graphic>
      </p:graphicFrame>
      <p:sp>
        <p:nvSpPr>
          <p:cNvPr id="17" name="标题 1">
            <a:extLst>
              <a:ext uri="{FF2B5EF4-FFF2-40B4-BE49-F238E27FC236}">
                <a16:creationId xmlns:a16="http://schemas.microsoft.com/office/drawing/2014/main" id="{11B8AAD3-CBDE-461C-9DD5-4E00D776BA14}"/>
              </a:ext>
            </a:extLst>
          </p:cNvPr>
          <p:cNvSpPr txBox="1">
            <a:spLocks/>
          </p:cNvSpPr>
          <p:nvPr>
            <p:custDataLst>
              <p:tags r:id="rId3"/>
            </p:custDataLst>
          </p:nvPr>
        </p:nvSpPr>
        <p:spPr bwMode="auto">
          <a:xfrm>
            <a:off x="393014" y="164165"/>
            <a:ext cx="29546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a:solidFill>
                  <a:srgbClr val="0C4379"/>
                </a:solidFill>
                <a:latin typeface="微软雅黑" panose="020B0503020204020204" pitchFamily="34" charset="-122"/>
                <a:ea typeface="微软雅黑" panose="020B0503020204020204" pitchFamily="34" charset="-122"/>
                <a:cs typeface="+mn-cs"/>
                <a:sym typeface="+mn-ea"/>
              </a:rPr>
              <a:t>数字图像的统计性质</a:t>
            </a:r>
            <a:endParaRPr lang="zh-CN" altLang="en-US" sz="2400" b="1" dirty="0">
              <a:solidFill>
                <a:srgbClr val="0C4379"/>
              </a:solidFill>
              <a:latin typeface="微软雅黑" panose="020B0503020204020204" pitchFamily="34" charset="-122"/>
              <a:ea typeface="微软雅黑" panose="020B0503020204020204" pitchFamily="34" charset="-122"/>
              <a:cs typeface="+mn-cs"/>
              <a:sym typeface="+mn-ea"/>
            </a:endParaRPr>
          </a:p>
        </p:txBody>
      </p:sp>
    </p:spTree>
    <p:custDataLst>
      <p:tags r:id="rId2"/>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89140" y="1216561"/>
            <a:ext cx="10930133" cy="4440767"/>
          </a:xfrm>
          <a:prstGeom prst="rect">
            <a:avLst/>
          </a:prstGeom>
        </p:spPr>
        <p:txBody>
          <a:bodyPr wrap="square">
            <a:spAutoFit/>
          </a:bodyPr>
          <a:lstStyle/>
          <a:p>
            <a:pPr indent="199808" algn="just" defTabSz="199808">
              <a:lnSpc>
                <a:spcPct val="200000"/>
              </a:lnSpc>
              <a:spcAft>
                <a:spcPct val="0"/>
              </a:spcAft>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在信息论中，信息熵这个词是C. E. Shannon（香农）从热力学中借用过来的。</a:t>
            </a:r>
            <a:r>
              <a:rPr lang="zh-CN" altLang="en-US"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热力学中的热熵是表示分子状态混乱程度的物理量。</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香农用信息熵的概念来描述信源的不确定度。</a:t>
            </a:r>
          </a:p>
          <a:p>
            <a:pPr marL="285750" indent="-285750" algn="just" defTabSz="199808">
              <a:lnSpc>
                <a:spcPct val="200000"/>
              </a:lnSpc>
              <a:spcAft>
                <a:spcPct val="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图像各等级的像素值出现的概率越趋于均匀分布，则不确定越大、熵也越大。</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defTabSz="199808">
              <a:lnSpc>
                <a:spcPct val="200000"/>
              </a:lnSpc>
              <a:spcAft>
                <a:spcPct val="0"/>
              </a:spcAft>
              <a:buFont typeface="Arial" panose="020B0604020202020204" pitchFamily="34" charset="0"/>
              <a:buChar char="•"/>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当图像直方图满足均匀分布时，图像熵最大</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defTabSz="199808">
              <a:lnSpc>
                <a:spcPct val="200000"/>
              </a:lnSpc>
              <a:spcAft>
                <a:spcPct val="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在图像压缩时，图像熵越大，所需的编码长度越长，越难压缩。</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defTabSz="199808">
              <a:lnSpc>
                <a:spcPct val="200000"/>
              </a:lnSpc>
              <a:spcAft>
                <a:spcPct val="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下图给出了两幅不同复杂度的图像的直方图及其熵值</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defTabSz="199808">
              <a:lnSpc>
                <a:spcPct val="200000"/>
              </a:lnSpc>
              <a:spcAft>
                <a:spcPct val="0"/>
              </a:spcAft>
              <a:buFont typeface="+mj-lt"/>
              <a:buAutoNum type="arabicPeriod"/>
            </a:pPr>
            <a:r>
              <a:rPr lang="zh-CN" altLang="en-US"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上图表示一幅标准Lena图像，经计算其熵为7.4535；</a:t>
            </a:r>
            <a:endParaRPr lang="en-US" altLang="zh-CN"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defTabSz="199808">
              <a:lnSpc>
                <a:spcPct val="200000"/>
              </a:lnSpc>
              <a:spcAft>
                <a:spcPct val="0"/>
              </a:spcAft>
              <a:buFont typeface="+mj-lt"/>
              <a:buAutoNum type="arabicPeriod"/>
            </a:pPr>
            <a:r>
              <a:rPr lang="zh-CN" altLang="en-US"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下图为一幅纯灰图像，其熵为0。</a:t>
            </a:r>
          </a:p>
        </p:txBody>
      </p:sp>
      <p:pic>
        <p:nvPicPr>
          <p:cNvPr id="4"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25039" y="2983721"/>
            <a:ext cx="3926308" cy="2703787"/>
          </a:xfrm>
          <a:prstGeom prst="rect">
            <a:avLst/>
          </a:prstGeom>
        </p:spPr>
      </p:pic>
      <p:sp>
        <p:nvSpPr>
          <p:cNvPr id="5" name="文本框 4"/>
          <p:cNvSpPr txBox="1"/>
          <p:nvPr/>
        </p:nvSpPr>
        <p:spPr>
          <a:xfrm>
            <a:off x="7581714" y="5687508"/>
            <a:ext cx="4172633" cy="418191"/>
          </a:xfrm>
          <a:prstGeom prst="rect">
            <a:avLst/>
          </a:prstGeom>
        </p:spPr>
        <p:txBody>
          <a:bodyPr wrap="square">
            <a:spAutoFit/>
          </a:bodyPr>
          <a:lstStyle/>
          <a:p>
            <a:pPr algn="ctr" defTabSz="199808">
              <a:lnSpc>
                <a:spcPct val="150000"/>
              </a:lnSpc>
              <a:spcAft>
                <a:spcPct val="0"/>
              </a:spcAft>
            </a:pPr>
            <a:r>
              <a:rPr lang="zh-CN" altLang="en-US" sz="1600" dirty="0">
                <a:solidFill>
                  <a:srgbClr val="000000"/>
                </a:solidFill>
                <a:latin typeface="+mn-ea"/>
              </a:rPr>
              <a:t>两幅不同复杂度的图像的直方图及其熵值</a:t>
            </a:r>
          </a:p>
        </p:txBody>
      </p:sp>
      <p:sp>
        <p:nvSpPr>
          <p:cNvPr id="9" name="标题 1">
            <a:extLst>
              <a:ext uri="{FF2B5EF4-FFF2-40B4-BE49-F238E27FC236}">
                <a16:creationId xmlns:a16="http://schemas.microsoft.com/office/drawing/2014/main" id="{61AACE68-D336-40FF-AD84-3C375640C748}"/>
              </a:ext>
            </a:extLst>
          </p:cNvPr>
          <p:cNvSpPr txBox="1">
            <a:spLocks/>
          </p:cNvSpPr>
          <p:nvPr>
            <p:custDataLst>
              <p:tags r:id="rId2"/>
            </p:custDataLst>
          </p:nvPr>
        </p:nvSpPr>
        <p:spPr bwMode="auto">
          <a:xfrm>
            <a:off x="393014" y="164165"/>
            <a:ext cx="29546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数字图像的统计性质</a:t>
            </a: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ctrTitle" idx="4294967295"/>
            <p:custDataLst>
              <p:tags r:id="rId3"/>
            </p:custDataLst>
          </p:nvPr>
        </p:nvSpPr>
        <p:spPr>
          <a:xfrm>
            <a:off x="301227" y="156844"/>
            <a:ext cx="3570209" cy="461665"/>
          </a:xfrm>
          <a:noFill/>
        </p:spPr>
        <p:txBody>
          <a:bodyPr wrap="none" rtlCol="0">
            <a:spAutoFit/>
          </a:bodyPr>
          <a:lstStyle/>
          <a:p>
            <a:pPr lvl="0" algn="ctr" defTabSz="914400" eaLnBrk="1" hangingPunct="1">
              <a:lnSpc>
                <a:spcPct val="100000"/>
              </a:lnSpc>
              <a:buClrTx/>
              <a:buSzTx/>
              <a:buFontTx/>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数字图像的视觉表现性质</a:t>
            </a:r>
          </a:p>
        </p:txBody>
      </p:sp>
      <p:sp>
        <p:nvSpPr>
          <p:cNvPr id="16" name="文本框 15"/>
          <p:cNvSpPr txBox="1"/>
          <p:nvPr/>
        </p:nvSpPr>
        <p:spPr>
          <a:xfrm>
            <a:off x="1035646" y="952428"/>
            <a:ext cx="9906842" cy="2213052"/>
          </a:xfrm>
          <a:prstGeom prst="rect">
            <a:avLst/>
          </a:prstGeom>
        </p:spPr>
        <p:txBody>
          <a:bodyPr wrap="square">
            <a:noAutofit/>
          </a:bodyPr>
          <a:lstStyle/>
          <a:p>
            <a:pPr marL="342900" indent="-342900" algn="just" defTabSz="199808">
              <a:lnSpc>
                <a:spcPct val="150000"/>
              </a:lnSpc>
              <a:spcAft>
                <a:spcPct val="0"/>
              </a:spcAft>
              <a:buFont typeface="Wingdings" panose="05000000000000000000" pitchFamily="2" charset="2"/>
              <a:buChar char="n"/>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图像是人类视觉信息的主要来源。设计图像处理算法和系统需要考虑人类视觉系统（HVS，Human Visual S</a:t>
            </a: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ystem）的感知原理；</a:t>
            </a:r>
            <a:endParaRPr lang="en-US" altLang="zh-CN" sz="1867"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199808">
              <a:lnSpc>
                <a:spcPct val="150000"/>
              </a:lnSpc>
              <a:spcAft>
                <a:spcPct val="0"/>
              </a:spcAft>
              <a:buFont typeface="Wingdings" panose="05000000000000000000" pitchFamily="2" charset="2"/>
              <a:buChar char="n"/>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而人眼视觉是一个与心理学与认知相关的复杂系统，通常</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图像的对比度、边缘（物体边界）、形状</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和</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纹理</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等都影响人眼视觉感知。</a:t>
            </a:r>
            <a:endParaRPr lang="en-US" altLang="zh-CN" sz="1867"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199808">
              <a:lnSpc>
                <a:spcPct val="150000"/>
              </a:lnSpc>
              <a:spcAft>
                <a:spcPct val="0"/>
              </a:spcAft>
              <a:buFont typeface="Wingdings" panose="05000000000000000000" pitchFamily="2" charset="2"/>
              <a:buChar char="n"/>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人眼对输入信号刺激强度的感知响应是</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非线性的</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，心理实验表明是这种关系是对数关系</a:t>
            </a:r>
            <a:r>
              <a:rPr lang="zh-CN" altLang="en-US" sz="1867" b="1"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 name="文本框 2"/>
          <p:cNvSpPr txBox="1"/>
          <p:nvPr/>
        </p:nvSpPr>
        <p:spPr>
          <a:xfrm>
            <a:off x="814595" y="3225330"/>
            <a:ext cx="3810000" cy="526747"/>
          </a:xfrm>
          <a:prstGeom prst="rect">
            <a:avLst/>
          </a:prstGeom>
        </p:spPr>
        <p:txBody>
          <a:bodyPr>
            <a:spAutoFit/>
          </a:bodyPr>
          <a:lstStyle/>
          <a:p>
            <a:pPr indent="200655" algn="just" defTabSz="199808">
              <a:lnSpc>
                <a:spcPct val="150000"/>
              </a:lnSpc>
              <a:spcAft>
                <a:spcPct val="0"/>
              </a:spcAft>
            </a:pPr>
            <a:r>
              <a:rPr lang="zh-CN" altLang="en-US"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对比度（Contrast</a:t>
            </a:r>
            <a:r>
              <a:rPr lang="zh-CN" altLang="en-US" sz="15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4" name="文本框 3"/>
          <p:cNvSpPr txBox="1"/>
          <p:nvPr/>
        </p:nvSpPr>
        <p:spPr>
          <a:xfrm>
            <a:off x="1035646" y="3989764"/>
            <a:ext cx="9047472" cy="1334596"/>
          </a:xfrm>
          <a:prstGeom prst="rect">
            <a:avLst/>
          </a:prstGeom>
        </p:spPr>
        <p:txBody>
          <a:bodyPr wrap="square">
            <a:spAutoFit/>
          </a:bodyPr>
          <a:lstStyle/>
          <a:p>
            <a:pPr marL="342900" indent="-342900" algn="just" defTabSz="199808">
              <a:lnSpc>
                <a:spcPct val="150000"/>
              </a:lnSpc>
              <a:spcAft>
                <a:spcPct val="0"/>
              </a:spcAft>
              <a:buFont typeface="Wingdings" panose="05000000000000000000" pitchFamily="2" charset="2"/>
              <a:buChar char="n"/>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通常对比度体现图像的局部变化、背景与目标之间的反差。</a:t>
            </a:r>
            <a:endParaRPr lang="en-US" altLang="zh-CN" sz="1867"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defTabSz="199808">
              <a:lnSpc>
                <a:spcPct val="150000"/>
              </a:lnSpc>
              <a:spcAft>
                <a:spcPct val="0"/>
              </a:spcAft>
              <a:buFont typeface="Wingdings" panose="05000000000000000000" pitchFamily="2" charset="2"/>
              <a:buChar char="ü"/>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一幅图像内像素值的标准方差，认为方差越大则对比度越高。</a:t>
            </a:r>
            <a:endParaRPr lang="en-US" altLang="zh-CN" sz="1867"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defTabSz="199808">
              <a:lnSpc>
                <a:spcPct val="150000"/>
              </a:lnSpc>
              <a:spcAft>
                <a:spcPct val="0"/>
              </a:spcAft>
              <a:buFont typeface="Wingdings" panose="05000000000000000000" pitchFamily="2" charset="2"/>
              <a:buChar char="ü"/>
            </a:pP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另一个简单定义对比度的方法是定义为图像中最亮像素值与最暗像素值之差：</a:t>
            </a:r>
            <a:endParaRPr lang="zh-CN" altLang="en-US" sz="15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对象 -2147482378"/>
          <p:cNvGraphicFramePr>
            <a:graphicFrameLocks noChangeAspect="1"/>
          </p:cNvGraphicFramePr>
          <p:nvPr>
            <p:extLst>
              <p:ext uri="{D42A27DB-BD31-4B8C-83A1-F6EECF244321}">
                <p14:modId xmlns:p14="http://schemas.microsoft.com/office/powerpoint/2010/main" val="1356573031"/>
              </p:ext>
            </p:extLst>
          </p:nvPr>
        </p:nvGraphicFramePr>
        <p:xfrm>
          <a:off x="3993518" y="5647101"/>
          <a:ext cx="3346132" cy="401955"/>
        </p:xfrm>
        <a:graphic>
          <a:graphicData uri="http://schemas.openxmlformats.org/presentationml/2006/ole">
            <mc:AlternateContent xmlns:mc="http://schemas.openxmlformats.org/markup-compatibility/2006">
              <mc:Choice xmlns:v="urn:schemas-microsoft-com:vml" Requires="v">
                <p:oleObj spid="_x0000_s29758" r:id="rId5" imgW="1803400" imgH="215900" progId="Equation.DSMT4">
                  <p:embed/>
                </p:oleObj>
              </mc:Choice>
              <mc:Fallback>
                <p:oleObj r:id="rId5" imgW="1803400" imgH="215900" progId="Equation.DSMT4">
                  <p:embed/>
                  <p:pic>
                    <p:nvPicPr>
                      <p:cNvPr id="5" name="对象 -2147482378"/>
                      <p:cNvPicPr/>
                      <p:nvPr/>
                    </p:nvPicPr>
                    <p:blipFill>
                      <a:blip r:embed="rId6"/>
                      <a:stretch>
                        <a:fillRect/>
                      </a:stretch>
                    </p:blipFill>
                    <p:spPr>
                      <a:xfrm>
                        <a:off x="3993518" y="5647101"/>
                        <a:ext cx="3346132" cy="401955"/>
                      </a:xfrm>
                      <a:prstGeom prst="rect">
                        <a:avLst/>
                      </a:prstGeom>
                      <a:noFill/>
                      <a:ln w="38100">
                        <a:noFill/>
                        <a:miter/>
                      </a:ln>
                    </p:spPr>
                  </p:pic>
                </p:oleObj>
              </mc:Fallback>
            </mc:AlternateContent>
          </a:graphicData>
        </a:graphic>
      </p:graphicFrame>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839449" y="914877"/>
            <a:ext cx="10335718" cy="5839558"/>
          </a:xfrm>
          <a:prstGeom prst="rect">
            <a:avLst/>
          </a:prstGeom>
        </p:spPr>
        <p:txBody>
          <a:bodyPr wrap="square">
            <a:noAutofit/>
          </a:bodyPr>
          <a:lstStyle/>
          <a:p>
            <a:pPr indent="199808" algn="just" defTabSz="199808">
              <a:lnSpc>
                <a:spcPct val="150000"/>
              </a:lnSpc>
              <a:spcAft>
                <a:spcPct val="0"/>
              </a:spcAft>
            </a:pPr>
            <a:r>
              <a:rPr lang="en-US" altLang="zh-CN" sz="1867" dirty="0" smtClean="0">
                <a:latin typeface="微软雅黑" panose="020B0503020204020204" pitchFamily="34" charset="-122"/>
                <a:ea typeface="微软雅黑" panose="020B0503020204020204" pitchFamily="34" charset="-122"/>
                <a:cs typeface="微软雅黑" panose="020B0503020204020204" pitchFamily="34" charset="-122"/>
              </a:rPr>
              <a:t>Michelson</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将对比度定义为图像中</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最亮像素值与最暗像素值之差</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与</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最大最小亮度和</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的比值</a:t>
            </a: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rPr>
              <a:t>：</a:t>
            </a:r>
          </a:p>
          <a:p>
            <a:pPr indent="199808" algn="just" defTabSz="199808">
              <a:lnSpc>
                <a:spcPct val="150000"/>
              </a:lnSpc>
              <a:spcAft>
                <a:spcPct val="0"/>
              </a:spcAft>
            </a:pP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endParaRPr>
          </a:p>
          <a:p>
            <a:pPr indent="199808" algn="just" defTabSz="199808">
              <a:lnSpc>
                <a:spcPct val="150000"/>
              </a:lnSpc>
              <a:spcAft>
                <a:spcPct val="0"/>
              </a:spcAft>
            </a:pP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endParaRPr>
          </a:p>
          <a:p>
            <a:pPr indent="199808" algn="just" defTabSz="199808">
              <a:lnSpc>
                <a:spcPct val="150000"/>
              </a:lnSpc>
              <a:spcAft>
                <a:spcPct val="0"/>
              </a:spcAft>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67" dirty="0">
              <a:latin typeface="微软雅黑" panose="020B0503020204020204" pitchFamily="34" charset="-122"/>
              <a:ea typeface="微软雅黑" panose="020B0503020204020204" pitchFamily="34" charset="-122"/>
              <a:cs typeface="微软雅黑" panose="020B0503020204020204" pitchFamily="34" charset="-122"/>
            </a:endParaRPr>
          </a:p>
          <a:p>
            <a:pPr indent="199808" algn="just" defTabSz="199808">
              <a:lnSpc>
                <a:spcPct val="150000"/>
              </a:lnSpc>
              <a:spcAft>
                <a:spcPct val="0"/>
              </a:spcAft>
            </a:pPr>
            <a:r>
              <a:rPr lang="zh-CN" altLang="en-US" sz="1867" dirty="0" smtClean="0">
                <a:latin typeface="微软雅黑" panose="020B0503020204020204" pitchFamily="34" charset="-122"/>
                <a:ea typeface="微软雅黑" panose="020B0503020204020204" pitchFamily="34" charset="-122"/>
                <a:cs typeface="微软雅黑" panose="020B0503020204020204" pitchFamily="34" charset="-122"/>
              </a:rPr>
              <a:t>韦伯</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对比度定义为局部区域物体的亮度与背景亮度的相对差：</a:t>
            </a:r>
          </a:p>
        </p:txBody>
      </p:sp>
      <p:graphicFrame>
        <p:nvGraphicFramePr>
          <p:cNvPr id="3" name="对象 -2147482377"/>
          <p:cNvGraphicFramePr>
            <a:graphicFrameLocks noChangeAspect="1"/>
          </p:cNvGraphicFramePr>
          <p:nvPr>
            <p:extLst>
              <p:ext uri="{D42A27DB-BD31-4B8C-83A1-F6EECF244321}">
                <p14:modId xmlns:p14="http://schemas.microsoft.com/office/powerpoint/2010/main" val="113371862"/>
              </p:ext>
            </p:extLst>
          </p:nvPr>
        </p:nvGraphicFramePr>
        <p:xfrm>
          <a:off x="3871436" y="1583698"/>
          <a:ext cx="3555525" cy="754495"/>
        </p:xfrm>
        <a:graphic>
          <a:graphicData uri="http://schemas.openxmlformats.org/presentationml/2006/ole">
            <mc:AlternateContent xmlns:mc="http://schemas.openxmlformats.org/markup-compatibility/2006">
              <mc:Choice xmlns:v="urn:schemas-microsoft-com:vml" Requires="v">
                <p:oleObj spid="_x0000_s30934" r:id="rId5" imgW="1917065" imgH="406400" progId="Equation.DSMT4">
                  <p:embed/>
                </p:oleObj>
              </mc:Choice>
              <mc:Fallback>
                <p:oleObj r:id="rId5" imgW="1917065" imgH="406400" progId="Equation.DSMT4">
                  <p:embed/>
                  <p:pic>
                    <p:nvPicPr>
                      <p:cNvPr id="3" name="对象 -2147482377"/>
                      <p:cNvPicPr/>
                      <p:nvPr/>
                    </p:nvPicPr>
                    <p:blipFill>
                      <a:blip r:embed="rId6"/>
                      <a:stretch>
                        <a:fillRect/>
                      </a:stretch>
                    </p:blipFill>
                    <p:spPr>
                      <a:xfrm>
                        <a:off x="3871436" y="1583698"/>
                        <a:ext cx="3555525" cy="754495"/>
                      </a:xfrm>
                      <a:prstGeom prst="rect">
                        <a:avLst/>
                      </a:prstGeom>
                      <a:noFill/>
                      <a:ln w="38100">
                        <a:noFill/>
                        <a:miter/>
                      </a:ln>
                    </p:spPr>
                  </p:pic>
                </p:oleObj>
              </mc:Fallback>
            </mc:AlternateContent>
          </a:graphicData>
        </a:graphic>
      </p:graphicFrame>
      <p:graphicFrame>
        <p:nvGraphicFramePr>
          <p:cNvPr id="10" name="对象 -2147482374"/>
          <p:cNvGraphicFramePr>
            <a:graphicFrameLocks noChangeAspect="1"/>
          </p:cNvGraphicFramePr>
          <p:nvPr>
            <p:extLst>
              <p:ext uri="{D42A27DB-BD31-4B8C-83A1-F6EECF244321}">
                <p14:modId xmlns:p14="http://schemas.microsoft.com/office/powerpoint/2010/main" val="925564363"/>
              </p:ext>
            </p:extLst>
          </p:nvPr>
        </p:nvGraphicFramePr>
        <p:xfrm>
          <a:off x="4519050" y="3139874"/>
          <a:ext cx="1924707" cy="1036279"/>
        </p:xfrm>
        <a:graphic>
          <a:graphicData uri="http://schemas.openxmlformats.org/presentationml/2006/ole">
            <mc:AlternateContent xmlns:mc="http://schemas.openxmlformats.org/markup-compatibility/2006">
              <mc:Choice xmlns:v="urn:schemas-microsoft-com:vml" Requires="v">
                <p:oleObj spid="_x0000_s30935" r:id="rId7" imgW="774065" imgH="419100" progId="Equation.DSMT4">
                  <p:embed/>
                </p:oleObj>
              </mc:Choice>
              <mc:Fallback>
                <p:oleObj r:id="rId7" imgW="774065" imgH="419100" progId="Equation.DSMT4">
                  <p:embed/>
                  <p:pic>
                    <p:nvPicPr>
                      <p:cNvPr id="10" name="对象 -2147482374"/>
                      <p:cNvPicPr/>
                      <p:nvPr/>
                    </p:nvPicPr>
                    <p:blipFill>
                      <a:blip r:embed="rId8"/>
                      <a:stretch>
                        <a:fillRect/>
                      </a:stretch>
                    </p:blipFill>
                    <p:spPr>
                      <a:xfrm>
                        <a:off x="4519050" y="3139874"/>
                        <a:ext cx="1924707" cy="1036279"/>
                      </a:xfrm>
                      <a:prstGeom prst="rect">
                        <a:avLst/>
                      </a:prstGeom>
                      <a:noFill/>
                      <a:ln w="38100">
                        <a:noFill/>
                        <a:miter/>
                      </a:ln>
                    </p:spPr>
                  </p:pic>
                </p:oleObj>
              </mc:Fallback>
            </mc:AlternateContent>
          </a:graphicData>
        </a:graphic>
      </p:graphicFrame>
      <p:pic>
        <p:nvPicPr>
          <p:cNvPr id="18" name="图片 17"/>
          <p:cNvPicPr>
            <a:picLocks noChangeAspect="1"/>
          </p:cNvPicPr>
          <p:nvPr/>
        </p:nvPicPr>
        <p:blipFill rotWithShape="1">
          <a:blip r:embed="rId9"/>
          <a:srcRect t="-1379" r="55491"/>
          <a:stretch/>
        </p:blipFill>
        <p:spPr>
          <a:xfrm>
            <a:off x="3170308" y="4282510"/>
            <a:ext cx="5356085" cy="703219"/>
          </a:xfrm>
          <a:prstGeom prst="rect">
            <a:avLst/>
          </a:prstGeom>
        </p:spPr>
      </p:pic>
      <p:sp>
        <p:nvSpPr>
          <p:cNvPr id="13" name="标题 1">
            <a:extLst>
              <a:ext uri="{FF2B5EF4-FFF2-40B4-BE49-F238E27FC236}">
                <a16:creationId xmlns:a16="http://schemas.microsoft.com/office/drawing/2014/main" id="{0555392F-0AE1-441F-9EBC-7B7000761C34}"/>
              </a:ext>
            </a:extLst>
          </p:cNvPr>
          <p:cNvSpPr txBox="1">
            <a:spLocks/>
          </p:cNvSpPr>
          <p:nvPr>
            <p:custDataLst>
              <p:tags r:id="rId3"/>
            </p:custDataLst>
          </p:nvPr>
        </p:nvSpPr>
        <p:spPr bwMode="auto">
          <a:xfrm>
            <a:off x="301227" y="156844"/>
            <a:ext cx="35702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数字图像的视觉表现性质</a:t>
            </a:r>
          </a:p>
        </p:txBody>
      </p:sp>
    </p:spTree>
    <p:custDataLst>
      <p:tags r:id="rId2"/>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3"/>
          <p:cNvSpPr>
            <a:spLocks noGrp="1"/>
          </p:cNvSpPr>
          <p:nvPr>
            <p:ph type="sldNum" sz="quarter" idx="4294967295"/>
          </p:nvPr>
        </p:nvSpPr>
        <p:spPr>
          <a:xfrm>
            <a:off x="8610601" y="6356357"/>
            <a:ext cx="2743200" cy="366183"/>
          </a:xfrm>
        </p:spPr>
        <p:txBody>
          <a:bodyPr/>
          <a:lstStyle/>
          <a:p>
            <a:fld id="{48F63A3B-78C7-47BE-AE5E-E10140E04643}" type="slidenum">
              <a:rPr lang="en-US" dirty="0"/>
              <a:t>40</a:t>
            </a:fld>
            <a:endParaRPr lang="en-US" dirty="0"/>
          </a:p>
        </p:txBody>
      </p:sp>
      <p:sp>
        <p:nvSpPr>
          <p:cNvPr id="3" name="文本框 2"/>
          <p:cNvSpPr txBox="1"/>
          <p:nvPr/>
        </p:nvSpPr>
        <p:spPr>
          <a:xfrm>
            <a:off x="733708" y="947648"/>
            <a:ext cx="7041217" cy="526747"/>
          </a:xfrm>
          <a:prstGeom prst="rect">
            <a:avLst/>
          </a:prstGeom>
        </p:spPr>
        <p:txBody>
          <a:bodyPr wrap="square">
            <a:spAutoFit/>
          </a:bodyPr>
          <a:lstStyle/>
          <a:p>
            <a:pPr algn="just" defTabSz="199808">
              <a:lnSpc>
                <a:spcPct val="150000"/>
              </a:lnSpc>
              <a:spcAft>
                <a:spcPct val="0"/>
              </a:spcAft>
            </a:pPr>
            <a:r>
              <a:rPr lang="zh-CN" altLang="en-US"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视觉敏锐度（</a:t>
            </a:r>
            <a:r>
              <a:rPr lang="en-US" altLang="zh-CN"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acuity</a:t>
            </a:r>
            <a:r>
              <a:rPr lang="zh-CN" altLang="en-US"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人眼分辨物体细节的能力</a:t>
            </a:r>
            <a:endParaRPr lang="zh-CN" altLang="en-US" sz="20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550662" y="1640766"/>
            <a:ext cx="10725254" cy="3540200"/>
          </a:xfrm>
          <a:prstGeom prst="rect">
            <a:avLst/>
          </a:prstGeom>
        </p:spPr>
        <p:txBody>
          <a:bodyPr wrap="square">
            <a:spAutoFit/>
          </a:bodyPr>
          <a:lstStyle/>
          <a:p>
            <a:pPr marL="342900" indent="-342900" algn="just" defTabSz="199808">
              <a:lnSpc>
                <a:spcPct val="200000"/>
              </a:lnSpc>
              <a:spcAft>
                <a:spcPct val="0"/>
              </a:spcAft>
              <a:buFont typeface="Wingdings" panose="05000000000000000000" pitchFamily="2" charset="2"/>
              <a:buChar char="n"/>
            </a:pPr>
            <a:r>
              <a:rPr lang="zh-CN" altLang="en-US" sz="1867" dirty="0" smtClean="0">
                <a:latin typeface="微软雅黑" panose="020B0503020204020204" pitchFamily="34" charset="-122"/>
                <a:ea typeface="微软雅黑" panose="020B0503020204020204" pitchFamily="34" charset="-122"/>
                <a:cs typeface="微软雅黑" panose="020B0503020204020204" pitchFamily="34" charset="-122"/>
              </a:rPr>
              <a:t>眼睛可以</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辨认的最小视角的倒数：观察者</a:t>
            </a:r>
            <a:r>
              <a:rPr lang="zh-CN" altLang="en-US" sz="1867" dirty="0" smtClean="0">
                <a:latin typeface="微软雅黑" panose="020B0503020204020204" pitchFamily="34" charset="-122"/>
                <a:ea typeface="微软雅黑" panose="020B0503020204020204" pitchFamily="34" charset="-122"/>
                <a:cs typeface="微软雅黑" panose="020B0503020204020204" pitchFamily="34" charset="-122"/>
              </a:rPr>
              <a:t>与刚好</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可</a:t>
            </a:r>
            <a:r>
              <a:rPr lang="zh-CN" altLang="en-US" sz="1867" dirty="0" smtClean="0">
                <a:latin typeface="微软雅黑" panose="020B0503020204020204" pitchFamily="34" charset="-122"/>
                <a:ea typeface="微软雅黑" panose="020B0503020204020204" pitchFamily="34" charset="-122"/>
                <a:cs typeface="微软雅黑" panose="020B0503020204020204" pitchFamily="34" charset="-122"/>
              </a:rPr>
              <a:t>区分</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的两个</a:t>
            </a:r>
            <a:r>
              <a:rPr lang="zh-CN" altLang="en-US" sz="1867" dirty="0" smtClean="0">
                <a:latin typeface="微软雅黑" panose="020B0503020204020204" pitchFamily="34" charset="-122"/>
                <a:ea typeface="微软雅黑" panose="020B0503020204020204" pitchFamily="34" charset="-122"/>
                <a:cs typeface="微软雅黑" panose="020B0503020204020204" pitchFamily="34" charset="-122"/>
              </a:rPr>
              <a:t>点，形成的夹角；</a:t>
            </a:r>
            <a:endParaRPr lang="en-US" altLang="zh-CN" sz="1867"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199808">
              <a:lnSpc>
                <a:spcPct val="200000"/>
              </a:lnSpc>
              <a:spcAft>
                <a:spcPct val="0"/>
              </a:spcAft>
              <a:buFont typeface="Wingdings" panose="05000000000000000000" pitchFamily="2" charset="2"/>
              <a:buChar char="n"/>
            </a:pP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此时如果两个点目标再靠近的话，人眼觉察为一个点目标</a:t>
            </a:r>
            <a:r>
              <a:rPr lang="zh-CN" altLang="en-US" sz="1867"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67"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199808">
              <a:lnSpc>
                <a:spcPct val="200000"/>
              </a:lnSpc>
              <a:spcAft>
                <a:spcPct val="0"/>
              </a:spcAft>
              <a:buFont typeface="Wingdings" panose="05000000000000000000" pitchFamily="2" charset="2"/>
              <a:buChar char="n"/>
            </a:pP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视觉试验表明，当设置</a:t>
            </a: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400mm</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距离</a:t>
            </a: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60W</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的灯泡光照环境，人眼在照明度</a:t>
            </a: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500</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流明（</a:t>
            </a: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Lux</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）、物体在</a:t>
            </a: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250mm </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处的两个点目标的最小距离大约为</a:t>
            </a: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0.16mm</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algn="just" defTabSz="199808">
              <a:lnSpc>
                <a:spcPct val="200000"/>
              </a:lnSpc>
              <a:spcAft>
                <a:spcPct val="0"/>
              </a:spcAft>
              <a:buFont typeface="Wingdings" panose="05000000000000000000" pitchFamily="2" charset="2"/>
              <a:buChar char="n"/>
            </a:pPr>
            <a:r>
              <a:rPr lang="en-US" altLang="zh-CN"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HVS</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的视觉分辨率是受限的，因此当我们设计人眼观察的图像处理算法时，提供超过</a:t>
            </a:r>
            <a:r>
              <a:rPr lang="en-US" altLang="zh-CN"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HVS</a:t>
            </a: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分辨率的图像信息是没有意义的。</a:t>
            </a:r>
          </a:p>
        </p:txBody>
      </p:sp>
      <p:sp>
        <p:nvSpPr>
          <p:cNvPr id="6" name="文本框 5"/>
          <p:cNvSpPr txBox="1"/>
          <p:nvPr/>
        </p:nvSpPr>
        <p:spPr>
          <a:xfrm>
            <a:off x="8624147" y="270990"/>
            <a:ext cx="1739053" cy="379656"/>
          </a:xfrm>
          <a:prstGeom prst="rect">
            <a:avLst/>
          </a:prstGeom>
          <a:noFill/>
        </p:spPr>
        <p:txBody>
          <a:bodyPr wrap="square" rtlCol="0">
            <a:spAutoFit/>
          </a:bodyPr>
          <a:lstStyle/>
          <a:p>
            <a:r>
              <a:rPr lang="zh-CN" altLang="en-US" sz="1867" b="1" dirty="0">
                <a:solidFill>
                  <a:schemeClr val="bg1"/>
                </a:solidFill>
                <a:latin typeface="微软雅黑" panose="020B0503020204020204" pitchFamily="34" charset="-122"/>
                <a:ea typeface="微软雅黑" panose="020B0503020204020204" pitchFamily="34" charset="-122"/>
              </a:rPr>
              <a:t>视觉感知度量</a:t>
            </a:r>
          </a:p>
        </p:txBody>
      </p:sp>
      <p:sp>
        <p:nvSpPr>
          <p:cNvPr id="7" name="标题 1">
            <a:extLst>
              <a:ext uri="{FF2B5EF4-FFF2-40B4-BE49-F238E27FC236}">
                <a16:creationId xmlns:a16="http://schemas.microsoft.com/office/drawing/2014/main" id="{A7452DAC-6B0C-4754-9BBF-9AE336FAC14D}"/>
              </a:ext>
            </a:extLst>
          </p:cNvPr>
          <p:cNvSpPr txBox="1">
            <a:spLocks/>
          </p:cNvSpPr>
          <p:nvPr>
            <p:custDataLst>
              <p:tags r:id="rId2"/>
            </p:custDataLst>
          </p:nvPr>
        </p:nvSpPr>
        <p:spPr bwMode="auto">
          <a:xfrm>
            <a:off x="301227" y="156844"/>
            <a:ext cx="35702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数字图像的视觉表现性质</a:t>
            </a: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3"/>
          <p:cNvSpPr>
            <a:spLocks noGrp="1"/>
          </p:cNvSpPr>
          <p:nvPr>
            <p:ph type="sldNum" sz="quarter" idx="4294967295"/>
          </p:nvPr>
        </p:nvSpPr>
        <p:spPr>
          <a:xfrm>
            <a:off x="8610601" y="6356357"/>
            <a:ext cx="2743200" cy="366183"/>
          </a:xfrm>
        </p:spPr>
        <p:txBody>
          <a:bodyPr/>
          <a:lstStyle/>
          <a:p>
            <a:fld id="{48F63A3B-78C7-47BE-AE5E-E10140E04643}" type="slidenum">
              <a:rPr lang="en-US" dirty="0"/>
              <a:t>41</a:t>
            </a:fld>
            <a:endParaRPr lang="en-US" dirty="0"/>
          </a:p>
        </p:txBody>
      </p:sp>
      <p:sp>
        <p:nvSpPr>
          <p:cNvPr id="3" name="文本框 2"/>
          <p:cNvSpPr txBox="1"/>
          <p:nvPr/>
        </p:nvSpPr>
        <p:spPr>
          <a:xfrm>
            <a:off x="733708" y="947648"/>
            <a:ext cx="7041217" cy="526747"/>
          </a:xfrm>
          <a:prstGeom prst="rect">
            <a:avLst/>
          </a:prstGeom>
        </p:spPr>
        <p:txBody>
          <a:bodyPr wrap="square">
            <a:spAutoFit/>
          </a:bodyPr>
          <a:lstStyle/>
          <a:p>
            <a:pPr algn="just" defTabSz="199808">
              <a:lnSpc>
                <a:spcPct val="150000"/>
              </a:lnSpc>
              <a:spcAft>
                <a:spcPct val="0"/>
              </a:spcAft>
            </a:pPr>
            <a:r>
              <a:rPr lang="zh-CN" altLang="en-US"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视觉敏锐度（</a:t>
            </a:r>
            <a:r>
              <a:rPr lang="en-US" altLang="zh-CN"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acuity</a:t>
            </a:r>
            <a:r>
              <a:rPr lang="zh-CN" altLang="en-US"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人眼分辨物体细节的能力</a:t>
            </a:r>
            <a:endParaRPr lang="zh-CN" altLang="en-US" sz="20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543167" y="1474395"/>
            <a:ext cx="10725254" cy="1610954"/>
          </a:xfrm>
          <a:prstGeom prst="rect">
            <a:avLst/>
          </a:prstGeom>
        </p:spPr>
        <p:txBody>
          <a:bodyPr wrap="square">
            <a:spAutoFit/>
          </a:bodyPr>
          <a:lstStyle/>
          <a:p>
            <a:pPr marL="342900" indent="-342900" algn="just" defTabSz="199808">
              <a:lnSpc>
                <a:spcPct val="200000"/>
              </a:lnSpc>
              <a:spcAft>
                <a:spcPct val="0"/>
              </a:spcAft>
              <a:buFont typeface="Wingdings" panose="05000000000000000000" pitchFamily="2" charset="2"/>
              <a:buChar char="n"/>
            </a:pPr>
            <a:r>
              <a:rPr lang="zh-CN" altLang="en-US" sz="1867" dirty="0" smtClean="0">
                <a:latin typeface="微软雅黑" panose="020B0503020204020204" pitchFamily="34" charset="-122"/>
                <a:ea typeface="微软雅黑" panose="020B0503020204020204" pitchFamily="34" charset="-122"/>
                <a:cs typeface="微软雅黑" panose="020B0503020204020204" pitchFamily="34" charset="-122"/>
              </a:rPr>
              <a:t>眼睛可以</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辨认的最小视角的倒数：观察者</a:t>
            </a:r>
            <a:r>
              <a:rPr lang="zh-CN" altLang="en-US" sz="1867" dirty="0" smtClean="0">
                <a:latin typeface="微软雅黑" panose="020B0503020204020204" pitchFamily="34" charset="-122"/>
                <a:ea typeface="微软雅黑" panose="020B0503020204020204" pitchFamily="34" charset="-122"/>
                <a:cs typeface="微软雅黑" panose="020B0503020204020204" pitchFamily="34" charset="-122"/>
              </a:rPr>
              <a:t>与刚好</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可</a:t>
            </a:r>
            <a:r>
              <a:rPr lang="zh-CN" altLang="en-US" sz="1867" dirty="0" smtClean="0">
                <a:latin typeface="微软雅黑" panose="020B0503020204020204" pitchFamily="34" charset="-122"/>
                <a:ea typeface="微软雅黑" panose="020B0503020204020204" pitchFamily="34" charset="-122"/>
                <a:cs typeface="微软雅黑" panose="020B0503020204020204" pitchFamily="34" charset="-122"/>
              </a:rPr>
              <a:t>区分</a:t>
            </a:r>
            <a:r>
              <a:rPr lang="zh-CN" altLang="en-US" sz="1867" dirty="0">
                <a:latin typeface="微软雅黑" panose="020B0503020204020204" pitchFamily="34" charset="-122"/>
                <a:ea typeface="微软雅黑" panose="020B0503020204020204" pitchFamily="34" charset="-122"/>
                <a:cs typeface="微软雅黑" panose="020B0503020204020204" pitchFamily="34" charset="-122"/>
              </a:rPr>
              <a:t>的两个</a:t>
            </a:r>
            <a:r>
              <a:rPr lang="zh-CN" altLang="en-US" sz="1867" dirty="0" smtClean="0">
                <a:latin typeface="微软雅黑" panose="020B0503020204020204" pitchFamily="34" charset="-122"/>
                <a:ea typeface="微软雅黑" panose="020B0503020204020204" pitchFamily="34" charset="-122"/>
                <a:cs typeface="微软雅黑" panose="020B0503020204020204" pitchFamily="34" charset="-122"/>
              </a:rPr>
              <a:t>点，形成的夹角；</a:t>
            </a:r>
            <a:endParaRPr lang="en-US" altLang="zh-CN" sz="1867"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199808">
              <a:lnSpc>
                <a:spcPct val="200000"/>
              </a:lnSpc>
              <a:spcAft>
                <a:spcPct val="0"/>
              </a:spcAft>
              <a:buFont typeface="Wingdings" panose="05000000000000000000" pitchFamily="2" charset="2"/>
              <a:buChar char="n"/>
            </a:pP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此时如果两个点目标再靠近的话，人眼觉察为一个点目标</a:t>
            </a:r>
            <a:r>
              <a:rPr lang="zh-CN" altLang="en-US" sz="1867"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67"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defTabSz="199808">
              <a:lnSpc>
                <a:spcPct val="200000"/>
              </a:lnSpc>
              <a:spcAft>
                <a:spcPct val="0"/>
              </a:spcAft>
              <a:buFont typeface="Wingdings" panose="05000000000000000000" pitchFamily="2" charset="2"/>
              <a:buChar char="n"/>
            </a:pP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照明</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度</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500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流明（</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Lux</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情况下，</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人眼</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在在</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25cm</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处可分辨的最近点距离约</a:t>
            </a: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rPr>
              <a:t>0.16mm</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8624147" y="270990"/>
            <a:ext cx="1739053" cy="379656"/>
          </a:xfrm>
          <a:prstGeom prst="rect">
            <a:avLst/>
          </a:prstGeom>
          <a:noFill/>
        </p:spPr>
        <p:txBody>
          <a:bodyPr wrap="square" rtlCol="0">
            <a:spAutoFit/>
          </a:bodyPr>
          <a:lstStyle/>
          <a:p>
            <a:r>
              <a:rPr lang="zh-CN" altLang="en-US" sz="1867" b="1" dirty="0">
                <a:solidFill>
                  <a:schemeClr val="bg1"/>
                </a:solidFill>
                <a:latin typeface="微软雅黑" panose="020B0503020204020204" pitchFamily="34" charset="-122"/>
                <a:ea typeface="微软雅黑" panose="020B0503020204020204" pitchFamily="34" charset="-122"/>
              </a:rPr>
              <a:t>视觉感知度量</a:t>
            </a:r>
          </a:p>
        </p:txBody>
      </p:sp>
      <p:sp>
        <p:nvSpPr>
          <p:cNvPr id="7" name="标题 1">
            <a:extLst>
              <a:ext uri="{FF2B5EF4-FFF2-40B4-BE49-F238E27FC236}">
                <a16:creationId xmlns:a16="http://schemas.microsoft.com/office/drawing/2014/main" id="{A7452DAC-6B0C-4754-9BBF-9AE336FAC14D}"/>
              </a:ext>
            </a:extLst>
          </p:cNvPr>
          <p:cNvSpPr txBox="1">
            <a:spLocks/>
          </p:cNvSpPr>
          <p:nvPr>
            <p:custDataLst>
              <p:tags r:id="rId2"/>
            </p:custDataLst>
          </p:nvPr>
        </p:nvSpPr>
        <p:spPr bwMode="auto">
          <a:xfrm>
            <a:off x="301227" y="156844"/>
            <a:ext cx="35702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数字图像的视觉表现性质</a:t>
            </a:r>
          </a:p>
        </p:txBody>
      </p:sp>
      <p:pic>
        <p:nvPicPr>
          <p:cNvPr id="8" name="图片 7"/>
          <p:cNvPicPr>
            <a:picLocks noChangeAspect="1"/>
          </p:cNvPicPr>
          <p:nvPr/>
        </p:nvPicPr>
        <p:blipFill rotWithShape="1">
          <a:blip r:embed="rId5">
            <a:extLst>
              <a:ext uri="{28A0092B-C50C-407E-A947-70E740481C1C}">
                <a14:useLocalDpi xmlns:a14="http://schemas.microsoft.com/office/drawing/2010/main" val="0"/>
              </a:ext>
            </a:extLst>
          </a:blip>
          <a:srcRect t="20984" b="7978"/>
          <a:stretch/>
        </p:blipFill>
        <p:spPr>
          <a:xfrm>
            <a:off x="1638735" y="3076435"/>
            <a:ext cx="8353397" cy="3337936"/>
          </a:xfrm>
          <a:prstGeom prst="rect">
            <a:avLst/>
          </a:prstGeom>
        </p:spPr>
      </p:pic>
    </p:spTree>
    <p:custDataLst>
      <p:tags r:id="rId1"/>
    </p:custDataLst>
    <p:extLst>
      <p:ext uri="{BB962C8B-B14F-4D97-AF65-F5344CB8AC3E}">
        <p14:creationId xmlns:p14="http://schemas.microsoft.com/office/powerpoint/2010/main" val="10180181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47649" y="750711"/>
            <a:ext cx="3810000" cy="526747"/>
          </a:xfrm>
          <a:prstGeom prst="rect">
            <a:avLst/>
          </a:prstGeom>
        </p:spPr>
        <p:txBody>
          <a:bodyPr>
            <a:spAutoFit/>
          </a:bodyPr>
          <a:lstStyle/>
          <a:p>
            <a:pPr indent="200655" algn="just" defTabSz="199808">
              <a:lnSpc>
                <a:spcPct val="150000"/>
              </a:lnSpc>
              <a:spcAft>
                <a:spcPct val="0"/>
              </a:spcAft>
            </a:pPr>
            <a:r>
              <a:rPr lang="zh-CN" altLang="en-US"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边缘（</a:t>
            </a:r>
            <a:r>
              <a:rPr lang="en-US" altLang="zh-CN"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Edge</a:t>
            </a:r>
            <a:r>
              <a:rPr lang="zh-CN" altLang="en-US" sz="15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4" name="文本框 3"/>
          <p:cNvSpPr txBox="1"/>
          <p:nvPr/>
        </p:nvSpPr>
        <p:spPr>
          <a:xfrm>
            <a:off x="627018" y="1467247"/>
            <a:ext cx="11176580" cy="1987852"/>
          </a:xfrm>
          <a:prstGeom prst="rect">
            <a:avLst/>
          </a:prstGeom>
        </p:spPr>
        <p:txBody>
          <a:bodyPr wrap="square">
            <a:spAutoFit/>
          </a:bodyPr>
          <a:lstStyle/>
          <a:p>
            <a:pPr marL="342900" indent="-342900" algn="just" defTabSz="199808">
              <a:lnSpc>
                <a:spcPct val="200000"/>
              </a:lnSpc>
              <a:spcAft>
                <a:spcPct val="0"/>
              </a:spcAft>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目标物体的边缘信息是</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HVS</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对目标识别与场景理解的重要线索和证据。</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199808">
              <a:lnSpc>
                <a:spcPct val="200000"/>
              </a:lnSpc>
              <a:spcAft>
                <a:spcPct val="0"/>
              </a:spcAft>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图像中不仅存在直线状目标（如桥梁）、开放曲线状目标（如行道线）、还有封闭型曲线状目标（如细胞）等。</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199808">
              <a:lnSpc>
                <a:spcPct val="200000"/>
              </a:lnSpc>
              <a:spcAft>
                <a:spcPct val="0"/>
              </a:spcAft>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目标的边缘将形成目标的形状信息。例如，对于封闭型曲线状目标而言，可以有提取封闭边界，对目标进行周长和面积等几何测量；对于道路等场景，可以提取行道线。</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4"/>
          <a:stretch>
            <a:fillRect/>
          </a:stretch>
        </p:blipFill>
        <p:spPr>
          <a:xfrm>
            <a:off x="1334662" y="3552556"/>
            <a:ext cx="6437428" cy="2556000"/>
          </a:xfrm>
          <a:prstGeom prst="rect">
            <a:avLst/>
          </a:prstGeom>
        </p:spPr>
      </p:pic>
      <p:pic>
        <p:nvPicPr>
          <p:cNvPr id="33" name="图片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77124" y="3552555"/>
            <a:ext cx="2895552" cy="2556000"/>
          </a:xfrm>
          <a:prstGeom prst="rect">
            <a:avLst/>
          </a:prstGeom>
        </p:spPr>
      </p:pic>
      <p:sp>
        <p:nvSpPr>
          <p:cNvPr id="9" name="标题 1">
            <a:extLst>
              <a:ext uri="{FF2B5EF4-FFF2-40B4-BE49-F238E27FC236}">
                <a16:creationId xmlns:a16="http://schemas.microsoft.com/office/drawing/2014/main" id="{6592227F-E6F3-4352-9A1D-BA67810E4E3C}"/>
              </a:ext>
            </a:extLst>
          </p:cNvPr>
          <p:cNvSpPr txBox="1">
            <a:spLocks/>
          </p:cNvSpPr>
          <p:nvPr>
            <p:custDataLst>
              <p:tags r:id="rId2"/>
            </p:custDataLst>
          </p:nvPr>
        </p:nvSpPr>
        <p:spPr bwMode="auto">
          <a:xfrm>
            <a:off x="301227" y="156844"/>
            <a:ext cx="35702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数字图像的视觉表现性质</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47353" y="1110721"/>
            <a:ext cx="3810000" cy="472565"/>
          </a:xfrm>
          <a:prstGeom prst="rect">
            <a:avLst/>
          </a:prstGeom>
        </p:spPr>
        <p:txBody>
          <a:bodyPr>
            <a:spAutoFit/>
          </a:bodyPr>
          <a:lstStyle/>
          <a:p>
            <a:pPr indent="200655" algn="just" defTabSz="199808">
              <a:lnSpc>
                <a:spcPct val="150000"/>
              </a:lnSpc>
              <a:spcAft>
                <a:spcPct val="0"/>
              </a:spcAft>
            </a:pPr>
            <a:r>
              <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纹理（</a:t>
            </a:r>
            <a:r>
              <a:rPr lang="en-US" altLang="zh-CN"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Texture</a:t>
            </a:r>
            <a:r>
              <a:rPr lang="zh-CN" altLang="en-US" sz="15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4" name="文本框 3"/>
          <p:cNvSpPr txBox="1"/>
          <p:nvPr/>
        </p:nvSpPr>
        <p:spPr>
          <a:xfrm>
            <a:off x="351483" y="1746314"/>
            <a:ext cx="9043324" cy="3465179"/>
          </a:xfrm>
          <a:prstGeom prst="rect">
            <a:avLst/>
          </a:prstGeom>
        </p:spPr>
        <p:txBody>
          <a:bodyPr wrap="square">
            <a:spAutoFit/>
          </a:bodyPr>
          <a:lstStyle/>
          <a:p>
            <a:pPr indent="200655" algn="just" defTabSz="199808">
              <a:lnSpc>
                <a:spcPct val="200000"/>
              </a:lnSpc>
              <a:spcAft>
                <a:spcPct val="0"/>
              </a:spcAft>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纹理是物体表面的一种基本属性，是人们描述和区分物体的重要视觉特征线索。</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用于描述图像的局部特性，目前尚无统一的纹理定义。</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380990" indent="-380990" algn="just" defTabSz="199808">
              <a:lnSpc>
                <a:spcPct val="200000"/>
              </a:lnSpc>
              <a:spcAft>
                <a:spcPct val="0"/>
              </a:spcAft>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纹理是图像灰度局部变化的重复模式。纹理的微小结构称为纹理基元，纹理可以看作是将若干结构的基元按照某种确定性规律或者统计规律排列组成。</a:t>
            </a:r>
          </a:p>
          <a:p>
            <a:pPr marL="380990" indent="-380990" algn="just" defTabSz="199808">
              <a:lnSpc>
                <a:spcPct val="200000"/>
              </a:lnSpc>
              <a:spcAft>
                <a:spcPct val="0"/>
              </a:spcAft>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纹理图像的描述通常有光滑性、颗粒性、周期性、方向性、粗糙性等特性加以刻画，其中在</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HVS</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感知中起主导作用的是</a:t>
            </a: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纹理的周期性、方向性和粗糙性</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a:t>
            </a:r>
          </a:p>
          <a:p>
            <a:pPr indent="200655" algn="just" defTabSz="199808">
              <a:lnSpc>
                <a:spcPct val="200000"/>
              </a:lnSpc>
              <a:spcAft>
                <a:spcPct val="0"/>
              </a:spcAft>
            </a:pP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周期性纹理由许多纹理基元组成，外在表现为局部的序列性，并在更大区域内不断重复出现。</a:t>
            </a:r>
            <a:endParaRPr lang="zh-CN" altLang="en-US" sz="1867"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p:cNvPicPr/>
          <p:nvPr/>
        </p:nvPicPr>
        <p:blipFill>
          <a:blip r:embed="rId4"/>
          <a:stretch>
            <a:fillRect/>
          </a:stretch>
        </p:blipFill>
        <p:spPr>
          <a:xfrm rot="5400000">
            <a:off x="8008402" y="2541036"/>
            <a:ext cx="4910667" cy="2336800"/>
          </a:xfrm>
          <a:prstGeom prst="rect">
            <a:avLst/>
          </a:prstGeom>
        </p:spPr>
      </p:pic>
      <p:sp>
        <p:nvSpPr>
          <p:cNvPr id="8" name="标题 1">
            <a:extLst>
              <a:ext uri="{FF2B5EF4-FFF2-40B4-BE49-F238E27FC236}">
                <a16:creationId xmlns:a16="http://schemas.microsoft.com/office/drawing/2014/main" id="{8AF15C4D-490C-4BA4-A14D-53DAC0FFB32A}"/>
              </a:ext>
            </a:extLst>
          </p:cNvPr>
          <p:cNvSpPr txBox="1">
            <a:spLocks/>
          </p:cNvSpPr>
          <p:nvPr>
            <p:custDataLst>
              <p:tags r:id="rId2"/>
            </p:custDataLst>
          </p:nvPr>
        </p:nvSpPr>
        <p:spPr bwMode="auto">
          <a:xfrm>
            <a:off x="301227" y="156844"/>
            <a:ext cx="35702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数字图像的视觉表现性质</a:t>
            </a: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2732" y="1748216"/>
            <a:ext cx="7273373" cy="5068567"/>
          </a:xfrm>
          <a:prstGeom prst="rect">
            <a:avLst/>
          </a:prstGeom>
        </p:spPr>
        <p:txBody>
          <a:bodyPr wrap="square">
            <a:spAutoFit/>
          </a:bodyPr>
          <a:lstStyle/>
          <a:p>
            <a:pPr algn="just" defTabSz="199808">
              <a:lnSpc>
                <a:spcPct val="200000"/>
              </a:lnSpc>
              <a:spcAft>
                <a:spcPct val="0"/>
              </a:spcAft>
            </a:pPr>
            <a:r>
              <a:rPr lang="zh-CN" altLang="en-US" sz="2133"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色彩（Color）</a:t>
            </a:r>
          </a:p>
          <a:p>
            <a:pPr algn="just" defTabSz="199808">
              <a:lnSpc>
                <a:spcPct val="200000"/>
              </a:lnSpc>
              <a:spcAft>
                <a:spcPct val="0"/>
              </a:spcAft>
            </a:pP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颜色模型</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380990" indent="-380990" algn="just" defTabSz="199808">
              <a:lnSpc>
                <a:spcPct val="200000"/>
              </a:lnSpc>
              <a:spcAft>
                <a:spcPct val="0"/>
              </a:spcAft>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红、绿、蓝（</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RGB</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）三原色混合的颜色空间模型</a:t>
            </a:r>
          </a:p>
          <a:p>
            <a:pPr marL="380990" indent="-380990" algn="just" defTabSz="199808">
              <a:lnSpc>
                <a:spcPct val="200000"/>
              </a:lnSpc>
              <a:spcAft>
                <a:spcPct val="0"/>
              </a:spcAft>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亮度</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色调</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饱和度（</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Intensity-Hue-Saturation</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HIS</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）的颜色模型。</a:t>
            </a:r>
          </a:p>
          <a:p>
            <a:pPr algn="just" defTabSz="199808">
              <a:lnSpc>
                <a:spcPct val="200000"/>
              </a:lnSpc>
            </a:pP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模型转换</a:t>
            </a:r>
          </a:p>
          <a:p>
            <a:pPr indent="200655" algn="just" defTabSz="199808">
              <a:lnSpc>
                <a:spcPct val="200000"/>
              </a:lnSpc>
              <a:spcAft>
                <a:spcPct val="0"/>
              </a:spcAft>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通过将</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RGB</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空间</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转换到</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IHS</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HSI</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）空间</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，可以得到亮度、色调和饱和度分量</a:t>
            </a:r>
          </a:p>
          <a:p>
            <a:pPr marL="380990" indent="-380990" algn="just" defTabSz="199808">
              <a:lnSpc>
                <a:spcPct val="200000"/>
              </a:lnSpc>
              <a:spcAft>
                <a:spcPct val="0"/>
              </a:spcAft>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色调分量记录了与</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波长相关的色彩</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（比如赤、橙、黄、绿、青、蓝、紫）</a:t>
            </a:r>
          </a:p>
          <a:p>
            <a:pPr marL="380990" indent="-380990" algn="just" defTabSz="199808">
              <a:lnSpc>
                <a:spcPct val="200000"/>
              </a:lnSpc>
              <a:spcAft>
                <a:spcPct val="0"/>
              </a:spcAft>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饱和度表示色彩的深浅</a:t>
            </a:r>
          </a:p>
          <a:p>
            <a:pPr marL="380990" indent="-380990" algn="just" defTabSz="199808">
              <a:lnSpc>
                <a:spcPct val="200000"/>
              </a:lnSpc>
              <a:spcAft>
                <a:spcPct val="0"/>
              </a:spcAft>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亮度分量主要蕴含图像的几何结构。</a:t>
            </a:r>
          </a:p>
          <a:p>
            <a:pPr indent="200655" algn="just" defTabSz="199808">
              <a:lnSpc>
                <a:spcPct val="150000"/>
              </a:lnSpc>
              <a:spcAft>
                <a:spcPct val="0"/>
              </a:spcAft>
            </a:pPr>
            <a:r>
              <a:rPr lang="en-US" altLang="zh-CN" sz="1867"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a:extLst>
              <a:ext uri="{FF2B5EF4-FFF2-40B4-BE49-F238E27FC236}">
                <a16:creationId xmlns:a16="http://schemas.microsoft.com/office/drawing/2014/main" id="{CC5B9307-B4BD-4A44-B522-43BD50961290}"/>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577617" y="1392404"/>
            <a:ext cx="4937366" cy="3028036"/>
          </a:xfrm>
          <a:prstGeom prst="rect">
            <a:avLst/>
          </a:prstGeom>
        </p:spPr>
      </p:pic>
      <p:sp>
        <p:nvSpPr>
          <p:cNvPr id="9" name="标题 1">
            <a:extLst>
              <a:ext uri="{FF2B5EF4-FFF2-40B4-BE49-F238E27FC236}">
                <a16:creationId xmlns:a16="http://schemas.microsoft.com/office/drawing/2014/main" id="{BF12E3EB-2D96-4D36-911E-080386802D3F}"/>
              </a:ext>
            </a:extLst>
          </p:cNvPr>
          <p:cNvSpPr txBox="1">
            <a:spLocks/>
          </p:cNvSpPr>
          <p:nvPr>
            <p:custDataLst>
              <p:tags r:id="rId2"/>
            </p:custDataLst>
          </p:nvPr>
        </p:nvSpPr>
        <p:spPr bwMode="auto">
          <a:xfrm>
            <a:off x="301227" y="156844"/>
            <a:ext cx="35702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spAutoFit/>
          </a:bodyPr>
          <a:lstStyle>
            <a:lvl1pPr algn="l" defTabSz="914354" rtl="0" eaLnBrk="0" fontAlgn="base" hangingPunct="0">
              <a:lnSpc>
                <a:spcPct val="90000"/>
              </a:lnSpc>
              <a:spcBef>
                <a:spcPct val="0"/>
              </a:spcBef>
              <a:spcAft>
                <a:spcPct val="0"/>
              </a:spcAft>
              <a:defRPr sz="4400" kern="1200">
                <a:solidFill>
                  <a:schemeClr val="tx1"/>
                </a:solidFill>
                <a:latin typeface="华文细黑" panose="02010600040101010101" pitchFamily="2" charset="-122"/>
                <a:ea typeface="+mj-ea"/>
                <a:cs typeface="+mj-cs"/>
              </a:defRPr>
            </a:lvl1pPr>
            <a:lvl2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2pPr>
            <a:lvl3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3pPr>
            <a:lvl4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4pPr>
            <a:lvl5pPr algn="l" defTabSz="914354" rtl="0" eaLnBrk="0" fontAlgn="base" hangingPunct="0">
              <a:lnSpc>
                <a:spcPct val="90000"/>
              </a:lnSpc>
              <a:spcBef>
                <a:spcPct val="0"/>
              </a:spcBef>
              <a:spcAft>
                <a:spcPct val="0"/>
              </a:spcAft>
              <a:defRPr sz="4400">
                <a:solidFill>
                  <a:schemeClr val="tx1"/>
                </a:solidFill>
                <a:latin typeface="华文细黑" pitchFamily="2" charset="-122"/>
                <a:ea typeface="微软雅黑" pitchFamily="34" charset="-122"/>
              </a:defRPr>
            </a:lvl5pPr>
            <a:lvl6pPr marL="609570"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6pPr>
            <a:lvl7pPr marL="121913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7pPr>
            <a:lvl8pPr marL="1828709"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8pPr>
            <a:lvl9pPr marL="2438278" algn="l" defTabSz="914354" rtl="0" fontAlgn="base">
              <a:lnSpc>
                <a:spcPct val="90000"/>
              </a:lnSpc>
              <a:spcBef>
                <a:spcPct val="0"/>
              </a:spcBef>
              <a:spcAft>
                <a:spcPct val="0"/>
              </a:spcAft>
              <a:defRPr sz="4400">
                <a:solidFill>
                  <a:schemeClr val="tx1"/>
                </a:solidFill>
                <a:latin typeface="华文细黑" pitchFamily="2" charset="-122"/>
                <a:ea typeface="微软雅黑" pitchFamily="34" charset="-122"/>
              </a:defRPr>
            </a:lvl9pPr>
          </a:lstStyle>
          <a:p>
            <a:pPr algn="ctr" defTabSz="914400" eaLnBrk="1" hangingPunct="1">
              <a:lnSpc>
                <a:spcPct val="100000"/>
              </a:lnSpc>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数字图像的视觉表现性质</a:t>
            </a: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noGrp="1"/>
          </p:cNvSpPr>
          <p:nvPr>
            <p:ph type="ctrTitle" idx="4294967295"/>
            <p:custDataLst>
              <p:tags r:id="rId1"/>
            </p:custDataLst>
          </p:nvPr>
        </p:nvSpPr>
        <p:spPr>
          <a:xfrm>
            <a:off x="666961" y="180383"/>
            <a:ext cx="800219" cy="461665"/>
          </a:xfrm>
          <a:noFill/>
        </p:spPr>
        <p:txBody>
          <a:bodyPr wrap="none" rtlCol="0">
            <a:spAutoFit/>
          </a:bodyPr>
          <a:lstStyle/>
          <a:p>
            <a:pPr lvl="0" algn="ctr" defTabSz="914400" eaLnBrk="1" hangingPunct="1">
              <a:lnSpc>
                <a:spcPct val="100000"/>
              </a:lnSpc>
              <a:buClrTx/>
              <a:buSzTx/>
              <a:buFontTx/>
            </a:pPr>
            <a:r>
              <a:rPr lang="zh-CN" altLang="en-US" sz="2400" b="1" dirty="0">
                <a:solidFill>
                  <a:srgbClr val="0C4379"/>
                </a:solidFill>
                <a:latin typeface="微软雅黑" panose="020B0503020204020204" pitchFamily="34" charset="-122"/>
                <a:ea typeface="微软雅黑" panose="020B0503020204020204" pitchFamily="34" charset="-122"/>
                <a:cs typeface="+mn-cs"/>
                <a:sym typeface="+mn-ea"/>
              </a:rPr>
              <a:t>作业</a:t>
            </a:r>
          </a:p>
        </p:txBody>
      </p:sp>
      <p:sp>
        <p:nvSpPr>
          <p:cNvPr id="14" name="文本框 13"/>
          <p:cNvSpPr txBox="1"/>
          <p:nvPr/>
        </p:nvSpPr>
        <p:spPr>
          <a:xfrm>
            <a:off x="742634" y="2087293"/>
            <a:ext cx="10533282" cy="1688411"/>
          </a:xfrm>
          <a:prstGeom prst="rect">
            <a:avLst/>
          </a:prstGeom>
          <a:noFill/>
        </p:spPr>
        <p:txBody>
          <a:bodyPr wrap="square" rtlCol="0">
            <a:spAutoFit/>
          </a:bodyPr>
          <a:lstStyle/>
          <a:p>
            <a:pPr>
              <a:lnSpc>
                <a:spcPct val="150000"/>
              </a:lnSpc>
            </a:pPr>
            <a:r>
              <a:rPr lang="zh-CN" altLang="en-US" sz="2400" dirty="0"/>
              <a:t>使用</a:t>
            </a:r>
            <a:r>
              <a:rPr lang="en-US" altLang="zh-CN" sz="2400" dirty="0"/>
              <a:t>Python/C++</a:t>
            </a:r>
            <a:r>
              <a:rPr lang="zh-CN" altLang="en-US" sz="2400" dirty="0"/>
              <a:t>和</a:t>
            </a:r>
            <a:r>
              <a:rPr lang="en-US" altLang="zh-CN" sz="2400" dirty="0"/>
              <a:t>OpenCV</a:t>
            </a:r>
            <a:r>
              <a:rPr lang="zh-CN" altLang="en-US" sz="2400" dirty="0"/>
              <a:t>编写程序：</a:t>
            </a:r>
            <a:endParaRPr lang="en-US" altLang="zh-CN" sz="2400" dirty="0"/>
          </a:p>
          <a:p>
            <a:pPr marL="457200" indent="-457200">
              <a:lnSpc>
                <a:spcPct val="150000"/>
              </a:lnSpc>
              <a:buFont typeface="+mj-lt"/>
              <a:buAutoNum type="arabicPeriod"/>
            </a:pPr>
            <a:r>
              <a:rPr lang="zh-CN" altLang="en-US" sz="2400" dirty="0"/>
              <a:t>实现自然图像（彩色）的读取、显示。</a:t>
            </a:r>
            <a:endParaRPr lang="en-US" altLang="zh-CN" sz="2400" dirty="0"/>
          </a:p>
          <a:p>
            <a:pPr marL="457200" indent="-457200">
              <a:lnSpc>
                <a:spcPct val="150000"/>
              </a:lnSpc>
              <a:buFont typeface="+mj-lt"/>
              <a:buAutoNum type="arabicPeriod"/>
            </a:pPr>
            <a:r>
              <a:rPr lang="zh-CN" altLang="en-US" sz="2400" dirty="0"/>
              <a:t>绘制图像的直方图</a:t>
            </a:r>
            <a:endParaRPr lang="en-US" altLang="zh-CN"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C4379"/>
        </a:solidFill>
        <a:effectLst/>
      </p:bgPr>
    </p:bg>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BC1B49AB-1887-4CED-820C-19F3F727D1C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706160" y="1992003"/>
            <a:ext cx="5012617" cy="3245852"/>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AEE3B876-CD25-4FFD-9BE8-4E7F5B5104ED}"/>
              </a:ext>
            </a:extLst>
          </p:cNvPr>
          <p:cNvSpPr txBox="1"/>
          <p:nvPr/>
        </p:nvSpPr>
        <p:spPr>
          <a:xfrm>
            <a:off x="3098098" y="3245597"/>
            <a:ext cx="6196196" cy="369332"/>
          </a:xfrm>
          <a:prstGeom prst="rect">
            <a:avLst/>
          </a:prstGeom>
          <a:noFill/>
        </p:spPr>
        <p:txBody>
          <a:bodyPr wrap="square">
            <a:spAutoFit/>
          </a:bodyPr>
          <a:lstStyle/>
          <a:p>
            <a:r>
              <a:rPr kumimoji="0" lang="zh-CN" altLang="en-US" sz="1800" b="1" i="0" u="none" strike="noStrike" kern="0" cap="none" spc="0" normalizeH="0" baseline="0" noProof="0" dirty="0">
                <a:ln>
                  <a:noFill/>
                </a:ln>
                <a:solidFill>
                  <a:srgbClr val="0C4379"/>
                </a:solidFill>
                <a:effectLst/>
                <a:uLnTx/>
                <a:uFillTx/>
                <a:latin typeface="Arial" panose="020B0604020202090204"/>
                <a:ea typeface="微软雅黑" panose="020B0503020204020204" pitchFamily="34" charset="-122"/>
                <a:cs typeface="+mn-cs"/>
                <a:sym typeface="+mn-lt"/>
              </a:rPr>
              <a:t>携手共创未</a:t>
            </a:r>
            <a:endParaRPr lang="zh-CN" altLang="en-US" dirty="0"/>
          </a:p>
        </p:txBody>
      </p:sp>
      <p:sp>
        <p:nvSpPr>
          <p:cNvPr id="10" name="矩形 9">
            <a:extLst>
              <a:ext uri="{FF2B5EF4-FFF2-40B4-BE49-F238E27FC236}">
                <a16:creationId xmlns:a16="http://schemas.microsoft.com/office/drawing/2014/main" id="{A45EEB38-AB87-421D-BD76-CC57927933C4}"/>
              </a:ext>
            </a:extLst>
          </p:cNvPr>
          <p:cNvSpPr/>
          <p:nvPr/>
        </p:nvSpPr>
        <p:spPr>
          <a:xfrm>
            <a:off x="1316748" y="2612683"/>
            <a:ext cx="4212013" cy="16326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kern="0" dirty="0">
                <a:solidFill>
                  <a:schemeClr val="bg1"/>
                </a:solidFill>
                <a:latin typeface="Arial" panose="020B0604020202090204"/>
                <a:ea typeface="微软雅黑" panose="020B0503020204020204" pitchFamily="34" charset="-122"/>
              </a:rPr>
              <a:t>感谢！</a:t>
            </a:r>
          </a:p>
        </p:txBody>
      </p:sp>
    </p:spTree>
    <p:extLst>
      <p:ext uri="{BB962C8B-B14F-4D97-AF65-F5344CB8AC3E}">
        <p14:creationId xmlns:p14="http://schemas.microsoft.com/office/powerpoint/2010/main" val="33839898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EwNTM5NzYwMDRjMzkwZTVkZjY2ODkwMGIxNGU0OT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40.7412598425197,&quot;left&quot;:-17.57299212598425,&quot;top&quot;:101.24362204724409,&quot;width&quot;:569.4125984251968}"/>
</p:tagLst>
</file>

<file path=ppt/tags/tag19.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70290a8f5ed15b0"/>
</p:tagLst>
</file>

<file path=ppt/tags/tag20.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70290a8f5ed15b0"/>
</p:tagLst>
</file>

<file path=ppt/tags/tag21.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70290a8f5ed15b0"/>
</p:tagLst>
</file>

<file path=ppt/tags/tag22.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612acce709c55489"/>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2"/>
  <p:tag name="KSO_WM_UNIT_SUBTYPE" val="b"/>
  <p:tag name="KSO_WM_UNIT_TEXT_TYPE" val="1"/>
  <p:tag name="KSO_WM_UNIT_TYPE" val="f"/>
  <p:tag name="KSO_WM_UNIT_ID" val="_1*f*2"/>
  <p:tag name="KSO_WM_TAG_VERSION" val="3.0"/>
  <p:tag name="KSO_WM_UNIT_LAYERLEVEL" val="1"/>
  <p:tag name="KSO_WM_TEMPLATE_INDEX" val="696956"/>
  <p:tag name="KSO_WM_TEMPLATE_CATEGORY" val="custom"/>
</p:tagLst>
</file>

<file path=ppt/tags/tag24.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e5495f9f7397f356"/>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0d4c3dd4bbec090d7932f4bf2aa1ad7d1889309"/>
  <p:tag name="KSO_WM_NEWLAYOUT_GROUP_ID" val="layout_38"/>
  <p:tag name="KSO_WM_NEWLAYOUT_ID" val="slide_e5495f9f7397f356"/>
  <p:tag name="KSO_WM_UNIT_PRESET_TEXT" val="单击此处添加标题"/>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0d4c3dd4bbec090d7932f4bf2aa1ad7d1889309"/>
  <p:tag name="KSO_WM_NEWLAYOUT_GROUP_ID" val="layout_38"/>
  <p:tag name="KSO_WM_NEWLAYOUT_ID" val="slide_e5495f9f7397f356"/>
  <p:tag name="KSO_WM_UNIT_PRESET_TEXT" val="单击此处添加标题"/>
</p:tagLst>
</file>

<file path=ppt/tags/tag2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aec818c1bcb6d7c7"/>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d21ef0724ce5f95e2041692a9992cae785beef6"/>
  <p:tag name="KSO_WM_NEWLAYOUT_GROUP_ID" val="layout_10004"/>
  <p:tag name="KSO_WM_NEWLAYOUT_ID" val="slide_aec818c1bcb6d7c7"/>
  <p:tag name="KSO_WM_UNIT_PRESET_TEXT" val="单击此处添加标题"/>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正文"/>
</p:tagLst>
</file>

<file path=ppt/tags/tag31.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aec818c1bcb6d7c7"/>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d21ef0724ce5f95e2041692a9992cae785beef6"/>
  <p:tag name="KSO_WM_NEWLAYOUT_GROUP_ID" val="layout_10004"/>
  <p:tag name="KSO_WM_NEWLAYOUT_ID" val="slide_aec818c1bcb6d7c7"/>
  <p:tag name="KSO_WM_UNIT_PRESET_TEXT" val="单击此处添加标题"/>
</p:tagLst>
</file>

<file path=ppt/tags/tag33.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c59fbf18d7813b6a"/>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385cc3ade37b3f26a190d9646229ce60ee3ff6ac"/>
  <p:tag name="KSO_WM_NEWLAYOUT_GROUP_ID" val="layout_59"/>
  <p:tag name="KSO_WM_NEWLAYOUT_ID" val="slide_c59fbf18d7813b6a"/>
  <p:tag name="KSO_WM_UNIT_PRESET_TEXT" val="单击此处添加标题"/>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正文"/>
</p:tagLst>
</file>

<file path=ppt/tags/tag3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c59fbf18d7813b6a"/>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385cc3ade37b3f26a190d9646229ce60ee3ff6ac"/>
  <p:tag name="KSO_WM_NEWLAYOUT_GROUP_ID" val="layout_59"/>
  <p:tag name="KSO_WM_NEWLAYOUT_ID" val="slide_c59fbf18d7813b6a"/>
  <p:tag name="KSO_WM_UNIT_PRESET_TEXT" val="单击此处添加标题"/>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385cc3ade37b3f26a190d9646229ce60ee3ff6ac"/>
  <p:tag name="KSO_WM_NEWLAYOUT_GROUP_ID" val="layout_59"/>
  <p:tag name="KSO_WM_NEWLAYOUT_ID" val="slide_c59fbf18d7813b6a"/>
  <p:tag name="KSO_WM_UNIT_PRESET_TEXT" val="单击此处添加标题"/>
</p:tagLst>
</file>

<file path=ppt/tags/tag40.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c59fbf18d7813b6a"/>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385cc3ade37b3f26a190d9646229ce60ee3ff6ac"/>
  <p:tag name="KSO_WM_NEWLAYOUT_GROUP_ID" val="layout_59"/>
  <p:tag name="KSO_WM_NEWLAYOUT_ID" val="slide_c59fbf18d7813b6a"/>
  <p:tag name="KSO_WM_UNIT_PRESET_TEXT" val="单击此处添加标题"/>
</p:tagLst>
</file>

<file path=ppt/tags/tag42.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c59fbf18d7813b6a"/>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385cc3ade37b3f26a190d9646229ce60ee3ff6ac"/>
  <p:tag name="KSO_WM_NEWLAYOUT_GROUP_ID" val="layout_59"/>
  <p:tag name="KSO_WM_NEWLAYOUT_ID" val="slide_c59fbf18d7813b6a"/>
  <p:tag name="KSO_WM_UNIT_PRESET_TEXT" val="单击此处添加标题"/>
</p:tagLst>
</file>

<file path=ppt/tags/tag44.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c59fbf18d7813b6a"/>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385cc3ade37b3f26a190d9646229ce60ee3ff6ac"/>
  <p:tag name="KSO_WM_NEWLAYOUT_GROUP_ID" val="layout_59"/>
  <p:tag name="KSO_WM_NEWLAYOUT_ID" val="slide_c59fbf18d7813b6a"/>
  <p:tag name="KSO_WM_UNIT_PRESET_TEXT" val="单击此处添加标题"/>
</p:tagLst>
</file>

<file path=ppt/tags/tag46.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29c42b1199d7149"/>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e012b263547566c0442b1c037c7a2b2fa2c8da"/>
  <p:tag name="KSO_WM_NEWLAYOUT_GROUP_ID" val="layout_57"/>
  <p:tag name="KSO_WM_NEWLAYOUT_ID" val="slide_729c42b1199d7149"/>
  <p:tag name="KSO_WM_UNIT_PRESET_TEXT" val="单击此处添加标题"/>
</p:tagLst>
</file>

<file path=ppt/tags/tag48.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29c42b1199d7149"/>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e012b263547566c0442b1c037c7a2b2fa2c8da"/>
  <p:tag name="KSO_WM_NEWLAYOUT_GROUP_ID" val="layout_57"/>
  <p:tag name="KSO_WM_NEWLAYOUT_ID" val="slide_729c42b1199d7149"/>
  <p:tag name="KSO_WM_UNIT_PRESET_TEXT" val="单击此处添加标题"/>
</p:tagLst>
</file>

<file path=ppt/tags/tag50.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29c42b1199d7149"/>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e012b263547566c0442b1c037c7a2b2fa2c8da"/>
  <p:tag name="KSO_WM_NEWLAYOUT_GROUP_ID" val="layout_57"/>
  <p:tag name="KSO_WM_NEWLAYOUT_ID" val="slide_729c42b1199d7149"/>
  <p:tag name="KSO_WM_UNIT_PRESET_TEXT" val="单击此处添加标题"/>
</p:tagLst>
</file>

<file path=ppt/tags/tag52.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29c42b1199d7149"/>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e012b263547566c0442b1c037c7a2b2fa2c8da"/>
  <p:tag name="KSO_WM_NEWLAYOUT_GROUP_ID" val="layout_57"/>
  <p:tag name="KSO_WM_NEWLAYOUT_ID" val="slide_729c42b1199d7149"/>
  <p:tag name="KSO_WM_UNIT_PRESET_TEXT" val="单击此处添加标题"/>
</p:tagLst>
</file>

<file path=ppt/tags/tag54.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29c42b1199d7149"/>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e012b263547566c0442b1c037c7a2b2fa2c8da"/>
  <p:tag name="KSO_WM_NEWLAYOUT_GROUP_ID" val="layout_57"/>
  <p:tag name="KSO_WM_NEWLAYOUT_ID" val="slide_729c42b1199d7149"/>
  <p:tag name="KSO_WM_UNIT_PRESET_TEXT" val="单击此处添加标题"/>
</p:tagLst>
</file>

<file path=ppt/tags/tag56.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29c42b1199d7149"/>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e012b263547566c0442b1c037c7a2b2fa2c8da"/>
  <p:tag name="KSO_WM_NEWLAYOUT_GROUP_ID" val="layout_57"/>
  <p:tag name="KSO_WM_NEWLAYOUT_ID" val="slide_729c42b1199d7149"/>
  <p:tag name="KSO_WM_UNIT_PRESET_TEXT" val="单击此处添加标题"/>
</p:tagLst>
</file>

<file path=ppt/tags/tag58.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729c42b1199d7149"/>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e012b263547566c0442b1c037c7a2b2fa2c8da"/>
  <p:tag name="KSO_WM_NEWLAYOUT_GROUP_ID" val="layout_57"/>
  <p:tag name="KSO_WM_NEWLAYOUT_ID" val="slide_729c42b1199d7149"/>
  <p:tag name="KSO_WM_UNIT_PRESET_TEXT" val="单击此处添加标题"/>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9e012b263547566c0442b1c037c7a2b2fa2c8da"/>
  <p:tag name="KSO_WM_NEWLAYOUT_GROUP_ID" val="layout_57"/>
  <p:tag name="KSO_WM_NEWLAYOUT_ID" val="slide_729c42b1199d7149"/>
  <p:tag name="KSO_WM_UNIT_PRESET_TEXT" val="单击此处添加标题"/>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15">
      <a:dk1>
        <a:sysClr val="windowText" lastClr="000000"/>
      </a:dk1>
      <a:lt1>
        <a:sysClr val="window" lastClr="FFFFFF"/>
      </a:lt1>
      <a:dk2>
        <a:srgbClr val="373545"/>
      </a:dk2>
      <a:lt2>
        <a:srgbClr val="CEDBE6"/>
      </a:lt2>
      <a:accent1>
        <a:srgbClr val="334353"/>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1">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5">
    <a:dk1>
      <a:sysClr val="windowText" lastClr="000000"/>
    </a:dk1>
    <a:lt1>
      <a:sysClr val="window" lastClr="FFFFFF"/>
    </a:lt1>
    <a:dk2>
      <a:srgbClr val="373545"/>
    </a:dk2>
    <a:lt2>
      <a:srgbClr val="CEDBE6"/>
    </a:lt2>
    <a:accent1>
      <a:srgbClr val="334353"/>
    </a:accent1>
    <a:accent2>
      <a:srgbClr val="58B6C0"/>
    </a:accent2>
    <a:accent3>
      <a:srgbClr val="75BDA7"/>
    </a:accent3>
    <a:accent4>
      <a:srgbClr val="7A8C8E"/>
    </a:accent4>
    <a:accent5>
      <a:srgbClr val="84ACB6"/>
    </a:accent5>
    <a:accent6>
      <a:srgbClr val="2683C6"/>
    </a:accent6>
    <a:hlink>
      <a:srgbClr val="6B9F25"/>
    </a:hlink>
    <a:folHlink>
      <a:srgbClr val="9F6715"/>
    </a:folHlink>
  </a:clrScheme>
</a:themeOverride>
</file>

<file path=docProps/app.xml><?xml version="1.0" encoding="utf-8"?>
<Properties xmlns="http://schemas.openxmlformats.org/officeDocument/2006/extended-properties" xmlns:vt="http://schemas.openxmlformats.org/officeDocument/2006/docPropsVTypes">
  <TotalTime>3021</TotalTime>
  <Words>3761</Words>
  <Application>Microsoft Office PowerPoint</Application>
  <PresentationFormat>宽屏</PresentationFormat>
  <Paragraphs>367</Paragraphs>
  <Slides>46</Slides>
  <Notes>10</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vt:i4>
      </vt:variant>
      <vt:variant>
        <vt:lpstr>幻灯片标题</vt:lpstr>
      </vt:variant>
      <vt:variant>
        <vt:i4>46</vt:i4>
      </vt:variant>
    </vt:vector>
  </HeadingPairs>
  <TitlesOfParts>
    <vt:vector size="66" baseType="lpstr">
      <vt:lpstr>-apple-system</vt:lpstr>
      <vt:lpstr>Microsoft YaHei UI</vt:lpstr>
      <vt:lpstr>阿里巴巴和七个小矮人</vt:lpstr>
      <vt:lpstr>等线</vt:lpstr>
      <vt:lpstr>等线 Light</vt:lpstr>
      <vt:lpstr>仿宋_GB2312</vt:lpstr>
      <vt:lpstr>华文细黑</vt:lpstr>
      <vt:lpstr>思源黑体 CN Bold</vt:lpstr>
      <vt:lpstr>宋体</vt:lpstr>
      <vt:lpstr>Microsoft YaHei</vt:lpstr>
      <vt:lpstr>Microsoft YaHei</vt:lpstr>
      <vt:lpstr>Arial</vt:lpstr>
      <vt:lpstr>Calibri</vt:lpstr>
      <vt:lpstr>Cambria Math</vt:lpstr>
      <vt:lpstr>Impact</vt:lpstr>
      <vt:lpstr>Times New Roman</vt:lpstr>
      <vt:lpstr>Wingdings</vt:lpstr>
      <vt:lpstr>Office 主题​​</vt:lpstr>
      <vt:lpstr>Office 主题</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数字图像表示与常用概念：数字图像的拓扑距离</vt:lpstr>
      <vt:lpstr>PowerPoint 演示文稿</vt:lpstr>
      <vt:lpstr>数字图像表示与常用概念：数字图像的距离、邻域与连通集</vt:lpstr>
      <vt:lpstr>PowerPoint 演示文稿</vt:lpstr>
      <vt:lpstr>数字图像的统计性质</vt:lpstr>
      <vt:lpstr>PowerPoint 演示文稿</vt:lpstr>
      <vt:lpstr>PowerPoint 演示文稿</vt:lpstr>
      <vt:lpstr>PowerPoint 演示文稿</vt:lpstr>
      <vt:lpstr>PowerPoint 演示文稿</vt:lpstr>
      <vt:lpstr>PowerPoint 演示文稿</vt:lpstr>
      <vt:lpstr>数字图像的视觉表现性质</vt:lpstr>
      <vt:lpstr>PowerPoint 演示文稿</vt:lpstr>
      <vt:lpstr>PowerPoint 演示文稿</vt:lpstr>
      <vt:lpstr>PowerPoint 演示文稿</vt:lpstr>
      <vt:lpstr>PowerPoint 演示文稿</vt:lpstr>
      <vt:lpstr>PowerPoint 演示文稿</vt:lpstr>
      <vt:lpstr>PowerPoint 演示文稿</vt:lpstr>
      <vt:lpstr>作业</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shaoming</cp:lastModifiedBy>
  <cp:revision>1531</cp:revision>
  <cp:lastPrinted>2024-06-12T15:31:32Z</cp:lastPrinted>
  <dcterms:created xsi:type="dcterms:W3CDTF">2024-06-12T15:31:32Z</dcterms:created>
  <dcterms:modified xsi:type="dcterms:W3CDTF">2026-09-21T04:27:57Z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CD1BC42A34C549CF40AF6366F719176F_43</vt:lpwstr>
  </property>
  <property fmtid="{D5CDD505-2E9C-101B-9397-08002B2CF9AE}" pid="3" name="KSOProductBuildVer">
    <vt:lpwstr>2052-6.7.1.8828</vt:lpwstr>
  </property>
</Properties>
</file>