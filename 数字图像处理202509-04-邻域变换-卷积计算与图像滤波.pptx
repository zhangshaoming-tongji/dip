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954" r:id="rId2"/>
  </p:sldMasterIdLst>
  <p:notesMasterIdLst>
    <p:notesMasterId r:id="rId58"/>
  </p:notesMasterIdLst>
  <p:handoutMasterIdLst>
    <p:handoutMasterId r:id="rId59"/>
  </p:handoutMasterIdLst>
  <p:sldIdLst>
    <p:sldId id="265" r:id="rId3"/>
    <p:sldId id="4552" r:id="rId4"/>
    <p:sldId id="262" r:id="rId5"/>
    <p:sldId id="318" r:id="rId6"/>
    <p:sldId id="11090291" r:id="rId7"/>
    <p:sldId id="321" r:id="rId8"/>
    <p:sldId id="11090303" r:id="rId9"/>
    <p:sldId id="322" r:id="rId10"/>
    <p:sldId id="11090305" r:id="rId11"/>
    <p:sldId id="11090302" r:id="rId12"/>
    <p:sldId id="11090301" r:id="rId13"/>
    <p:sldId id="319" r:id="rId14"/>
    <p:sldId id="11090311" r:id="rId15"/>
    <p:sldId id="11090306" r:id="rId16"/>
    <p:sldId id="11090307" r:id="rId17"/>
    <p:sldId id="11090308" r:id="rId18"/>
    <p:sldId id="11090309" r:id="rId19"/>
    <p:sldId id="11090310" r:id="rId20"/>
    <p:sldId id="1147" r:id="rId21"/>
    <p:sldId id="1148" r:id="rId22"/>
    <p:sldId id="1149" r:id="rId23"/>
    <p:sldId id="1150" r:id="rId24"/>
    <p:sldId id="1151" r:id="rId25"/>
    <p:sldId id="1152" r:id="rId26"/>
    <p:sldId id="1157" r:id="rId27"/>
    <p:sldId id="1154" r:id="rId28"/>
    <p:sldId id="1155" r:id="rId29"/>
    <p:sldId id="1158" r:id="rId30"/>
    <p:sldId id="1160" r:id="rId31"/>
    <p:sldId id="1161" r:id="rId32"/>
    <p:sldId id="1165" r:id="rId33"/>
    <p:sldId id="1164" r:id="rId34"/>
    <p:sldId id="1167" r:id="rId35"/>
    <p:sldId id="1168" r:id="rId36"/>
    <p:sldId id="11090294" r:id="rId37"/>
    <p:sldId id="1169" r:id="rId38"/>
    <p:sldId id="11090293" r:id="rId39"/>
    <p:sldId id="11090295" r:id="rId40"/>
    <p:sldId id="1166" r:id="rId41"/>
    <p:sldId id="1170" r:id="rId42"/>
    <p:sldId id="11090296" r:id="rId43"/>
    <p:sldId id="11090297" r:id="rId44"/>
    <p:sldId id="11090299" r:id="rId45"/>
    <p:sldId id="11090312" r:id="rId46"/>
    <p:sldId id="1049" r:id="rId47"/>
    <p:sldId id="502" r:id="rId48"/>
    <p:sldId id="1163" r:id="rId49"/>
    <p:sldId id="503" r:id="rId50"/>
    <p:sldId id="1189" r:id="rId51"/>
    <p:sldId id="11090290" r:id="rId52"/>
    <p:sldId id="1171" r:id="rId53"/>
    <p:sldId id="1172" r:id="rId54"/>
    <p:sldId id="1174" r:id="rId55"/>
    <p:sldId id="505" r:id="rId56"/>
    <p:sldId id="11090298" r:id="rId57"/>
  </p:sldIdLst>
  <p:sldSz cx="12192000" cy="6858000"/>
  <p:notesSz cx="6797675" cy="9928225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2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97"/>
    <a:srgbClr val="0C4379"/>
    <a:srgbClr val="42556E"/>
    <a:srgbClr val="6A798D"/>
    <a:srgbClr val="B9B9B9"/>
    <a:srgbClr val="C00000"/>
    <a:srgbClr val="FFFFFF"/>
    <a:srgbClr val="F2F2F2"/>
    <a:srgbClr val="40404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35" autoAdjust="0"/>
    <p:restoredTop sz="87463" autoAdjust="0"/>
  </p:normalViewPr>
  <p:slideViewPr>
    <p:cSldViewPr snapToGrid="0" showGuides="1">
      <p:cViewPr varScale="1">
        <p:scale>
          <a:sx n="142" d="100"/>
          <a:sy n="142" d="100"/>
        </p:scale>
        <p:origin x="468" y="92"/>
      </p:cViewPr>
      <p:guideLst>
        <p:guide orient="horz" pos="1972"/>
        <p:guide pos="3808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60" d="100"/>
        <a:sy n="160" d="100"/>
      </p:scale>
      <p:origin x="0" y="8574"/>
    </p:cViewPr>
  </p:sorterViewPr>
  <p:notesViewPr>
    <p:cSldViewPr snapToGrid="0">
      <p:cViewPr varScale="1">
        <p:scale>
          <a:sx n="68" d="100"/>
          <a:sy n="68" d="100"/>
        </p:scale>
        <p:origin x="3696" y="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12" Type="http://schemas.openxmlformats.org/officeDocument/2006/relationships/image" Target="../media/image23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11" Type="http://schemas.openxmlformats.org/officeDocument/2006/relationships/image" Target="../media/image22.wmf"/><Relationship Id="rId5" Type="http://schemas.openxmlformats.org/officeDocument/2006/relationships/image" Target="../media/image16.wmf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3F327-32E1-4D00-A131-C26A39A88C12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82D1B-D068-4E10-BFEA-4FF4488B70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01:39:42.9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142 1169,'0'0,"1"1,-1-1,0 0,0 1,1-1,-1 1,0-1,1 0,-1 1,0-1,1 0,-1 0,1 1,-1-1,1 0,-1 0,0 0,1 1,-1-1,1 0,-1 0,1 0,-1 0,1 0,-1 0,1 0,-1 0,1 0,-1 0,1 0,23-2,-16 1,15 1,31 4,-33-2,1 0,22-3,-20 0,1 1,37 5,48 13,-6-1,-74-13,0-1,0-2,0-1,0-1,49-10,-55 7,-10 1,1 0,21-7,-32 8,1 0,0-1,-1 1,0-1,1 0,-1 0,0 0,-1 0,1-1,0 1,3-7,0 0,0-1,-1 0,-1-1,9-22,10-53,-11 36,6-12,-9 35,-2-2,0 1,-2-1,2-35,-7 44,-2 0,0 0,-1 0,-2 1,0-1,-1 1,-1 0,0 0,-2 0,0 1,-2 0,0 1,-18-25,19 29,-12-24,6 11,12 21,-1 1,0 0,0 0,0 0,-1 0,-7-5,-34-22,6 4,19 11,5 3,-1 2,-20-13,23 17,-19-16,-10-7,20 19,-1 1,-1 0,0 2,0 1,-1 1,0 1,0 1,-1 1,1 2,-1 1,-30 2,49-1,-1 1,0 1,1-1,-1 1,1 1,0 0,0 0,0 0,0 1,0 0,-9 7,9-4,-1 0,1 0,1 1,0 0,0 0,0 1,1-1,-9 18,-5 13,1 0,-19 63,-15 57,51-152,-7 25,1 0,-7 56,2-6,0-3,10-55,-9 31,6-31,-2 29,7-45,-2 43,3-46,1-1,-1 1,1 0,0 0,0-1,0 1,1-1,2 6,5 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0T12:29:23.5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FFFF00"/>
      <inkml:brushProperty name="ignorePressure" value="1"/>
    </inkml:brush>
  </inkml:definitions>
  <inkml:trace contextRef="#ctx0" brushRef="#br0">7227 4048,'446'0,"-260"12,487-11,-378-15,940 15,187-1,-1047-24,261 19,-350 7,-205-1,185-9,-230 4,120-14,84 5,1151 15,-664-2,-700 0</inkml:trace>
  <inkml:trace contextRef="#ctx0" brushRef="#br0" timeOffset="20615.66">15662 5637,'0'70,"-2"-16,3 0,2-1,4 8,-6-55,0 0,1 1,0-1,0 0,1 0,-1-1,1 1,0 0,1-1,-1 0,1 0,0 0,1 0,3 3,3 3,0 1,1-2,1 0,-1 0,2-1,-1 0,1-2,10 5,0-4,1 0,1-2,-1-1,1 0,0-2,0-2,0 0,4-1,337-2,-350 2,-1 2,0 0,0 1,0 0,-1 2,1-1,-1 2,11 5,151 49,-170-55,0-1,0 1,-1 1,1-1,-1 1,0 0,-1 1,0-1,0 1,0 0,-1 0,1 1,-2-1,1 1,-1 0,0 0,0 5,0-4,0 0,0-1,1 1,0-1,1 1,0-1,0 0,0-1,1 0,0 1,2 0,-7-8,0 1,0 0,0 0,1-1,-1 1,0-1,0 1,0-1,1 1,-1-1,0 0,1 1,-1-1,0 0,1 0,-1 0,0 0,1 0,-1-1,0 1,1 0,-1 0,0-1,0 1,1-1,-1 1,0-1,0 0,0 0,0 1,0-1,0 0,0 0,0 0,0 0,0 0,0 0,0 0,-1 0,1-1,22-49,-19 35,2 1,0 0,1 0,0 0,1 1,1 0,0 1,1 0,4-4,-3 7,0 0,1 1,1 1,-1 0,1 1,1 0,-1 1,1 1,13-4,107-21,-69 22,0 2,0 3,44 5,-37-1,148 13,-99-14,-110-2,0 0,-1-1,1 0,-1 0,0-1,0-1,0 0,-1 0,0-1,0 0,0 0,-1-1,0 0,0-1,0 0,-1 0,-1-1,3-3,31-52,6-16,-38 62</inkml:trace>
  <inkml:trace contextRef="#ctx0" brushRef="#br0" timeOffset="24553">17007 7226,'22'29,"-14"-20,-1-1,1-1,0 1,1-1,-1-1,1 1,1-2,-1 1,1-1,9 3,23 14,118 46,-129-57,4-2,0-1,0-3,0 0,1-2,0-2,-1-2,19-2,28 1,164-4,-114-18,-107 17,1 1,1 1,-1 1,0 2,24 0,11-5,-51 4,1 2,0-1,-1 1,1 1,0 0,-1 1,9 1,142 55,-47 23,-100-69,-1 0,0 1,-1 0,0 1,0 0,-2 1,3 4,-1-4,0-1,0 0,2-1,-1-1,11 7,1 1,-23-17,-1-1,-1 0,1 0,0 0,0 0,-1 0,1 0,0 0,0 0,0 0,0 0,0-1,0 1,0 0,1-1,-1 1,0-1,0 1,0-1,1 0,-1 1,0-1,1 0,-1 0,0 0,0 0,1 0,-1 0,0 0,1 0,-1-1,0 1,0 0,1-1,-1 1,0-1,0 1,0-1,0 0,0 1,1-1,-1 0,-1 0,1 0,0 0,0 0,0 0,0-1,68-176,-65 166,1-1,0 1,1 1,0-1,1 1,0 0,0 0,2 1,-1 0,1 1,9-9,-9 10,1 1,-1 0,1 0,1 1,-1 0,1 1,0 0,0 0,1 1,-1 1,1 0,0 1,4-1,234 5,185 7,-312 21,-98-24,0-1,0-2,0 0,0-2,1 0,5-2,-17 0,-7 2,1-1,-1 0,0 0,0-1,0 0,1 0,-1-1,0 1,-1-2,1 1,0-1,-1 0,1-1,-1 1,0-1,0 0,4-4,65-102,-14 35,-53 61,-1 0,0-1,-1 0,0 0,-1 0,-1-1,0 0,-1-1,0-10</inkml:trace>
  <inkml:trace contextRef="#ctx0" brushRef="#br1" timeOffset="132134.41">1 0,'14'281,"13"-65,-27 59,19-186,-1-24,-13 146,17-85,-18-34,6 46,17-23,-8 26,11 5,5 55,12-10,-41-162,1 0,1 0,1-1,2 0,1 1,56 183,5 56,-54-186,20 55,36 77,-41-63,-4-10,7 51,22 129,-31-154,5-50,-4 37,9 123,44-26,-77-234,1 1,0-1,1 0,1-1,0 0,1 0,3 3,0-3,-2 0,0 1,-1 1,-1-1,-1 1,0 0,2 12,1 18,-9-37,1 0,0 0,1-1,0 1,1 0,0-1,1 0,0 0,0 0,4 4,48 71,-7 69,9-41,-7 37,16-61,-31-38,-15-23,-2 2,0 0,-2 1,1 6,56 85,-15-29,-43-68,1-1,1 0,1-2,1 0,0-1,2-1,1-1,0-2,7 4,-21-14,247 170,-164-119,3-5,2-4,2-5,2-3,28 3,24 1,-101-29,1-3,0-2,1-2,16-2,55 10,57 1,-6 1,568 43,-243-48,-109 8,444-18,-488-6,263 13,139 22,-270-8,-6 2,573-27,-806-17,613 5,-564 13,537-2,-321-22,6-5,423 26,-544 2,-344 4,0 1,0 2,11 5,23 1,-1-3,2-4,-1-4,45-5,2 1,-89 2</inkml:trace>
  <inkml:trace contextRef="#ctx0" brushRef="#br1" timeOffset="133863.31">15118 7321,'28'0,"1"2,-1 1,-1 1,1 1,-1 2,1 1,117 46,-100-35,0 2,-2 3,-1 1,0 2,-40-26,-1 0,-1-1,1 0,0 0,0 0,-1 0,1 1,0-1,-1 0,1 1,0-1,-1 1,1-1,-1 0,1 1,-1-1,1 1,0 0,-1-1,0 1,1-1,-1 1,1 0,-1-1,0 1,0 0,1-1,-1 1,0 0,0 0,0-1,0 1,0 0,1-1,-2 1,1 0,0 0,0-1,0 1,0 0,0 0,-1-1,1 1,0 0,0-1,-1 1,1 0,-1 0,-78 29,-95 38,65-29,1-14,-48 35,113-44,23-10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00284-16BC-4382-8B36-24E400F691F1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5CBD3-32D1-4BCD-A706-B0EA53B26F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5CBD3-32D1-4BCD-A706-B0EA53B26FD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63919-0A8F-4BC9-87FE-C0ACD5E639D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317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7411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659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7299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106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5CBD3-32D1-4BCD-A706-B0EA53B26FD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495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223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latin typeface="Times New Roman" panose="02020603050405020304" pitchFamily="18" charset="0"/>
              <a:ea typeface="仿宋_GB2312" panose="0201060903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F5CBD3-32D1-4BCD-A706-B0EA53B26FD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1687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34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0963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779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369613"/>
            <a:ext cx="12192000" cy="82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4" descr="https://www.tongji.edu.cn/images/name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1047" y="540238"/>
            <a:ext cx="1399126" cy="48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987296"/>
            <a:ext cx="12192000" cy="48707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www.tongji.edu.cn/images/name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47801" y="539072"/>
            <a:ext cx="1399126" cy="48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369613"/>
            <a:ext cx="12192000" cy="82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4" descr="https://www.tongji.edu.cn/images/name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1047" y="540238"/>
            <a:ext cx="1399126" cy="48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0"/>
            <a:ext cx="93345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1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179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2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24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3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06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4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311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3630088" y="463554"/>
            <a:ext cx="493183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667">
                <a:solidFill>
                  <a:srgbClr val="262626"/>
                </a:solidFill>
              </a:rPr>
              <a:t>ADD YOUR TITLE HERE</a:t>
            </a:r>
            <a:endParaRPr lang="zh-CN" altLang="en-US" sz="2667">
              <a:solidFill>
                <a:srgbClr val="262626"/>
              </a:solidFill>
            </a:endParaRPr>
          </a:p>
        </p:txBody>
      </p:sp>
      <p:sp>
        <p:nvSpPr>
          <p:cNvPr id="3" name="Content Placeholder 2"/>
          <p:cNvSpPr txBox="1">
            <a:spLocks/>
          </p:cNvSpPr>
          <p:nvPr userDrawn="1"/>
        </p:nvSpPr>
        <p:spPr>
          <a:xfrm>
            <a:off x="1691225" y="1100667"/>
            <a:ext cx="9215967" cy="423333"/>
          </a:xfrm>
          <a:prstGeom prst="rect">
            <a:avLst/>
          </a:prstGeom>
        </p:spPr>
        <p:txBody>
          <a:bodyPr/>
          <a:lstStyle>
            <a:lvl1pPr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 eaLnBrk="1" hangingPunct="1">
              <a:buFont typeface="Arial" pitchFamily="34" charset="0"/>
              <a:buNone/>
              <a:defRPr/>
            </a:pPr>
            <a:r>
              <a:rPr lang="en-US" altLang="zh-CN" sz="1467">
                <a:solidFill>
                  <a:srgbClr val="262626"/>
                </a:solidFill>
                <a:latin typeface="华文细黑" pitchFamily="2" charset="-122"/>
                <a:ea typeface="华文细黑" pitchFamily="2" charset="-122"/>
                <a:cs typeface="Arial" pitchFamily="34" charset="0"/>
              </a:rPr>
              <a:t>Click here to modify the text , you may post text here . Click here to modify the text Click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111758" y="1054100"/>
            <a:ext cx="19685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0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481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0" y="1071564"/>
            <a:ext cx="12192000" cy="12858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04800" y="1600200"/>
            <a:ext cx="11582400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04800" y="2743200"/>
            <a:ext cx="11582400" cy="685800"/>
          </a:xfrm>
        </p:spPr>
        <p:txBody>
          <a:bodyPr/>
          <a:lstStyle>
            <a:lvl1pPr marL="0" indent="0">
              <a:buFontTx/>
              <a:buNone/>
              <a:defRPr sz="2000" b="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2405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2">
            <a:extLst>
              <a:ext uri="{FF2B5EF4-FFF2-40B4-BE49-F238E27FC236}">
                <a16:creationId xmlns:a16="http://schemas.microsoft.com/office/drawing/2014/main" id="{88E3641D-49CD-4188-AC53-318500DF9D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1092" y="74069"/>
            <a:ext cx="44274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2261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000" dirty="0">
                <a:solidFill>
                  <a:prstClr val="white"/>
                </a:solidFill>
                <a:latin typeface="Impact" panose="020B0806030902050204" pitchFamily="34" charset="0"/>
                <a:sym typeface="Impact" panose="020B0806030902050204" pitchFamily="34" charset="0"/>
              </a:rPr>
              <a:t>2</a:t>
            </a:r>
            <a:endParaRPr lang="zh-CN" altLang="en-US" sz="4000" dirty="0">
              <a:solidFill>
                <a:prstClr val="white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6" name="任意多边形 18">
            <a:extLst>
              <a:ext uri="{FF2B5EF4-FFF2-40B4-BE49-F238E27FC236}">
                <a16:creationId xmlns:a16="http://schemas.microsoft.com/office/drawing/2014/main" id="{D4C6EDE0-5084-4ABC-8A40-36C401BE6DF7}"/>
              </a:ext>
            </a:extLst>
          </p:cNvPr>
          <p:cNvSpPr/>
          <p:nvPr userDrawn="1"/>
        </p:nvSpPr>
        <p:spPr>
          <a:xfrm flipH="1">
            <a:off x="-3" y="748316"/>
            <a:ext cx="9024000" cy="89885"/>
          </a:xfrm>
          <a:custGeom>
            <a:avLst/>
            <a:gdLst>
              <a:gd name="connsiteX0" fmla="*/ 6515627 w 6515627"/>
              <a:gd name="connsiteY0" fmla="*/ 0 h 67414"/>
              <a:gd name="connsiteX1" fmla="*/ 67507 w 6515627"/>
              <a:gd name="connsiteY1" fmla="*/ 0 h 67414"/>
              <a:gd name="connsiteX2" fmla="*/ 0 w 6515627"/>
              <a:gd name="connsiteY2" fmla="*/ 67414 h 67414"/>
              <a:gd name="connsiteX3" fmla="*/ 6515627 w 6515627"/>
              <a:gd name="connsiteY3" fmla="*/ 67414 h 6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5627" h="67414">
                <a:moveTo>
                  <a:pt x="6515627" y="0"/>
                </a:moveTo>
                <a:lnTo>
                  <a:pt x="67507" y="0"/>
                </a:lnTo>
                <a:lnTo>
                  <a:pt x="0" y="67414"/>
                </a:lnTo>
                <a:lnTo>
                  <a:pt x="6515627" y="67414"/>
                </a:lnTo>
                <a:close/>
              </a:path>
            </a:pathLst>
          </a:custGeom>
          <a:solidFill>
            <a:srgbClr val="37609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9" name="任意多边形 19">
            <a:extLst>
              <a:ext uri="{FF2B5EF4-FFF2-40B4-BE49-F238E27FC236}">
                <a16:creationId xmlns:a16="http://schemas.microsoft.com/office/drawing/2014/main" id="{6DAB7A19-C6F0-460A-B114-5C4B1436D053}"/>
              </a:ext>
            </a:extLst>
          </p:cNvPr>
          <p:cNvSpPr/>
          <p:nvPr userDrawn="1"/>
        </p:nvSpPr>
        <p:spPr>
          <a:xfrm flipH="1">
            <a:off x="8589796" y="-9186"/>
            <a:ext cx="3602203" cy="847388"/>
          </a:xfrm>
          <a:custGeom>
            <a:avLst/>
            <a:gdLst>
              <a:gd name="connsiteX0" fmla="*/ 2701652 w 2701652"/>
              <a:gd name="connsiteY0" fmla="*/ 0 h 502825"/>
              <a:gd name="connsiteX1" fmla="*/ 0 w 2701652"/>
              <a:gd name="connsiteY1" fmla="*/ 0 h 502825"/>
              <a:gd name="connsiteX2" fmla="*/ 0 w 2701652"/>
              <a:gd name="connsiteY2" fmla="*/ 502825 h 502825"/>
              <a:gd name="connsiteX3" fmla="*/ 2198133 w 2701652"/>
              <a:gd name="connsiteY3" fmla="*/ 502825 h 50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652" h="502825">
                <a:moveTo>
                  <a:pt x="2701652" y="0"/>
                </a:moveTo>
                <a:lnTo>
                  <a:pt x="0" y="0"/>
                </a:lnTo>
                <a:lnTo>
                  <a:pt x="0" y="502825"/>
                </a:lnTo>
                <a:lnTo>
                  <a:pt x="2198133" y="502825"/>
                </a:lnTo>
                <a:close/>
              </a:path>
            </a:pathLst>
          </a:custGeom>
          <a:solidFill>
            <a:srgbClr val="37609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1" name="任意多边形 20">
            <a:extLst>
              <a:ext uri="{FF2B5EF4-FFF2-40B4-BE49-F238E27FC236}">
                <a16:creationId xmlns:a16="http://schemas.microsoft.com/office/drawing/2014/main" id="{F899518E-9212-47C1-99D0-938259BD2C3C}"/>
              </a:ext>
            </a:extLst>
          </p:cNvPr>
          <p:cNvSpPr/>
          <p:nvPr userDrawn="1"/>
        </p:nvSpPr>
        <p:spPr>
          <a:xfrm>
            <a:off x="9145704" y="-2169"/>
            <a:ext cx="869552" cy="535569"/>
          </a:xfrm>
          <a:custGeom>
            <a:avLst/>
            <a:gdLst>
              <a:gd name="connsiteX0" fmla="*/ 15986 w 683098"/>
              <a:gd name="connsiteY0" fmla="*/ 0 h 420730"/>
              <a:gd name="connsiteX1" fmla="*/ 667112 w 683098"/>
              <a:gd name="connsiteY1" fmla="*/ 0 h 420730"/>
              <a:gd name="connsiteX2" fmla="*/ 683098 w 683098"/>
              <a:gd name="connsiteY2" fmla="*/ 79181 h 420730"/>
              <a:gd name="connsiteX3" fmla="*/ 341549 w 683098"/>
              <a:gd name="connsiteY3" fmla="*/ 420730 h 420730"/>
              <a:gd name="connsiteX4" fmla="*/ 0 w 683098"/>
              <a:gd name="connsiteY4" fmla="*/ 79181 h 420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098" h="420730">
                <a:moveTo>
                  <a:pt x="15986" y="0"/>
                </a:moveTo>
                <a:lnTo>
                  <a:pt x="667112" y="0"/>
                </a:lnTo>
                <a:lnTo>
                  <a:pt x="683098" y="79181"/>
                </a:lnTo>
                <a:cubicBezTo>
                  <a:pt x="683098" y="267813"/>
                  <a:pt x="530181" y="420730"/>
                  <a:pt x="341549" y="420730"/>
                </a:cubicBezTo>
                <a:cubicBezTo>
                  <a:pt x="152917" y="420730"/>
                  <a:pt x="0" y="267813"/>
                  <a:pt x="0" y="79181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2" name="任意多边形 21">
            <a:extLst>
              <a:ext uri="{FF2B5EF4-FFF2-40B4-BE49-F238E27FC236}">
                <a16:creationId xmlns:a16="http://schemas.microsoft.com/office/drawing/2014/main" id="{C18B6B64-AF79-42C3-A536-7F30EC763CD3}"/>
              </a:ext>
            </a:extLst>
          </p:cNvPr>
          <p:cNvSpPr/>
          <p:nvPr userDrawn="1"/>
        </p:nvSpPr>
        <p:spPr>
          <a:xfrm>
            <a:off x="9711555" y="-2169"/>
            <a:ext cx="741135" cy="192229"/>
          </a:xfrm>
          <a:custGeom>
            <a:avLst/>
            <a:gdLst>
              <a:gd name="connsiteX0" fmla="*/ 0 w 555851"/>
              <a:gd name="connsiteY0" fmla="*/ 0 h 144172"/>
              <a:gd name="connsiteX1" fmla="*/ 555851 w 555851"/>
              <a:gd name="connsiteY1" fmla="*/ 0 h 144172"/>
              <a:gd name="connsiteX2" fmla="*/ 519437 w 555851"/>
              <a:gd name="connsiteY2" fmla="*/ 44135 h 144172"/>
              <a:gd name="connsiteX3" fmla="*/ 277925 w 555851"/>
              <a:gd name="connsiteY3" fmla="*/ 144172 h 144172"/>
              <a:gd name="connsiteX4" fmla="*/ 36414 w 555851"/>
              <a:gd name="connsiteY4" fmla="*/ 44135 h 14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851" h="144172">
                <a:moveTo>
                  <a:pt x="0" y="0"/>
                </a:moveTo>
                <a:lnTo>
                  <a:pt x="555851" y="0"/>
                </a:lnTo>
                <a:lnTo>
                  <a:pt x="519437" y="44135"/>
                </a:lnTo>
                <a:cubicBezTo>
                  <a:pt x="457629" y="105943"/>
                  <a:pt x="372241" y="144172"/>
                  <a:pt x="277925" y="144172"/>
                </a:cubicBezTo>
                <a:cubicBezTo>
                  <a:pt x="183609" y="144172"/>
                  <a:pt x="98222" y="105943"/>
                  <a:pt x="36414" y="44135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F6123CB-9999-4C96-AEEC-3C26E1330A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3102" y="17786"/>
            <a:ext cx="2279965" cy="81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06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86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8D13E-7247-4367-AC2D-A72A1BE3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FE9E8-7A34-4CC1-BD4F-9C3EED360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9A6C8-94E1-44C8-B95C-D4FCB614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AB75-46E8-4D97-A728-93EF25077506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79B747-D807-45B1-BD61-A65C64C9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E91EE1-C3F7-46D3-AF90-A7D4430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6D722-0B96-4EE9-B40A-3F4A10FF0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58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20558-5325-4CFD-AFD0-B6863C016BE7}" type="datetimeFigureOut">
              <a:rPr lang="zh-CN" altLang="en-US" smtClean="0"/>
              <a:t>2026-10-14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1" y="366190"/>
            <a:ext cx="10515600" cy="132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1" y="1826684"/>
            <a:ext cx="10515600" cy="434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7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294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华文细黑" panose="02010600040101010101" pitchFamily="2" charset="-122"/>
                <a:ea typeface="+mn-ea"/>
              </a:defRPr>
            </a:lvl1pPr>
          </a:lstStyle>
          <a:p>
            <a:pPr>
              <a:defRPr/>
            </a:pPr>
            <a:fld id="{B688739C-4961-464E-BA3F-458A2D378A86}" type="datetimeFigureOut">
              <a:rPr lang="zh-CN" altLang="en-US"/>
              <a:pPr>
                <a:defRPr/>
              </a:pPr>
              <a:t>2026-10-14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7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294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华文细黑" panose="02010600040101010101" pitchFamily="2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7"/>
            <a:ext cx="27432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华文细黑" panose="02010600040101010101" pitchFamily="2" charset="-122"/>
              </a:defRPr>
            </a:lvl1pPr>
          </a:lstStyle>
          <a:p>
            <a:fld id="{3A11DDF8-7585-4D5A-A9E0-BA1CFD1E6C2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09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2" r:id="rId7"/>
    <p:sldLayoutId id="2147483980" r:id="rId8"/>
    <p:sldLayoutId id="2147483982" r:id="rId9"/>
    <p:sldLayoutId id="2147483983" r:id="rId1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华文细黑" panose="02010600040101010101" pitchFamily="2" charset="-122"/>
          <a:ea typeface="+mj-ea"/>
          <a:cs typeface="+mj-cs"/>
        </a:defRPr>
      </a:lvl1pPr>
      <a:lvl2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2pPr>
      <a:lvl3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3pPr>
      <a:lvl4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4pPr>
      <a:lvl5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5pPr>
      <a:lvl6pPr marL="609570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6pPr>
      <a:lvl7pPr marL="1219139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7pPr>
      <a:lvl8pPr marL="1828709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8pPr>
      <a:lvl9pPr marL="2438278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9pPr>
    </p:titleStyle>
    <p:bodyStyle>
      <a:lvl1pPr marL="228589" indent="-228589" algn="l" defTabSz="914354" rtl="0" eaLnBrk="0" fontAlgn="base" hangingPunct="0">
        <a:lnSpc>
          <a:spcPct val="90000"/>
        </a:lnSpc>
        <a:spcBef>
          <a:spcPts val="1001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1pPr>
      <a:lvl2pPr marL="685767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2pPr>
      <a:lvl3pPr marL="1142943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3pPr>
      <a:lvl4pPr marL="1600121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4pPr>
      <a:lvl5pPr marL="2057298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5pPr>
      <a:lvl6pPr marL="251447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hyperlink" Target="lab/ch4-lab/start.ba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9.wmf"/><Relationship Id="rId26" Type="http://schemas.openxmlformats.org/officeDocument/2006/relationships/image" Target="../media/image2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7.wmf"/><Relationship Id="rId22" Type="http://schemas.openxmlformats.org/officeDocument/2006/relationships/image" Target="../media/image2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7" Type="http://schemas.openxmlformats.org/officeDocument/2006/relationships/image" Target="../media/image26.gi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8.png"/><Relationship Id="rId4" Type="http://schemas.openxmlformats.org/officeDocument/2006/relationships/image" Target="../media/image27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NULL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9.png"/><Relationship Id="rId4" Type="http://schemas.openxmlformats.org/officeDocument/2006/relationships/image" Target="../media/image4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5" Type="http://schemas.openxmlformats.org/officeDocument/2006/relationships/hyperlink" Target="https://www.bing.com/ck/a?!&amp;&amp;p=8609b4d4c6dcd8065031c0a1d617978e2d3864c0d79239331dd5c9720955e8b8JmltdHM9MTc2MDIyNzIwMA&amp;ptn=3&amp;ver=2&amp;hsh=4&amp;fclid=3970df02-38ed-62df-2771-cae739736376&amp;u=a1aHR0cHM6Ly96aHVhbmxhbi56aGlodS5jb20vcC8zNTUyNjc3NTQ&amp;ntb=1" TargetMode="Externa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5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7.png"/><Relationship Id="rId7" Type="http://schemas.openxmlformats.org/officeDocument/2006/relationships/image" Target="../media/image7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6" Type="http://schemas.openxmlformats.org/officeDocument/2006/relationships/customXml" Target="../ink/ink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8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3" Type="http://schemas.openxmlformats.org/officeDocument/2006/relationships/image" Target="../media/image730.png"/><Relationship Id="rId7" Type="http://schemas.openxmlformats.org/officeDocument/2006/relationships/image" Target="../media/image77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740.png"/><Relationship Id="rId9" Type="http://schemas.openxmlformats.org/officeDocument/2006/relationships/image" Target="../media/image79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BA%BF%E6%80%A7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2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88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6.vml"/><Relationship Id="rId6" Type="http://schemas.openxmlformats.org/officeDocument/2006/relationships/image" Target="NULL"/><Relationship Id="rId11" Type="http://schemas.openxmlformats.org/officeDocument/2006/relationships/customXml" Target="../ink/ink2.xml"/><Relationship Id="rId5" Type="http://schemas.openxmlformats.org/officeDocument/2006/relationships/image" Target="../media/image92.png"/><Relationship Id="rId10" Type="http://schemas.openxmlformats.org/officeDocument/2006/relationships/image" Target="../media/image87.wmf"/><Relationship Id="rId4" Type="http://schemas.openxmlformats.org/officeDocument/2006/relationships/image" Target="../media/image91.png"/><Relationship Id="rId9" Type="http://schemas.openxmlformats.org/officeDocument/2006/relationships/oleObject" Target="../embeddings/oleObject16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-34399" y="3445614"/>
            <a:ext cx="12260797" cy="1721472"/>
            <a:chOff x="-34399" y="3445614"/>
            <a:chExt cx="12260797" cy="1721472"/>
          </a:xfrm>
        </p:grpSpPr>
        <p:sp>
          <p:nvSpPr>
            <p:cNvPr id="20" name="矩形 19"/>
            <p:cNvSpPr/>
            <p:nvPr/>
          </p:nvSpPr>
          <p:spPr>
            <a:xfrm>
              <a:off x="-34399" y="3744687"/>
              <a:ext cx="12260797" cy="14223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031942" y="3445614"/>
              <a:ext cx="10521603" cy="16326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96798" y="3149371"/>
            <a:ext cx="10598396" cy="1811507"/>
            <a:chOff x="-4502396" y="-1334515"/>
            <a:chExt cx="13794115" cy="2357728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33753" y="-1334515"/>
              <a:ext cx="3557966" cy="235576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4502396" y="-1334515"/>
              <a:ext cx="3534259" cy="23564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75787" y="-1334515"/>
              <a:ext cx="3557966" cy="235640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968137" y="-1333195"/>
              <a:ext cx="3143924" cy="23564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pic>
        <p:nvPicPr>
          <p:cNvPr id="2" name="图片 7" descr="tjlogo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590" y="53129"/>
            <a:ext cx="3136356" cy="813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494947" y="1240210"/>
            <a:ext cx="11193087" cy="1674493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marL="0" marR="0" lvl="0" indent="0" algn="ctr" defTabSz="1219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  <a:sym typeface="+mn-lt"/>
              </a:rPr>
              <a:t>数字图像处理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lt"/>
            </a:endParaRPr>
          </a:p>
          <a:p>
            <a:pPr marL="0" marR="0" lvl="0" indent="0" algn="ctr" defTabSz="1219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/>
            </a:pPr>
            <a:r>
              <a:rPr lang="en-US" altLang="zh-CN" sz="2800" kern="0" dirty="0">
                <a:solidFill>
                  <a:srgbClr val="FFFFFF"/>
                </a:solidFill>
                <a:latin typeface="Arial" panose="020B0604020202090204"/>
                <a:ea typeface="微软雅黑" panose="020B0503020204020204" pitchFamily="34" charset="-122"/>
                <a:sym typeface="+mn-lt"/>
              </a:rPr>
              <a:t>4 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90204"/>
                <a:ea typeface="微软雅黑" panose="020B0503020204020204" pitchFamily="34" charset="-122"/>
                <a:sym typeface="+mn-lt"/>
              </a:rPr>
              <a:t>卷积计算与图像滤波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3B0AC426-F383-4563-A282-E33FEC03CC84}"/>
              </a:ext>
            </a:extLst>
          </p:cNvPr>
          <p:cNvSpPr txBox="1"/>
          <p:nvPr/>
        </p:nvSpPr>
        <p:spPr>
          <a:xfrm>
            <a:off x="796802" y="5617790"/>
            <a:ext cx="10598396" cy="387794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marL="0" marR="0" lvl="0" indent="0" algn="ctr" defTabSz="12192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  <a:sym typeface="+mn-lt"/>
              </a:rPr>
              <a:t>张绍明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4413" y="0"/>
            <a:ext cx="5857698" cy="6858000"/>
          </a:xfrm>
          <a:prstGeom prst="rect">
            <a:avLst/>
          </a:prstGeom>
        </p:spPr>
      </p:pic>
      <p:sp>
        <p:nvSpPr>
          <p:cNvPr id="7" name="Rectangle 47"/>
          <p:cNvSpPr/>
          <p:nvPr/>
        </p:nvSpPr>
        <p:spPr>
          <a:xfrm>
            <a:off x="-34414" y="0"/>
            <a:ext cx="5857698" cy="6858000"/>
          </a:xfrm>
          <a:prstGeom prst="rect">
            <a:avLst/>
          </a:prstGeom>
          <a:solidFill>
            <a:srgbClr val="0A499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和七个小矮人" panose="00000500000000000000" charset="-122"/>
              <a:ea typeface="阿里巴巴和七个小矮人" panose="00000500000000000000" charset="-122"/>
              <a:cs typeface="阿里巴巴和七个小矮人" panose="00000500000000000000" charset="-122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1979234" y="1677952"/>
            <a:ext cx="974558" cy="3392905"/>
          </a:xfrm>
          <a:custGeom>
            <a:avLst/>
            <a:gdLst>
              <a:gd name="connsiteX0" fmla="*/ 962526 w 974558"/>
              <a:gd name="connsiteY0" fmla="*/ 0 h 3392905"/>
              <a:gd name="connsiteX1" fmla="*/ 0 w 974558"/>
              <a:gd name="connsiteY1" fmla="*/ 0 h 3392905"/>
              <a:gd name="connsiteX2" fmla="*/ 0 w 974558"/>
              <a:gd name="connsiteY2" fmla="*/ 3392905 h 3392905"/>
              <a:gd name="connsiteX3" fmla="*/ 974558 w 974558"/>
              <a:gd name="connsiteY3" fmla="*/ 3380874 h 339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558" h="3392905">
                <a:moveTo>
                  <a:pt x="962526" y="0"/>
                </a:moveTo>
                <a:lnTo>
                  <a:pt x="0" y="0"/>
                </a:lnTo>
                <a:lnTo>
                  <a:pt x="0" y="3392905"/>
                </a:lnTo>
                <a:lnTo>
                  <a:pt x="974558" y="3380874"/>
                </a:ln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和七个小矮人" panose="00000500000000000000" charset="-122"/>
              <a:ea typeface="阿里巴巴和七个小矮人" panose="00000500000000000000" charset="-122"/>
              <a:cs typeface="阿里巴巴和七个小矮人" panose="00000500000000000000" charset="-122"/>
            </a:endParaRPr>
          </a:p>
        </p:txBody>
      </p:sp>
      <p:sp>
        <p:nvSpPr>
          <p:cNvPr id="16" name="任意多边形: 形状 15"/>
          <p:cNvSpPr/>
          <p:nvPr/>
        </p:nvSpPr>
        <p:spPr>
          <a:xfrm rot="10800000">
            <a:off x="2994016" y="1665919"/>
            <a:ext cx="974558" cy="3392905"/>
          </a:xfrm>
          <a:custGeom>
            <a:avLst/>
            <a:gdLst>
              <a:gd name="connsiteX0" fmla="*/ 962526 w 974558"/>
              <a:gd name="connsiteY0" fmla="*/ 0 h 3392905"/>
              <a:gd name="connsiteX1" fmla="*/ 0 w 974558"/>
              <a:gd name="connsiteY1" fmla="*/ 0 h 3392905"/>
              <a:gd name="connsiteX2" fmla="*/ 0 w 974558"/>
              <a:gd name="connsiteY2" fmla="*/ 3392905 h 3392905"/>
              <a:gd name="connsiteX3" fmla="*/ 974558 w 974558"/>
              <a:gd name="connsiteY3" fmla="*/ 3380874 h 339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558" h="3392905">
                <a:moveTo>
                  <a:pt x="962526" y="0"/>
                </a:moveTo>
                <a:lnTo>
                  <a:pt x="0" y="0"/>
                </a:lnTo>
                <a:lnTo>
                  <a:pt x="0" y="3392905"/>
                </a:lnTo>
                <a:lnTo>
                  <a:pt x="974558" y="3380874"/>
                </a:ln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和七个小矮人" panose="00000500000000000000" charset="-122"/>
              <a:ea typeface="阿里巴巴和七个小矮人" panose="00000500000000000000" charset="-122"/>
              <a:cs typeface="阿里巴巴和七个小矮人" panose="000005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76464" y="293247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阿里巴巴和七个小矮人" panose="00000500000000000000" charset="-122"/>
              </a:rPr>
              <a:t>目录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A5EE3A-8A92-4E50-B858-4B8B15C0DCA2}"/>
              </a:ext>
            </a:extLst>
          </p:cNvPr>
          <p:cNvSpPr txBox="1"/>
          <p:nvPr/>
        </p:nvSpPr>
        <p:spPr>
          <a:xfrm>
            <a:off x="6562780" y="1355135"/>
            <a:ext cx="483325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连续和离散函数卷积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非线性滤波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平滑滤波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非局部平滑滤波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双边滤波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引导滤波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二维可分离</a:t>
            </a:r>
            <a:r>
              <a:rPr lang="zh-CN" altLang="en-US" sz="2000" b="1" dirty="0" smtClean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</a:t>
            </a:r>
            <a:endParaRPr lang="en-US" altLang="zh-CN" sz="2000" b="1" dirty="0" smtClean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b="1" dirty="0" smtClean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file"/>
              </a:rPr>
              <a:t>Web_Demo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lphaUcPeriod"/>
            </a:pP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>
            <a:extLst>
              <a:ext uri="{FF2B5EF4-FFF2-40B4-BE49-F238E27FC236}">
                <a16:creationId xmlns:a16="http://schemas.microsoft.com/office/drawing/2014/main" id="{9B69C55D-3E67-45EE-A5CA-ED15F8D09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223" y="1758222"/>
            <a:ext cx="8782493" cy="3077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与点运算不同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相当一部分图像处理操作都是在利用某个局部的所有像素进行计算。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局部一般定义为像素的一个邻域，大小根据实际需要而定。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邻域内的像素一般会与一个同样大小的模板共同参与计算。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很多计算都可以用卷积积分来描述！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22621F00-9364-4C6C-AF73-4167DB18429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0985" y="140444"/>
            <a:ext cx="7649609" cy="564950"/>
          </a:xfrm>
        </p:spPr>
        <p:txBody>
          <a:bodyPr/>
          <a:lstStyle/>
          <a:p>
            <a:r>
              <a:rPr lang="en-US" altLang="zh-CN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卷积与图像处理的关系</a:t>
            </a:r>
          </a:p>
        </p:txBody>
      </p:sp>
    </p:spTree>
    <p:extLst>
      <p:ext uri="{BB962C8B-B14F-4D97-AF65-F5344CB8AC3E}">
        <p14:creationId xmlns:p14="http://schemas.microsoft.com/office/powerpoint/2010/main" val="222405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标题 1">
            <a:extLst>
              <a:ext uri="{FF2B5EF4-FFF2-40B4-BE49-F238E27FC236}">
                <a16:creationId xmlns:a16="http://schemas.microsoft.com/office/drawing/2014/main" id="{B90A44CF-AA43-42EC-8259-B82A732E0E62}"/>
              </a:ext>
            </a:extLst>
          </p:cNvPr>
          <p:cNvSpPr txBox="1">
            <a:spLocks/>
          </p:cNvSpPr>
          <p:nvPr/>
        </p:nvSpPr>
        <p:spPr>
          <a:xfrm>
            <a:off x="292608" y="156095"/>
            <a:ext cx="6696358" cy="588259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一维连续函数卷积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01B66EA-1E61-4B1C-B133-CBBBF35F3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02083"/>
              </p:ext>
            </p:extLst>
          </p:nvPr>
        </p:nvGraphicFramePr>
        <p:xfrm>
          <a:off x="2620323" y="939197"/>
          <a:ext cx="65468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6" name="Equation" r:id="rId3" imgW="2882880" imgH="330120" progId="Equation.DSMT4">
                  <p:embed/>
                </p:oleObj>
              </mc:Choice>
              <mc:Fallback>
                <p:oleObj name="Equation" r:id="rId3" imgW="288288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01B66EA-1E61-4B1C-B133-CBBBF35F3B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0323" y="939197"/>
                        <a:ext cx="6546850" cy="749300"/>
                      </a:xfrm>
                      <a:prstGeom prst="rect">
                        <a:avLst/>
                      </a:prstGeom>
                      <a:ln w="190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2040054B-2624-4B39-9698-ED3B63ED000E}"/>
              </a:ext>
            </a:extLst>
          </p:cNvPr>
          <p:cNvGrpSpPr/>
          <p:nvPr/>
        </p:nvGrpSpPr>
        <p:grpSpPr>
          <a:xfrm>
            <a:off x="1577347" y="1927929"/>
            <a:ext cx="9141347" cy="3941305"/>
            <a:chOff x="1537889" y="2409047"/>
            <a:chExt cx="9141347" cy="3941305"/>
          </a:xfrm>
        </p:grpSpPr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1E6F3A3D-9067-4C74-A6DB-67FE77175386}"/>
                </a:ext>
              </a:extLst>
            </p:cNvPr>
            <p:cNvGrpSpPr/>
            <p:nvPr/>
          </p:nvGrpSpPr>
          <p:grpSpPr>
            <a:xfrm>
              <a:off x="1973594" y="4241798"/>
              <a:ext cx="7845970" cy="2108554"/>
              <a:chOff x="1973594" y="4241798"/>
              <a:chExt cx="7845970" cy="2108554"/>
            </a:xfrm>
          </p:grpSpPr>
          <p:grpSp>
            <p:nvGrpSpPr>
              <p:cNvPr id="21" name="Group 62"/>
              <p:cNvGrpSpPr>
                <a:grpSpLocks/>
              </p:cNvGrpSpPr>
              <p:nvPr/>
            </p:nvGrpSpPr>
            <p:grpSpPr bwMode="auto">
              <a:xfrm>
                <a:off x="1973594" y="4241798"/>
                <a:ext cx="7640703" cy="2108554"/>
                <a:chOff x="1920" y="10014"/>
                <a:chExt cx="7565" cy="1878"/>
              </a:xfrm>
            </p:grpSpPr>
            <p:grpSp>
              <p:nvGrpSpPr>
                <p:cNvPr id="22" name="Group 63"/>
                <p:cNvGrpSpPr>
                  <a:grpSpLocks/>
                </p:cNvGrpSpPr>
                <p:nvPr/>
              </p:nvGrpSpPr>
              <p:grpSpPr bwMode="auto">
                <a:xfrm>
                  <a:off x="7112" y="10226"/>
                  <a:ext cx="2373" cy="1660"/>
                  <a:chOff x="7112" y="10226"/>
                  <a:chExt cx="2373" cy="1660"/>
                </a:xfrm>
              </p:grpSpPr>
              <p:sp>
                <p:nvSpPr>
                  <p:cNvPr id="145473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35" y="11418"/>
                    <a:ext cx="534" cy="4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45474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112" y="10935"/>
                    <a:ext cx="534" cy="4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45475" name="Freeform 67"/>
                  <p:cNvSpPr>
                    <a:spLocks/>
                  </p:cNvSpPr>
                  <p:nvPr/>
                </p:nvSpPr>
                <p:spPr bwMode="auto">
                  <a:xfrm>
                    <a:off x="7542" y="11088"/>
                    <a:ext cx="89" cy="1"/>
                  </a:xfrm>
                  <a:custGeom>
                    <a:avLst/>
                    <a:gdLst/>
                    <a:ahLst/>
                    <a:cxnLst>
                      <a:cxn ang="0">
                        <a:pos x="9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90" h="1">
                        <a:moveTo>
                          <a:pt x="90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3" name="Group 68"/>
                  <p:cNvGrpSpPr>
                    <a:grpSpLocks/>
                  </p:cNvGrpSpPr>
                  <p:nvPr/>
                </p:nvGrpSpPr>
                <p:grpSpPr bwMode="auto">
                  <a:xfrm>
                    <a:off x="7290" y="10226"/>
                    <a:ext cx="2195" cy="1318"/>
                    <a:chOff x="7290" y="10226"/>
                    <a:chExt cx="2195" cy="1318"/>
                  </a:xfrm>
                </p:grpSpPr>
                <p:grpSp>
                  <p:nvGrpSpPr>
                    <p:cNvPr id="24" name="Group 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290" y="10226"/>
                      <a:ext cx="2195" cy="1318"/>
                      <a:chOff x="7290" y="10226"/>
                      <a:chExt cx="2195" cy="1318"/>
                    </a:xfrm>
                  </p:grpSpPr>
                  <p:sp>
                    <p:nvSpPr>
                      <p:cNvPr id="145478" name="Freeform 7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290" y="11543"/>
                        <a:ext cx="2195" cy="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2220" y="0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2220" h="1">
                            <a:moveTo>
                              <a:pt x="2220" y="0"/>
                            </a:moveTo>
                            <a:lnTo>
                              <a:pt x="0" y="0"/>
                            </a:lnTo>
                          </a:path>
                        </a:pathLst>
                      </a:custGeom>
                      <a:noFill/>
                      <a:ln w="12700" cap="sq">
                        <a:solidFill>
                          <a:srgbClr val="000000"/>
                        </a:solidFill>
                        <a:round/>
                        <a:headEnd type="stealth" w="med" len="med"/>
                        <a:tailEnd type="none" w="med" len="lg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45480" name="Freeform 7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527" y="11093"/>
                        <a:ext cx="1750" cy="45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447"/>
                          </a:cxn>
                          <a:cxn ang="0">
                            <a:pos x="885" y="0"/>
                          </a:cxn>
                          <a:cxn ang="0">
                            <a:pos x="1770" y="450"/>
                          </a:cxn>
                        </a:cxnLst>
                        <a:rect l="0" t="0" r="r" b="b"/>
                        <a:pathLst>
                          <a:path w="1770" h="450">
                            <a:moveTo>
                              <a:pt x="0" y="447"/>
                            </a:moveTo>
                            <a:lnTo>
                              <a:pt x="885" y="0"/>
                            </a:lnTo>
                            <a:lnTo>
                              <a:pt x="1770" y="450"/>
                            </a:lnTo>
                          </a:path>
                        </a:pathLst>
                      </a:custGeom>
                      <a:solidFill>
                        <a:srgbClr val="C0C0C0"/>
                      </a:solidFill>
                      <a:ln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45479" name="Freeform 7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500" y="10226"/>
                        <a:ext cx="0" cy="131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1312"/>
                          </a:cxn>
                          <a:cxn ang="0">
                            <a:pos x="2" y="0"/>
                          </a:cxn>
                        </a:cxnLst>
                        <a:rect l="0" t="0" r="r" b="b"/>
                        <a:pathLst>
                          <a:path w="2" h="1312">
                            <a:moveTo>
                              <a:pt x="0" y="1312"/>
                            </a:moveTo>
                            <a:lnTo>
                              <a:pt x="2" y="0"/>
                            </a:lnTo>
                          </a:path>
                        </a:pathLst>
                      </a:custGeom>
                      <a:noFill/>
                      <a:ln w="12700" cap="sq">
                        <a:solidFill>
                          <a:srgbClr val="000000"/>
                        </a:solidFill>
                        <a:round/>
                        <a:headEnd type="none" w="sm" len="sm"/>
                        <a:tailEnd type="stealth" w="med" len="lg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45481" name="Freeform 73"/>
                    <p:cNvSpPr>
                      <a:spLocks/>
                    </p:cNvSpPr>
                    <p:nvPr/>
                  </p:nvSpPr>
                  <p:spPr bwMode="auto">
                    <a:xfrm>
                      <a:off x="8402" y="11448"/>
                      <a:ext cx="1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" y="75"/>
                        </a:cxn>
                      </a:cxnLst>
                      <a:rect l="0" t="0" r="r" b="b"/>
                      <a:pathLst>
                        <a:path w="1" h="75">
                          <a:moveTo>
                            <a:pt x="0" y="0"/>
                          </a:moveTo>
                          <a:lnTo>
                            <a:pt x="1" y="75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45482" name="Text Box 7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225" y="11454"/>
                    <a:ext cx="534" cy="41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>
                      <a:latin typeface="Times New Roman" pitchFamily="18" charset="0"/>
                    </a:endParaRPr>
                  </a:p>
                </p:txBody>
              </p:sp>
            </p:grpSp>
            <p:grpSp>
              <p:nvGrpSpPr>
                <p:cNvPr id="25" name="Group 77"/>
                <p:cNvGrpSpPr>
                  <a:grpSpLocks/>
                </p:cNvGrpSpPr>
                <p:nvPr/>
              </p:nvGrpSpPr>
              <p:grpSpPr bwMode="auto">
                <a:xfrm>
                  <a:off x="1920" y="10014"/>
                  <a:ext cx="2863" cy="1878"/>
                  <a:chOff x="1920" y="10014"/>
                  <a:chExt cx="2863" cy="1878"/>
                </a:xfrm>
              </p:grpSpPr>
              <p:grpSp>
                <p:nvGrpSpPr>
                  <p:cNvPr id="26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2128" y="10192"/>
                    <a:ext cx="2343" cy="1318"/>
                    <a:chOff x="2128" y="10192"/>
                    <a:chExt cx="2343" cy="1318"/>
                  </a:xfrm>
                </p:grpSpPr>
                <p:sp>
                  <p:nvSpPr>
                    <p:cNvPr id="145487" name="Freeform 79"/>
                    <p:cNvSpPr>
                      <a:spLocks/>
                    </p:cNvSpPr>
                    <p:nvPr/>
                  </p:nvSpPr>
                  <p:spPr bwMode="auto">
                    <a:xfrm>
                      <a:off x="2128" y="11508"/>
                      <a:ext cx="2343" cy="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"/>
                        </a:cxn>
                        <a:cxn ang="0">
                          <a:pos x="2370" y="0"/>
                        </a:cxn>
                      </a:cxnLst>
                      <a:rect l="0" t="0" r="r" b="b"/>
                      <a:pathLst>
                        <a:path w="2370" h="5">
                          <a:moveTo>
                            <a:pt x="0" y="5"/>
                          </a:moveTo>
                          <a:lnTo>
                            <a:pt x="2370" y="0"/>
                          </a:lnTo>
                        </a:path>
                      </a:pathLst>
                    </a:custGeom>
                    <a:noFill/>
                    <a:ln w="12700" cap="sq">
                      <a:solidFill>
                        <a:srgbClr val="000000"/>
                      </a:solidFill>
                      <a:round/>
                      <a:headEnd type="none" w="sm" len="sm"/>
                      <a:tailEnd type="stealth" w="med" len="lg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5488" name="Rectangle 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73" y="11136"/>
                      <a:ext cx="887" cy="37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5489" name="Freeform 81"/>
                    <p:cNvSpPr>
                      <a:spLocks/>
                    </p:cNvSpPr>
                    <p:nvPr/>
                  </p:nvSpPr>
                  <p:spPr bwMode="auto">
                    <a:xfrm>
                      <a:off x="3088" y="10192"/>
                      <a:ext cx="4" cy="1316"/>
                    </a:xfrm>
                    <a:custGeom>
                      <a:avLst/>
                      <a:gdLst/>
                      <a:ahLst/>
                      <a:cxnLst>
                        <a:cxn ang="0">
                          <a:pos x="4" y="1316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4" h="1316">
                          <a:moveTo>
                            <a:pt x="4" y="1316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12700" cap="sq">
                      <a:solidFill>
                        <a:srgbClr val="000000"/>
                      </a:solidFill>
                      <a:round/>
                      <a:headEnd type="none" w="sm" len="sm"/>
                      <a:tailEnd type="stealth" w="med" len="lg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5490" name="Rectangle 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92" y="10692"/>
                      <a:ext cx="887" cy="81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5491" name="Freeform 83"/>
                    <p:cNvSpPr>
                      <a:spLocks/>
                    </p:cNvSpPr>
                    <p:nvPr/>
                  </p:nvSpPr>
                  <p:spPr bwMode="auto">
                    <a:xfrm>
                      <a:off x="3090" y="11135"/>
                      <a:ext cx="360" cy="3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360" y="0"/>
                        </a:cxn>
                        <a:cxn ang="0">
                          <a:pos x="358" y="375"/>
                        </a:cxn>
                        <a:cxn ang="0">
                          <a:pos x="2" y="375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360" h="375">
                          <a:moveTo>
                            <a:pt x="0" y="0"/>
                          </a:moveTo>
                          <a:lnTo>
                            <a:pt x="360" y="0"/>
                          </a:lnTo>
                          <a:lnTo>
                            <a:pt x="358" y="375"/>
                          </a:lnTo>
                          <a:lnTo>
                            <a:pt x="2" y="37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12700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45492" name="Text Box 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4" y="11373"/>
                    <a:ext cx="534" cy="4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45493" name="Text Box 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40" y="11352"/>
                    <a:ext cx="534" cy="4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45495" name="Text Box 8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8" y="10014"/>
                    <a:ext cx="1246" cy="4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45497" name="Text Box 8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8" y="10803"/>
                    <a:ext cx="534" cy="4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45498" name="Text Box 9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49" y="11160"/>
                    <a:ext cx="534" cy="4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45499" name="Freeform 91"/>
                  <p:cNvSpPr>
                    <a:spLocks/>
                  </p:cNvSpPr>
                  <p:nvPr/>
                </p:nvSpPr>
                <p:spPr bwMode="auto">
                  <a:xfrm>
                    <a:off x="2187" y="11418"/>
                    <a:ext cx="1" cy="7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5"/>
                      </a:cxn>
                    </a:cxnLst>
                    <a:rect l="0" t="0" r="r" b="b"/>
                    <a:pathLst>
                      <a:path w="1" h="75">
                        <a:moveTo>
                          <a:pt x="0" y="0"/>
                        </a:moveTo>
                        <a:lnTo>
                          <a:pt x="1" y="7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5500" name="Text Box 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0" y="11424"/>
                    <a:ext cx="534" cy="4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 dirty="0">
                      <a:latin typeface="Times New Roman" pitchFamily="18" charset="0"/>
                    </a:endParaRPr>
                  </a:p>
                </p:txBody>
              </p:sp>
            </p:grpSp>
            <p:grpSp>
              <p:nvGrpSpPr>
                <p:cNvPr id="27" name="Group 93"/>
                <p:cNvGrpSpPr>
                  <a:grpSpLocks/>
                </p:cNvGrpSpPr>
                <p:nvPr/>
              </p:nvGrpSpPr>
              <p:grpSpPr bwMode="auto">
                <a:xfrm>
                  <a:off x="4768" y="10044"/>
                  <a:ext cx="2448" cy="1812"/>
                  <a:chOff x="4768" y="10044"/>
                  <a:chExt cx="2448" cy="1812"/>
                </a:xfrm>
              </p:grpSpPr>
              <p:grpSp>
                <p:nvGrpSpPr>
                  <p:cNvPr id="28" name="Group 94"/>
                  <p:cNvGrpSpPr>
                    <a:grpSpLocks/>
                  </p:cNvGrpSpPr>
                  <p:nvPr/>
                </p:nvGrpSpPr>
                <p:grpSpPr bwMode="auto">
                  <a:xfrm>
                    <a:off x="4768" y="10044"/>
                    <a:ext cx="2448" cy="1812"/>
                    <a:chOff x="4768" y="10044"/>
                    <a:chExt cx="2448" cy="1812"/>
                  </a:xfrm>
                </p:grpSpPr>
                <p:grpSp>
                  <p:nvGrpSpPr>
                    <p:cNvPr id="29" name="Group 9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68" y="10044"/>
                      <a:ext cx="2448" cy="1812"/>
                      <a:chOff x="4768" y="10044"/>
                      <a:chExt cx="2448" cy="1812"/>
                    </a:xfrm>
                  </p:grpSpPr>
                  <p:grpSp>
                    <p:nvGrpSpPr>
                      <p:cNvPr id="30" name="Group 9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768" y="10200"/>
                        <a:ext cx="2136" cy="1308"/>
                        <a:chOff x="4768" y="10200"/>
                        <a:chExt cx="2136" cy="1308"/>
                      </a:xfrm>
                    </p:grpSpPr>
                    <p:sp>
                      <p:nvSpPr>
                        <p:cNvPr id="145505" name="Freeform 97"/>
                        <p:cNvSpPr>
                          <a:spLocks/>
                        </p:cNvSpPr>
                        <p:nvPr/>
                      </p:nvSpPr>
                      <p:spPr bwMode="auto">
                        <a:xfrm flipH="1">
                          <a:off x="4768" y="11507"/>
                          <a:ext cx="2136" cy="1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0"/>
                            </a:cxn>
                            <a:cxn ang="0">
                              <a:pos x="2160" y="0"/>
                            </a:cxn>
                          </a:cxnLst>
                          <a:rect l="0" t="0" r="r" b="b"/>
                          <a:pathLst>
                            <a:path w="2160" h="1">
                              <a:moveTo>
                                <a:pt x="0" y="0"/>
                              </a:moveTo>
                              <a:lnTo>
                                <a:pt x="2160" y="0"/>
                              </a:lnTo>
                            </a:path>
                          </a:pathLst>
                        </a:custGeom>
                        <a:noFill/>
                        <a:ln w="12700" cap="sq">
                          <a:solidFill>
                            <a:srgbClr val="000000"/>
                          </a:solidFill>
                          <a:round/>
                          <a:headEnd type="stealth" w="med" len="med"/>
                          <a:tailEnd type="none" w="med" len="lg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5506" name="Rectangle 9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H="1">
                          <a:off x="5246" y="10688"/>
                          <a:ext cx="887" cy="82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5507" name="Freeform 9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5246" y="10200"/>
                          <a:ext cx="0" cy="1308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1308"/>
                            </a:cxn>
                            <a:cxn ang="0">
                              <a:pos x="7" y="0"/>
                            </a:cxn>
                          </a:cxnLst>
                          <a:rect l="0" t="0" r="r" b="b"/>
                          <a:pathLst>
                            <a:path w="7" h="1308">
                              <a:moveTo>
                                <a:pt x="0" y="1308"/>
                              </a:moveTo>
                              <a:lnTo>
                                <a:pt x="7" y="0"/>
                              </a:lnTo>
                            </a:path>
                          </a:pathLst>
                        </a:custGeom>
                        <a:noFill/>
                        <a:ln w="12700" cap="sq">
                          <a:solidFill>
                            <a:srgbClr val="000000"/>
                          </a:solidFill>
                          <a:round/>
                          <a:headEnd type="none" w="sm" len="sm"/>
                          <a:tailEnd type="stealth" w="med" len="lg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145508" name="Text Box 10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540" y="11379"/>
                        <a:ext cx="712" cy="4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pPr marL="742950" indent="-285750">
                          <a:buFontTx/>
                          <a:buChar char="–"/>
                        </a:pPr>
                        <a:endParaRPr kumimoji="1" lang="zh-CN" altLang="zh-CN" sz="2800" b="1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145509" name="Text Box 10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682" y="11166"/>
                        <a:ext cx="534" cy="4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pPr marL="742950" indent="-285750">
                          <a:buFontTx/>
                          <a:buChar char="–"/>
                        </a:pPr>
                        <a:endParaRPr kumimoji="1" lang="zh-CN" altLang="zh-CN" sz="2800" b="1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145510" name="Text Box 10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065" y="11373"/>
                        <a:ext cx="534" cy="4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pPr marL="742950" indent="-285750">
                          <a:buFontTx/>
                          <a:buChar char="–"/>
                        </a:pPr>
                        <a:endParaRPr kumimoji="1" lang="zh-CN" altLang="zh-CN" sz="2800" b="1" dirty="0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145511" name="Text Box 10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014" y="10779"/>
                        <a:ext cx="534" cy="4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pPr marL="742950" indent="-285750">
                          <a:buFontTx/>
                          <a:buChar char="–"/>
                        </a:pPr>
                        <a:endParaRPr kumimoji="1" lang="zh-CN" altLang="zh-CN" sz="2800" b="1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145513" name="Text Box 10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154" y="10044"/>
                        <a:ext cx="1246" cy="4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pPr marL="742950" indent="-285750">
                          <a:buFontTx/>
                          <a:buChar char="–"/>
                        </a:pPr>
                        <a:endParaRPr kumimoji="1" lang="zh-CN" altLang="zh-CN" sz="2800" b="1" dirty="0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145515" name="Text Box 10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955" y="11388"/>
                        <a:ext cx="445" cy="4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pPr marL="742950" indent="-285750">
                          <a:buFontTx/>
                          <a:buChar char="–"/>
                        </a:pPr>
                        <a:endParaRPr kumimoji="1" lang="zh-CN" altLang="zh-CN" sz="2800" b="1">
                          <a:latin typeface="Times New Roman" pitchFamily="18" charset="0"/>
                        </a:endParaRPr>
                      </a:p>
                    </p:txBody>
                  </p:sp>
                </p:grpSp>
                <p:sp>
                  <p:nvSpPr>
                    <p:cNvPr id="145516" name="Rectangle 1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807" y="11121"/>
                      <a:ext cx="887" cy="387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45517" name="Freeform 109"/>
                  <p:cNvSpPr>
                    <a:spLocks/>
                  </p:cNvSpPr>
                  <p:nvPr/>
                </p:nvSpPr>
                <p:spPr bwMode="auto">
                  <a:xfrm>
                    <a:off x="5774" y="11118"/>
                    <a:ext cx="360" cy="39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60" y="0"/>
                      </a:cxn>
                      <a:cxn ang="0">
                        <a:pos x="360" y="390"/>
                      </a:cxn>
                      <a:cxn ang="0">
                        <a:pos x="0" y="39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360" h="390">
                        <a:moveTo>
                          <a:pt x="0" y="0"/>
                        </a:moveTo>
                        <a:lnTo>
                          <a:pt x="360" y="0"/>
                        </a:lnTo>
                        <a:lnTo>
                          <a:pt x="360" y="390"/>
                        </a:lnTo>
                        <a:lnTo>
                          <a:pt x="0" y="3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45534" name="Rectangle 126"/>
              <p:cNvSpPr>
                <a:spLocks noChangeArrowheads="1"/>
              </p:cNvSpPr>
              <p:nvPr/>
            </p:nvSpPr>
            <p:spPr bwMode="auto">
              <a:xfrm>
                <a:off x="7174658" y="5276850"/>
                <a:ext cx="476250" cy="3667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dirty="0">
                    <a:latin typeface="Times New Roman" pitchFamily="18" charset="0"/>
                  </a:rPr>
                  <a:t>1/2</a:t>
                </a:r>
              </a:p>
            </p:txBody>
          </p:sp>
          <p:sp>
            <p:nvSpPr>
              <p:cNvPr id="145538" name="Rectangle 130"/>
              <p:cNvSpPr>
                <a:spLocks noChangeArrowheads="1"/>
              </p:cNvSpPr>
              <p:nvPr/>
            </p:nvSpPr>
            <p:spPr bwMode="auto">
              <a:xfrm>
                <a:off x="7460410" y="5945157"/>
                <a:ext cx="2205732" cy="3699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dirty="0">
                    <a:latin typeface="Times New Roman" pitchFamily="18" charset="0"/>
                  </a:rPr>
                  <a:t>0              1             2  </a:t>
                </a:r>
              </a:p>
            </p:txBody>
          </p:sp>
          <p:sp>
            <p:nvSpPr>
              <p:cNvPr id="137" name="Rectangle 113"/>
              <p:cNvSpPr>
                <a:spLocks noChangeArrowheads="1"/>
              </p:cNvSpPr>
              <p:nvPr/>
            </p:nvSpPr>
            <p:spPr bwMode="auto">
              <a:xfrm>
                <a:off x="4473019" y="5694401"/>
                <a:ext cx="277320" cy="4007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i="1" dirty="0">
                    <a:latin typeface="Times New Roman" pitchFamily="18" charset="0"/>
                  </a:rPr>
                  <a:t>τ</a:t>
                </a:r>
                <a:endParaRPr kumimoji="1" lang="en-US" altLang="zh-CN" sz="2000" dirty="0">
                  <a:latin typeface="Times New Roman" pitchFamily="18" charset="0"/>
                </a:endParaRPr>
              </a:p>
            </p:txBody>
          </p:sp>
          <p:sp>
            <p:nvSpPr>
              <p:cNvPr id="138" name="Rectangle 113"/>
              <p:cNvSpPr>
                <a:spLocks noChangeArrowheads="1"/>
              </p:cNvSpPr>
              <p:nvPr/>
            </p:nvSpPr>
            <p:spPr bwMode="auto">
              <a:xfrm>
                <a:off x="6948367" y="5721046"/>
                <a:ext cx="277320" cy="4007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i="1" dirty="0">
                    <a:latin typeface="Times New Roman" pitchFamily="18" charset="0"/>
                  </a:rPr>
                  <a:t>τ</a:t>
                </a:r>
                <a:endParaRPr kumimoji="1" lang="en-US" altLang="zh-CN" sz="2000" dirty="0">
                  <a:latin typeface="Times New Roman" pitchFamily="18" charset="0"/>
                </a:endParaRPr>
              </a:p>
            </p:txBody>
          </p:sp>
          <p:sp>
            <p:nvSpPr>
              <p:cNvPr id="139" name="Rectangle 113"/>
              <p:cNvSpPr>
                <a:spLocks noChangeArrowheads="1"/>
              </p:cNvSpPr>
              <p:nvPr/>
            </p:nvSpPr>
            <p:spPr bwMode="auto">
              <a:xfrm>
                <a:off x="9519802" y="5751552"/>
                <a:ext cx="299762" cy="4007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i="1" dirty="0">
                    <a:latin typeface="Times New Roman" pitchFamily="18" charset="0"/>
                  </a:rPr>
                  <a:t>x</a:t>
                </a:r>
                <a:endParaRPr kumimoji="1" lang="en-US" altLang="zh-CN" sz="2000" dirty="0">
                  <a:latin typeface="Times New Roman" pitchFamily="18" charset="0"/>
                </a:endParaRPr>
              </a:p>
            </p:txBody>
          </p:sp>
          <p:graphicFrame>
            <p:nvGraphicFramePr>
              <p:cNvPr id="4" name="对象 3">
                <a:extLst>
                  <a:ext uri="{FF2B5EF4-FFF2-40B4-BE49-F238E27FC236}">
                    <a16:creationId xmlns:a16="http://schemas.microsoft.com/office/drawing/2014/main" id="{AF1E1AB6-D1F7-4C99-8F78-9ED8E84B423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35324" y="5926138"/>
              <a:ext cx="2107668" cy="36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87" name="Equation" r:id="rId5" imgW="1346040" imgH="228600" progId="Equation.DSMT4">
                      <p:embed/>
                    </p:oleObj>
                  </mc:Choice>
                  <mc:Fallback>
                    <p:oleObj name="Equation" r:id="rId5" imgW="1346040" imgH="228600" progId="Equation.DSMT4">
                      <p:embed/>
                      <p:pic>
                        <p:nvPicPr>
                          <p:cNvPr id="4" name="对象 3">
                            <a:extLst>
                              <a:ext uri="{FF2B5EF4-FFF2-40B4-BE49-F238E27FC236}">
                                <a16:creationId xmlns:a16="http://schemas.microsoft.com/office/drawing/2014/main" id="{AF1E1AB6-D1F7-4C99-8F78-9ED8E84B423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035324" y="5926138"/>
                            <a:ext cx="2107668" cy="360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对象 33">
                <a:extLst>
                  <a:ext uri="{FF2B5EF4-FFF2-40B4-BE49-F238E27FC236}">
                    <a16:creationId xmlns:a16="http://schemas.microsoft.com/office/drawing/2014/main" id="{086680E1-8A2D-46D2-976C-72E6F3AC00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22625" y="4406900"/>
              <a:ext cx="900000" cy="36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88" name="Equation" r:id="rId7" imgW="634680" imgH="253800" progId="Equation.DSMT4">
                      <p:embed/>
                    </p:oleObj>
                  </mc:Choice>
                  <mc:Fallback>
                    <p:oleObj name="Equation" r:id="rId7" imgW="634680" imgH="253800" progId="Equation.DSMT4">
                      <p:embed/>
                      <p:pic>
                        <p:nvPicPr>
                          <p:cNvPr id="34" name="对象 33">
                            <a:extLst>
                              <a:ext uri="{FF2B5EF4-FFF2-40B4-BE49-F238E27FC236}">
                                <a16:creationId xmlns:a16="http://schemas.microsoft.com/office/drawing/2014/main" id="{086680E1-8A2D-46D2-976C-72E6F3AC00C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222625" y="4406900"/>
                            <a:ext cx="900000" cy="360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对象 34">
                <a:extLst>
                  <a:ext uri="{FF2B5EF4-FFF2-40B4-BE49-F238E27FC236}">
                    <a16:creationId xmlns:a16="http://schemas.microsoft.com/office/drawing/2014/main" id="{9C8DB439-EE8F-414D-A2F2-B8B44ECCD98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79667" y="4396671"/>
              <a:ext cx="1586022" cy="36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89" name="Equation" r:id="rId9" imgW="1117440" imgH="253800" progId="Equation.DSMT4">
                      <p:embed/>
                    </p:oleObj>
                  </mc:Choice>
                  <mc:Fallback>
                    <p:oleObj name="Equation" r:id="rId9" imgW="1117440" imgH="253800" progId="Equation.DSMT4">
                      <p:embed/>
                      <p:pic>
                        <p:nvPicPr>
                          <p:cNvPr id="35" name="对象 34">
                            <a:extLst>
                              <a:ext uri="{FF2B5EF4-FFF2-40B4-BE49-F238E27FC236}">
                                <a16:creationId xmlns:a16="http://schemas.microsoft.com/office/drawing/2014/main" id="{9C8DB439-EE8F-414D-A2F2-B8B44ECCD98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5379667" y="4396671"/>
                            <a:ext cx="1586022" cy="360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对象 35">
                <a:extLst>
                  <a:ext uri="{FF2B5EF4-FFF2-40B4-BE49-F238E27FC236}">
                    <a16:creationId xmlns:a16="http://schemas.microsoft.com/office/drawing/2014/main" id="{8DC57080-2257-4DB2-ADE6-B7203914416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73676" y="5926138"/>
              <a:ext cx="1758765" cy="36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90" name="Equation" r:id="rId11" imgW="1117440" imgH="228600" progId="Equation.DSMT4">
                      <p:embed/>
                    </p:oleObj>
                  </mc:Choice>
                  <mc:Fallback>
                    <p:oleObj name="Equation" r:id="rId11" imgW="1117440" imgH="228600" progId="Equation.DSMT4">
                      <p:embed/>
                      <p:pic>
                        <p:nvPicPr>
                          <p:cNvPr id="36" name="对象 35">
                            <a:extLst>
                              <a:ext uri="{FF2B5EF4-FFF2-40B4-BE49-F238E27FC236}">
                                <a16:creationId xmlns:a16="http://schemas.microsoft.com/office/drawing/2014/main" id="{8DC57080-2257-4DB2-ADE6-B7203914416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273676" y="5926138"/>
                            <a:ext cx="1758765" cy="360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对象 37">
                <a:extLst>
                  <a:ext uri="{FF2B5EF4-FFF2-40B4-BE49-F238E27FC236}">
                    <a16:creationId xmlns:a16="http://schemas.microsoft.com/office/drawing/2014/main" id="{ACE8CDB7-9AE7-409D-A597-DE58258607C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22818" y="5173996"/>
              <a:ext cx="919191" cy="32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91" name="Equation" r:id="rId13" imgW="647640" imgH="228600" progId="Equation.DSMT4">
                      <p:embed/>
                    </p:oleObj>
                  </mc:Choice>
                  <mc:Fallback>
                    <p:oleObj name="Equation" r:id="rId13" imgW="647640" imgH="228600" progId="Equation.DSMT4">
                      <p:embed/>
                      <p:pic>
                        <p:nvPicPr>
                          <p:cNvPr id="38" name="对象 37">
                            <a:extLst>
                              <a:ext uri="{FF2B5EF4-FFF2-40B4-BE49-F238E27FC236}">
                                <a16:creationId xmlns:a16="http://schemas.microsoft.com/office/drawing/2014/main" id="{ACE8CDB7-9AE7-409D-A597-DE58258607C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122818" y="5173996"/>
                            <a:ext cx="919191" cy="32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对象 38">
                <a:extLst>
                  <a:ext uri="{FF2B5EF4-FFF2-40B4-BE49-F238E27FC236}">
                    <a16:creationId xmlns:a16="http://schemas.microsoft.com/office/drawing/2014/main" id="{C2EF65AB-6984-4722-89D9-824AF90504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07035" y="5175223"/>
              <a:ext cx="828000" cy="32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92" name="Equation" r:id="rId15" imgW="583920" imgH="228600" progId="Equation.DSMT4">
                      <p:embed/>
                    </p:oleObj>
                  </mc:Choice>
                  <mc:Fallback>
                    <p:oleObj name="Equation" r:id="rId15" imgW="583920" imgH="228600" progId="Equation.DSMT4">
                      <p:embed/>
                      <p:pic>
                        <p:nvPicPr>
                          <p:cNvPr id="39" name="对象 38">
                            <a:extLst>
                              <a:ext uri="{FF2B5EF4-FFF2-40B4-BE49-F238E27FC236}">
                                <a16:creationId xmlns:a16="http://schemas.microsoft.com/office/drawing/2014/main" id="{C2EF65AB-6984-4722-89D9-824AF905046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407035" y="5175223"/>
                            <a:ext cx="828000" cy="32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" name="对象 39">
                <a:extLst>
                  <a:ext uri="{FF2B5EF4-FFF2-40B4-BE49-F238E27FC236}">
                    <a16:creationId xmlns:a16="http://schemas.microsoft.com/office/drawing/2014/main" id="{BFEC0AC6-A382-4EAA-B8F0-B690AA9D62C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77754" y="4414880"/>
              <a:ext cx="2088000" cy="36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93" name="Equation" r:id="rId17" imgW="1473120" imgH="253800" progId="Equation.DSMT4">
                      <p:embed/>
                    </p:oleObj>
                  </mc:Choice>
                  <mc:Fallback>
                    <p:oleObj name="Equation" r:id="rId17" imgW="1473120" imgH="253800" progId="Equation.DSMT4">
                      <p:embed/>
                      <p:pic>
                        <p:nvPicPr>
                          <p:cNvPr id="40" name="对象 39">
                            <a:extLst>
                              <a:ext uri="{FF2B5EF4-FFF2-40B4-BE49-F238E27FC236}">
                                <a16:creationId xmlns:a16="http://schemas.microsoft.com/office/drawing/2014/main" id="{BFEC0AC6-A382-4EAA-B8F0-B690AA9D62C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7677754" y="4414880"/>
                            <a:ext cx="2088000" cy="360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91F8E8B8-D487-4A08-9190-C5307B261309}"/>
                </a:ext>
              </a:extLst>
            </p:cNvPr>
            <p:cNvGrpSpPr/>
            <p:nvPr/>
          </p:nvGrpSpPr>
          <p:grpSpPr>
            <a:xfrm>
              <a:off x="1537889" y="2409047"/>
              <a:ext cx="9141347" cy="2025650"/>
              <a:chOff x="1983555" y="2465386"/>
              <a:chExt cx="9141347" cy="2025650"/>
            </a:xfrm>
          </p:grpSpPr>
          <p:grpSp>
            <p:nvGrpSpPr>
              <p:cNvPr id="6" name="Group 6"/>
              <p:cNvGrpSpPr>
                <a:grpSpLocks/>
              </p:cNvGrpSpPr>
              <p:nvPr/>
            </p:nvGrpSpPr>
            <p:grpSpPr bwMode="auto">
              <a:xfrm>
                <a:off x="1983555" y="2465386"/>
                <a:ext cx="8120062" cy="2025650"/>
                <a:chOff x="259" y="663"/>
                <a:chExt cx="5115" cy="1276"/>
              </a:xfrm>
            </p:grpSpPr>
            <p:grpSp>
              <p:nvGrpSpPr>
                <p:cNvPr id="7" name="Group 7"/>
                <p:cNvGrpSpPr>
                  <a:grpSpLocks/>
                </p:cNvGrpSpPr>
                <p:nvPr/>
              </p:nvGrpSpPr>
              <p:grpSpPr bwMode="auto">
                <a:xfrm>
                  <a:off x="259" y="663"/>
                  <a:ext cx="1359" cy="1265"/>
                  <a:chOff x="259" y="663"/>
                  <a:chExt cx="1359" cy="1265"/>
                </a:xfrm>
              </p:grpSpPr>
              <p:sp>
                <p:nvSpPr>
                  <p:cNvPr id="145416" name="Freeform 8"/>
                  <p:cNvSpPr>
                    <a:spLocks/>
                  </p:cNvSpPr>
                  <p:nvPr/>
                </p:nvSpPr>
                <p:spPr bwMode="auto">
                  <a:xfrm>
                    <a:off x="561" y="821"/>
                    <a:ext cx="1" cy="862"/>
                  </a:xfrm>
                  <a:custGeom>
                    <a:avLst/>
                    <a:gdLst/>
                    <a:ahLst/>
                    <a:cxnLst>
                      <a:cxn ang="0">
                        <a:pos x="0" y="127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1272">
                        <a:moveTo>
                          <a:pt x="0" y="1272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sq" cmpd="sng">
                    <a:solidFill>
                      <a:srgbClr val="000000"/>
                    </a:solidFill>
                    <a:round/>
                    <a:headEnd type="none" w="sm" len="sm"/>
                    <a:tailEnd type="stealth" w="med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" name="Group 9"/>
                  <p:cNvGrpSpPr>
                    <a:grpSpLocks/>
                  </p:cNvGrpSpPr>
                  <p:nvPr/>
                </p:nvGrpSpPr>
                <p:grpSpPr bwMode="auto">
                  <a:xfrm>
                    <a:off x="259" y="663"/>
                    <a:ext cx="1359" cy="1265"/>
                    <a:chOff x="1935" y="7875"/>
                    <a:chExt cx="2136" cy="1789"/>
                  </a:xfrm>
                </p:grpSpPr>
                <p:sp>
                  <p:nvSpPr>
                    <p:cNvPr id="145418" name="Text Box 1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50" y="7875"/>
                      <a:ext cx="712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 dirty="0"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145419" name="Text Box 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107" y="9196"/>
                      <a:ext cx="445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>
                        <a:latin typeface="Times New Roman" pitchFamily="18" charset="0"/>
                      </a:endParaRPr>
                    </a:p>
                  </p:txBody>
                </p:sp>
                <p:grpSp>
                  <p:nvGrpSpPr>
                    <p:cNvPr id="9" name="Group 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35" y="8498"/>
                      <a:ext cx="1825" cy="816"/>
                      <a:chOff x="1935" y="8498"/>
                      <a:chExt cx="1825" cy="816"/>
                    </a:xfrm>
                  </p:grpSpPr>
                  <p:sp>
                    <p:nvSpPr>
                      <p:cNvPr id="145421" name="Freeform 1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35" y="9312"/>
                        <a:ext cx="1825" cy="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1845" y="0"/>
                          </a:cxn>
                        </a:cxnLst>
                        <a:rect l="0" t="0" r="r" b="b"/>
                        <a:pathLst>
                          <a:path w="1845" h="1">
                            <a:moveTo>
                              <a:pt x="0" y="0"/>
                            </a:moveTo>
                            <a:lnTo>
                              <a:pt x="1845" y="0"/>
                            </a:lnTo>
                          </a:path>
                        </a:pathLst>
                      </a:custGeom>
                      <a:noFill/>
                      <a:ln w="12700" cap="sq" cmpd="sng">
                        <a:solidFill>
                          <a:srgbClr val="000000"/>
                        </a:solidFill>
                        <a:round/>
                        <a:headEnd type="none" w="sm" len="sm"/>
                        <a:tailEnd type="stealth" w="med" len="lg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45422" name="Rectangle 1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10" y="8498"/>
                        <a:ext cx="887" cy="81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45424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17" y="9196"/>
                      <a:ext cx="549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 dirty="0"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145425" name="Text Box 1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522" y="8968"/>
                      <a:ext cx="549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>
                        <a:latin typeface="Times New Roman" pitchFamily="18" charset="0"/>
                      </a:endParaRPr>
                    </a:p>
                  </p:txBody>
                </p:sp>
              </p:grpSp>
            </p:grpSp>
            <p:grpSp>
              <p:nvGrpSpPr>
                <p:cNvPr id="10" name="Group 18"/>
                <p:cNvGrpSpPr>
                  <a:grpSpLocks/>
                </p:cNvGrpSpPr>
                <p:nvPr/>
              </p:nvGrpSpPr>
              <p:grpSpPr bwMode="auto">
                <a:xfrm>
                  <a:off x="1701" y="815"/>
                  <a:ext cx="1163" cy="1124"/>
                  <a:chOff x="1701" y="815"/>
                  <a:chExt cx="1163" cy="1124"/>
                </a:xfrm>
              </p:grpSpPr>
              <p:sp>
                <p:nvSpPr>
                  <p:cNvPr id="145429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07" y="1608"/>
                    <a:ext cx="283" cy="3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>
                      <a:latin typeface="Times New Roman" pitchFamily="18" charset="0"/>
                    </a:endParaRPr>
                  </a:p>
                </p:txBody>
              </p:sp>
              <p:grpSp>
                <p:nvGrpSpPr>
                  <p:cNvPr id="11" name="Group 22"/>
                  <p:cNvGrpSpPr>
                    <a:grpSpLocks/>
                  </p:cNvGrpSpPr>
                  <p:nvPr/>
                </p:nvGrpSpPr>
                <p:grpSpPr bwMode="auto">
                  <a:xfrm>
                    <a:off x="1701" y="815"/>
                    <a:ext cx="566" cy="861"/>
                    <a:chOff x="4457" y="8079"/>
                    <a:chExt cx="890" cy="1218"/>
                  </a:xfrm>
                </p:grpSpPr>
                <p:sp>
                  <p:nvSpPr>
                    <p:cNvPr id="145431" name="Freeform 23"/>
                    <p:cNvSpPr>
                      <a:spLocks/>
                    </p:cNvSpPr>
                    <p:nvPr/>
                  </p:nvSpPr>
                  <p:spPr bwMode="auto">
                    <a:xfrm>
                      <a:off x="4457" y="8079"/>
                      <a:ext cx="1" cy="121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182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" h="1182">
                          <a:moveTo>
                            <a:pt x="0" y="1182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12700" cap="sq">
                      <a:solidFill>
                        <a:srgbClr val="000000"/>
                      </a:solidFill>
                      <a:round/>
                      <a:headEnd type="none" w="sm" len="sm"/>
                      <a:tailEnd type="stealth" w="med" len="lg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5432" name="Rectangle 24"/>
                    <p:cNvSpPr>
                      <a:spLocks noChangeArrowheads="1"/>
                    </p:cNvSpPr>
                    <p:nvPr/>
                  </p:nvSpPr>
                  <p:spPr bwMode="auto">
                    <a:xfrm flipH="1">
                      <a:off x="4460" y="8877"/>
                      <a:ext cx="887" cy="417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45433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41" y="1608"/>
                    <a:ext cx="349" cy="3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45434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15" y="1430"/>
                    <a:ext cx="349" cy="3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>
                      <a:latin typeface="Times New Roman" pitchFamily="18" charset="0"/>
                    </a:endParaRPr>
                  </a:p>
                </p:txBody>
              </p:sp>
            </p:grpSp>
            <p:grpSp>
              <p:nvGrpSpPr>
                <p:cNvPr id="12" name="Group 27"/>
                <p:cNvGrpSpPr>
                  <a:grpSpLocks/>
                </p:cNvGrpSpPr>
                <p:nvPr/>
              </p:nvGrpSpPr>
              <p:grpSpPr bwMode="auto">
                <a:xfrm>
                  <a:off x="2836" y="683"/>
                  <a:ext cx="1292" cy="1252"/>
                  <a:chOff x="2836" y="683"/>
                  <a:chExt cx="1292" cy="1252"/>
                </a:xfrm>
              </p:grpSpPr>
              <p:grpSp>
                <p:nvGrpSpPr>
                  <p:cNvPr id="13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2836" y="683"/>
                    <a:ext cx="1122" cy="1252"/>
                    <a:chOff x="5985" y="7903"/>
                    <a:chExt cx="1765" cy="1770"/>
                  </a:xfrm>
                </p:grpSpPr>
                <p:sp>
                  <p:nvSpPr>
                    <p:cNvPr id="145437" name="Text Box 2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038" y="7903"/>
                      <a:ext cx="712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145438" name="Text Box 3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023" y="8647"/>
                      <a:ext cx="534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145439" name="Text Box 3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985" y="9205"/>
                      <a:ext cx="534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>
                        <a:latin typeface="Times New Roman" pitchFamily="18" charset="0"/>
                      </a:endParaRPr>
                    </a:p>
                  </p:txBody>
                </p:sp>
                <p:grpSp>
                  <p:nvGrpSpPr>
                    <p:cNvPr id="14" name="Group 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090" y="8096"/>
                      <a:ext cx="1586" cy="1218"/>
                      <a:chOff x="6090" y="8096"/>
                      <a:chExt cx="1586" cy="1218"/>
                    </a:xfrm>
                  </p:grpSpPr>
                  <p:sp>
                    <p:nvSpPr>
                      <p:cNvPr id="145441" name="Freeform 3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6090" y="9309"/>
                        <a:ext cx="1586" cy="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6"/>
                          </a:cxn>
                          <a:cxn ang="0">
                            <a:pos x="1586" y="0"/>
                          </a:cxn>
                        </a:cxnLst>
                        <a:rect l="0" t="0" r="r" b="b"/>
                        <a:pathLst>
                          <a:path w="1586" h="6">
                            <a:moveTo>
                              <a:pt x="0" y="6"/>
                            </a:moveTo>
                            <a:lnTo>
                              <a:pt x="1586" y="0"/>
                            </a:lnTo>
                          </a:path>
                        </a:pathLst>
                      </a:custGeom>
                      <a:noFill/>
                      <a:ln w="12700" cap="sq">
                        <a:solidFill>
                          <a:srgbClr val="000000"/>
                        </a:solidFill>
                        <a:round/>
                        <a:headEnd type="none" w="sm" len="sm"/>
                        <a:tailEnd type="stealth" w="med" len="lg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45442" name="Freeform 3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142" y="8096"/>
                        <a:ext cx="1" cy="121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1152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1" h="1152">
                            <a:moveTo>
                              <a:pt x="0" y="1152"/>
                            </a:moveTo>
                            <a:lnTo>
                              <a:pt x="0" y="0"/>
                            </a:lnTo>
                          </a:path>
                        </a:pathLst>
                      </a:custGeom>
                      <a:noFill/>
                      <a:ln w="12700" cap="sq">
                        <a:solidFill>
                          <a:srgbClr val="000000"/>
                        </a:solidFill>
                        <a:round/>
                        <a:headEnd type="none" w="sm" len="sm"/>
                        <a:tailEnd type="stealth" w="med" len="lg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45443" name="Rectangle 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3" y="8892"/>
                        <a:ext cx="887" cy="41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45444" name="Text Box 3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934" y="9205"/>
                      <a:ext cx="549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>
                        <a:latin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145445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79" y="1462"/>
                    <a:ext cx="349" cy="3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742950" indent="-285750">
                      <a:buFontTx/>
                      <a:buChar char="–"/>
                    </a:pPr>
                    <a:endParaRPr kumimoji="1" lang="zh-CN" altLang="zh-CN" sz="2800" b="1">
                      <a:latin typeface="Times New Roman" pitchFamily="18" charset="0"/>
                    </a:endParaRPr>
                  </a:p>
                </p:txBody>
              </p:sp>
            </p:grpSp>
            <p:grpSp>
              <p:nvGrpSpPr>
                <p:cNvPr id="15" name="Group 38"/>
                <p:cNvGrpSpPr>
                  <a:grpSpLocks/>
                </p:cNvGrpSpPr>
                <p:nvPr/>
              </p:nvGrpSpPr>
              <p:grpSpPr bwMode="auto">
                <a:xfrm>
                  <a:off x="3968" y="815"/>
                  <a:ext cx="1406" cy="1116"/>
                  <a:chOff x="3968" y="815"/>
                  <a:chExt cx="1406" cy="1116"/>
                </a:xfrm>
              </p:grpSpPr>
              <p:grpSp>
                <p:nvGrpSpPr>
                  <p:cNvPr id="16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3968" y="815"/>
                    <a:ext cx="1406" cy="1116"/>
                    <a:chOff x="7765" y="8099"/>
                    <a:chExt cx="2210" cy="1580"/>
                  </a:xfrm>
                </p:grpSpPr>
                <p:grpSp>
                  <p:nvGrpSpPr>
                    <p:cNvPr id="17" name="Group 4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920" y="8099"/>
                      <a:ext cx="1729" cy="1219"/>
                      <a:chOff x="7920" y="8099"/>
                      <a:chExt cx="1729" cy="1219"/>
                    </a:xfrm>
                  </p:grpSpPr>
                  <p:grpSp>
                    <p:nvGrpSpPr>
                      <p:cNvPr id="18" name="Group 4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920" y="8892"/>
                        <a:ext cx="1729" cy="417"/>
                        <a:chOff x="7920" y="8892"/>
                        <a:chExt cx="1729" cy="417"/>
                      </a:xfrm>
                    </p:grpSpPr>
                    <p:sp>
                      <p:nvSpPr>
                        <p:cNvPr id="145450" name="Freeform 4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7920" y="9309"/>
                          <a:ext cx="1729" cy="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6"/>
                            </a:cxn>
                            <a:cxn ang="0">
                              <a:pos x="1729" y="0"/>
                            </a:cxn>
                          </a:cxnLst>
                          <a:rect l="0" t="0" r="r" b="b"/>
                          <a:pathLst>
                            <a:path w="1729" h="6">
                              <a:moveTo>
                                <a:pt x="0" y="6"/>
                              </a:moveTo>
                              <a:lnTo>
                                <a:pt x="1729" y="0"/>
                              </a:lnTo>
                            </a:path>
                          </a:pathLst>
                        </a:custGeom>
                        <a:noFill/>
                        <a:ln w="12700" cap="sq">
                          <a:solidFill>
                            <a:srgbClr val="000000"/>
                          </a:solidFill>
                          <a:round/>
                          <a:headEnd type="none" w="sm" len="sm"/>
                          <a:tailEnd type="stealth" w="med" len="lg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5451" name="Rectangle 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8316" y="8892"/>
                          <a:ext cx="888" cy="417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145452" name="Freeform 4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8863" y="8099"/>
                        <a:ext cx="1" cy="121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1176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1" h="1176">
                            <a:moveTo>
                              <a:pt x="0" y="1176"/>
                            </a:moveTo>
                            <a:lnTo>
                              <a:pt x="0" y="0"/>
                            </a:lnTo>
                          </a:path>
                        </a:pathLst>
                      </a:custGeom>
                      <a:noFill/>
                      <a:ln w="12700" cap="sq">
                        <a:solidFill>
                          <a:srgbClr val="000000"/>
                        </a:solidFill>
                        <a:round/>
                        <a:headEnd type="none" w="sm" len="sm"/>
                        <a:tailEnd type="stealth" w="med" len="lg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45455" name="Text Box 4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699" y="9211"/>
                      <a:ext cx="549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145456" name="Text Box 4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426" y="8983"/>
                      <a:ext cx="549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145457" name="Text Box 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011" y="9175"/>
                      <a:ext cx="534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145458" name="Text Box 5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765" y="9211"/>
                      <a:ext cx="534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pPr marL="742950" indent="-285750">
                        <a:buFontTx/>
                        <a:buChar char="–"/>
                      </a:pPr>
                      <a:endParaRPr kumimoji="1" lang="zh-CN" altLang="zh-CN" sz="2800" b="1">
                        <a:latin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145459" name="Line 5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28" y="1561"/>
                    <a:ext cx="0" cy="11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45519" name="Freeform 111"/>
              <p:cNvSpPr>
                <a:spLocks/>
              </p:cNvSpPr>
              <p:nvPr/>
            </p:nvSpPr>
            <p:spPr bwMode="auto">
              <a:xfrm>
                <a:off x="4283842" y="4070348"/>
                <a:ext cx="1603375" cy="0"/>
              </a:xfrm>
              <a:custGeom>
                <a:avLst/>
                <a:gdLst/>
                <a:ahLst/>
                <a:cxnLst>
                  <a:cxn ang="0">
                    <a:pos x="1733" y="6"/>
                  </a:cxn>
                  <a:cxn ang="0">
                    <a:pos x="0" y="0"/>
                  </a:cxn>
                </a:cxnLst>
                <a:rect l="0" t="0" r="r" b="b"/>
                <a:pathLst>
                  <a:path w="1733" h="6">
                    <a:moveTo>
                      <a:pt x="1733" y="6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sq">
                <a:solidFill>
                  <a:srgbClr val="000000"/>
                </a:solidFill>
                <a:round/>
                <a:headEnd type="stealth" w="med" len="lg"/>
                <a:tailEnd type="none" w="med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530" name="Rectangle 122"/>
              <p:cNvSpPr>
                <a:spLocks noChangeArrowheads="1"/>
              </p:cNvSpPr>
              <p:nvPr/>
            </p:nvSpPr>
            <p:spPr bwMode="auto">
              <a:xfrm>
                <a:off x="8733577" y="3978272"/>
                <a:ext cx="761427" cy="4007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marL="742950" indent="-285750"/>
                <a:r>
                  <a:rPr kumimoji="1" lang="en-US" altLang="zh-CN" sz="2000" i="1">
                    <a:latin typeface="Times New Roman" pitchFamily="18" charset="0"/>
                  </a:rPr>
                  <a:t>x</a:t>
                </a:r>
              </a:p>
            </p:txBody>
          </p:sp>
          <p:sp>
            <p:nvSpPr>
              <p:cNvPr id="145531" name="Rectangle 123"/>
              <p:cNvSpPr>
                <a:spLocks noChangeArrowheads="1"/>
              </p:cNvSpPr>
              <p:nvPr/>
            </p:nvSpPr>
            <p:spPr bwMode="auto">
              <a:xfrm>
                <a:off x="7874738" y="4029073"/>
                <a:ext cx="1212850" cy="3667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lvl="2">
                  <a:buClrTx/>
                  <a:buSzTx/>
                  <a:buFontTx/>
                  <a:buNone/>
                </a:pPr>
                <a:r>
                  <a:rPr kumimoji="1" lang="en-US" altLang="zh-CN" i="1" dirty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145533" name="Rectangle 125"/>
              <p:cNvSpPr>
                <a:spLocks noChangeArrowheads="1"/>
              </p:cNvSpPr>
              <p:nvPr/>
            </p:nvSpPr>
            <p:spPr bwMode="auto">
              <a:xfrm>
                <a:off x="3826849" y="3306695"/>
                <a:ext cx="476250" cy="3667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dirty="0">
                    <a:latin typeface="Times New Roman" pitchFamily="18" charset="0"/>
                  </a:rPr>
                  <a:t>1/2</a:t>
                </a:r>
              </a:p>
            </p:txBody>
          </p:sp>
          <p:sp>
            <p:nvSpPr>
              <p:cNvPr id="133" name="Rectangle 113"/>
              <p:cNvSpPr>
                <a:spLocks noChangeArrowheads="1"/>
              </p:cNvSpPr>
              <p:nvPr/>
            </p:nvSpPr>
            <p:spPr bwMode="auto">
              <a:xfrm>
                <a:off x="3755756" y="3833760"/>
                <a:ext cx="277320" cy="4007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i="1" dirty="0">
                    <a:latin typeface="Times New Roman" pitchFamily="18" charset="0"/>
                  </a:rPr>
                  <a:t>τ</a:t>
                </a:r>
                <a:endParaRPr kumimoji="1" lang="en-US" altLang="zh-CN" sz="2000" dirty="0">
                  <a:latin typeface="Times New Roman" pitchFamily="18" charset="0"/>
                </a:endParaRPr>
              </a:p>
            </p:txBody>
          </p:sp>
          <p:sp>
            <p:nvSpPr>
              <p:cNvPr id="134" name="Rectangle 113"/>
              <p:cNvSpPr>
                <a:spLocks noChangeArrowheads="1"/>
              </p:cNvSpPr>
              <p:nvPr/>
            </p:nvSpPr>
            <p:spPr bwMode="auto">
              <a:xfrm>
                <a:off x="5803647" y="3833760"/>
                <a:ext cx="277320" cy="4007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i="1" dirty="0">
                    <a:latin typeface="Times New Roman" pitchFamily="18" charset="0"/>
                  </a:rPr>
                  <a:t>τ</a:t>
                </a:r>
                <a:endParaRPr kumimoji="1" lang="en-US" altLang="zh-CN" sz="2000" dirty="0">
                  <a:latin typeface="Times New Roman" pitchFamily="18" charset="0"/>
                </a:endParaRPr>
              </a:p>
            </p:txBody>
          </p:sp>
          <p:sp>
            <p:nvSpPr>
              <p:cNvPr id="135" name="Rectangle 113"/>
              <p:cNvSpPr>
                <a:spLocks noChangeArrowheads="1"/>
              </p:cNvSpPr>
              <p:nvPr/>
            </p:nvSpPr>
            <p:spPr bwMode="auto">
              <a:xfrm>
                <a:off x="7697976" y="3833760"/>
                <a:ext cx="277320" cy="4007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i="1" dirty="0">
                    <a:latin typeface="Times New Roman" pitchFamily="18" charset="0"/>
                  </a:rPr>
                  <a:t>τ</a:t>
                </a:r>
                <a:endParaRPr kumimoji="1" lang="en-US" altLang="zh-CN" sz="2000" dirty="0">
                  <a:latin typeface="Times New Roman" pitchFamily="18" charset="0"/>
                </a:endParaRPr>
              </a:p>
            </p:txBody>
          </p:sp>
          <p:sp>
            <p:nvSpPr>
              <p:cNvPr id="136" name="Rectangle 113"/>
              <p:cNvSpPr>
                <a:spLocks noChangeArrowheads="1"/>
              </p:cNvSpPr>
              <p:nvPr/>
            </p:nvSpPr>
            <p:spPr bwMode="auto">
              <a:xfrm>
                <a:off x="9687306" y="3833760"/>
                <a:ext cx="277320" cy="4007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i="1" dirty="0">
                    <a:latin typeface="Times New Roman" pitchFamily="18" charset="0"/>
                  </a:rPr>
                  <a:t>τ</a:t>
                </a:r>
                <a:endParaRPr kumimoji="1" lang="en-US" altLang="zh-CN" sz="2000" dirty="0">
                  <a:latin typeface="Times New Roman" pitchFamily="18" charset="0"/>
                </a:endParaRPr>
              </a:p>
            </p:txBody>
          </p:sp>
          <p:graphicFrame>
            <p:nvGraphicFramePr>
              <p:cNvPr id="63" name="对象 62">
                <a:extLst>
                  <a:ext uri="{FF2B5EF4-FFF2-40B4-BE49-F238E27FC236}">
                    <a16:creationId xmlns:a16="http://schemas.microsoft.com/office/drawing/2014/main" id="{77013BB9-B2A9-4348-BD5D-E8EFAC6CC63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072902" y="2499318"/>
              <a:ext cx="2052000" cy="36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94" name="Equation" r:id="rId19" imgW="1447560" imgH="253800" progId="Equation.DSMT4">
                      <p:embed/>
                    </p:oleObj>
                  </mc:Choice>
                  <mc:Fallback>
                    <p:oleObj name="Equation" r:id="rId19" imgW="1447560" imgH="253800" progId="Equation.DSMT4">
                      <p:embed/>
                      <p:pic>
                        <p:nvPicPr>
                          <p:cNvPr id="63" name="对象 62">
                            <a:extLst>
                              <a:ext uri="{FF2B5EF4-FFF2-40B4-BE49-F238E27FC236}">
                                <a16:creationId xmlns:a16="http://schemas.microsoft.com/office/drawing/2014/main" id="{77013BB9-B2A9-4348-BD5D-E8EFAC6CC63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9072902" y="2499318"/>
                            <a:ext cx="2052000" cy="360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8" name="对象 127">
                <a:extLst>
                  <a:ext uri="{FF2B5EF4-FFF2-40B4-BE49-F238E27FC236}">
                    <a16:creationId xmlns:a16="http://schemas.microsoft.com/office/drawing/2014/main" id="{3F597212-19DE-402E-9B38-7945FBA9ED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316797" y="2499318"/>
              <a:ext cx="630000" cy="36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95" name="Equation" r:id="rId21" imgW="444240" imgH="253800" progId="Equation.DSMT4">
                      <p:embed/>
                    </p:oleObj>
                  </mc:Choice>
                  <mc:Fallback>
                    <p:oleObj name="Equation" r:id="rId21" imgW="444240" imgH="253800" progId="Equation.DSMT4">
                      <p:embed/>
                      <p:pic>
                        <p:nvPicPr>
                          <p:cNvPr id="128" name="对象 127">
                            <a:extLst>
                              <a:ext uri="{FF2B5EF4-FFF2-40B4-BE49-F238E27FC236}">
                                <a16:creationId xmlns:a16="http://schemas.microsoft.com/office/drawing/2014/main" id="{3F597212-19DE-402E-9B38-7945FBA9ED1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7316797" y="2499318"/>
                            <a:ext cx="630000" cy="360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0" name="Rectangle 125">
                <a:extLst>
                  <a:ext uri="{FF2B5EF4-FFF2-40B4-BE49-F238E27FC236}">
                    <a16:creationId xmlns:a16="http://schemas.microsoft.com/office/drawing/2014/main" id="{D18BB09A-1CA0-4008-B594-5C25F399F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99426" y="3306695"/>
                <a:ext cx="476250" cy="3667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dirty="0">
                    <a:latin typeface="Times New Roman" pitchFamily="18" charset="0"/>
                  </a:rPr>
                  <a:t>1/2</a:t>
                </a:r>
              </a:p>
            </p:txBody>
          </p:sp>
          <p:sp>
            <p:nvSpPr>
              <p:cNvPr id="181" name="Rectangle 125">
                <a:extLst>
                  <a:ext uri="{FF2B5EF4-FFF2-40B4-BE49-F238E27FC236}">
                    <a16:creationId xmlns:a16="http://schemas.microsoft.com/office/drawing/2014/main" id="{1A53FB68-92AC-4C2D-BE51-507D36415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76393" y="3306695"/>
                <a:ext cx="476250" cy="3667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dirty="0">
                    <a:latin typeface="Times New Roman" pitchFamily="18" charset="0"/>
                  </a:rPr>
                  <a:t>1/2</a:t>
                </a:r>
              </a:p>
            </p:txBody>
          </p:sp>
          <p:sp>
            <p:nvSpPr>
              <p:cNvPr id="182" name="Rectangle 125">
                <a:extLst>
                  <a:ext uri="{FF2B5EF4-FFF2-40B4-BE49-F238E27FC236}">
                    <a16:creationId xmlns:a16="http://schemas.microsoft.com/office/drawing/2014/main" id="{2E9A109D-5C7C-4BDD-BA73-6FFF078E8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2097" y="2866055"/>
                <a:ext cx="301365" cy="3699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dirty="0">
                    <a:latin typeface="Times New Roman" pitchFamily="18" charset="0"/>
                  </a:rPr>
                  <a:t>1</a:t>
                </a:r>
              </a:p>
            </p:txBody>
          </p:sp>
          <p:graphicFrame>
            <p:nvGraphicFramePr>
              <p:cNvPr id="130" name="对象 129">
                <a:extLst>
                  <a:ext uri="{FF2B5EF4-FFF2-40B4-BE49-F238E27FC236}">
                    <a16:creationId xmlns:a16="http://schemas.microsoft.com/office/drawing/2014/main" id="{805BF4B6-9BDF-4CCA-A691-099BAA7D566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46268" y="2499318"/>
              <a:ext cx="504000" cy="36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96" name="Equation" r:id="rId23" imgW="355320" imgH="253800" progId="Equation.DSMT4">
                      <p:embed/>
                    </p:oleObj>
                  </mc:Choice>
                  <mc:Fallback>
                    <p:oleObj name="Equation" r:id="rId23" imgW="355320" imgH="253800" progId="Equation.DSMT4">
                      <p:embed/>
                      <p:pic>
                        <p:nvPicPr>
                          <p:cNvPr id="130" name="对象 129">
                            <a:extLst>
                              <a:ext uri="{FF2B5EF4-FFF2-40B4-BE49-F238E27FC236}">
                                <a16:creationId xmlns:a16="http://schemas.microsoft.com/office/drawing/2014/main" id="{805BF4B6-9BDF-4CCA-A691-099BAA7D566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346268" y="2499318"/>
                            <a:ext cx="504000" cy="360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1" name="对象 130">
                <a:extLst>
                  <a:ext uri="{FF2B5EF4-FFF2-40B4-BE49-F238E27FC236}">
                    <a16:creationId xmlns:a16="http://schemas.microsoft.com/office/drawing/2014/main" id="{7FF6BC98-40DC-42E5-B284-5330292039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04976" y="2499318"/>
              <a:ext cx="522000" cy="36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97" name="Equation" r:id="rId25" imgW="368280" imgH="253800" progId="Equation.DSMT4">
                      <p:embed/>
                    </p:oleObj>
                  </mc:Choice>
                  <mc:Fallback>
                    <p:oleObj name="Equation" r:id="rId25" imgW="368280" imgH="253800" progId="Equation.DSMT4">
                      <p:embed/>
                      <p:pic>
                        <p:nvPicPr>
                          <p:cNvPr id="131" name="对象 130">
                            <a:extLst>
                              <a:ext uri="{FF2B5EF4-FFF2-40B4-BE49-F238E27FC236}">
                                <a16:creationId xmlns:a16="http://schemas.microsoft.com/office/drawing/2014/main" id="{7FF6BC98-40DC-42E5-B284-5330292039F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2504976" y="2499318"/>
                            <a:ext cx="522000" cy="360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38CB119-B2C1-4207-85CC-4C5338057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228" y="1550584"/>
            <a:ext cx="5616000" cy="162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0E7B865-E8C5-4AC4-B1E6-6FB166AC5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75" y="1550584"/>
            <a:ext cx="5157550" cy="1620000"/>
          </a:xfrm>
          <a:prstGeom prst="rect">
            <a:avLst/>
          </a:prstGeom>
        </p:spPr>
      </p:pic>
      <p:sp>
        <p:nvSpPr>
          <p:cNvPr id="14" name="标题 1">
            <a:extLst>
              <a:ext uri="{FF2B5EF4-FFF2-40B4-BE49-F238E27FC236}">
                <a16:creationId xmlns:a16="http://schemas.microsoft.com/office/drawing/2014/main" id="{E409CBEA-59E7-4014-B78E-B15B4BF3618B}"/>
              </a:ext>
            </a:extLst>
          </p:cNvPr>
          <p:cNvSpPr txBox="1">
            <a:spLocks/>
          </p:cNvSpPr>
          <p:nvPr/>
        </p:nvSpPr>
        <p:spPr>
          <a:xfrm>
            <a:off x="292608" y="156095"/>
            <a:ext cx="6696358" cy="588259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一维连续函数卷积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94A72BD-995C-4EC2-A691-439450E3E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361279"/>
              </p:ext>
            </p:extLst>
          </p:nvPr>
        </p:nvGraphicFramePr>
        <p:xfrm>
          <a:off x="292608" y="772819"/>
          <a:ext cx="65468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3" name="Equation" r:id="rId5" imgW="2882880" imgH="330120" progId="Equation.DSMT4">
                  <p:embed/>
                </p:oleObj>
              </mc:Choice>
              <mc:Fallback>
                <p:oleObj name="Equation" r:id="rId5" imgW="288288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01B66EA-1E61-4B1C-B133-CBBBF35F3B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608" y="772819"/>
                        <a:ext cx="6546850" cy="749300"/>
                      </a:xfrm>
                      <a:prstGeom prst="rect">
                        <a:avLst/>
                      </a:prstGeom>
                      <a:ln w="190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1EFBE60E-47C0-4D9B-B668-82713FAA1A2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273" y="3491753"/>
            <a:ext cx="3981686" cy="288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99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966F958-D3A0-4D45-A3B3-929C1BB5F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642272"/>
              </p:ext>
            </p:extLst>
          </p:nvPr>
        </p:nvGraphicFramePr>
        <p:xfrm>
          <a:off x="2860012" y="792397"/>
          <a:ext cx="6264000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Equation" r:id="rId3" imgW="2577960" imgH="444240" progId="Equation.DSMT4">
                  <p:embed/>
                </p:oleObj>
              </mc:Choice>
              <mc:Fallback>
                <p:oleObj name="Equation" r:id="rId3" imgW="2577960" imgH="4442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966F958-D3A0-4D45-A3B3-929C1BB5F5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60012" y="792397"/>
                        <a:ext cx="6264000" cy="10800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1">
            <a:extLst>
              <a:ext uri="{FF2B5EF4-FFF2-40B4-BE49-F238E27FC236}">
                <a16:creationId xmlns:a16="http://schemas.microsoft.com/office/drawing/2014/main" id="{C229845F-CD66-4388-965B-960E057AA985}"/>
              </a:ext>
            </a:extLst>
          </p:cNvPr>
          <p:cNvSpPr txBox="1">
            <a:spLocks/>
          </p:cNvSpPr>
          <p:nvPr/>
        </p:nvSpPr>
        <p:spPr>
          <a:xfrm>
            <a:off x="292608" y="156095"/>
            <a:ext cx="6696358" cy="588259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一维离散卷积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13"/>
          <a:stretch/>
        </p:blipFill>
        <p:spPr>
          <a:xfrm>
            <a:off x="1335741" y="1920440"/>
            <a:ext cx="9448800" cy="4463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0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1315" name="Object 1027"/>
              <p:cNvSpPr txBox="1"/>
              <p:nvPr/>
            </p:nvSpPr>
            <p:spPr bwMode="auto">
              <a:xfrm>
                <a:off x="3522666" y="-58938"/>
                <a:ext cx="4478335" cy="7581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>
                <a:normAutofit fontScale="55000" lnSpcReduction="20000"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nary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𝑑𝑢𝑑𝑣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1315" name="Object 10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2666" y="-58938"/>
                <a:ext cx="4478335" cy="7581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2844C3F6-1CA9-496F-A690-2B3E7E55AA59}"/>
              </a:ext>
            </a:extLst>
          </p:cNvPr>
          <p:cNvSpPr txBox="1">
            <a:spLocks/>
          </p:cNvSpPr>
          <p:nvPr/>
        </p:nvSpPr>
        <p:spPr>
          <a:xfrm>
            <a:off x="292608" y="156095"/>
            <a:ext cx="6696358" cy="588259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</a:t>
            </a:r>
            <a:r>
              <a:rPr lang="zh-CN" altLang="en-US" sz="3200" b="1" dirty="0" smtClean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连续卷积</a:t>
            </a:r>
            <a:endParaRPr lang="zh-CN" altLang="en-US" sz="32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41" y="860331"/>
            <a:ext cx="10367682" cy="58318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1317" name="Object 1029"/>
              <p:cNvSpPr txBox="1"/>
              <p:nvPr/>
            </p:nvSpPr>
            <p:spPr bwMode="auto">
              <a:xfrm>
                <a:off x="3433481" y="31377"/>
                <a:ext cx="5419165" cy="6633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1317" name="Object 10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3481" y="31377"/>
                <a:ext cx="5419165" cy="663388"/>
              </a:xfrm>
              <a:prstGeom prst="rect">
                <a:avLst/>
              </a:prstGeom>
              <a:blipFill>
                <a:blip r:embed="rId2"/>
                <a:stretch>
                  <a:fillRect b="-5505"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2844C3F6-1CA9-496F-A690-2B3E7E55AA59}"/>
              </a:ext>
            </a:extLst>
          </p:cNvPr>
          <p:cNvSpPr txBox="1">
            <a:spLocks/>
          </p:cNvSpPr>
          <p:nvPr/>
        </p:nvSpPr>
        <p:spPr>
          <a:xfrm>
            <a:off x="292608" y="156095"/>
            <a:ext cx="6696358" cy="588259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3200" b="1" dirty="0" smtClean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维离散</a:t>
            </a:r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5"/>
          <a:stretch/>
        </p:blipFill>
        <p:spPr>
          <a:xfrm>
            <a:off x="519952" y="1257420"/>
            <a:ext cx="10349753" cy="492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87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46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6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648969" y="1454031"/>
            <a:ext cx="8458200" cy="4003675"/>
          </a:xfrm>
          <a:noFill/>
          <a:ln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50000"/>
              </a:lnSpc>
              <a:spcBef>
                <a:spcPts val="1300"/>
              </a:spcBef>
              <a:buClr>
                <a:srgbClr val="009999"/>
              </a:buClr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）交换率</a:t>
            </a:r>
          </a:p>
          <a:p>
            <a:pPr>
              <a:lnSpc>
                <a:spcPct val="150000"/>
              </a:lnSpc>
              <a:spcBef>
                <a:spcPts val="1300"/>
              </a:spcBef>
              <a:buClr>
                <a:srgbClr val="009999"/>
              </a:buClr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）分配率</a:t>
            </a:r>
          </a:p>
          <a:p>
            <a:pPr>
              <a:lnSpc>
                <a:spcPct val="150000"/>
              </a:lnSpc>
              <a:spcBef>
                <a:spcPts val="1300"/>
              </a:spcBef>
              <a:buClr>
                <a:srgbClr val="009999"/>
              </a:buClr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）结合率</a:t>
            </a:r>
          </a:p>
          <a:p>
            <a:pPr>
              <a:lnSpc>
                <a:spcPct val="150000"/>
              </a:lnSpc>
              <a:spcBef>
                <a:spcPts val="1300"/>
              </a:spcBef>
              <a:buClr>
                <a:srgbClr val="009999"/>
              </a:buClr>
              <a:buNone/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）求导性</a:t>
            </a:r>
          </a:p>
          <a:p>
            <a:pPr>
              <a:lnSpc>
                <a:spcPct val="150000"/>
              </a:lnSpc>
              <a:spcBef>
                <a:spcPts val="1300"/>
              </a:spcBef>
              <a:buClr>
                <a:srgbClr val="009999"/>
              </a:buClr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）平移不变性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243" name="Object 3"/>
              <p:cNvSpPr txBox="1"/>
              <p:nvPr/>
            </p:nvSpPr>
            <p:spPr bwMode="auto">
              <a:xfrm>
                <a:off x="4545075" y="1532353"/>
                <a:ext cx="2760662" cy="534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824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5075" y="1532353"/>
                <a:ext cx="2760662" cy="534987"/>
              </a:xfrm>
              <a:prstGeom prst="rect">
                <a:avLst/>
              </a:prstGeom>
              <a:blipFill>
                <a:blip r:embed="rId3"/>
                <a:stretch>
                  <a:fillRect l="-664"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244" name="Object 4"/>
              <p:cNvSpPr txBox="1"/>
              <p:nvPr/>
            </p:nvSpPr>
            <p:spPr bwMode="auto">
              <a:xfrm>
                <a:off x="4545075" y="2351596"/>
                <a:ext cx="4992687" cy="5048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824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5075" y="2351596"/>
                <a:ext cx="4992687" cy="504825"/>
              </a:xfrm>
              <a:prstGeom prst="rect">
                <a:avLst/>
              </a:prstGeom>
              <a:blipFill>
                <a:blip r:embed="rId4"/>
                <a:stretch>
                  <a:fillRect l="-366"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245" name="Object 5"/>
              <p:cNvSpPr txBox="1"/>
              <p:nvPr/>
            </p:nvSpPr>
            <p:spPr bwMode="auto">
              <a:xfrm>
                <a:off x="4545075" y="3196313"/>
                <a:ext cx="4581525" cy="5191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824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5075" y="3196313"/>
                <a:ext cx="4581525" cy="519113"/>
              </a:xfrm>
              <a:prstGeom prst="rect">
                <a:avLst/>
              </a:prstGeom>
              <a:blipFill>
                <a:blip r:embed="rId5"/>
                <a:stretch>
                  <a:fillRect l="-399"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246" name="Object 6"/>
              <p:cNvSpPr txBox="1"/>
              <p:nvPr/>
            </p:nvSpPr>
            <p:spPr bwMode="auto">
              <a:xfrm>
                <a:off x="4570475" y="3740126"/>
                <a:ext cx="4608512" cy="9239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824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0475" y="3740126"/>
                <a:ext cx="4608512" cy="9239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469B92B-2676-42E1-940A-1315B339F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623456"/>
              </p:ext>
            </p:extLst>
          </p:nvPr>
        </p:nvGraphicFramePr>
        <p:xfrm>
          <a:off x="4545075" y="4846645"/>
          <a:ext cx="3814583" cy="1378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Equation" r:id="rId7" imgW="2108160" imgH="761760" progId="Equation.DSMT4">
                  <p:embed/>
                </p:oleObj>
              </mc:Choice>
              <mc:Fallback>
                <p:oleObj name="Equation" r:id="rId7" imgW="2108160" imgH="7617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469B92B-2676-42E1-940A-1315B339F1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45075" y="4846645"/>
                        <a:ext cx="3814583" cy="1378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标题 1">
            <a:extLst>
              <a:ext uri="{FF2B5EF4-FFF2-40B4-BE49-F238E27FC236}">
                <a16:creationId xmlns:a16="http://schemas.microsoft.com/office/drawing/2014/main" id="{3EBB5F4D-A660-47A4-9F03-3EE73B91A9BB}"/>
              </a:ext>
            </a:extLst>
          </p:cNvPr>
          <p:cNvSpPr txBox="1">
            <a:spLocks/>
          </p:cNvSpPr>
          <p:nvPr/>
        </p:nvSpPr>
        <p:spPr>
          <a:xfrm>
            <a:off x="292608" y="156095"/>
            <a:ext cx="6696358" cy="588259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卷积的性质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82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37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39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23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78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52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74154" y="965557"/>
            <a:ext cx="4878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空间域滤波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来实现图像增强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9557" y="1624872"/>
            <a:ext cx="10252250" cy="1461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lnSpc>
                <a:spcPct val="150000"/>
              </a:lnSpc>
              <a:spcAft>
                <a:spcPts val="333"/>
              </a:spcAft>
              <a:buFont typeface="Arial" panose="020B0604020202020204" pitchFamily="34" charset="0"/>
              <a:buChar char="•"/>
            </a:pP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空间域</a:t>
            </a:r>
            <a:r>
              <a:rPr lang="en-US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在空间域（像素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，输入为当前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像素及邻居像素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0990" indent="-380990">
              <a:lnSpc>
                <a:spcPct val="150000"/>
              </a:lnSpc>
              <a:spcAft>
                <a:spcPts val="333"/>
              </a:spcAft>
              <a:buFont typeface="Arial" panose="020B0604020202020204" pitchFamily="34" charset="0"/>
              <a:buChar char="•"/>
            </a:pP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频率域</a:t>
            </a:r>
            <a:r>
              <a:rPr lang="en-US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频率域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（先对图像作傅里叶变换，获得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傅里叶系数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进行，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输入为全部频率成分，滤波后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逆变换到空间域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82766" y="3945640"/>
            <a:ext cx="10302695" cy="151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滤波器：</a:t>
            </a:r>
            <a:r>
              <a:rPr lang="zh-CN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作用于图像，并以某种特定方式改变像素的值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</a:t>
            </a:r>
            <a:endParaRPr lang="zh-CN" altLang="en-US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798260-4C76-4F49-B043-851FB16F9543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2221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019" y="3541024"/>
            <a:ext cx="3608584" cy="32265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815122" y="933387"/>
                <a:ext cx="10251731" cy="2430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给定一幅输入图像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zh-CN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，对目标像素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，建立邻域像素集合</a:t>
                </a:r>
                <a:endParaRPr lang="zh-CN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333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zh-CN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zh-CN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d>
                          <m:d>
                            <m:dPr>
                              <m:begChr m:val="|"/>
                              <m:endChr m:val=""/>
                              <m:ctrlPr>
                                <a:rPr lang="zh-CN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)∈</m:t>
                              </m:r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zh-CN" altLang="zh-CN" sz="200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记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fName>
                      <m:e>
                        <m:d>
                          <m:d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为图像的一个空间邻域运算，作用于输入图像后得到的图像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</m:bar>
                            <m:d>
                              <m:dPr>
                                <m:ctrlPr>
                                  <a:rPr lang="zh-CN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为</a:t>
                </a:r>
                <a:endParaRPr lang="zh-CN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333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bar>
                      <m:d>
                        <m:dPr>
                          <m:ctrlPr>
                            <a:rPr lang="zh-CN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sz="20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zh-CN" altLang="zh-CN" sz="200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zh-CN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zh-CN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)∈</m:t>
                                      </m:r>
                                      <m:r>
                                        <a:rPr lang="en-US" altLang="zh-CN" sz="2000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000" i="1" kern="1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i="1" kern="1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sz="2000" i="1" kern="1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2000" i="1" kern="1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sz="2000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22" y="933387"/>
                <a:ext cx="10251731" cy="2430409"/>
              </a:xfrm>
              <a:prstGeom prst="rect">
                <a:avLst/>
              </a:prstGeom>
              <a:blipFill>
                <a:blip r:embed="rId4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E6530010-A76E-4E1C-A876-39CADC8EEBFF}"/>
              </a:ext>
            </a:extLst>
          </p:cNvPr>
          <p:cNvSpPr txBox="1"/>
          <p:nvPr/>
        </p:nvSpPr>
        <p:spPr>
          <a:xfrm>
            <a:off x="168593" y="49668"/>
            <a:ext cx="3677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1003" y="848071"/>
            <a:ext cx="3392275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图像平滑的非线性滤波</a:t>
            </a:r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33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0637" y="1441771"/>
            <a:ext cx="4573992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最大值与最小值滤波</a:t>
            </a:r>
            <a:endParaRPr lang="zh-CN" altLang="en-US" sz="2133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064646" y="2175132"/>
                <a:ext cx="8279404" cy="149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最大值滤波器（</a:t>
                </a:r>
                <a:r>
                  <a:rPr lang="en-US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MAX</a:t>
                </a:r>
                <a:r>
                  <a:rPr lang="zh-CN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）和最小值滤波器（</a:t>
                </a:r>
                <a:r>
                  <a:rPr lang="en-US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MIN</a:t>
                </a:r>
                <a:r>
                  <a:rPr lang="zh-CN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）分别表示为</a:t>
                </a:r>
              </a:p>
              <a:p>
                <a:pPr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en-US" altLang="zh-CN" sz="20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	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acc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𝑀𝑎𝑥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)|(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)∈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endParaRPr lang="en-US" altLang="zh-CN" sz="20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en-US" altLang="zh-CN" sz="20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	</a:t>
                </a:r>
                <a:r>
                  <a:rPr lang="zh-CN" altLang="zh-CN" sz="2000" dirty="0">
                    <a:solidFill>
                      <a:srgbClr val="00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acc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𝑀𝑖𝑛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)|(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)∈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endParaRPr lang="en-US" altLang="zh-CN" sz="20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646" y="2175132"/>
                <a:ext cx="8279404" cy="1499321"/>
              </a:xfrm>
              <a:prstGeom prst="rect">
                <a:avLst/>
              </a:prstGeom>
              <a:blipFill>
                <a:blip r:embed="rId3"/>
                <a:stretch>
                  <a:fillRect l="-810" b="-3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2064646" y="3942897"/>
            <a:ext cx="7905955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最大值滤波器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目标像素值将替换为其邻域内像素的最大值</a:t>
            </a:r>
            <a:endParaRPr lang="en-US" altLang="zh-CN" sz="20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最小值滤波器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目标像素替换为邻域内像素的最小值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2B6112-87B9-4C79-B8CA-2B298C5205DA}"/>
              </a:ext>
            </a:extLst>
          </p:cNvPr>
          <p:cNvSpPr txBox="1"/>
          <p:nvPr/>
        </p:nvSpPr>
        <p:spPr>
          <a:xfrm>
            <a:off x="216194" y="92059"/>
            <a:ext cx="42983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33077" y="863679"/>
            <a:ext cx="3392275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图像平滑的非线性滤波</a:t>
            </a:r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33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564" y="1757009"/>
            <a:ext cx="7541513" cy="30453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040996" y="4716723"/>
                <a:ext cx="10344589" cy="18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333"/>
                  </a:spcAft>
                  <a:buFont typeface="Wingdings" panose="05000000000000000000" pitchFamily="2" charset="2"/>
                  <a:buChar char="ü"/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3×3</m:t>
                    </m:r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的窗口滑动滤波器，按照逐行扫描的方式对图像进行滤波，</a:t>
                </a:r>
                <a:endParaRPr lang="en-US" altLang="zh-CN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spcAft>
                    <a:spcPts val="333"/>
                  </a:spcAft>
                  <a:buFont typeface="Wingdings" panose="05000000000000000000" pitchFamily="2" charset="2"/>
                  <a:buChar char="ü"/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当到如图中框内的目标像素（即邻域中心像素）时，对邻域内像素进行从小到大排序，目标像素替换为最大或最小值。</a:t>
                </a:r>
                <a:endParaRPr lang="en-US" altLang="zh-CN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spcAft>
                    <a:spcPts val="333"/>
                  </a:spcAft>
                  <a:buFont typeface="Wingdings" panose="05000000000000000000" pitchFamily="2" charset="2"/>
                  <a:buChar char="ü"/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示例中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𝑀𝑎𝑥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=250,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𝑀𝑖𝑛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</m:t>
                    </m:r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996" y="4716723"/>
                <a:ext cx="10344589" cy="1844159"/>
              </a:xfrm>
              <a:prstGeom prst="rect">
                <a:avLst/>
              </a:prstGeom>
              <a:blipFill>
                <a:blip r:embed="rId4"/>
                <a:stretch>
                  <a:fillRect l="-412" r="-471" b="-13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1040996" y="1379081"/>
            <a:ext cx="4573992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最大值与最小值滤波</a:t>
            </a:r>
            <a:endParaRPr lang="zh-CN" altLang="en-US" sz="2133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A17584-36C2-470E-BF63-6301BFB84AB8}"/>
              </a:ext>
            </a:extLst>
          </p:cNvPr>
          <p:cNvSpPr txBox="1"/>
          <p:nvPr/>
        </p:nvSpPr>
        <p:spPr>
          <a:xfrm>
            <a:off x="216194" y="92059"/>
            <a:ext cx="4768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76322" y="863951"/>
            <a:ext cx="3392275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图像平滑的非线性滤波</a:t>
            </a:r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33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25" y="3379233"/>
            <a:ext cx="5452023" cy="288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611" y="3320525"/>
            <a:ext cx="5400001" cy="2916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05066" y="1948262"/>
            <a:ext cx="771160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滤波器表现为</a:t>
            </a: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膨胀（</a:t>
            </a:r>
            <a:r>
              <a:rPr lang="en-US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Dilation</a:t>
            </a: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滤波器表现为</a:t>
            </a: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腐蚀（</a:t>
            </a:r>
            <a:r>
              <a:rPr lang="en-US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Erosion</a:t>
            </a: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endParaRPr lang="zh-CN" altLang="en-US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08733" y="1391267"/>
            <a:ext cx="4573992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最大值与最小值滤波</a:t>
            </a:r>
            <a:endParaRPr lang="zh-CN" altLang="en-US" sz="2133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8B651-6E71-4DA5-AC01-E0C2E213F185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0EF762-F682-4527-A5D3-E0CFDFE94F71}"/>
              </a:ext>
            </a:extLst>
          </p:cNvPr>
          <p:cNvSpPr/>
          <p:nvPr/>
        </p:nvSpPr>
        <p:spPr>
          <a:xfrm>
            <a:off x="611342" y="5873061"/>
            <a:ext cx="846473" cy="420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990B51-4B6E-4458-A289-65D11565846B}"/>
              </a:ext>
            </a:extLst>
          </p:cNvPr>
          <p:cNvSpPr/>
          <p:nvPr/>
        </p:nvSpPr>
        <p:spPr>
          <a:xfrm>
            <a:off x="6425131" y="5873061"/>
            <a:ext cx="846473" cy="420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85329" y="823063"/>
            <a:ext cx="3392275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图像平滑的非线性滤波</a:t>
            </a:r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33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9266" y="2065039"/>
            <a:ext cx="5400728" cy="184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去除图像的盐椒噪声（</a:t>
            </a:r>
            <a:r>
              <a:rPr lang="en-US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Salt and Peppers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滤波器能消除孤立的黑色颗粒噪声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 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滤波器能消除孤立的白色颗粒噪声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85328" y="1402691"/>
            <a:ext cx="4573992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最大值与最小值滤波</a:t>
            </a:r>
            <a:endParaRPr lang="zh-CN" altLang="en-US" sz="2133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518E706-0C04-4451-91FD-A0D64F37D4A0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0C92602-5BA9-485D-8094-C63096058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249" y="1612973"/>
            <a:ext cx="5265147" cy="484297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AA863AD-D78D-40C0-8780-2555253FF8A6}"/>
              </a:ext>
            </a:extLst>
          </p:cNvPr>
          <p:cNvSpPr/>
          <p:nvPr/>
        </p:nvSpPr>
        <p:spPr>
          <a:xfrm>
            <a:off x="6902414" y="3652374"/>
            <a:ext cx="846473" cy="258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5EC37B-7005-444D-82E8-B19B9131516D}"/>
              </a:ext>
            </a:extLst>
          </p:cNvPr>
          <p:cNvSpPr/>
          <p:nvPr/>
        </p:nvSpPr>
        <p:spPr>
          <a:xfrm>
            <a:off x="5954077" y="6082066"/>
            <a:ext cx="805463" cy="436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42556" y="856580"/>
            <a:ext cx="3392275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图像平滑的非线性滤波</a:t>
            </a:r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33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694" y="2246581"/>
            <a:ext cx="7714612" cy="3233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958588" y="5721678"/>
                <a:ext cx="8546057" cy="672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133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𝑀𝑎𝑥</m:t>
                    </m:r>
                    <m:d>
                      <m:dPr>
                        <m:ctrlPr>
                          <a:rPr lang="zh-CN" altLang="zh-CN" sz="2133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133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𝑀𝑖𝑛</m:t>
                        </m:r>
                        <m:d>
                          <m:dPr>
                            <m:ctrlPr>
                              <a:rPr lang="zh-CN" altLang="zh-CN" sz="2133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133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𝑀𝑖𝑛</m:t>
                            </m:r>
                            <m:d>
                              <m:dPr>
                                <m:ctrlPr>
                                  <a:rPr lang="zh-CN" altLang="zh-CN" sz="2133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133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𝑀𝑎𝑥</m:t>
                                </m:r>
                                <m:d>
                                  <m:dPr>
                                    <m:ctrlPr>
                                      <a:rPr lang="zh-CN" altLang="zh-CN" sz="2133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2133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133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altLang="zh-CN" sz="2133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zh-CN" altLang="zh-CN" sz="2133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滤波可以取得较好地去除盐椒噪声的效果</a:t>
                </a:r>
                <a:endParaRPr lang="zh-CN" altLang="en-US" sz="2133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588" y="5721678"/>
                <a:ext cx="8546057" cy="6728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708733" y="1391267"/>
            <a:ext cx="4573992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最大值与最小值滤波</a:t>
            </a:r>
            <a:endParaRPr lang="zh-CN" altLang="en-US" sz="2133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9FEC05-3E1C-4272-B572-6EC418FD05C7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C6446B-AB7B-4490-A234-0820CC19EB74}"/>
              </a:ext>
            </a:extLst>
          </p:cNvPr>
          <p:cNvSpPr/>
          <p:nvPr/>
        </p:nvSpPr>
        <p:spPr>
          <a:xfrm>
            <a:off x="3129368" y="5115415"/>
            <a:ext cx="805463" cy="436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02448" y="931047"/>
            <a:ext cx="3738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图像平滑的非线性滤波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08733" y="1470954"/>
            <a:ext cx="4573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中值滤波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758993" y="2171306"/>
                <a:ext cx="6032251" cy="502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𝑀𝑒𝑑𝑖𝑢𝑚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sepChr m:val=","/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d>
                                    <m:dPr>
                                      <m:ctrlPr>
                                        <a:rPr lang="zh-CN" altLang="en-US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sz="2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993" y="2171306"/>
                <a:ext cx="6032251" cy="502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212" y="3419319"/>
            <a:ext cx="7033576" cy="1967728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4843463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CEA4BE-6440-4EEE-A9C3-B74EF341FC6E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5872" y="926592"/>
            <a:ext cx="3392275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图像平滑的非线性滤波</a:t>
            </a:r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33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08733" y="1470954"/>
            <a:ext cx="4573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中值滤波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57" y="1980329"/>
            <a:ext cx="5347321" cy="249865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7A406DE-C011-4C49-A984-1CB6E25E8693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80E0C1-4790-4AA3-9421-9E954F535AE2}"/>
              </a:ext>
            </a:extLst>
          </p:cNvPr>
          <p:cNvSpPr/>
          <p:nvPr/>
        </p:nvSpPr>
        <p:spPr>
          <a:xfrm>
            <a:off x="3897957" y="4220175"/>
            <a:ext cx="846473" cy="258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33076" y="830628"/>
            <a:ext cx="311816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+mn-ea"/>
              </a:rPr>
              <a:t>图像平滑的线性滤波</a:t>
            </a:r>
            <a:r>
              <a:rPr lang="en-US" altLang="zh-CN" sz="2133" b="1" dirty="0">
                <a:solidFill>
                  <a:srgbClr val="000066"/>
                </a:solidFill>
                <a:latin typeface="+mn-ea"/>
              </a:rPr>
              <a:t> </a:t>
            </a:r>
            <a:endParaRPr lang="zh-CN" altLang="en-US" sz="2133" b="1" dirty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7035" y="1348674"/>
            <a:ext cx="4573992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33" b="1" dirty="0">
                <a:solidFill>
                  <a:srgbClr val="000066"/>
                </a:solidFill>
                <a:latin typeface="+mn-ea"/>
              </a:rPr>
              <a:t>1) </a:t>
            </a:r>
            <a:r>
              <a:rPr lang="zh-CN" altLang="en-US" sz="2133" b="1" dirty="0">
                <a:solidFill>
                  <a:srgbClr val="000066"/>
                </a:solidFill>
                <a:latin typeface="+mn-ea"/>
              </a:rPr>
              <a:t>均值滤波</a:t>
            </a:r>
            <a:endParaRPr lang="zh-CN" altLang="en-US" sz="2133" b="1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78546" y="1842672"/>
                <a:ext cx="9821721" cy="1112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spcAft>
                    <a:spcPts val="333"/>
                  </a:spcAft>
                  <a:buFont typeface="Wingdings" panose="05000000000000000000" pitchFamily="2" charset="2"/>
                  <a:buChar char="ü"/>
                </a:pPr>
                <a:r>
                  <a:rPr lang="zh-CN" altLang="zh-CN" sz="2000" b="1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一个图像的均匀目标区域像素点的简单模型</a:t>
                </a:r>
                <a:r>
                  <a:rPr lang="zh-CN" altLang="en-US" sz="2000" b="1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2000" b="1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d>
                      <m:dPr>
                        <m:ctrlPr>
                          <a:rPr lang="zh-CN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e>
                    </m:d>
                    <m:r>
                      <a:rPr lang="en-US" altLang="zh-CN" sz="20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zh-CN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</m:bar>
                    <m:d>
                      <m:dPr>
                        <m:ctrlPr>
                          <a:rPr lang="zh-CN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e>
                    </m:d>
                    <m:r>
                      <a:rPr lang="en-US" altLang="zh-CN" sz="20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0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0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CN" sz="2000" b="1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                          </a:t>
                </a:r>
                <a:endParaRPr lang="zh-CN" altLang="zh-CN" sz="2000" b="1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Aft>
                    <a:spcPts val="333"/>
                  </a:spcAft>
                  <a:buFont typeface="Wingdings" panose="05000000000000000000" pitchFamily="2" charset="2"/>
                  <a:buChar char="ü"/>
                </a:pPr>
                <a:r>
                  <a:rPr lang="zh-CN" altLang="zh-CN" sz="2000" b="1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其中，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</m:bar>
                  </m:oMath>
                </a14:m>
                <a:r>
                  <a:rPr lang="zh-CN" altLang="zh-CN" sz="2000" b="1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是理想灰度图像，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0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20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𝓝</m:t>
                    </m:r>
                    <m:d>
                      <m:dPr>
                        <m:ctrlPr>
                          <a:rPr lang="zh-CN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sz="2000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2000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2000" b="1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是均值为</a:t>
                </a:r>
                <a:r>
                  <a:rPr lang="en-US" altLang="zh-CN" sz="2000" b="1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000" b="1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、标准差为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zh-CN" sz="2000" b="1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的高斯噪声。</a:t>
                </a:r>
                <a:endParaRPr lang="zh-CN" altLang="zh-CN" sz="2000" b="1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46" y="1842672"/>
                <a:ext cx="9821721" cy="1112164"/>
              </a:xfrm>
              <a:prstGeom prst="rect">
                <a:avLst/>
              </a:prstGeom>
              <a:blipFill>
                <a:blip r:embed="rId3"/>
                <a:stretch>
                  <a:fillRect l="-559" b="-7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13678" y="3060199"/>
                <a:ext cx="9216047" cy="1655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55591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1867" dirty="0">
                    <a:solidFill>
                      <a:srgbClr val="000066"/>
                    </a:solidFill>
                    <a:latin typeface="+mn-ea"/>
                  </a:rPr>
                  <a:t>通过邻域平均的方法，可以去除区域内在正常亮度值上下浮动的噪声</a:t>
                </a:r>
                <a:endParaRPr lang="en-US" altLang="zh-CN" sz="2133" dirty="0">
                  <a:solidFill>
                    <a:srgbClr val="000066"/>
                  </a:solidFill>
                  <a:latin typeface="+mn-ea"/>
                </a:endParaRPr>
              </a:p>
              <a:p>
                <a:pPr indent="355591" algn="ctr">
                  <a:lnSpc>
                    <a:spcPct val="150000"/>
                  </a:lnSpc>
                  <a:spcAft>
                    <a:spcPts val="333"/>
                  </a:spcAft>
                </a:pP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acc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𝑀𝑒𝑎𝑛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)|(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)∈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)}</m:t>
                    </m:r>
                    <m:r>
                      <a:rPr lang="en-US" altLang="zh-CN" sz="1867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)∈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1867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                 </a:t>
                </a:r>
              </a:p>
              <a:p>
                <a:pPr indent="355591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1867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1867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sz="1867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1867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zh-CN" altLang="zh-CN" sz="1867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表示邻域中像素的个数。</a:t>
                </a:r>
                <a:endParaRPr lang="zh-CN" altLang="en-US" sz="1867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678" y="3060199"/>
                <a:ext cx="9216047" cy="1655518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649" y="4897485"/>
            <a:ext cx="7031329" cy="139813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111812" y="6295621"/>
            <a:ext cx="4573992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67" dirty="0">
                <a:latin typeface="+mn-ea"/>
              </a:rPr>
              <a:t>不同均值滤波的图像去噪结果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D5DDB7-4007-48EF-A164-6138ED531267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+mn-ea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18124" y="939861"/>
            <a:ext cx="34307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图像平滑的线性滤波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6134" y="1474725"/>
            <a:ext cx="4573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高斯滤波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254147" y="1959619"/>
                <a:ext cx="9347668" cy="1340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55591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高斯滤波器是利用高斯核的一个</a:t>
                </a:r>
                <a:r>
                  <a:rPr lang="en-US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维的卷积算子，进行图像模糊（去除噪声）</a:t>
                </a:r>
                <a:endParaRPr lang="zh-CN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en-US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</m:d>
                      </m:sub>
                      <m:sup/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sub>
                    </m:sSub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en-US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sub>
                    </m:sSub>
                    <m:d>
                      <m:d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zh-CN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𝑒𝑥𝑝</m:t>
                        </m:r>
                      </m:fName>
                      <m:e>
                        <m:d>
                          <m:dPr>
                            <m:ctrlPr>
                              <a:rPr lang="zh-CN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zh-CN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endParaRPr lang="zh-CN" altLang="en-US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147" y="1959619"/>
                <a:ext cx="9347668" cy="1340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419" y="3557566"/>
            <a:ext cx="6472168" cy="281758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6652099-17A9-4C17-9A36-838A0BE3D412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F1E8F26-A62F-4BA8-83F7-AA69A6DC7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34" y="3300435"/>
            <a:ext cx="3886226" cy="187642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B7BE4E4-2D03-49A5-B6F3-CB6BD5C85C7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451"/>
          <a:stretch/>
        </p:blipFill>
        <p:spPr>
          <a:xfrm>
            <a:off x="1298346" y="5252028"/>
            <a:ext cx="3138935" cy="105962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4699" y="900466"/>
            <a:ext cx="311816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图像平滑的线性滤波</a:t>
            </a:r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33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2973" y="1395935"/>
            <a:ext cx="4573992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高斯滤波的性质：</a:t>
            </a:r>
            <a:endParaRPr lang="zh-CN" altLang="en-US" sz="2133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055420" y="1996688"/>
            <a:ext cx="9447560" cy="184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输出是像素邻域的加权均值，权值随当前点与中心点的距离单调增减。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189" indent="-457189">
              <a:lnSpc>
                <a:spcPct val="200000"/>
              </a:lnSpc>
              <a:buFont typeface="+mj-ea"/>
              <a:buAutoNum type="circleNumDbPlai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维高斯函数具有旋转对称性，即滤波器在各个方向上的平滑程度是相同的。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189" indent="-457189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高斯滤波器宽度（决定着平滑程度）由参数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和平滑程度相关。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8238B0-0F90-47F3-870C-2C9BF8780860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85207" y="891171"/>
            <a:ext cx="3310522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空域加权滤波及其机制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8029" y="1474771"/>
            <a:ext cx="4573992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推广到加权空域滤波器</a:t>
            </a:r>
            <a:endParaRPr lang="zh-CN" altLang="en-US" sz="2133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41970" y="1970895"/>
                <a:ext cx="10617491" cy="332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55591" algn="just">
                  <a:lnSpc>
                    <a:spcPct val="200000"/>
                  </a:lnSpc>
                  <a:spcAft>
                    <a:spcPts val="333"/>
                  </a:spcAft>
                </a:pPr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输入图像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zh-CN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，对任意目标像素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，引入加权核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→[0,</m:t>
                    </m:r>
                    <m:func>
                      <m:func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fName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e>
                    </m:func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1]</m:t>
                    </m:r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表示核的支撑区间</a:t>
                </a:r>
                <a:r>
                  <a:rPr lang="zh-CN" altLang="en-US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（非零区间）</a:t>
                </a:r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，则一般的滤波方程为</a:t>
                </a:r>
                <a:endParaRPr lang="zh-CN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spcAft>
                    <a:spcPts val="333"/>
                  </a:spcAft>
                </a:pPr>
                <a:r>
                  <a:rPr lang="en-US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e>
                    </m:nary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zh-CN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indent="355591" algn="just">
                  <a:lnSpc>
                    <a:spcPct val="200000"/>
                  </a:lnSpc>
                  <a:spcAft>
                    <a:spcPts val="333"/>
                  </a:spcAft>
                </a:pPr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加权核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也称为权矩阵、权函数或核函数。其中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表示当前目标像素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对滤波结果的贡献权重；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相当偏离热点的偏移量。</a:t>
                </a:r>
                <a:endParaRPr lang="zh-CN" altLang="zh-CN" sz="2000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70" y="1970895"/>
                <a:ext cx="10617491" cy="3321422"/>
              </a:xfrm>
              <a:prstGeom prst="rect">
                <a:avLst/>
              </a:prstGeom>
              <a:blipFill>
                <a:blip r:embed="rId3"/>
                <a:stretch>
                  <a:fillRect l="-632" r="-574" b="-2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7CE0A970-7C5F-4932-B644-486DF6013631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68931" y="861867"/>
            <a:ext cx="36471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空域加权滤波及其机制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4083" y="1422127"/>
            <a:ext cx="660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工作机制</a:t>
            </a:r>
            <a:endParaRPr lang="zh-CN" altLang="en-US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14" y="2923779"/>
            <a:ext cx="7019972" cy="357621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39964" y="1883792"/>
            <a:ext cx="8032376" cy="903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67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将权值模板滑动至当前处理的目标像素，</a:t>
            </a:r>
            <a:endParaRPr lang="en-US" altLang="zh-CN" sz="1867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867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通过邻域内像素与权矩阵元素相乘相加得到滤波结果的像素值</a:t>
            </a:r>
            <a:endParaRPr lang="zh-CN" altLang="en-US" sz="1867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B0F017-B04D-4CDE-8162-AA087E929C60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99AF94-BA53-42DD-B164-74D2905209FC}"/>
              </a:ext>
            </a:extLst>
          </p:cNvPr>
          <p:cNvSpPr/>
          <p:nvPr/>
        </p:nvSpPr>
        <p:spPr>
          <a:xfrm>
            <a:off x="4420226" y="6139541"/>
            <a:ext cx="846473" cy="258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43527" y="863529"/>
            <a:ext cx="472276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非局部均值滤波</a:t>
            </a:r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引入全局信息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8096" y="1299810"/>
            <a:ext cx="10512988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基于假设：图像中的像素具有相似的结构。</a:t>
            </a:r>
            <a:endParaRPr lang="en-US" altLang="zh-CN" sz="16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考虑所有像素的全局信息，计算当前像素块与其他像素块的相似度来加权平均，实现噪声抑制。 </a:t>
            </a:r>
            <a:endParaRPr lang="en-US" altLang="zh-CN" sz="16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70387" y="4157393"/>
                <a:ext cx="8502525" cy="2182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1867" kern="100" dirty="0">
                    <a:solidFill>
                      <a:srgbClr val="000000"/>
                    </a:solidFill>
                    <a:latin typeface="Calibri" panose="020F050202020403020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d>
                      <m:dPr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67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</m:d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𝛺</m:t>
                        </m:r>
                        <m:d>
                          <m:dPr>
                            <m:ctrlPr>
                              <a:rPr lang="zh-CN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</m:d>
                      </m:sub>
                      <m:sup/>
                      <m:e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</m:d>
                      </m:e>
                    </m:nary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⋅</m:t>
                    </m:r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d>
                      <m:dPr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67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67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en-US" altLang="zh-CN" sz="1867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</a:t>
                </a:r>
              </a:p>
              <a:p>
                <a:pPr>
                  <a:lnSpc>
                    <a:spcPct val="150000"/>
                  </a:lnSpc>
                  <a:spcAft>
                    <a:spcPts val="333"/>
                  </a:spcAft>
                </a:pPr>
                <a14:m>
                  <m:oMath xmlns:m="http://schemas.openxmlformats.org/officeDocument/2006/math">
                    <m:r>
                      <a:rPr lang="en-US" altLang="zh-CN" sz="1867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𝛺</m:t>
                    </m:r>
                    <m:d>
                      <m:dPr>
                        <m:ctrlPr>
                          <a:rPr lang="zh-CN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zh-CN" altLang="zh-CN" sz="1867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表示图像的搜索区域，</a:t>
                </a:r>
                <a:endParaRPr lang="en-US" altLang="zh-CN" sz="1867" i="1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1867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d>
                      <m:dPr>
                        <m:ctrlPr>
                          <a:rPr lang="zh-CN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67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67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zh-CN" altLang="zh-CN" sz="1867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表示像素</a:t>
                </a:r>
                <a:r>
                  <a:rPr lang="en-US" altLang="zh-CN" sz="1867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zh-CN" altLang="zh-CN" sz="1867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67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zh-CN" altLang="zh-CN" sz="1867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之间的相似性</a:t>
                </a:r>
                <a:r>
                  <a:rPr lang="zh-CN" altLang="en-US" sz="1867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1867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67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𝛺</m:t>
                        </m:r>
                        <m:d>
                          <m:dPr>
                            <m:ctrlPr>
                              <a:rPr lang="zh-CN" altLang="zh-CN" sz="1867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67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</m:d>
                      </m:sub>
                      <m:sup/>
                      <m:e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zh-CN" altLang="zh-CN" sz="1867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67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𝒑</m:t>
                            </m:r>
                            <m:r>
                              <a:rPr lang="en-US" altLang="zh-CN" sz="1867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67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</m:d>
                      </m:e>
                    </m:nary>
                  </m:oMath>
                </a14:m>
                <a:r>
                  <a:rPr lang="zh-CN" altLang="zh-CN" sz="1867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表示权重之和。</a:t>
                </a:r>
                <a:endParaRPr lang="zh-CN" altLang="en-US" sz="1867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387" y="4157393"/>
                <a:ext cx="8502525" cy="2182777"/>
              </a:xfrm>
              <a:prstGeom prst="rect">
                <a:avLst/>
              </a:prstGeom>
              <a:blipFill>
                <a:blip r:embed="rId3"/>
                <a:stretch>
                  <a:fillRect t="-6425" b="-293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432" y="2691942"/>
            <a:ext cx="3809652" cy="383808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A671782-E049-4CCD-995D-10278538564C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0F6243-EF6B-40B2-8672-0D449E8474F6}"/>
              </a:ext>
            </a:extLst>
          </p:cNvPr>
          <p:cNvSpPr txBox="1"/>
          <p:nvPr/>
        </p:nvSpPr>
        <p:spPr>
          <a:xfrm>
            <a:off x="768096" y="2197809"/>
            <a:ext cx="7107869" cy="1935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i="0" u="none" strike="noStrike" dirty="0">
                <a:solidFill>
                  <a:srgbClr val="2D3D88"/>
                </a:solidFill>
                <a:latin typeface="Arial" panose="020B0604020202020204" pitchFamily="34" charset="0"/>
              </a:rPr>
              <a:t>计算过程：</a:t>
            </a:r>
            <a:endParaRPr lang="en-US" altLang="zh-CN" sz="1600" b="1" i="0" u="none" strike="noStrike" dirty="0">
              <a:solidFill>
                <a:srgbClr val="2D3D88"/>
              </a:solidFill>
              <a:latin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i="0" u="none" strike="noStrike" dirty="0">
                <a:effectLst/>
                <a:latin typeface="Arial" panose="020B0604020202020204" pitchFamily="34" charset="0"/>
              </a:rPr>
              <a:t>邻域块</a:t>
            </a:r>
            <a:r>
              <a:rPr lang="zh-CN" altLang="en-US" sz="1600" i="0" u="none" strike="noStrike" dirty="0">
                <a:effectLst/>
                <a:latin typeface="Arial" panose="020B0604020202020204" pitchFamily="34" charset="0"/>
              </a:rPr>
              <a:t>：当前像素的邻域</a:t>
            </a:r>
            <a:endParaRPr lang="en-US" altLang="zh-CN" sz="1600" i="0" u="none" strike="noStrike" dirty="0">
              <a:effectLst/>
              <a:latin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i="0" u="none" strike="noStrike" dirty="0">
                <a:effectLst/>
                <a:latin typeface="Arial" panose="020B0604020202020204" pitchFamily="34" charset="0"/>
              </a:rPr>
              <a:t>搜索窗口</a:t>
            </a:r>
            <a:r>
              <a:rPr lang="zh-CN" altLang="en-US" sz="1600" dirty="0">
                <a:latin typeface="Arial" panose="020B0604020202020204" pitchFamily="34" charset="0"/>
              </a:rPr>
              <a:t>：</a:t>
            </a:r>
            <a:r>
              <a:rPr lang="zh-CN" altLang="en-US" sz="1600" b="0" i="0" u="none" strike="noStrike" dirty="0">
                <a:effectLst/>
                <a:latin typeface="Arial" panose="020B0604020202020204" pitchFamily="34" charset="0"/>
              </a:rPr>
              <a:t>全图</a:t>
            </a:r>
            <a:endParaRPr lang="en-US" altLang="zh-CN" sz="1600" b="0" i="0" u="none" strike="noStrike" dirty="0">
              <a:effectLst/>
              <a:latin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i="0" u="none" strike="noStrike" dirty="0">
                <a:effectLst/>
                <a:latin typeface="Arial" panose="020B0604020202020204" pitchFamily="34" charset="0"/>
              </a:rPr>
              <a:t>相似度计算</a:t>
            </a:r>
            <a:r>
              <a:rPr lang="zh-CN" altLang="en-US" sz="1600" b="0" i="0" u="none" strike="noStrike" dirty="0">
                <a:effectLst/>
                <a:latin typeface="Arial" panose="020B0604020202020204" pitchFamily="34" charset="0"/>
              </a:rPr>
              <a:t>：均方误差（</a:t>
            </a:r>
            <a:r>
              <a:rPr lang="en-US" altLang="zh-CN" sz="1600" b="0" i="0" u="none" strike="noStrike" dirty="0">
                <a:effectLst/>
                <a:latin typeface="Arial" panose="020B0604020202020204" pitchFamily="34" charset="0"/>
              </a:rPr>
              <a:t>MSE</a:t>
            </a:r>
            <a:r>
              <a:rPr lang="zh-CN" altLang="en-US" sz="1600" b="0" i="0" u="none" strike="noStrike" dirty="0">
                <a:effectLst/>
                <a:latin typeface="Arial" panose="020B0604020202020204" pitchFamily="34" charset="0"/>
              </a:rPr>
              <a:t>）、欧氏距离等</a:t>
            </a:r>
            <a:r>
              <a:rPr lang="zh-CN" altLang="en-US" sz="1600" dirty="0">
                <a:latin typeface="Arial" panose="020B0604020202020204" pitchFamily="34" charset="0"/>
              </a:rPr>
              <a:t>，</a:t>
            </a:r>
            <a:r>
              <a:rPr lang="zh-CN" altLang="en-US" sz="1600" b="0" i="0" u="none" strike="noStrike" dirty="0">
                <a:effectLst/>
                <a:latin typeface="Arial" panose="020B0604020202020204" pitchFamily="34" charset="0"/>
              </a:rPr>
              <a:t>相似度作为权重。</a:t>
            </a:r>
            <a:endParaRPr lang="zh-CN" altLang="en-US" sz="1600" b="0" i="0" u="sng" dirty="0">
              <a:solidFill>
                <a:srgbClr val="3C51B4"/>
              </a:solidFill>
              <a:effectLst/>
              <a:latin typeface="Arial" panose="020B0604020202020204" pitchFamily="34" charset="0"/>
              <a:hlinkClick r:id="rId5"/>
            </a:endParaRP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i="0" u="none" strike="noStrike" dirty="0">
                <a:effectLst/>
                <a:latin typeface="Arial" panose="020B0604020202020204" pitchFamily="34" charset="0"/>
              </a:rPr>
              <a:t>加权平均</a:t>
            </a:r>
            <a:r>
              <a:rPr lang="zh-CN" altLang="en-US" sz="1600" b="0" i="0" u="none" strike="noStrike" dirty="0">
                <a:effectLst/>
                <a:latin typeface="Arial" panose="020B0604020202020204" pitchFamily="34" charset="0"/>
              </a:rPr>
              <a:t>：所有相似像素的值加权平均，得到滤波后的像素值。</a:t>
            </a:r>
            <a:endParaRPr lang="zh-CN" altLang="en-US" sz="16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9161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27751" y="830628"/>
            <a:ext cx="2488182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非局部均值滤波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100941" y="830628"/>
                <a:ext cx="4573992" cy="420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133" b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𝑤</m:t>
                    </m:r>
                    <m:d>
                      <m:dPr>
                        <m:ctrlPr>
                          <a:rPr lang="zh-CN" altLang="zh-CN" sz="2133" b="1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133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  <m:r>
                          <a:rPr lang="en-US" altLang="zh-CN" sz="2133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133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𝒒</m:t>
                        </m:r>
                      </m:e>
                    </m:d>
                  </m:oMath>
                </a14:m>
                <a:r>
                  <a:rPr lang="zh-CN" altLang="zh-CN" sz="2133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的计算</a:t>
                </a:r>
                <a:r>
                  <a:rPr lang="zh-CN" altLang="en-US" sz="2133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941" y="830628"/>
                <a:ext cx="4573992" cy="420564"/>
              </a:xfrm>
              <a:prstGeom prst="rect">
                <a:avLst/>
              </a:prstGeom>
              <a:blipFill>
                <a:blip r:embed="rId3"/>
                <a:stretch>
                  <a:fillRect t="-7246" b="-28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19658" y="1570964"/>
                <a:ext cx="10190659" cy="33764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55591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首先定义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之间欧氏距离</a:t>
                </a:r>
                <a:r>
                  <a:rPr lang="en-US" altLang="zh-CN" b="1" kern="1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(Patch </a:t>
                </a:r>
                <a:r>
                  <a:rPr lang="zh-CN" altLang="en-US" b="1" kern="1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间</a:t>
                </a:r>
                <a:r>
                  <a:rPr lang="en-US" altLang="zh-CN" b="1" kern="1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kern="1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的相似度度量</a:t>
                </a:r>
                <a:r>
                  <a:rPr lang="en-US" altLang="zh-CN" b="1" kern="1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)</a:t>
                </a:r>
                <a:endParaRPr lang="zh-CN" altLang="zh-CN" b="1" kern="100" dirty="0">
                  <a:solidFill>
                    <a:srgbClr val="FF0000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b="1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b="1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𝒒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zh-CN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zh-CN" altLang="zh-CN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1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𝒑</m:t>
                                        </m:r>
                                        <m:r>
                                          <a:rPr lang="en-US" altLang="zh-CN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b="1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𝒕</m:t>
                                        </m:r>
                                      </m:e>
                                    </m:d>
                                    <m:r>
                                      <a:rPr lang="en-US" altLang="zh-CN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zh-CN" altLang="zh-CN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1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𝒒</m:t>
                                        </m:r>
                                        <m:r>
                                          <a:rPr lang="en-US" altLang="zh-CN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b="1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𝒕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              </a:t>
                </a:r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 indent="355591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式中，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向量</a:t>
                </a:r>
                <a:r>
                  <a:rPr lang="en-US" altLang="zh-CN" b="1" i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表示相对于两个中心像素</a:t>
                </a:r>
                <a:r>
                  <a:rPr lang="en-US" altLang="zh-CN" b="1" i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或</a:t>
                </a:r>
                <a:r>
                  <a:rPr lang="en-US" altLang="zh-CN" b="1" i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的偏移矢量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b="1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b="1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𝒒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表示邻域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内所有对应像素值组成的向量之间的距离。相似性权重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定义为</a:t>
                </a:r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333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d>
                        <m:dPr>
                          <m:ctrlPr>
                            <a:rPr lang="zh-CN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altLang="zh-CN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zh-CN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zh-CN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b="1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zh-CN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b="1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𝒒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altLang="zh-CN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CN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  <m:d>
                                        <m:dPr>
                                          <m:ctrlPr>
                                            <a:rPr lang="zh-CN" altLang="zh-CN" i="1" kern="1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1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𝒑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  <m:d>
                                        <m:dPr>
                                          <m:ctrlPr>
                                            <a:rPr lang="zh-CN" altLang="zh-CN" i="1" kern="1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1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CN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zh-CN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b="1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𝒕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zh-CN" altLang="zh-CN" i="1" kern="1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zh-CN" altLang="zh-CN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𝐼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zh-CN" i="1" kern="1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b="1" i="1" kern="1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𝒑</m:t>
                                                  </m:r>
                                                  <m:r>
                                                    <a:rPr lang="en-US" altLang="zh-CN" i="1" kern="1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altLang="zh-CN" b="1" i="1" kern="1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𝒕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altLang="zh-CN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𝐼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zh-CN" i="1" kern="1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b="1" i="1" kern="1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𝒒</m:t>
                                                  </m:r>
                                                  <m:r>
                                                    <a:rPr lang="en-US" altLang="zh-CN" i="1" kern="1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altLang="zh-CN" b="1" i="1" kern="1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𝒕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i="1" kern="1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58" y="1570964"/>
                <a:ext cx="10190659" cy="3376437"/>
              </a:xfrm>
              <a:prstGeom prst="rect">
                <a:avLst/>
              </a:prstGeom>
              <a:blipFill>
                <a:blip r:embed="rId4"/>
                <a:stretch>
                  <a:fillRect l="-478" r="-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8799685" y="239148"/>
            <a:ext cx="170329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空间运算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9AA1BB-5B91-4400-85D4-F9BDF371A901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29847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68E2449-5522-4E76-8536-2A96C54183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4" t="1055" r="746" b="6067"/>
          <a:stretch/>
        </p:blipFill>
        <p:spPr>
          <a:xfrm>
            <a:off x="6225928" y="2960432"/>
            <a:ext cx="5752863" cy="332417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E68BEB4-B3A8-431F-9595-22C389347ED8}"/>
              </a:ext>
            </a:extLst>
          </p:cNvPr>
          <p:cNvSpPr/>
          <p:nvPr/>
        </p:nvSpPr>
        <p:spPr>
          <a:xfrm>
            <a:off x="700281" y="897299"/>
            <a:ext cx="153118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双边滤波</a:t>
            </a:r>
            <a:endParaRPr lang="zh-CN" altLang="en-US" sz="2133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763F9F-C4B0-48D2-8B43-A22C9BDDC4D0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</a:t>
            </a:r>
            <a:r>
              <a:rPr lang="zh-CN" altLang="en-US" sz="2800" b="1" dirty="0" smtClean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滤波，降噪保边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ECCAF8D-FD71-4257-B730-66370893D8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94" y="2960432"/>
            <a:ext cx="5963212" cy="33241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C2ACBA0-26C5-451C-8532-354E3B2D5D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398" y="1219240"/>
            <a:ext cx="3969196" cy="128998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1036F66-F4C6-4CE4-A9C5-9AD1FD91B6D7}"/>
              </a:ext>
            </a:extLst>
          </p:cNvPr>
          <p:cNvSpPr txBox="1"/>
          <p:nvPr/>
        </p:nvSpPr>
        <p:spPr>
          <a:xfrm>
            <a:off x="4586398" y="2542373"/>
            <a:ext cx="39691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如何在慢变区域实现高斯滤波的同时更好的保持边缘？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70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00281" y="897299"/>
            <a:ext cx="153118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双边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45823" y="1259656"/>
            <a:ext cx="10988476" cy="960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 = 空间距离权重 × 亮度差异权重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两项权重都由输入图像自身计算，边缘处权重自动变小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297037" y="2220432"/>
                <a:ext cx="10682804" cy="4010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333"/>
                  </a:spcAft>
                  <a:buFont typeface="Wingdings" panose="05000000000000000000" pitchFamily="2" charset="2"/>
                  <a:buChar char="ü"/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空间距离（</a:t>
                </a: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Space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）</a:t>
                </a:r>
                <a:endParaRPr lang="en-US" altLang="zh-CN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spcAft>
                    <a:spcPts val="333"/>
                  </a:spcAft>
                  <a:buFont typeface="Wingdings" panose="05000000000000000000" pitchFamily="2" charset="2"/>
                  <a:buChar char="ü"/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亮度差异幅度（</a:t>
                </a: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Range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）</a:t>
                </a:r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</m:d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</m:d>
                      </m:sub>
                      <m:sup/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sSub>
                          <m:sSub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</m:d>
                      </m:e>
                    </m:d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sSub>
                          <m:sSub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</m:e>
                            </m:d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为归一化常数，定义为</a:t>
                </a:r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e>
                            </m:d>
                          </m:e>
                        </m:d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zh-CN" altLang="zh-CN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zh-CN" altLang="zh-CN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             </a:t>
                </a:r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在双边滤波格式中存在两个自由度尺度参数，分别是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：</a:t>
                </a:r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 indent="355591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）空间尺度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，控制滤波作用的窗口邻居；</a:t>
                </a:r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 indent="355591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2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）内容差异感知尺度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，控制边缘的最小幅度。</a:t>
                </a:r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037" y="2220432"/>
                <a:ext cx="10682804" cy="4010200"/>
              </a:xfrm>
              <a:prstGeom prst="rect">
                <a:avLst/>
              </a:prstGeom>
              <a:blipFill>
                <a:blip r:embed="rId3"/>
                <a:stretch>
                  <a:fillRect l="-514" b="-1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BCDCA117-367C-471D-AE41-F3FD8D0E109B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613526-52C5-4E22-8A88-BFDE54C021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103" y="1259656"/>
            <a:ext cx="3969196" cy="128998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029CDB5-BACE-4911-BECC-3483925ECFD5}"/>
              </a:ext>
            </a:extLst>
          </p:cNvPr>
          <p:cNvSpPr txBox="1"/>
          <p:nvPr/>
        </p:nvSpPr>
        <p:spPr>
          <a:xfrm>
            <a:off x="7865103" y="2582789"/>
            <a:ext cx="39691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如何在慢变区域实现高斯滤波的同时更好的保持边缘？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299293A-6F35-4899-9579-ADA8E1EBD6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9423" b="11988"/>
          <a:stretch/>
        </p:blipFill>
        <p:spPr>
          <a:xfrm>
            <a:off x="889208" y="1208327"/>
            <a:ext cx="5713784" cy="216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1FEEC1-8CFE-4E6A-B6B7-17934A0F30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299" b="12535"/>
          <a:stretch/>
        </p:blipFill>
        <p:spPr>
          <a:xfrm>
            <a:off x="889208" y="4002699"/>
            <a:ext cx="5746311" cy="2160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F68F269-9EFC-4020-B697-02B11ED44F32}"/>
              </a:ext>
            </a:extLst>
          </p:cNvPr>
          <p:cNvSpPr/>
          <p:nvPr/>
        </p:nvSpPr>
        <p:spPr>
          <a:xfrm>
            <a:off x="889208" y="1119441"/>
            <a:ext cx="15953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高斯滤波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8ACE98-A57D-40F6-A543-D6D53CABBB91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A524E4-96FE-4BCD-9DB7-319E9ED3618A}"/>
              </a:ext>
            </a:extLst>
          </p:cNvPr>
          <p:cNvSpPr txBox="1"/>
          <p:nvPr/>
        </p:nvSpPr>
        <p:spPr>
          <a:xfrm>
            <a:off x="7274224" y="2515953"/>
            <a:ext cx="4320000" cy="78707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卷积核权重与图像内容无关，只与待加权像素到中心像素的距离有关。</a:t>
            </a:r>
            <a:endParaRPr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8D244C-F023-4844-B7B8-319F7527DBC8}"/>
              </a:ext>
            </a:extLst>
          </p:cNvPr>
          <p:cNvSpPr/>
          <p:nvPr/>
        </p:nvSpPr>
        <p:spPr>
          <a:xfrm>
            <a:off x="889208" y="3899379"/>
            <a:ext cx="15953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双边滤波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A2AF83-39E8-4B10-B5F9-D14275A14C25}"/>
              </a:ext>
            </a:extLst>
          </p:cNvPr>
          <p:cNvSpPr txBox="1"/>
          <p:nvPr/>
        </p:nvSpPr>
        <p:spPr>
          <a:xfrm>
            <a:off x="7274224" y="5116999"/>
            <a:ext cx="4320000" cy="78707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卷积核权重与图像内容有关，加入了待加权像素灰度与中心像素灰度的差异度量。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26C1E93-74F2-4D9F-BF85-5C53DDA66E7A}"/>
                  </a:ext>
                </a:extLst>
              </p:cNvPr>
              <p:cNvSpPr txBox="1"/>
              <p:nvPr/>
            </p:nvSpPr>
            <p:spPr>
              <a:xfrm>
                <a:off x="6879182" y="4396090"/>
                <a:ext cx="4968000" cy="799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kern="1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𝒑</m:t>
                                  </m:r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zh-CN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𝒑</m:t>
                                      </m:r>
                                    </m:e>
                                  </m:d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zh-CN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kern="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𝑞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26C1E93-74F2-4D9F-BF85-5C53DDA66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182" y="4396090"/>
                <a:ext cx="4968000" cy="7996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17B2F50-2687-4ACA-B49E-7AC344E60108}"/>
                  </a:ext>
                </a:extLst>
              </p:cNvPr>
              <p:cNvSpPr txBox="1"/>
              <p:nvPr/>
            </p:nvSpPr>
            <p:spPr>
              <a:xfrm>
                <a:off x="6879182" y="1716311"/>
                <a:ext cx="4968000" cy="799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kern="1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CN" altLang="zh-CN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𝒑</m:t>
                                  </m:r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17B2F50-2687-4ACA-B49E-7AC344E60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182" y="1716311"/>
                <a:ext cx="4968000" cy="7996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8EDDDE2-0584-4DBD-A8D2-B9DA19E64119}"/>
                  </a:ext>
                </a:extLst>
              </p:cNvPr>
              <p:cNvSpPr txBox="1"/>
              <p:nvPr/>
            </p:nvSpPr>
            <p:spPr>
              <a:xfrm>
                <a:off x="8608024" y="949589"/>
                <a:ext cx="3239158" cy="65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zh-CN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zh-CN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𝑒𝑥𝑝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zh-CN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8EDDDE2-0584-4DBD-A8D2-B9DA19E64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024" y="949589"/>
                <a:ext cx="3239158" cy="6505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85DDCCAB-6438-41B4-B21F-17C2D3A54B8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8907" b="23339"/>
          <a:stretch/>
        </p:blipFill>
        <p:spPr>
          <a:xfrm>
            <a:off x="6960409" y="719484"/>
            <a:ext cx="1725851" cy="94278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53C0278-0432-47DF-8C7C-E1E7FF35074D}"/>
              </a:ext>
            </a:extLst>
          </p:cNvPr>
          <p:cNvSpPr txBox="1"/>
          <p:nvPr/>
        </p:nvSpPr>
        <p:spPr>
          <a:xfrm>
            <a:off x="5193670" y="3866617"/>
            <a:ext cx="5460858" cy="377026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平滑区域效果接近高斯滤波，边缘区域保持不变！降噪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保持边缘。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71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E68BEB4-B3A8-431F-9595-22C389347ED8}"/>
              </a:ext>
            </a:extLst>
          </p:cNvPr>
          <p:cNvSpPr/>
          <p:nvPr/>
        </p:nvSpPr>
        <p:spPr>
          <a:xfrm>
            <a:off x="700281" y="897299"/>
            <a:ext cx="2079415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双边滤波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763F9F-C4B0-48D2-8B43-A22C9BDDC4D0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ECCAF8D-FD71-4257-B730-66370893D8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008" y="3855910"/>
            <a:ext cx="4520611" cy="2520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1036F66-F4C6-4CE4-A9C5-9AD1FD91B6D7}"/>
              </a:ext>
            </a:extLst>
          </p:cNvPr>
          <p:cNvSpPr txBox="1"/>
          <p:nvPr/>
        </p:nvSpPr>
        <p:spPr>
          <a:xfrm>
            <a:off x="646659" y="1333136"/>
            <a:ext cx="53569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C437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相机拍照问题：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rgbClr val="0C437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闪光灯开：边缘清晰，但颜色偏灰。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rgbClr val="0C437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闪光灯关：颜色真实，但噪声大、边缘模糊。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rgbClr val="0C437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做法：值域权重改由引导图计算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b="1" dirty="0" smtClean="0">
                <a:solidFill>
                  <a:srgbClr val="0C43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引导图 </a:t>
            </a:r>
            <a:r>
              <a:rPr lang="zh-CN" altLang="en-US" sz="1600" b="1" i="1" dirty="0" smtClean="0">
                <a:solidFill>
                  <a:srgbClr val="0C43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600" b="1" dirty="0" smtClean="0">
                <a:solidFill>
                  <a:srgbClr val="0C43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（闪光）：判断边缘位置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b="1" dirty="0" smtClean="0">
                <a:solidFill>
                  <a:srgbClr val="0C43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待滤波图 </a:t>
            </a:r>
            <a:r>
              <a:rPr lang="zh-CN" altLang="en-US" sz="1600" b="1" i="1" dirty="0" smtClean="0">
                <a:solidFill>
                  <a:srgbClr val="0C43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1600" b="1" dirty="0" smtClean="0">
                <a:solidFill>
                  <a:srgbClr val="0C43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（无闪光）：提供像素值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137EBA-3A59-4746-8673-A47219FBEA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25" y="3855910"/>
            <a:ext cx="3931507" cy="252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8371D9E-638D-49E4-B571-78CA56C8F6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0828"/>
          <a:stretch/>
        </p:blipFill>
        <p:spPr>
          <a:xfrm>
            <a:off x="5705008" y="1019193"/>
            <a:ext cx="6270517" cy="2262059"/>
          </a:xfrm>
          <a:prstGeom prst="rect">
            <a:avLst/>
          </a:prstGeom>
        </p:spPr>
      </p:pic>
      <p:sp>
        <p:nvSpPr>
          <p:cNvPr id="12" name="箭头: 左 11">
            <a:extLst>
              <a:ext uri="{FF2B5EF4-FFF2-40B4-BE49-F238E27FC236}">
                <a16:creationId xmlns:a16="http://schemas.microsoft.com/office/drawing/2014/main" id="{5DAA7519-9BA3-4B73-B2B8-09537C4838AA}"/>
              </a:ext>
            </a:extLst>
          </p:cNvPr>
          <p:cNvSpPr/>
          <p:nvPr/>
        </p:nvSpPr>
        <p:spPr>
          <a:xfrm>
            <a:off x="4945843" y="4561896"/>
            <a:ext cx="490038" cy="118720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965313" y="5946125"/>
            <a:ext cx="1723549" cy="3365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边缘权重来自同一张图</a:t>
            </a:r>
            <a:endParaRPr lang="zh-CN" altLang="en-US" sz="1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8825" y="6375910"/>
            <a:ext cx="3931507" cy="2848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732874" y="616146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边缘权重来自单独的亮度图</a:t>
            </a:r>
            <a:endParaRPr lang="zh-CN" altLang="en-US" sz="1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6882126" y="5325036"/>
            <a:ext cx="280674" cy="156882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6882126" y="5481918"/>
            <a:ext cx="217921" cy="121023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1883024" y="4841481"/>
            <a:ext cx="268505" cy="195988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577787" y="5538953"/>
            <a:ext cx="389965" cy="283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1732874" y="5423647"/>
            <a:ext cx="384531" cy="282388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19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65150" y="1050390"/>
            <a:ext cx="153118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364869" y="2009144"/>
                <a:ext cx="9221270" cy="172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2000" dirty="0">
                    <a:solidFill>
                      <a:srgbClr val="00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通过引入一个引导图像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CN" altLang="zh-CN" sz="2000" dirty="0">
                    <a:solidFill>
                      <a:srgbClr val="00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来建立</a:t>
                </a:r>
                <a:r>
                  <a:rPr lang="zh-CN" altLang="zh-CN" sz="2000" dirty="0" smtClean="0">
                    <a:solidFill>
                      <a:srgbClr val="00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滤波</a:t>
                </a:r>
                <a:r>
                  <a:rPr lang="zh-CN" altLang="en-US" sz="2000" dirty="0" smtClean="0">
                    <a:solidFill>
                      <a:srgbClr val="00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表达式</a:t>
                </a:r>
                <a:endParaRPr lang="zh-CN" altLang="zh-CN" sz="2000" dirty="0" smtClean="0">
                  <a:solidFill>
                    <a:srgbClr val="0000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333"/>
                  </a:spcAft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</m:d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  <m:d>
                          <m:d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</m:d>
                      </m:sub>
                      <m:sup/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</m:d>
                      </m:e>
                    </m:nary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en-US" altLang="zh-CN" sz="20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</a:p>
              <a:p>
                <a:pPr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zh-CN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为由引导图像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决定的权重，并且与输入图像</a:t>
                </a: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无关。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869" y="2009144"/>
                <a:ext cx="9221270" cy="1723998"/>
              </a:xfrm>
              <a:prstGeom prst="rect">
                <a:avLst/>
              </a:prstGeom>
              <a:blipFill>
                <a:blip r:embed="rId3"/>
                <a:stretch>
                  <a:fillRect l="-727" b="-5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8799685" y="239148"/>
            <a:ext cx="170329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空间运算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CC091E-7061-42C4-B997-F8491AA3B9F0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64869" y="3900000"/>
                <a:ext cx="9894802" cy="1642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sz="1800" b="1" dirty="0" err="1">
                    <a:solidFill>
                      <a:srgbClr val="0C4379"/>
                    </a:solidFill>
                    <a:latin typeface="微软雅黑"/>
                    <a:ea typeface="微软雅黑"/>
                  </a:rPr>
                  <a:t>与联合双边滤波的区别</a:t>
                </a:r>
                <a:r>
                  <a:rPr sz="1800" b="1" dirty="0">
                    <a:solidFill>
                      <a:srgbClr val="0C4379"/>
                    </a:solidFill>
                    <a:latin typeface="微软雅黑"/>
                    <a:ea typeface="微软雅黑"/>
                  </a:rPr>
                  <a:t>：</a:t>
                </a:r>
              </a:p>
              <a:p>
                <a:pPr marL="342900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sz="1800" b="0" dirty="0" err="1">
                    <a:solidFill>
                      <a:srgbClr val="000066"/>
                    </a:solidFill>
                    <a:latin typeface="微软雅黑"/>
                    <a:ea typeface="微软雅黑"/>
                  </a:rPr>
                  <a:t>联合双边：权重显式给出，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zh-CN" altLang="en-US" sz="1800" b="0" i="1" dirty="0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𝐺</m:t>
                        </m:r>
                      </m:e>
                      <m:sub>
                        <m:r>
                          <a:rPr lang="zh-CN" altLang="en-US" sz="1800" b="0" i="1" dirty="0" err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dirty="0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dirty="0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en-US" i="1" dirty="0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 dirty="0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d>
                    <m:r>
                      <a:rPr lang="en-US" altLang="zh-CN" sz="1800" b="0" i="1" dirty="0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/>
                      </a:rPr>
                      <m:t>·</m:t>
                    </m:r>
                    <m:sSub>
                      <m:sSubPr>
                        <m:ctrlPr>
                          <a:rPr lang="en-US" altLang="zh-CN" sz="1800" b="0" i="1" dirty="0" err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zh-CN" altLang="en-US" sz="1800" b="0" i="1" dirty="0" err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𝐺</m:t>
                        </m:r>
                      </m:e>
                      <m:sub>
                        <m:r>
                          <a:rPr lang="zh-CN" altLang="en-US" sz="1800" b="0" i="1" dirty="0" err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 dirty="0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i="1" dirty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altLang="zh-CN" i="1" dirty="0">
                                        <a:solidFill>
                                          <a:srgbClr val="00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dirty="0">
                                        <a:solidFill>
                                          <a:srgbClr val="00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 dirty="0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i="1" dirty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altLang="zh-CN" i="1" dirty="0">
                                        <a:solidFill>
                                          <a:srgbClr val="00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dirty="0">
                                        <a:solidFill>
                                          <a:srgbClr val="00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sz="1800" b="0" dirty="0">
                    <a:solidFill>
                      <a:srgbClr val="000066"/>
                    </a:solidFill>
                    <a:latin typeface="微软雅黑"/>
                    <a:ea typeface="微软雅黑"/>
                  </a:rPr>
                  <a:t>，</a:t>
                </a:r>
                <a:r>
                  <a:rPr sz="1800" b="0" dirty="0" err="1">
                    <a:solidFill>
                      <a:srgbClr val="000066"/>
                    </a:solidFill>
                    <a:latin typeface="微软雅黑"/>
                    <a:ea typeface="微软雅黑"/>
                  </a:rPr>
                  <a:t>再对输入图</a:t>
                </a:r>
                <a:r>
                  <a:rPr sz="1800" b="0" dirty="0">
                    <a:solidFill>
                      <a:srgbClr val="000066"/>
                    </a:solidFill>
                    <a:latin typeface="微软雅黑"/>
                    <a:ea typeface="微软雅黑"/>
                  </a:rPr>
                  <a:t> I </a:t>
                </a:r>
                <a:r>
                  <a:rPr sz="1800" b="0" dirty="0" err="1">
                    <a:solidFill>
                      <a:srgbClr val="000066"/>
                    </a:solidFill>
                    <a:latin typeface="微软雅黑"/>
                    <a:ea typeface="微软雅黑"/>
                  </a:rPr>
                  <a:t>加权平均</a:t>
                </a:r>
                <a:endParaRPr sz="1800" b="0" dirty="0">
                  <a:solidFill>
                    <a:srgbClr val="000066"/>
                  </a:solidFill>
                  <a:latin typeface="微软雅黑"/>
                  <a:ea typeface="微软雅黑"/>
                </a:endParaRPr>
              </a:p>
              <a:p>
                <a:pPr marL="342900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sz="1800" b="0" dirty="0" err="1">
                    <a:solidFill>
                      <a:srgbClr val="000066"/>
                    </a:solidFill>
                    <a:latin typeface="微软雅黑"/>
                    <a:ea typeface="微软雅黑"/>
                  </a:rPr>
                  <a:t>引导滤波：权重由“局部线性模型”隐式推出，</a:t>
                </a:r>
                <a:r>
                  <a:rPr sz="1800" b="0" dirty="0" err="1" smtClean="0">
                    <a:solidFill>
                      <a:srgbClr val="000066"/>
                    </a:solidFill>
                    <a:latin typeface="微软雅黑"/>
                    <a:ea typeface="微软雅黑"/>
                  </a:rPr>
                  <a:t>输出是引导图的局部线性变换</a:t>
                </a:r>
                <a:endParaRPr sz="1800" b="0" dirty="0">
                  <a:solidFill>
                    <a:srgbClr val="000066"/>
                  </a:solidFill>
                  <a:latin typeface="微软雅黑"/>
                  <a:ea typeface="微软雅黑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869" y="3900000"/>
                <a:ext cx="9894802" cy="1642757"/>
              </a:xfrm>
              <a:prstGeom prst="rect">
                <a:avLst/>
              </a:prstGeom>
              <a:blipFill>
                <a:blip r:embed="rId4"/>
                <a:stretch>
                  <a:fillRect l="-678" b="-1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66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85329" y="957943"/>
            <a:ext cx="153118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13266" y="1497030"/>
                <a:ext cx="10713399" cy="3976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55591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两个重要假设。</a:t>
                </a:r>
              </a:p>
              <a:p>
                <a:pPr indent="357284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b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一个重要假设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：引导图像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和滤波输出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之间在局部邻域内满足局部线性模型</a:t>
                </a:r>
                <a:endParaRPr lang="en-US" altLang="zh-CN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357284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即假设以像素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为中心的窗口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𝛺</m:t>
                    </m:r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</m:d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内输出像素值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的线性变换</a:t>
                </a:r>
                <a:endParaRPr lang="zh-CN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en-US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      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en-US" altLang="zh-CN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𝒒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𝛺</m:t>
                    </m:r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</m:d>
                  </m:oMath>
                </a14:m>
                <a:r>
                  <a:rPr lang="en-US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</a:p>
              <a:p>
                <a:pPr marL="1200150" lvl="2" indent="-285750">
                  <a:lnSpc>
                    <a:spcPct val="150000"/>
                  </a:lnSpc>
                  <a:spcAft>
                    <a:spcPts val="333"/>
                  </a:spcAft>
                  <a:buFont typeface="Wingdings" panose="05000000000000000000" pitchFamily="2" charset="2"/>
                  <a:buChar char="ü"/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式中，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sub>
                        </m:s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是线性表示系数，在局部窗口内假设是常数。</a:t>
                </a:r>
                <a:endParaRPr lang="en-US" altLang="zh-CN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spcAft>
                    <a:spcPts val="333"/>
                  </a:spcAft>
                  <a:buFont typeface="Wingdings" panose="05000000000000000000" pitchFamily="2" charset="2"/>
                  <a:buChar char="ü"/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该模型能够确保输出图像与引导图像具有一致的梯度方向，因为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𝛻</m:t>
                    </m:r>
                    <m:bar>
                      <m:barPr>
                        <m:pos m:val="top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zh-CN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357284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b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另一个假设：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估计图像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与输入图像之间存在噪声或误差的线性相减关系</a:t>
                </a:r>
                <a:endParaRPr lang="zh-CN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		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d>
                      <m:d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66" y="1497030"/>
                <a:ext cx="10713399" cy="3976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8799685" y="239148"/>
            <a:ext cx="170329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空间运算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64117E-820F-4112-8BD6-2DC004A3300C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5329" y="5450000"/>
            <a:ext cx="10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0" dirty="0" err="1">
                <a:solidFill>
                  <a:srgbClr val="000066"/>
                </a:solidFill>
                <a:latin typeface="微软雅黑"/>
                <a:ea typeface="微软雅黑"/>
              </a:rPr>
              <a:t>直观理解：窗口内引导图方差大（边缘）时</a:t>
            </a:r>
            <a:r>
              <a:rPr sz="1600" b="0" dirty="0">
                <a:solidFill>
                  <a:srgbClr val="000066"/>
                </a:solidFill>
                <a:latin typeface="微软雅黑"/>
                <a:ea typeface="微软雅黑"/>
              </a:rPr>
              <a:t> a </a:t>
            </a:r>
            <a:r>
              <a:rPr sz="1600" b="0" dirty="0" err="1">
                <a:solidFill>
                  <a:srgbClr val="000066"/>
                </a:solidFill>
                <a:latin typeface="微软雅黑"/>
                <a:ea typeface="微软雅黑"/>
              </a:rPr>
              <a:t>较大，保留引导图的结构；方差小（平坦）时</a:t>
            </a:r>
            <a:r>
              <a:rPr sz="1600" b="0" dirty="0">
                <a:solidFill>
                  <a:srgbClr val="000066"/>
                </a:solidFill>
                <a:latin typeface="微软雅黑"/>
                <a:ea typeface="微软雅黑"/>
              </a:rPr>
              <a:t> a→0，输出≈窗口均值。</a:t>
            </a:r>
          </a:p>
        </p:txBody>
      </p:sp>
    </p:spTree>
    <p:extLst>
      <p:ext uri="{BB962C8B-B14F-4D97-AF65-F5344CB8AC3E}">
        <p14:creationId xmlns:p14="http://schemas.microsoft.com/office/powerpoint/2010/main" val="43939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CB7327-DD80-46EF-9F34-496DB1B0BE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72" y="1116123"/>
            <a:ext cx="6543003" cy="45942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19F663-0DA6-4FEE-8881-9CA8E3472B1E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EA559F-1CC7-44DE-A042-C8A9461204B6}"/>
              </a:ext>
            </a:extLst>
          </p:cNvPr>
          <p:cNvSpPr/>
          <p:nvPr/>
        </p:nvSpPr>
        <p:spPr>
          <a:xfrm>
            <a:off x="465150" y="1050390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引导滤波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2F43F43-35CA-4AB6-806A-D2A53CBE6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020" y="4412296"/>
            <a:ext cx="835032" cy="9287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877D495-2D15-45B5-B8B6-F99A24F7CA40}"/>
                  </a:ext>
                </a:extLst>
              </p:cNvPr>
              <p:cNvSpPr txBox="1"/>
              <p:nvPr/>
            </p:nvSpPr>
            <p:spPr>
              <a:xfrm>
                <a:off x="216194" y="1530161"/>
                <a:ext cx="5356989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将保边平滑转为线性回归问题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模型：输出 </a:t>
                </a:r>
                <a14:m>
                  <m:oMath xmlns:m="http://schemas.openxmlformats.org/officeDocument/2006/math">
                    <m:r>
                      <a:rPr lang="zh-CN" altLang="en-US" sz="1600" b="1" i="1" dirty="0" smtClean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𝒒</m:t>
                    </m:r>
                    <m:r>
                      <a:rPr lang="zh-CN" altLang="en-US" sz="1600" b="1" i="1" dirty="0" smtClean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= </m:t>
                    </m:r>
                    <m:r>
                      <a:rPr lang="zh-CN" altLang="en-US" sz="1600" b="1" i="1" dirty="0" smtClean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zh-CN" altLang="en-US" sz="1600" b="1" i="1" dirty="0" smtClean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·</m:t>
                    </m:r>
                    <m:r>
                      <a:rPr lang="zh-CN" altLang="en-US" sz="1600" b="1" i="1" dirty="0" smtClean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zh-CN" altLang="en-US" sz="1600" b="1" i="1" dirty="0" smtClean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+ </m:t>
                    </m:r>
                    <m:r>
                      <a:rPr lang="zh-CN" altLang="en-US" sz="1600" b="1" i="1" dirty="0" smtClean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（I 为引导图）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目标：q 与输入 p 在最小二乘意义下最接近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窗口内所有像素联合求解 a, b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正则项 εa² 防止 a 过大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sz="1600" b="1" dirty="0" smtClean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zh-CN" altLang="en-US" sz="1600" b="1" dirty="0" smtClean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方差</a:t>
                </a:r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 a 大</a:t>
                </a:r>
                <a:r>
                  <a:rPr lang="zh-CN" altLang="en-US" sz="1600" b="1" dirty="0" smtClean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en-US" altLang="zh-CN" sz="1600" b="1" smtClean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zh-CN" altLang="en-US" sz="1600" b="1" smtClean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方差</a:t>
                </a:r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 a→0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梯度保持：</a:t>
                </a:r>
                <a14:m>
                  <m:oMath xmlns:m="http://schemas.openxmlformats.org/officeDocument/2006/math">
                    <m:r>
                      <a:rPr lang="zh-CN" altLang="en-US" sz="1600" b="1" i="0" dirty="0" smtClean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𝛁</m:t>
                    </m:r>
                    <m:r>
                      <a:rPr lang="zh-CN" altLang="en-US" sz="1600" b="1" i="1" dirty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𝒒</m:t>
                    </m:r>
                    <m:r>
                      <a:rPr lang="zh-CN" altLang="en-US" sz="1600" b="1" i="1" dirty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= </m:t>
                    </m:r>
                    <m:r>
                      <a:rPr lang="zh-CN" altLang="en-US" sz="1600" b="1" i="1" dirty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zh-CN" altLang="en-US" sz="1600" b="1" i="0" dirty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𝛁</m:t>
                    </m:r>
                    <m:r>
                      <a:rPr lang="zh-CN" altLang="en-US" sz="1600" b="1" i="1" dirty="0">
                        <a:solidFill>
                          <a:srgbClr val="0C4379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</m:oMath>
                </a14:m>
                <a:endParaRPr lang="zh-CN" altLang="en-US" sz="1600" b="1" dirty="0">
                  <a:solidFill>
                    <a:srgbClr val="0C437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与引导图梯度方向一致，不会梯度反转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600" b="1" dirty="0">
                    <a:solidFill>
                      <a:srgbClr val="0C437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梯度只乘以系数 a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877D495-2D15-45B5-B8B6-F99A24F7C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94" y="1530161"/>
                <a:ext cx="5356989" cy="3416320"/>
              </a:xfrm>
              <a:prstGeom prst="rect">
                <a:avLst/>
              </a:prstGeom>
              <a:blipFill>
                <a:blip r:embed="rId5"/>
                <a:stretch>
                  <a:fillRect l="-796" b="-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A725191C-1CA8-42B1-B159-186483C6CF50}"/>
                  </a:ext>
                </a:extLst>
              </p14:cNvPr>
              <p14:cNvContentPartPr/>
              <p14:nvPr/>
            </p14:nvContentPartPr>
            <p14:xfrm>
              <a:off x="11372999" y="1789349"/>
              <a:ext cx="425880" cy="4413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A725191C-1CA8-42B1-B159-186483C6CF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64007" y="1780349"/>
                <a:ext cx="443865" cy="45936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A39C847D-226E-4429-A7D7-6EF198093863}"/>
              </a:ext>
            </a:extLst>
          </p:cNvPr>
          <p:cNvSpPr txBox="1"/>
          <p:nvPr/>
        </p:nvSpPr>
        <p:spPr>
          <a:xfrm>
            <a:off x="287960" y="6475143"/>
            <a:ext cx="12084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Kaiming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He, Jian Sun, </a:t>
            </a:r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Xiaoou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Tang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Image Filtering, </a:t>
            </a:r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Pattern Analysis and Machine Intelligence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35, No. 6, Page: 1397 - 1409, June 2013, 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3582A7-5026-4DF7-B134-F70239410DA6}"/>
              </a:ext>
            </a:extLst>
          </p:cNvPr>
          <p:cNvSpPr txBox="1"/>
          <p:nvPr/>
        </p:nvSpPr>
        <p:spPr>
          <a:xfrm>
            <a:off x="328376" y="5710409"/>
            <a:ext cx="129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详细推导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AA52497-75A2-4081-878E-D9F66F7376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3649" y="5409692"/>
            <a:ext cx="1065451" cy="106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85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E108624-2BB6-45BA-BFE6-1DBACDBC51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39" y="1906065"/>
            <a:ext cx="5573604" cy="360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70B0234-5C97-4F1E-835A-AAB97411A0BC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E7B7B7-23CF-4BE0-8C10-2DF3B70D0579}"/>
              </a:ext>
            </a:extLst>
          </p:cNvPr>
          <p:cNvSpPr/>
          <p:nvPr/>
        </p:nvSpPr>
        <p:spPr>
          <a:xfrm>
            <a:off x="465150" y="1050390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引导滤波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8B0D5D8-453B-45FF-86E3-E8AD53386A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389" y="1906065"/>
            <a:ext cx="4804444" cy="3600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396082" y="1448784"/>
            <a:ext cx="1864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引导图 </a:t>
            </a:r>
            <a:r>
              <a:rPr lang="zh-CN" altLang="en-US" dirty="0" smtClean="0"/>
              <a:t>使用原图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35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947C36-7BF0-4E40-8EEA-C4C6C8EF9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596" y="1535787"/>
            <a:ext cx="4876680" cy="451390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B947E3A-E9BB-4D7B-A197-5B62720BFC95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3ECA96-BDF8-4B7A-AB7D-559FDBC88892}"/>
              </a:ext>
            </a:extLst>
          </p:cNvPr>
          <p:cNvSpPr/>
          <p:nvPr/>
        </p:nvSpPr>
        <p:spPr>
          <a:xfrm>
            <a:off x="465150" y="1050390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引导滤波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06C599-C70F-4410-8A0D-5873B5FA93F6}"/>
              </a:ext>
            </a:extLst>
          </p:cNvPr>
          <p:cNvSpPr txBox="1"/>
          <p:nvPr/>
        </p:nvSpPr>
        <p:spPr>
          <a:xfrm>
            <a:off x="732760" y="1757498"/>
            <a:ext cx="3485606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反向使用</a:t>
            </a:r>
            <a:endParaRPr lang="en-US" altLang="zh-CN" sz="16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可以进行图像结构的迁移</a:t>
            </a:r>
            <a:endParaRPr lang="en-US" altLang="zh-CN" sz="16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8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65150" y="1050390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联合双边滤波 vs 引导滤波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CC091E-7061-42C4-B997-F8491AA3B9F0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3470330"/>
                  </p:ext>
                </p:extLst>
              </p:nvPr>
            </p:nvGraphicFramePr>
            <p:xfrm>
              <a:off x="465150" y="1650000"/>
              <a:ext cx="11200000" cy="45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62500">
                    <a:tc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solidFill>
                          <a:srgbClr val="0C43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FFFFFF"/>
                              </a:solidFill>
                              <a:latin typeface="微软雅黑"/>
                            </a:rPr>
                            <a:t>联合双边滤波</a:t>
                          </a:r>
                        </a:p>
                      </a:txBody>
                      <a:tcPr>
                        <a:solidFill>
                          <a:srgbClr val="0C43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FFFFFF"/>
                              </a:solidFill>
                              <a:latin typeface="微软雅黑"/>
                            </a:rPr>
                            <a:t>引导滤波</a:t>
                          </a:r>
                        </a:p>
                      </a:txBody>
                      <a:tcPr>
                        <a:solidFill>
                          <a:srgbClr val="0C437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核心思想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双边核的值域项改由引导图计算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局部窗口内，输出是引导图的线性函数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如何得到输出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 dirty="0" err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权重</a:t>
                          </a:r>
                          <a:r>
                            <a:rPr sz="1500" b="0" dirty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500" b="0" i="1" dirty="0" smtClean="0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500" b="0" i="1" dirty="0" smtClean="0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zh-CN" altLang="en-US" sz="1500" b="0" i="1" dirty="0" err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sz="1500" b="0" i="1" dirty="0" err="1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>
                                <m:sSubPr>
                                  <m:ctrlPr>
                                    <a:rPr lang="en-US" altLang="zh-CN" sz="1500" b="0" i="1" dirty="0" err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500" b="0" i="1" dirty="0" err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zh-CN" altLang="en-US" sz="1500" b="0" i="1" dirty="0" err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oMath>
                          </a14:m>
                          <a:r>
                            <a:rPr sz="1500" b="0" dirty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(</a:t>
                          </a:r>
                          <a:r>
                            <a:rPr sz="1500" b="0" dirty="0" err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引导图灰度差</a:t>
                          </a:r>
                          <a:r>
                            <a:rPr sz="1500" b="0" dirty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)，</a:t>
                          </a:r>
                          <a:r>
                            <a:rPr sz="1500" b="0" dirty="0" err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对输入图加权平均</a:t>
                          </a:r>
                          <a:endParaRPr sz="1500" b="0" dirty="0">
                            <a:solidFill>
                              <a:srgbClr val="000066"/>
                            </a:solidFill>
                            <a:latin typeface="微软雅黑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 dirty="0" err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岭回归求</a:t>
                          </a:r>
                          <a:r>
                            <a:rPr sz="1500" b="0" dirty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 </a:t>
                          </a:r>
                          <a:r>
                            <a:rPr sz="1500" b="0" dirty="0" err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a、b，输出</a:t>
                          </a:r>
                          <a:r>
                            <a:rPr sz="1500" b="0" dirty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500" b="0" i="1" dirty="0" smtClean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zh-CN" altLang="en-US" sz="1500" b="0" i="1" dirty="0" smtClean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zh-CN" altLang="en-US" sz="1500" b="0" i="1" dirty="0" err="1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500" b="0" i="1" dirty="0" err="1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zh-CN" altLang="en-US" sz="1500" b="0" i="1" dirty="0" err="1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zh-CN" altLang="en-US" sz="1500" b="0" i="1" dirty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500" b="0" i="1" dirty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zh-CN" altLang="en-US" sz="1500" b="0" i="1" dirty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sz="1500" b="0" dirty="0">
                            <a:solidFill>
                              <a:srgbClr val="000066"/>
                            </a:solidFill>
                            <a:latin typeface="微软雅黑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边缘处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引导图灰度差大，权重小，跨边缘像素几乎不参与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引导图方差大，a 较大，保留引导图梯度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平坦区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权重接近高斯，平滑去噪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a→0，输出≈窗口均值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梯度反转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细节增强时可能出现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梯度方向一致，不会反转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计算量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随窗口半径增大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与半径无关，线性复杂度（盒式滤波）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引导图 = 输入图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退化为普通双边滤波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 dirty="0" err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变为保边平滑</a:t>
                          </a:r>
                          <a:r>
                            <a:rPr sz="1500" b="0" dirty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 a=σ²/(σ²+ε)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3470330"/>
                  </p:ext>
                </p:extLst>
              </p:nvPr>
            </p:nvGraphicFramePr>
            <p:xfrm>
              <a:off x="465150" y="1650000"/>
              <a:ext cx="11200000" cy="45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62500">
                    <a:tc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solidFill>
                          <a:srgbClr val="0C43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FFFFFF"/>
                              </a:solidFill>
                              <a:latin typeface="微软雅黑"/>
                            </a:rPr>
                            <a:t>联合双边滤波</a:t>
                          </a:r>
                        </a:p>
                      </a:txBody>
                      <a:tcPr>
                        <a:solidFill>
                          <a:srgbClr val="0C43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FFFFFF"/>
                              </a:solidFill>
                              <a:latin typeface="微软雅黑"/>
                            </a:rPr>
                            <a:t>引导滤波</a:t>
                          </a:r>
                        </a:p>
                      </a:txBody>
                      <a:tcPr>
                        <a:solidFill>
                          <a:srgbClr val="0C437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核心思想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双边核的值域项改由引导图计算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局部窗口内，输出是引导图的线性函数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如何得到输出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43576" t="-203261" r="-100530" b="-5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43576" t="-203261" r="-530" b="-5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边缘处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引导图灰度差大，权重小，跨边缘像素几乎不参与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引导图方差大，a 较大，保留引导图梯度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平坦区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权重接近高斯，平滑去噪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a→0，输出≈窗口均值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梯度反转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细节增强时可能出现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梯度方向一致，不会反转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计算量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随窗口半径增大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与半径无关，线性复杂度（盒式滤波）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62500">
                    <a:tc>
                      <a:txBody>
                        <a:bodyPr/>
                        <a:lstStyle/>
                        <a:p>
                          <a:r>
                            <a:rPr sz="1500" b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引导图 = 输入图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退化为普通双边滤波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500" b="0" dirty="0" err="1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变为保边平滑</a:t>
                          </a:r>
                          <a:r>
                            <a:rPr sz="1500" b="0" dirty="0">
                              <a:solidFill>
                                <a:srgbClr val="000066"/>
                              </a:solidFill>
                              <a:latin typeface="微软雅黑"/>
                            </a:rPr>
                            <a:t> a=σ²/(σ²+ε)</a:t>
                          </a:r>
                        </a:p>
                      </a:txBody>
                      <a:tcPr>
                        <a:solidFill>
                          <a:srgbClr val="E8EF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"/>
              <p:cNvSpPr txBox="1"/>
              <p:nvPr/>
            </p:nvSpPr>
            <p:spPr bwMode="auto">
              <a:xfrm>
                <a:off x="805016" y="1113398"/>
                <a:ext cx="7553253" cy="44635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270933" rIns="0" bIns="0">
                <a:sp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90000"/>
                  <a:buFont typeface="Wingdings" panose="05000000000000000000" pitchFamily="2" charset="2"/>
                  <a:buChar char="p"/>
                  <a:defRPr sz="2800" kern="1200">
                    <a:solidFill>
                      <a:srgbClr val="0066CC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90000"/>
                  <a:buFont typeface="Wingdings" panose="05000000000000000000" pitchFamily="2" charset="2"/>
                  <a:buChar char="u"/>
                  <a:defRPr sz="2400" kern="1200">
                    <a:solidFill>
                      <a:srgbClr val="0033CC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Font typeface="Wingdings" panose="05000000000000000000" pitchFamily="2" charset="2"/>
                  <a:buChar char="l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l"/>
                  <a:defRPr sz="2000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ü"/>
                  <a:defRPr sz="2000" kern="1200">
                    <a:solidFill>
                      <a:schemeClr val="tx1"/>
                    </a:solidFill>
                    <a:latin typeface="+mn-ea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50320" lvl="1">
                  <a:spcBef>
                    <a:spcPts val="2133"/>
                  </a:spcBef>
                  <a:defRPr/>
                </a:pPr>
                <a:r>
                  <a:rPr lang="zh-CN" altLang="en-US" sz="1867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卷积核可分解为两个</a:t>
                </a:r>
                <a:r>
                  <a:rPr lang="en-US" altLang="zh-CN" sz="1867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1D</a:t>
                </a:r>
                <a:r>
                  <a:rPr lang="zh-CN" altLang="en-US" sz="1867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核的乘积</a:t>
                </a:r>
                <a:endParaRPr lang="en-US" altLang="zh-CN" sz="1867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50320" lvl="1">
                  <a:spcBef>
                    <a:spcPts val="2133"/>
                  </a:spcBef>
                  <a:defRPr/>
                </a:pPr>
                <a:endParaRPr lang="en-US" altLang="zh-CN" sz="1867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50320" lvl="1">
                  <a:spcBef>
                    <a:spcPts val="2133"/>
                  </a:spcBef>
                  <a:defRPr/>
                </a:pPr>
                <a:r>
                  <a:rPr lang="zh-CN" altLang="en-US" sz="1867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示例</a:t>
                </a:r>
                <a:r>
                  <a:rPr lang="en-US" altLang="zh-CN" sz="1867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</a:p>
              <a:p>
                <a:pPr marL="550320" lvl="1">
                  <a:spcBef>
                    <a:spcPts val="2133"/>
                  </a:spcBef>
                  <a:defRPr/>
                </a:pPr>
                <a:endParaRPr lang="en-US" altLang="zh-CN" sz="1867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50320" lvl="1">
                  <a:spcBef>
                    <a:spcPts val="2133"/>
                  </a:spcBef>
                  <a:defRPr/>
                </a:pPr>
                <a:endParaRPr lang="en-US" altLang="zh-CN" sz="1867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50320" lvl="1">
                  <a:spcBef>
                    <a:spcPts val="2133"/>
                  </a:spcBef>
                  <a:defRPr/>
                </a:pPr>
                <a:endParaRPr lang="en-US" altLang="zh-CN" sz="1867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50320" lvl="1">
                  <a:spcBef>
                    <a:spcPts val="2133"/>
                  </a:spcBef>
                  <a:defRPr/>
                </a:pPr>
                <a:r>
                  <a:rPr lang="zh-CN" altLang="en-US" sz="1867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计算复杂度从 </a:t>
                </a:r>
                <a:r>
                  <a:rPr lang="en-US" altLang="zh-CN" sz="1867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O(</a:t>
                </a:r>
                <a14:m>
                  <m:oMath xmlns:m="http://schemas.openxmlformats.org/officeDocument/2006/math">
                    <m:r>
                      <a:rPr lang="en-US" altLang="zh-CN" sz="1867" b="1" dirty="0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𝐌𝐍</m:t>
                    </m:r>
                    <m:sSup>
                      <m:sSupPr>
                        <m:ctrlPr>
                          <a:rPr lang="en-US" altLang="zh-CN" sz="1867" b="1" i="1" dirty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867" b="1" i="1" dirty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1867" b="1" i="1" dirty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867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 </a:t>
                </a:r>
                <a:r>
                  <a:rPr lang="zh-CN" altLang="en-US" sz="1867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降至 </a:t>
                </a:r>
                <a:r>
                  <a:rPr lang="en-US" altLang="zh-CN" sz="1867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O(MNR)</a:t>
                </a:r>
              </a:p>
              <a:p>
                <a:pPr marL="550320" lvl="1">
                  <a:spcBef>
                    <a:spcPts val="2133"/>
                  </a:spcBef>
                  <a:defRPr/>
                </a:pPr>
                <a:endParaRPr lang="en-US" altLang="zh-CN" sz="1867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5016" y="1113398"/>
                <a:ext cx="7553253" cy="44635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42" y="1864576"/>
            <a:ext cx="1871133" cy="5568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519" y="2937418"/>
            <a:ext cx="3690973" cy="142228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10402" y="5576970"/>
            <a:ext cx="714248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【注意不是所有的二维卷积核可分离】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9069431-BEE7-40D1-8760-1C881826971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44289" y="982074"/>
            <a:ext cx="4514477" cy="979737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99EB1E91-A119-4933-9282-25FC0642BFBF}"/>
              </a:ext>
            </a:extLst>
          </p:cNvPr>
          <p:cNvSpPr txBox="1">
            <a:spLocks/>
          </p:cNvSpPr>
          <p:nvPr/>
        </p:nvSpPr>
        <p:spPr bwMode="auto">
          <a:xfrm>
            <a:off x="78377" y="138533"/>
            <a:ext cx="6275397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800" b="1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二维可分离离散卷积</a:t>
            </a:r>
            <a:endParaRPr lang="zh-CN" altLang="en-US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81254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4147283-B031-417E-A38E-5413C56D3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3" y="1091449"/>
            <a:ext cx="4638075" cy="160428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5B8FD74-D29E-441E-BC9A-1C80EFE4D0BD}"/>
              </a:ext>
            </a:extLst>
          </p:cNvPr>
          <p:cNvSpPr txBox="1"/>
          <p:nvPr/>
        </p:nvSpPr>
        <p:spPr>
          <a:xfrm>
            <a:off x="470867" y="1535587"/>
            <a:ext cx="379122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加权平均卷积核</a:t>
            </a:r>
            <a:endParaRPr lang="en-US" altLang="zh-CN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52D89DD-ED42-49CB-8016-4F3A65684929}"/>
                  </a:ext>
                </a:extLst>
              </p:cNvPr>
              <p:cNvSpPr txBox="1"/>
              <p:nvPr/>
            </p:nvSpPr>
            <p:spPr>
              <a:xfrm>
                <a:off x="470867" y="4182307"/>
                <a:ext cx="6338055" cy="1890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b="0" dirty="0">
                    <a:solidFill>
                      <a:srgbClr val="000000"/>
                    </a:solidFill>
                  </a:rPr>
                  <a:t>二维高斯函数：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CN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zh-CN" alt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1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lang="en-US" altLang="zh-CN" dirty="0"/>
                  <a:t>=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>
                    <a:solidFill>
                      <a:srgbClr val="000000"/>
                    </a:solidFill>
                  </a:rPr>
                  <a:t>一维高斯函数：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1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zh-CN" altLang="en-US" dirty="0">
                    <a:solidFill>
                      <a:srgbClr val="000000"/>
                    </a:solidFill>
                  </a:rPr>
                  <a:t>一维高斯函数：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1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zh-CN" altLang="en-US" sz="1800" dirty="0">
                    <a:solidFill>
                      <a:srgbClr val="000000"/>
                    </a:solidFill>
                  </a:rPr>
                  <a:t>分离卷积：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nary>
                          <m:naryPr>
                            <m:chr m:val="∑"/>
                            <m:supHide m:val="on"/>
                            <m:ctrlP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52D89DD-ED42-49CB-8016-4F3A65684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67" y="4182307"/>
                <a:ext cx="6338055" cy="1890518"/>
              </a:xfrm>
              <a:prstGeom prst="rect">
                <a:avLst/>
              </a:prstGeom>
              <a:blipFill>
                <a:blip r:embed="rId3"/>
                <a:stretch>
                  <a:fillRect l="-769" b="-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8B1352E8-C4A6-4C09-AA22-CED500FF16CB}"/>
              </a:ext>
            </a:extLst>
          </p:cNvPr>
          <p:cNvSpPr txBox="1"/>
          <p:nvPr/>
        </p:nvSpPr>
        <p:spPr>
          <a:xfrm>
            <a:off x="470867" y="3583843"/>
            <a:ext cx="379122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高斯加权模板</a:t>
            </a:r>
            <a:endParaRPr lang="en-US" altLang="zh-CN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BCAC3D3-65DB-4621-978D-8507225F1B39}"/>
              </a:ext>
            </a:extLst>
          </p:cNvPr>
          <p:cNvSpPr txBox="1">
            <a:spLocks/>
          </p:cNvSpPr>
          <p:nvPr/>
        </p:nvSpPr>
        <p:spPr bwMode="auto">
          <a:xfrm>
            <a:off x="78377" y="138533"/>
            <a:ext cx="8229600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二维可分离离散卷积</a:t>
            </a:r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典型的可分离卷积核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7F67661-5B08-4AB4-BA2A-D8FB4D3FE05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430"/>
          <a:stretch>
            <a:fillRect/>
          </a:stretch>
        </p:blipFill>
        <p:spPr>
          <a:xfrm>
            <a:off x="6980200" y="2695736"/>
            <a:ext cx="4176574" cy="392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131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2354" y="1166586"/>
            <a:ext cx="4573992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可分离卷积高斯滤波计算过程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401578" y="1723003"/>
                <a:ext cx="10025809" cy="3499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57284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2000" b="1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输入</a:t>
                </a:r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： 图像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，选择合适的尺度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；</a:t>
                </a:r>
                <a:endParaRPr lang="zh-CN" altLang="zh-CN" sz="2000" kern="100" dirty="0">
                  <a:cs typeface="Times New Roman" panose="02020603050405020304" pitchFamily="18" charset="0"/>
                </a:endParaRPr>
              </a:p>
              <a:p>
                <a:pPr indent="357284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2000" b="1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输出</a:t>
                </a:r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： 高斯滤波图像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sub>
                    </m:sSub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⊗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；</a:t>
                </a:r>
                <a:endParaRPr lang="zh-CN" altLang="zh-CN" sz="2000" kern="100" dirty="0"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spcAft>
                    <a:spcPts val="333"/>
                  </a:spcAft>
                  <a:buFont typeface="+mj-ea"/>
                  <a:buAutoNum type="circleNumDbPlain"/>
                </a:pPr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第一步：设定窗口大小参数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；</a:t>
                </a:r>
                <a:endParaRPr lang="zh-CN" altLang="zh-CN" sz="2000" kern="100" dirty="0"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spcAft>
                    <a:spcPts val="333"/>
                  </a:spcAft>
                  <a:buFont typeface="+mj-ea"/>
                  <a:buAutoNum type="circleNumDbPlain"/>
                </a:pPr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第二步：计算</a:t>
                </a:r>
                <a:r>
                  <a:rPr lang="en-US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维高斯函数的值，生成</a:t>
                </a:r>
                <a:r>
                  <a:rPr lang="en-US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维高斯核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=[</m:t>
                    </m:r>
                    <m:func>
                      <m:func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sub>
                        </m:sSub>
                      </m:fName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),...</m:t>
                    </m:r>
                    <m:func>
                      <m:func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sub>
                        </m:sSub>
                      </m:fName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)]</m:t>
                    </m:r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；</a:t>
                </a:r>
                <a:endParaRPr lang="zh-CN" altLang="zh-CN" sz="2000" kern="100" dirty="0"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spcAft>
                    <a:spcPts val="333"/>
                  </a:spcAft>
                  <a:buFont typeface="+mj-ea"/>
                  <a:buAutoNum type="circleNumDbPlain"/>
                </a:pPr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第三步：将</a:t>
                </a:r>
                <a:r>
                  <a:rPr lang="en-US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kern="1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维高斯核归一化；</a:t>
                </a:r>
                <a:endParaRPr lang="zh-CN" altLang="zh-CN" sz="2000" kern="100" dirty="0"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spcAft>
                    <a:spcPts val="333"/>
                  </a:spcAft>
                  <a:buFont typeface="+mj-ea"/>
                  <a:buAutoNum type="circleNumDbPlain"/>
                </a:pPr>
                <a:r>
                  <a:rPr lang="zh-CN" altLang="zh-CN" sz="2000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第四步：将图像的行信号分别与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zh-CN" altLang="zh-CN" sz="2000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作卷积；</a:t>
                </a:r>
              </a:p>
              <a:p>
                <a:pPr marL="457200" indent="-457200" algn="just">
                  <a:lnSpc>
                    <a:spcPct val="150000"/>
                  </a:lnSpc>
                  <a:spcAft>
                    <a:spcPts val="333"/>
                  </a:spcAft>
                  <a:buFont typeface="+mj-ea"/>
                  <a:buAutoNum type="circleNumDbPlain"/>
                </a:pPr>
                <a:r>
                  <a:rPr lang="zh-CN" altLang="zh-CN" sz="2000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第五步：对第四步结果图像的列信号与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zh-CN" altLang="zh-CN" sz="2000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作卷积。</a:t>
                </a:r>
                <a:endParaRPr lang="zh-CN" altLang="zh-CN" sz="2000" kern="1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578" y="1723003"/>
                <a:ext cx="10025809" cy="3499932"/>
              </a:xfrm>
              <a:prstGeom prst="rect">
                <a:avLst/>
              </a:prstGeom>
              <a:blipFill>
                <a:blip r:embed="rId3"/>
                <a:stretch>
                  <a:fillRect l="-790" b="-2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8799685" y="239148"/>
            <a:ext cx="170329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空间运算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9EC7C46-7B6B-4A14-ACCF-E10B7B0E8654}"/>
              </a:ext>
            </a:extLst>
          </p:cNvPr>
          <p:cNvSpPr txBox="1">
            <a:spLocks/>
          </p:cNvSpPr>
          <p:nvPr/>
        </p:nvSpPr>
        <p:spPr bwMode="auto">
          <a:xfrm>
            <a:off x="78377" y="138533"/>
            <a:ext cx="8229600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二维可分离离散卷积</a:t>
            </a:r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高斯可分离卷积计算</a:t>
            </a:r>
          </a:p>
        </p:txBody>
      </p:sp>
    </p:spTree>
    <p:extLst>
      <p:ext uri="{BB962C8B-B14F-4D97-AF65-F5344CB8AC3E}">
        <p14:creationId xmlns:p14="http://schemas.microsoft.com/office/powerpoint/2010/main" val="27476932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45B8FD74-D29E-441E-BC9A-1C80EFE4D0BD}"/>
              </a:ext>
            </a:extLst>
          </p:cNvPr>
          <p:cNvSpPr txBox="1"/>
          <p:nvPr/>
        </p:nvSpPr>
        <p:spPr>
          <a:xfrm>
            <a:off x="430892" y="3953062"/>
            <a:ext cx="5372990" cy="1197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直接计算二维卷积，对于每个像素需要计算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乘法：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加法：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C2E556-BBDE-460B-9953-B5720592EAAC}"/>
              </a:ext>
            </a:extLst>
          </p:cNvPr>
          <p:cNvSpPr txBox="1"/>
          <p:nvPr/>
        </p:nvSpPr>
        <p:spPr>
          <a:xfrm>
            <a:off x="588335" y="14489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计算量分析，图像大小为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，卷积核大小为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7C3985-1D69-4F7E-9CDA-98493A625A26}"/>
              </a:ext>
            </a:extLst>
          </p:cNvPr>
          <p:cNvSpPr txBox="1"/>
          <p:nvPr/>
        </p:nvSpPr>
        <p:spPr>
          <a:xfrm>
            <a:off x="5789705" y="3953062"/>
            <a:ext cx="5054010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分离为两次一维卷积，对每个像素需要计算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乘法：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加法：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2(N-1)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在这里插入图片描述">
            <a:extLst>
              <a:ext uri="{FF2B5EF4-FFF2-40B4-BE49-F238E27FC236}">
                <a16:creationId xmlns:a16="http://schemas.microsoft.com/office/drawing/2014/main" id="{48BE0EB9-E8E1-424E-875B-6D68EFB709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2" t="9971" r="8479"/>
          <a:stretch/>
        </p:blipFill>
        <p:spPr bwMode="auto">
          <a:xfrm>
            <a:off x="5640045" y="1833992"/>
            <a:ext cx="6020018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在这里插入图片描述">
            <a:extLst>
              <a:ext uri="{FF2B5EF4-FFF2-40B4-BE49-F238E27FC236}">
                <a16:creationId xmlns:a16="http://schemas.microsoft.com/office/drawing/2014/main" id="{D1E39A07-C18A-43E9-9802-FCE62545A0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0" r="12911"/>
          <a:stretch/>
        </p:blipFill>
        <p:spPr bwMode="auto">
          <a:xfrm>
            <a:off x="652133" y="1833992"/>
            <a:ext cx="3388955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A53B12C-3A07-49E0-9CAD-14F6F0364CCC}"/>
              </a:ext>
            </a:extLst>
          </p:cNvPr>
          <p:cNvSpPr/>
          <p:nvPr/>
        </p:nvSpPr>
        <p:spPr>
          <a:xfrm>
            <a:off x="2114616" y="5224843"/>
            <a:ext cx="5638082" cy="12894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标准二维卷积计算量：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M²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*（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N² + N²-1 )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可分离二维卷积计算量：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M²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*（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2N + 2(N-1) 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加速比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(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² +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²-1) / (2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+ 2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-2)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≈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² / 4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= N/2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8347A3A-A1C5-41A8-9510-A0E2B33E2B2B}"/>
              </a:ext>
            </a:extLst>
          </p:cNvPr>
          <p:cNvSpPr txBox="1">
            <a:spLocks/>
          </p:cNvSpPr>
          <p:nvPr/>
        </p:nvSpPr>
        <p:spPr bwMode="auto">
          <a:xfrm>
            <a:off x="78377" y="138533"/>
            <a:ext cx="6275397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800" b="1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二维可分离离散卷积</a:t>
            </a:r>
            <a:endParaRPr lang="zh-CN" altLang="en-US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DEA313-3322-4141-AB2E-56A619D4122C}"/>
              </a:ext>
            </a:extLst>
          </p:cNvPr>
          <p:cNvSpPr txBox="1"/>
          <p:nvPr/>
        </p:nvSpPr>
        <p:spPr>
          <a:xfrm>
            <a:off x="446567" y="971090"/>
            <a:ext cx="73754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【思考：卷积的可分离实现带来什么好处？】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23CDB7-77FE-4312-81C4-46A3BE829507}"/>
              </a:ext>
            </a:extLst>
          </p:cNvPr>
          <p:cNvSpPr txBox="1"/>
          <p:nvPr/>
        </p:nvSpPr>
        <p:spPr>
          <a:xfrm>
            <a:off x="6542362" y="1448985"/>
            <a:ext cx="5324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加速比：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² + 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²-1) / (2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+ 2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-2) )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≈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² / 4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N=N/2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595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28431" y="239148"/>
            <a:ext cx="170329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2064" y="1679065"/>
            <a:ext cx="109675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400" dirty="0"/>
              <a:t>采用普通二维卷积计算图像最大最小滤波、中值滤波、均值滤波、高斯滤波。</a:t>
            </a:r>
            <a:endParaRPr lang="en-US" altLang="zh-CN" sz="2400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400" dirty="0" smtClean="0"/>
              <a:t>采用</a:t>
            </a:r>
            <a:r>
              <a:rPr lang="zh-CN" altLang="en-US" sz="2400" dirty="0"/>
              <a:t>二维可分离卷积方式计算均值滤波和高斯滤波。</a:t>
            </a:r>
            <a:endParaRPr lang="en-US" altLang="zh-CN" sz="2400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400" dirty="0"/>
              <a:t>Cameraman</a:t>
            </a:r>
            <a:r>
              <a:rPr lang="zh-CN" altLang="en-US" sz="2400" dirty="0"/>
              <a:t>图，</a:t>
            </a:r>
            <a:r>
              <a:rPr lang="en-US" altLang="zh-CN" sz="2400" dirty="0"/>
              <a:t>Lena</a:t>
            </a:r>
            <a:r>
              <a:rPr lang="zh-CN" altLang="en-US" sz="2400" dirty="0"/>
              <a:t>图</a:t>
            </a:r>
            <a:endParaRPr lang="en-US" altLang="zh-CN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13EB5A-3103-4D0F-B0AC-284E079D9FF1}"/>
              </a:ext>
            </a:extLst>
          </p:cNvPr>
          <p:cNvSpPr txBox="1"/>
          <p:nvPr/>
        </p:nvSpPr>
        <p:spPr>
          <a:xfrm>
            <a:off x="216194" y="92059"/>
            <a:ext cx="35772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BC1B49AB-1887-4CED-820C-19F3F727D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6160" y="1992003"/>
            <a:ext cx="5012617" cy="324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EE3B876-CD25-4FFD-9BE8-4E7F5B5104ED}"/>
              </a:ext>
            </a:extLst>
          </p:cNvPr>
          <p:cNvSpPr txBox="1"/>
          <p:nvPr/>
        </p:nvSpPr>
        <p:spPr>
          <a:xfrm>
            <a:off x="3098098" y="3245597"/>
            <a:ext cx="619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4379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  <a:sym typeface="+mn-lt"/>
              </a:rPr>
              <a:t>携手共创未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EEB38-AB87-421D-BD76-CC57927933C4}"/>
              </a:ext>
            </a:extLst>
          </p:cNvPr>
          <p:cNvSpPr/>
          <p:nvPr/>
        </p:nvSpPr>
        <p:spPr>
          <a:xfrm>
            <a:off x="1316748" y="2612683"/>
            <a:ext cx="4212013" cy="1632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kern="0" dirty="0">
                <a:solidFill>
                  <a:schemeClr val="bg1"/>
                </a:solidFill>
                <a:latin typeface="Arial" panose="020B0604020202090204"/>
                <a:ea typeface="微软雅黑" panose="020B0503020204020204" pitchFamily="34" charset="-122"/>
              </a:rPr>
              <a:t>感谢！</a:t>
            </a:r>
          </a:p>
        </p:txBody>
      </p:sp>
    </p:spTree>
    <p:extLst>
      <p:ext uri="{BB962C8B-B14F-4D97-AF65-F5344CB8AC3E}">
        <p14:creationId xmlns:p14="http://schemas.microsoft.com/office/powerpoint/2010/main" val="33839898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90488" y="870729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引导滤波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708734" y="1351427"/>
                <a:ext cx="9157975" cy="1985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55591"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1867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为求解线性表示系数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867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sub>
                        </m:sSub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67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867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，基于上述两个假设，可以建立线性岭回归模型</a:t>
                </a:r>
                <a:endParaRPr lang="en-US" altLang="zh-CN" sz="1867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355591" algn="ctr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en-US" altLang="zh-CN" sz="1867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867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sub>
                        </m:sSub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67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sub>
                        </m:sSub>
                      </m:e>
                    </m:d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67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𝛺</m:t>
                        </m:r>
                        <m:d>
                          <m:dPr>
                            <m:ctrlPr>
                              <a:rPr lang="zh-CN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67" b="1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1867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zh-CN" sz="1867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sz="1867" b="1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𝒑</m:t>
                                        </m:r>
                                      </m:sub>
                                    </m:sSub>
                                    <m:r>
                                      <a:rPr lang="en-US" altLang="zh-CN" sz="1867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lang="zh-CN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𝐺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67" b="1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𝒒</m:t>
                                        </m:r>
                                      </m:e>
                                    </m:d>
                                    <m:r>
                                      <a:rPr lang="en-US" altLang="zh-CN" sz="1867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CN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1867" b="1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𝒑</m:t>
                                        </m:r>
                                      </m:sub>
                                    </m:sSub>
                                    <m:r>
                                      <a:rPr lang="en-US" altLang="zh-CN" sz="1867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867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zh-CN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67" b="1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𝒒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altLang="zh-CN" sz="1867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  <m:r>
                              <a:rPr lang="en-US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zh-CN" altLang="zh-CN" sz="1867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zh-CN" sz="1867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67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sz="1867" b="1" i="1" kern="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𝒑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1867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altLang="zh-CN" sz="1867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endParaRPr lang="zh-CN" altLang="zh-CN" sz="1867" kern="100" dirty="0">
                  <a:latin typeface="Calibri" panose="020F050202020403020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1867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式中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867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867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67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67" b="1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867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为惩罚项，以消除过大的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67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67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zh-CN" sz="1867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1867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1867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为正则化参数，以平衡惩罚项和最小二乘项。</a:t>
                </a:r>
                <a:endParaRPr lang="zh-CN" altLang="zh-CN" sz="1867" kern="100" dirty="0">
                  <a:latin typeface="Calibri" panose="020F050202020403020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734" y="1351427"/>
                <a:ext cx="9157975" cy="1985544"/>
              </a:xfrm>
              <a:prstGeom prst="rect">
                <a:avLst/>
              </a:prstGeom>
              <a:blipFill>
                <a:blip r:embed="rId4"/>
                <a:stretch>
                  <a:fillRect l="-599" r="-3061" b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2527056" y="3616293"/>
            <a:ext cx="289503" cy="328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333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527057" y="4450076"/>
            <a:ext cx="26064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400"/>
              <a:t> </a:t>
            </a:r>
            <a:endParaRPr lang="zh-CN" altLang="zh-CN" sz="2400">
              <a:latin typeface="Arial" panose="020B0604020202020204" pitchFamily="34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2136594" y="3934720"/>
            <a:ext cx="289503" cy="328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333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136718" y="3717834"/>
          <a:ext cx="1866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Equation" r:id="rId5" imgW="1409065" imgH="584200" progId="Equation.DSMT4">
                  <p:embed/>
                </p:oleObj>
              </mc:Choice>
              <mc:Fallback>
                <p:oleObj name="Equation" r:id="rId5" imgW="1409065" imgH="5842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18" y="3717834"/>
                        <a:ext cx="18669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136595" y="4768502"/>
            <a:ext cx="26064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400"/>
              <a:t> </a:t>
            </a:r>
            <a:endParaRPr lang="zh-CN" altLang="zh-CN" sz="24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4812060" y="3747156"/>
                <a:ext cx="4573992" cy="1479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"/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"/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zh-CN" altLang="en-US" sz="160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𝛺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zh-CN" altLang="en-US" sz="16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zh-CN" altLang="en-US" sz="1600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𝒑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den>
                                          </m:f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supHide m:val="on"/>
                                              <m:ctrlP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zh-CN" altLang="en-US" sz="1600" b="1" i="1">
                                                  <a:latin typeface="Cambria Math" panose="02040503050406030204" pitchFamily="18" charset="0"/>
                                                </a:rPr>
                                                <m:t>𝒒</m:t>
                                              </m:r>
                                              <m:r>
                                                <a:rPr lang="zh-CN" altLang="en-US" sz="1600">
                                                  <a:latin typeface="Cambria Math" panose="020405030504060302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𝛺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</m:d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𝐺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e>
                                              </m:d>
                                            </m:e>
                                          </m:nary>
                                          <m:r>
                                            <a:rPr lang="zh-CN" altLang="en-US" sz="160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sSub>
                                                <m:sSub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𝑚𝑒𝑎𝑛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𝛺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zh-CN" altLang="en-US" sz="16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zh-CN" altLang="en-US" sz="1600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𝒑</m:t>
                                                      </m:r>
                                                    </m:e>
                                                  </m:d>
                                                </m:sub>
                                              </m:sSub>
                                            </m:fName>
                                            <m:e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func>
                                          <m:sSub>
                                            <m:sSub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zh-CN" altLang="en-US" sz="160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func>
                                        <m:funcPr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𝑚𝑒𝑎𝑛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𝛺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func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"/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𝑣𝑎𝑟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𝛺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func>
                                      <m:sSub>
                                        <m:sSubPr>
                                          <m:ctrlPr>
                                            <a:rPr lang="zh-CN" alt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begChr m:val=""/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sub>
                                      </m:sSub>
                                      <m:r>
                                        <a:rPr lang="zh-CN" altLang="en-US" sz="16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func>
                                        <m:funcPr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𝑚𝑒𝑎𝑛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𝛺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func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d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zh-CN" alt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  <m:t>𝑚𝑒𝑎𝑛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  <m:d>
                                            <m:d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16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  <m:sSub>
                                    <m:sSubPr>
                                      <m:ctrlPr>
                                        <a:rPr lang="zh-CN" alt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060" y="3747156"/>
                <a:ext cx="4573992" cy="1479251"/>
              </a:xfrm>
              <a:prstGeom prst="rect">
                <a:avLst/>
              </a:prstGeom>
              <a:blipFill>
                <a:blip r:embed="rId7"/>
                <a:stretch>
                  <a:fillRect r="-22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箭头: 右 22"/>
          <p:cNvSpPr/>
          <p:nvPr/>
        </p:nvSpPr>
        <p:spPr>
          <a:xfrm>
            <a:off x="4330500" y="4098889"/>
            <a:ext cx="332312" cy="1810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文本框 14"/>
          <p:cNvSpPr txBox="1"/>
          <p:nvPr/>
        </p:nvSpPr>
        <p:spPr>
          <a:xfrm>
            <a:off x="8799685" y="239148"/>
            <a:ext cx="170329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空间运算</a:t>
            </a:r>
          </a:p>
        </p:txBody>
      </p:sp>
      <p:sp>
        <p:nvSpPr>
          <p:cNvPr id="4" name="矩形 3"/>
          <p:cNvSpPr/>
          <p:nvPr/>
        </p:nvSpPr>
        <p:spPr>
          <a:xfrm>
            <a:off x="1918154" y="5100474"/>
            <a:ext cx="1511300" cy="10600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noAutofit/>
          </a:bodyPr>
          <a:lstStyle/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模型假设</a:t>
            </a:r>
          </a:p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</a:t>
            </a:r>
          </a:p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算法推导</a:t>
            </a:r>
          </a:p>
        </p:txBody>
      </p:sp>
      <p:sp>
        <p:nvSpPr>
          <p:cNvPr id="5" name="矩形 4"/>
          <p:cNvSpPr/>
          <p:nvPr/>
        </p:nvSpPr>
        <p:spPr>
          <a:xfrm>
            <a:off x="3558994" y="5502641"/>
            <a:ext cx="1511300" cy="3513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noAutofit/>
          </a:bodyPr>
          <a:lstStyle/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三部曲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EB42D7-3058-47BE-A6E1-2143D0847D35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14213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67958" y="911999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引导滤波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002117" y="1470954"/>
                <a:ext cx="4573992" cy="1479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"/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"/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zh-CN" altLang="en-US" sz="160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𝛺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zh-CN" altLang="en-US" sz="16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zh-CN" altLang="en-US" sz="1600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𝒑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den>
                                          </m:f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supHide m:val="on"/>
                                              <m:ctrlP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zh-CN" altLang="en-US" sz="1600" b="1" i="1">
                                                  <a:latin typeface="Cambria Math" panose="02040503050406030204" pitchFamily="18" charset="0"/>
                                                </a:rPr>
                                                <m:t>𝒒</m:t>
                                              </m:r>
                                              <m:r>
                                                <a:rPr lang="zh-CN" altLang="en-US" sz="1600">
                                                  <a:latin typeface="Cambria Math" panose="020405030504060302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𝛺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</m:d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𝐺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e>
                                              </m:d>
                                            </m:e>
                                          </m:nary>
                                          <m:r>
                                            <a:rPr lang="zh-CN" altLang="en-US" sz="160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sSub>
                                                <m:sSub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𝑚𝑒𝑎𝑛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𝛺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zh-CN" altLang="en-US" sz="16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zh-CN" altLang="en-US" sz="1600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𝒑</m:t>
                                                      </m:r>
                                                    </m:e>
                                                  </m:d>
                                                </m:sub>
                                              </m:sSub>
                                            </m:fName>
                                            <m:e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func>
                                          <m:sSub>
                                            <m:sSub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zh-CN" altLang="en-US" sz="160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func>
                                        <m:funcPr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𝑚𝑒𝑎𝑛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𝛺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func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"/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𝑣𝑎𝑟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𝛺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func>
                                      <m:sSub>
                                        <m:sSubPr>
                                          <m:ctrlPr>
                                            <a:rPr lang="zh-CN" alt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begChr m:val=""/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sub>
                                      </m:sSub>
                                      <m:r>
                                        <a:rPr lang="zh-CN" altLang="en-US" sz="16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func>
                                        <m:funcPr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𝑚𝑒𝑎𝑛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𝛺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func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d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zh-CN" alt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  <m:t>𝑚𝑒𝑎𝑛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  <m:d>
                                            <m:dPr>
                                              <m:ctrlPr>
                                                <a:rPr lang="zh-CN" alt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16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  <m:sSub>
                                    <m:sSubPr>
                                      <m:ctrlPr>
                                        <a:rPr lang="zh-CN" alt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117" y="1470954"/>
                <a:ext cx="4573992" cy="1479251"/>
              </a:xfrm>
              <a:prstGeom prst="rect">
                <a:avLst/>
              </a:prstGeom>
              <a:blipFill>
                <a:blip r:embed="rId3"/>
                <a:stretch>
                  <a:fillRect r="-23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300879" y="3497128"/>
                <a:ext cx="4573992" cy="393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d>
                        <m:dPr>
                          <m:ctrlPr>
                            <a:rPr lang="zh-CN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16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d>
                        <m:dPr>
                          <m:ctrlPr>
                            <a:rPr lang="zh-CN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16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879" y="3497128"/>
                <a:ext cx="4573992" cy="393698"/>
              </a:xfrm>
              <a:prstGeom prst="rect">
                <a:avLst/>
              </a:prstGeom>
              <a:blipFill>
                <a:blip r:embed="rId4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3603811" y="3011535"/>
            <a:ext cx="1075764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67" dirty="0"/>
              <a:t>带回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880" y="3952478"/>
            <a:ext cx="243861" cy="44919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1880" y="3004308"/>
            <a:ext cx="243861" cy="455208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603811" y="3950958"/>
            <a:ext cx="1681381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67" dirty="0"/>
              <a:t>预测结果平均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1765248" y="4651974"/>
                <a:ext cx="4829349" cy="7042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1867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1867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d>
                        <m:dPr>
                          <m:ctrlPr>
                            <a:rPr lang="zh-CN" altLang="en-US" sz="1867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67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zh-CN" altLang="en-US" sz="1867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867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867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1867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67" i="1">
                                  <a:latin typeface="Cambria Math" panose="02040503050406030204" pitchFamily="18" charset="0"/>
                                </a:rPr>
                                <m:t>𝛺</m:t>
                              </m:r>
                              <m:d>
                                <m:dPr>
                                  <m:ctrlPr>
                                    <a:rPr lang="zh-CN" altLang="en-US" sz="1867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867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d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zh-CN" altLang="en-US" sz="1867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867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1867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67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zh-CN" altLang="en-US" sz="1867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sz="1867" i="1">
                                  <a:latin typeface="Cambria Math" panose="02040503050406030204" pitchFamily="18" charset="0"/>
                                </a:rPr>
                                <m:t>𝛺</m:t>
                              </m:r>
                              <m:d>
                                <m:dPr>
                                  <m:ctrlPr>
                                    <a:rPr lang="zh-CN" altLang="en-US" sz="1867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867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d>
                            </m:e>
                          </m:d>
                        </m:sub>
                        <m:sup/>
                        <m:e>
                          <m:d>
                            <m:dPr>
                              <m:ctrlPr>
                                <a:rPr lang="zh-CN" altLang="en-US" sz="1867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867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67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en-US" sz="1867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zh-CN" altLang="en-US" sz="1867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zh-CN" altLang="en-US" sz="1867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67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zh-CN" altLang="en-US" sz="1867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1867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867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</m:d>
                              <m:r>
                                <a:rPr lang="zh-CN" altLang="en-US" sz="1867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67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67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1867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867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248" y="4651974"/>
                <a:ext cx="4829349" cy="7042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6384861" y="5550916"/>
                <a:ext cx="46855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bar>
                    <m:d>
                      <m:dPr>
                        <m:ctrlPr>
                          <a:rPr lang="zh-CN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67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  <m:r>
                      <a:rPr lang="en-US" altLang="zh-CN" sz="1867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67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𝑚𝑒𝑎𝑛</m:t>
                    </m:r>
                    <m:d>
                      <m:dPr>
                        <m:ctrlPr>
                          <a:rPr lang="zh-CN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67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67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867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sub>
                        </m:sSub>
                      </m:e>
                    </m:d>
                    <m:r>
                      <a:rPr lang="en-US" altLang="zh-CN" sz="1867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  <m:d>
                      <m:dPr>
                        <m:ctrlPr>
                          <a:rPr lang="zh-CN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67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  <m:r>
                      <a:rPr lang="en-US" altLang="zh-CN" sz="1867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867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𝑚𝑒𝑎𝑛</m:t>
                    </m:r>
                    <m:d>
                      <m:dPr>
                        <m:ctrlPr>
                          <a:rPr lang="zh-CN" altLang="zh-CN" sz="1867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67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67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67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861" y="5550916"/>
                <a:ext cx="4685552" cy="461665"/>
              </a:xfrm>
              <a:prstGeom prst="rect">
                <a:avLst/>
              </a:prstGeom>
              <a:blipFill>
                <a:blip r:embed="rId8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2002117" y="5632989"/>
                <a:ext cx="4494308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67" dirty="0"/>
                  <a:t>根据对称性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𝒑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𝛺</m:t>
                            </m:r>
                            <m:d>
                              <m:dPr>
                                <m:ctrlPr>
                                  <a:rPr lang="zh-CN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</m:d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𝛺</m:t>
                        </m:r>
                        <m:d>
                          <m:dPr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nary>
                    <m:r>
                      <a:rPr lang="zh-CN" altLang="en-US" sz="1600" b="1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867" dirty="0"/>
                  <a:t>简化</a:t>
                </a: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117" y="5632989"/>
                <a:ext cx="4494308" cy="379656"/>
              </a:xfrm>
              <a:prstGeom prst="rect">
                <a:avLst/>
              </a:prstGeom>
              <a:blipFill>
                <a:blip r:embed="rId9"/>
                <a:stretch>
                  <a:fillRect l="-1220" t="-93548" b="-146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8799685" y="239148"/>
            <a:ext cx="170329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空间运算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CF60DAA-1D1E-413E-BA71-2EC040FD9A56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1580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019015" y="1015420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引导滤波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019015" y="1702739"/>
                <a:ext cx="10272519" cy="2709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2133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优点：</a:t>
                </a:r>
                <a:endParaRPr lang="en-US" altLang="zh-CN" sz="2133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133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189" indent="-457189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zh-CN" altLang="zh-CN" sz="2133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引导滤波并未用到过于复杂的数学计算，有</a:t>
                </a:r>
                <a:r>
                  <a:rPr lang="en-US" altLang="zh-CN" sz="2133" dirty="0" err="1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hlinkClick r:id="rId3"/>
                  </a:rPr>
                  <a:t>线性</a:t>
                </a:r>
                <a:r>
                  <a:rPr lang="zh-CN" altLang="zh-CN" sz="2133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计算复杂度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𝑀𝑁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133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133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189" indent="-457189">
                  <a:lnSpc>
                    <a:spcPct val="150000"/>
                  </a:lnSpc>
                  <a:buFont typeface="+mj-ea"/>
                  <a:buAutoNum type="circleNumDbPlain"/>
                </a:pPr>
                <a:endParaRPr lang="en-US" altLang="zh-CN" sz="2133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189" indent="-457189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zh-CN" altLang="zh-CN" sz="2133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引导滤波在数学上以线性组合为基础，输出图像必与引导图像（</a:t>
                </a:r>
                <a:r>
                  <a:rPr lang="en-US" altLang="zh-CN" sz="2133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Guidance Image</a:t>
                </a:r>
                <a:r>
                  <a:rPr lang="zh-CN" altLang="zh-CN" sz="2133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）的梯度方向一致，不会出现梯度反转。</a:t>
                </a:r>
                <a:endParaRPr lang="zh-CN" altLang="en-US" sz="2133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015" y="1702739"/>
                <a:ext cx="10272519" cy="2709203"/>
              </a:xfrm>
              <a:prstGeom prst="rect">
                <a:avLst/>
              </a:prstGeom>
              <a:blipFill>
                <a:blip r:embed="rId4"/>
                <a:stretch>
                  <a:fillRect l="-890" t="-1124" b="-3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4843463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799685" y="239148"/>
            <a:ext cx="170329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空间运算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169B47-488F-49F7-B77A-AD771446155D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64991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CC91780C-A892-4D26-BF70-8E1FF0E9125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377" y="138533"/>
            <a:ext cx="6275397" cy="458908"/>
          </a:xfrm>
        </p:spPr>
        <p:txBody>
          <a:bodyPr>
            <a:normAutofit fontScale="90000"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二维可分离离散卷积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BD9121-965B-47FE-973A-DADBC07F2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109" y="1451909"/>
            <a:ext cx="1571625" cy="10382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1D16BCE-6BAC-4CA9-B63E-861FEABB4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035" y="1466196"/>
            <a:ext cx="533400" cy="10096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8EC8654-07B8-448A-A082-BBD5A5554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813" y="1766234"/>
            <a:ext cx="1133475" cy="409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262F9AC5-F0EE-4D03-8C33-605ED5FB022F}"/>
                  </a:ext>
                </a:extLst>
              </p:cNvPr>
              <p:cNvSpPr txBox="1"/>
              <p:nvPr/>
            </p:nvSpPr>
            <p:spPr bwMode="auto">
              <a:xfrm>
                <a:off x="2527697" y="1633615"/>
                <a:ext cx="3708770" cy="7110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262F9AC5-F0EE-4D03-8C33-605ED5FB0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7697" y="1633615"/>
                <a:ext cx="3708770" cy="7110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88579F9-4DA5-49A5-B836-D8C726D7176B}"/>
                  </a:ext>
                </a:extLst>
              </p:cNvPr>
              <p:cNvSpPr txBox="1"/>
              <p:nvPr/>
            </p:nvSpPr>
            <p:spPr>
              <a:xfrm>
                <a:off x="7924583" y="1786355"/>
                <a:ext cx="5684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88579F9-4DA5-49A5-B836-D8C726D71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583" y="1786355"/>
                <a:ext cx="56849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9007826-FCEF-4239-9C78-5638068A6CF6}"/>
                  </a:ext>
                </a:extLst>
              </p:cNvPr>
              <p:cNvSpPr txBox="1"/>
              <p:nvPr/>
            </p:nvSpPr>
            <p:spPr>
              <a:xfrm>
                <a:off x="9216435" y="1768412"/>
                <a:ext cx="5684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9007826-FCEF-4239-9C78-5638068A6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435" y="1768412"/>
                <a:ext cx="56849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F11552C0-A0FB-4197-9110-3EB2CC9503AD}"/>
              </a:ext>
            </a:extLst>
          </p:cNvPr>
          <p:cNvSpPr txBox="1"/>
          <p:nvPr/>
        </p:nvSpPr>
        <p:spPr>
          <a:xfrm>
            <a:off x="502352" y="1716928"/>
            <a:ext cx="218100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张量（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Tensor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）积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AABF5BE-48C8-4149-894F-3952238177A0}"/>
              </a:ext>
            </a:extLst>
          </p:cNvPr>
          <p:cNvSpPr txBox="1"/>
          <p:nvPr/>
        </p:nvSpPr>
        <p:spPr>
          <a:xfrm>
            <a:off x="9364639" y="6405002"/>
            <a:ext cx="1344606" cy="3385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一维卷积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BD8B7809-24D4-4206-BF92-2B8D1F06AF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447" y="2440316"/>
          <a:ext cx="10290975" cy="3449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name="Equation" r:id="rId9" imgW="5295600" imgH="1777680" progId="Equation.DSMT4">
                  <p:embed/>
                </p:oleObj>
              </mc:Choice>
              <mc:Fallback>
                <p:oleObj name="Equation" r:id="rId9" imgW="5295600" imgH="17776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BD8B7809-24D4-4206-BF92-2B8D1F06AF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6447" y="2440316"/>
                        <a:ext cx="10290975" cy="3449571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34FD98FA-48D9-4B0B-9A7B-7AA925F105FC}"/>
              </a:ext>
            </a:extLst>
          </p:cNvPr>
          <p:cNvSpPr txBox="1"/>
          <p:nvPr/>
        </p:nvSpPr>
        <p:spPr>
          <a:xfrm>
            <a:off x="8595771" y="5922005"/>
            <a:ext cx="1344606" cy="3385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一维卷积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A0C0CDB-A177-4E34-97A7-DBE9A66C4EA3}"/>
              </a:ext>
            </a:extLst>
          </p:cNvPr>
          <p:cNvSpPr txBox="1"/>
          <p:nvPr/>
        </p:nvSpPr>
        <p:spPr>
          <a:xfrm>
            <a:off x="2626092" y="3155171"/>
            <a:ext cx="1344606" cy="3385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二维卷积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5912059A-C563-4725-BC21-66D6693EA01D}"/>
                  </a:ext>
                </a:extLst>
              </p14:cNvPr>
              <p14:cNvContentPartPr/>
              <p14:nvPr/>
            </p14:nvContentPartPr>
            <p14:xfrm>
              <a:off x="3148643" y="3618123"/>
              <a:ext cx="7428960" cy="2805840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5912059A-C563-4725-BC21-66D6693EA01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40003" y="3609123"/>
                <a:ext cx="7446600" cy="282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8304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9C463A2-3F02-4805-8CBE-90B25E316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076" y="1085754"/>
            <a:ext cx="7066076" cy="54288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0692C3-91E7-49A2-860A-BA7739297B59}"/>
              </a:ext>
            </a:extLst>
          </p:cNvPr>
          <p:cNvSpPr txBox="1"/>
          <p:nvPr/>
        </p:nvSpPr>
        <p:spPr>
          <a:xfrm>
            <a:off x="216194" y="92059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图像空间域滤波</a:t>
            </a:r>
            <a:endParaRPr lang="en-US" altLang="zh-CN" sz="28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4259F5-4331-4352-ACF6-CE9AEFABBFE5}"/>
              </a:ext>
            </a:extLst>
          </p:cNvPr>
          <p:cNvSpPr/>
          <p:nvPr/>
        </p:nvSpPr>
        <p:spPr>
          <a:xfrm>
            <a:off x="465150" y="1050390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引导滤波</a:t>
            </a:r>
          </a:p>
        </p:txBody>
      </p:sp>
    </p:spTree>
    <p:extLst>
      <p:ext uri="{BB962C8B-B14F-4D97-AF65-F5344CB8AC3E}">
        <p14:creationId xmlns:p14="http://schemas.microsoft.com/office/powerpoint/2010/main" val="19747215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wNTM5NzYwMDRjMzkwZTVkZjY2ODkwMGIxNGU0O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15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34353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2632</TotalTime>
  <Words>2126</Words>
  <Application>Microsoft Office PowerPoint</Application>
  <PresentationFormat>宽屏</PresentationFormat>
  <Paragraphs>370</Paragraphs>
  <Slides>55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2" baseType="lpstr">
      <vt:lpstr>阿里巴巴和七个小矮人</vt:lpstr>
      <vt:lpstr>等线</vt:lpstr>
      <vt:lpstr>等线 Light</vt:lpstr>
      <vt:lpstr>仿宋_GB2312</vt:lpstr>
      <vt:lpstr>华文细黑</vt:lpstr>
      <vt:lpstr>宋体</vt:lpstr>
      <vt:lpstr>Microsoft YaHei</vt:lpstr>
      <vt:lpstr>Microsoft YaHei</vt:lpstr>
      <vt:lpstr>Arial</vt:lpstr>
      <vt:lpstr>Calibri</vt:lpstr>
      <vt:lpstr>Cambria Math</vt:lpstr>
      <vt:lpstr>Impact</vt:lpstr>
      <vt:lpstr>Times New Roman</vt:lpstr>
      <vt:lpstr>Wingdings</vt:lpstr>
      <vt:lpstr>Office 主题​​</vt:lpstr>
      <vt:lpstr>Office 主题</vt:lpstr>
      <vt:lpstr>Equation</vt:lpstr>
      <vt:lpstr>PowerPoint 演示文稿</vt:lpstr>
      <vt:lpstr>PowerPoint 演示文稿</vt:lpstr>
      <vt:lpstr>1 卷积与图像处理的关系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 二维可分离离散卷积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shaoming</cp:lastModifiedBy>
  <cp:revision>1513</cp:revision>
  <cp:lastPrinted>2024-06-12T15:31:32Z</cp:lastPrinted>
  <dcterms:created xsi:type="dcterms:W3CDTF">2024-06-12T15:31:32Z</dcterms:created>
  <dcterms:modified xsi:type="dcterms:W3CDTF">2026-10-14T04:48:59Z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CD1BC42A34C549CF40AF6366F719176F_43</vt:lpwstr>
  </property>
  <property fmtid="{D5CDD505-2E9C-101B-9397-08002B2CF9AE}" pid="3" name="KSOProductBuildVer">
    <vt:lpwstr>2052-6.7.1.8828</vt:lpwstr>
  </property>
</Properties>
</file>